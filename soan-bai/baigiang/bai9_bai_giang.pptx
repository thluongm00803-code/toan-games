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54" r:id="rId2"/>
  </p:sldMasterIdLst>
  <p:notesMasterIdLst>
    <p:notesMasterId r:id="rId54"/>
  </p:notesMasterIdLst>
  <p:sldIdLst>
    <p:sldId id="313" r:id="rId3"/>
    <p:sldId id="301" r:id="rId4"/>
    <p:sldId id="315" r:id="rId5"/>
    <p:sldId id="334" r:id="rId6"/>
    <p:sldId id="321" r:id="rId7"/>
    <p:sldId id="322" r:id="rId8"/>
    <p:sldId id="323" r:id="rId9"/>
    <p:sldId id="324" r:id="rId10"/>
    <p:sldId id="325" r:id="rId11"/>
    <p:sldId id="336" r:id="rId12"/>
    <p:sldId id="335" r:id="rId13"/>
    <p:sldId id="337" r:id="rId14"/>
    <p:sldId id="326" r:id="rId15"/>
    <p:sldId id="32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51" r:id="rId30"/>
    <p:sldId id="352" r:id="rId31"/>
    <p:sldId id="353" r:id="rId32"/>
    <p:sldId id="354" r:id="rId33"/>
    <p:sldId id="355" r:id="rId34"/>
    <p:sldId id="356" r:id="rId35"/>
    <p:sldId id="357" r:id="rId36"/>
    <p:sldId id="358" r:id="rId37"/>
    <p:sldId id="359" r:id="rId38"/>
    <p:sldId id="360" r:id="rId39"/>
    <p:sldId id="361" r:id="rId40"/>
    <p:sldId id="362" r:id="rId41"/>
    <p:sldId id="363" r:id="rId42"/>
    <p:sldId id="364" r:id="rId43"/>
    <p:sldId id="365" r:id="rId44"/>
    <p:sldId id="366" r:id="rId45"/>
    <p:sldId id="367" r:id="rId46"/>
    <p:sldId id="368" r:id="rId47"/>
    <p:sldId id="369" r:id="rId48"/>
    <p:sldId id="370" r:id="rId49"/>
    <p:sldId id="371" r:id="rId50"/>
    <p:sldId id="372" r:id="rId51"/>
    <p:sldId id="373" r:id="rId52"/>
    <p:sldId id="374" r:id="rId53"/>
  </p:sldIdLst>
  <p:sldSz cx="24384000" cy="13716000"/>
  <p:notesSz cx="6858000" cy="9144000"/>
  <p:custDataLst>
    <p:tags r:id="rId55"/>
  </p:custDataLst>
  <p:defaultTextStyle>
    <a:defPPr>
      <a:defRPr lang="en-US"/>
    </a:defPPr>
    <a:lvl1pPr marL="0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7F7FF"/>
    <a:srgbClr val="D6F7FE"/>
    <a:srgbClr val="EEF7E9"/>
    <a:srgbClr val="135F82"/>
    <a:srgbClr val="FFFFFF"/>
    <a:srgbClr val="008000"/>
    <a:srgbClr val="242452"/>
    <a:srgbClr val="270F6B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698" autoAdjust="0"/>
    <p:restoredTop sz="94139" autoAdjust="0"/>
  </p:normalViewPr>
  <p:slideViewPr>
    <p:cSldViewPr>
      <p:cViewPr varScale="1">
        <p:scale>
          <a:sx n="31" d="100"/>
          <a:sy n="31" d="100"/>
        </p:scale>
        <p:origin x="162" y="348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notesMaster" Target="notesMasters/notesMaster1.xml"/><Relationship Id="rId55" Type="http://schemas.openxmlformats.org/officeDocument/2006/relationships/tags" Target="tags/tag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23.png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BB293-0719-4B19-A181-EE36FD0623AD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A8B73-FCCD-4D4C-BC4E-0CE5120A1B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6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64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08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132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593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33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155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328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7702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403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324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609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4434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8605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4069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2809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0756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5788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250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317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9831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1773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2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401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9710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1679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228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486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2743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837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830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966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5624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1853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2483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9727" y="1781954"/>
            <a:ext cx="21031200" cy="2651126"/>
          </a:xfrm>
          <a:prstGeom prst="rect">
            <a:avLst/>
          </a:prstGeom>
        </p:spPr>
        <p:txBody>
          <a:bodyPr/>
          <a:lstStyle>
            <a:lvl1pPr algn="l">
              <a:defRPr sz="5400">
                <a:latin typeface="Tomah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9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67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073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080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10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381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419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89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558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83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85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330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6836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9597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87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152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944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833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782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105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462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811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073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306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485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0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5" y="12712706"/>
            <a:ext cx="7721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4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620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2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2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1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644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60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135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gi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theme" Target="../theme/theme2.xml"/><Relationship Id="rId17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14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0" r:id="rId3"/>
    <p:sldLayoutId id="2147483741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82" r:id="rId12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09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emf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oleObject" Target="../embeddings/oleObject1.bin"/><Relationship Id="rId8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24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23.png"/><Relationship Id="rId7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Relationship Id="rId4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Relationship Id="rId4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34.png"/><Relationship Id="rId6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10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10.png"/><Relationship Id="rId4" Type="http://schemas.openxmlformats.org/officeDocument/2006/relationships/image" Target="../media/image1210.png"/><Relationship Id="rId5" Type="http://schemas.openxmlformats.org/officeDocument/2006/relationships/image" Target="../media/image44.em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4.png"/><Relationship Id="rId4" Type="http://schemas.openxmlformats.org/officeDocument/2006/relationships/image" Target="../media/image151.png"/><Relationship Id="rId5" Type="http://schemas.openxmlformats.org/officeDocument/2006/relationships/image" Target="../media/image16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0.png"/><Relationship Id="rId4" Type="http://schemas.openxmlformats.org/officeDocument/2006/relationships/image" Target="../media/image180.png"/><Relationship Id="rId5" Type="http://schemas.openxmlformats.org/officeDocument/2006/relationships/image" Target="../media/image19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0.png"/><Relationship Id="rId4" Type="http://schemas.openxmlformats.org/officeDocument/2006/relationships/image" Target="../media/image130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5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0.png"/><Relationship Id="rId4" Type="http://schemas.openxmlformats.org/officeDocument/2006/relationships/image" Target="../media/image270.png"/><Relationship Id="rId5" Type="http://schemas.openxmlformats.org/officeDocument/2006/relationships/image" Target="../media/image280.png"/><Relationship Id="rId6" Type="http://schemas.openxmlformats.org/officeDocument/2006/relationships/image" Target="../media/image5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0.png"/><Relationship Id="rId4" Type="http://schemas.openxmlformats.org/officeDocument/2006/relationships/image" Target="../media/image300.png"/><Relationship Id="rId5" Type="http://schemas.openxmlformats.org/officeDocument/2006/relationships/image" Target="../media/image5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0.png"/><Relationship Id="rId4" Type="http://schemas.openxmlformats.org/officeDocument/2006/relationships/image" Target="../media/image320.png"/><Relationship Id="rId5" Type="http://schemas.openxmlformats.org/officeDocument/2006/relationships/image" Target="../media/image33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0.png"/><Relationship Id="rId4" Type="http://schemas.openxmlformats.org/officeDocument/2006/relationships/image" Target="../media/image350.png"/><Relationship Id="rId5" Type="http://schemas.openxmlformats.org/officeDocument/2006/relationships/image" Target="../media/image5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70.png"/><Relationship Id="rId4" Type="http://schemas.openxmlformats.org/officeDocument/2006/relationships/image" Target="../media/image38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90.png"/><Relationship Id="rId4" Type="http://schemas.openxmlformats.org/officeDocument/2006/relationships/image" Target="../media/image40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10.png"/><Relationship Id="rId4" Type="http://schemas.openxmlformats.org/officeDocument/2006/relationships/image" Target="../media/image42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30.png"/><Relationship Id="rId4" Type="http://schemas.openxmlformats.org/officeDocument/2006/relationships/image" Target="../media/image440.png"/><Relationship Id="rId5" Type="http://schemas.openxmlformats.org/officeDocument/2006/relationships/image" Target="../media/image53.emf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60.png"/><Relationship Id="rId4" Type="http://schemas.openxmlformats.org/officeDocument/2006/relationships/image" Target="../media/image470.png"/><Relationship Id="rId5" Type="http://schemas.openxmlformats.org/officeDocument/2006/relationships/image" Target="../media/image54.emf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50.png"/><Relationship Id="rId4" Type="http://schemas.openxmlformats.org/officeDocument/2006/relationships/image" Target="../media/image500.png"/><Relationship Id="rId5" Type="http://schemas.openxmlformats.org/officeDocument/2006/relationships/image" Target="../media/image55.emf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20.png"/><Relationship Id="rId4" Type="http://schemas.openxmlformats.org/officeDocument/2006/relationships/image" Target="../media/image480.png"/><Relationship Id="rId5" Type="http://schemas.openxmlformats.org/officeDocument/2006/relationships/image" Target="../media/image56.emf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5.png"/><Relationship Id="rId4" Type="http://schemas.openxmlformats.org/officeDocument/2006/relationships/image" Target="../media/image59.png"/><Relationship Id="rId5" Type="http://schemas.openxmlformats.org/officeDocument/2006/relationships/image" Target="../media/image5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9.jpeg"/><Relationship Id="rId3" Type="http://schemas.openxmlformats.org/officeDocument/2006/relationships/image" Target="../media/image60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1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9.jpe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60.png"/><Relationship Id="rId9" Type="http://schemas.openxmlformats.org/officeDocument/2006/relationships/image" Target="../media/image62.emf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9.jpeg"/><Relationship Id="rId3" Type="http://schemas.openxmlformats.org/officeDocument/2006/relationships/image" Target="../media/image60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9.jpe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60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9.jpe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60.png"/><Relationship Id="rId8" Type="http://schemas.openxmlformats.org/officeDocument/2006/relationships/image" Target="../media/image88.png"/><Relationship Id="rId9" Type="http://schemas.openxmlformats.org/officeDocument/2006/relationships/image" Target="../media/image89.png"/><Relationship Id="rId10" Type="http://schemas.openxmlformats.org/officeDocument/2006/relationships/image" Target="../media/image65.emf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9.jpeg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60.png"/><Relationship Id="rId8" Type="http://schemas.openxmlformats.org/officeDocument/2006/relationships/image" Target="../media/image95.png"/><Relationship Id="rId9" Type="http://schemas.openxmlformats.org/officeDocument/2006/relationships/image" Target="../media/image96.png"/><Relationship Id="rId10" Type="http://schemas.openxmlformats.org/officeDocument/2006/relationships/image" Target="../media/image66.emf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9.jpe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60.png"/><Relationship Id="rId8" Type="http://schemas.openxmlformats.org/officeDocument/2006/relationships/image" Target="../media/image102.png"/><Relationship Id="rId9" Type="http://schemas.openxmlformats.org/officeDocument/2006/relationships/image" Target="../media/image103.png"/><Relationship Id="rId10" Type="http://schemas.openxmlformats.org/officeDocument/2006/relationships/image" Target="../media/image65.emf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9.jpeg"/><Relationship Id="rId3" Type="http://schemas.openxmlformats.org/officeDocument/2006/relationships/image" Target="../media/image104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image" Target="../media/image60.png"/><Relationship Id="rId8" Type="http://schemas.openxmlformats.org/officeDocument/2006/relationships/image" Target="../media/image108.png"/><Relationship Id="rId9" Type="http://schemas.openxmlformats.org/officeDocument/2006/relationships/image" Target="../media/image109.png"/><Relationship Id="rId10" Type="http://schemas.openxmlformats.org/officeDocument/2006/relationships/image" Target="../media/image67.emf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9.jpeg"/><Relationship Id="rId3" Type="http://schemas.openxmlformats.org/officeDocument/2006/relationships/image" Target="../media/image111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640.png"/><Relationship Id="rId7" Type="http://schemas.openxmlformats.org/officeDocument/2006/relationships/image" Target="../media/image60.png"/><Relationship Id="rId8" Type="http://schemas.openxmlformats.org/officeDocument/2006/relationships/image" Target="../media/image115.png"/><Relationship Id="rId9" Type="http://schemas.openxmlformats.org/officeDocument/2006/relationships/image" Target="../media/image116.png"/><Relationship Id="rId10" Type="http://schemas.openxmlformats.org/officeDocument/2006/relationships/image" Target="../media/image68.emf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9.jpeg"/><Relationship Id="rId3" Type="http://schemas.openxmlformats.org/officeDocument/2006/relationships/image" Target="../media/image74.png"/><Relationship Id="rId4" Type="http://schemas.openxmlformats.org/officeDocument/2006/relationships/image" Target="../media/image77.png"/><Relationship Id="rId5" Type="http://schemas.openxmlformats.org/officeDocument/2006/relationships/image" Target="../media/image90.png"/><Relationship Id="rId6" Type="http://schemas.openxmlformats.org/officeDocument/2006/relationships/image" Target="../media/image97.png"/><Relationship Id="rId7" Type="http://schemas.openxmlformats.org/officeDocument/2006/relationships/image" Target="../media/image60.png"/><Relationship Id="rId8" Type="http://schemas.openxmlformats.org/officeDocument/2006/relationships/image" Target="../media/image110.png"/><Relationship Id="rId9" Type="http://schemas.openxmlformats.org/officeDocument/2006/relationships/image" Target="../media/image114.png"/><Relationship Id="rId10" Type="http://schemas.openxmlformats.org/officeDocument/2006/relationships/image" Target="../media/image69.emf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9.jpeg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Relationship Id="rId6" Type="http://schemas.openxmlformats.org/officeDocument/2006/relationships/image" Target="../media/image120.png"/><Relationship Id="rId7" Type="http://schemas.openxmlformats.org/officeDocument/2006/relationships/image" Target="../media/image60.png"/><Relationship Id="rId8" Type="http://schemas.openxmlformats.org/officeDocument/2006/relationships/image" Target="../media/image121.png"/><Relationship Id="rId9" Type="http://schemas.openxmlformats.org/officeDocument/2006/relationships/image" Target="../media/image122.png"/><Relationship Id="rId10" Type="http://schemas.openxmlformats.org/officeDocument/2006/relationships/image" Target="../media/image70.emf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9.jpeg"/><Relationship Id="rId3" Type="http://schemas.openxmlformats.org/officeDocument/2006/relationships/image" Target="../media/image124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127.png"/><Relationship Id="rId7" Type="http://schemas.openxmlformats.org/officeDocument/2006/relationships/image" Target="../media/image60.png"/><Relationship Id="rId8" Type="http://schemas.openxmlformats.org/officeDocument/2006/relationships/image" Target="../media/image128.png"/><Relationship Id="rId9" Type="http://schemas.openxmlformats.org/officeDocument/2006/relationships/image" Target="../media/image129.png"/><Relationship Id="rId10" Type="http://schemas.openxmlformats.org/officeDocument/2006/relationships/image" Target="../media/image71.emf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9.jpeg"/><Relationship Id="rId3" Type="http://schemas.openxmlformats.org/officeDocument/2006/relationships/image" Target="../media/image131.png"/><Relationship Id="rId4" Type="http://schemas.openxmlformats.org/officeDocument/2006/relationships/image" Target="../media/image132.png"/><Relationship Id="rId5" Type="http://schemas.openxmlformats.org/officeDocument/2006/relationships/image" Target="../media/image133.png"/><Relationship Id="rId6" Type="http://schemas.openxmlformats.org/officeDocument/2006/relationships/image" Target="../media/image134.png"/><Relationship Id="rId7" Type="http://schemas.openxmlformats.org/officeDocument/2006/relationships/image" Target="../media/image60.png"/><Relationship Id="rId8" Type="http://schemas.openxmlformats.org/officeDocument/2006/relationships/image" Target="../media/image135.png"/><Relationship Id="rId9" Type="http://schemas.openxmlformats.org/officeDocument/2006/relationships/image" Target="../media/image136.png"/><Relationship Id="rId10" Type="http://schemas.openxmlformats.org/officeDocument/2006/relationships/image" Target="../media/image72.emf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9.jpeg"/><Relationship Id="rId3" Type="http://schemas.openxmlformats.org/officeDocument/2006/relationships/image" Target="../media/image138.png"/><Relationship Id="rId4" Type="http://schemas.openxmlformats.org/officeDocument/2006/relationships/image" Target="../media/image139.png"/><Relationship Id="rId5" Type="http://schemas.openxmlformats.org/officeDocument/2006/relationships/image" Target="../media/image140.png"/><Relationship Id="rId6" Type="http://schemas.openxmlformats.org/officeDocument/2006/relationships/image" Target="../media/image141.png"/><Relationship Id="rId7" Type="http://schemas.openxmlformats.org/officeDocument/2006/relationships/image" Target="../media/image60.png"/><Relationship Id="rId8" Type="http://schemas.openxmlformats.org/officeDocument/2006/relationships/image" Target="../media/image142.png"/><Relationship Id="rId9" Type="http://schemas.openxmlformats.org/officeDocument/2006/relationships/image" Target="../media/image143.png"/><Relationship Id="rId10" Type="http://schemas.openxmlformats.org/officeDocument/2006/relationships/image" Target="../media/image73.emf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9.jpeg"/><Relationship Id="rId3" Type="http://schemas.openxmlformats.org/officeDocument/2006/relationships/image" Target="../media/image145.png"/><Relationship Id="rId4" Type="http://schemas.openxmlformats.org/officeDocument/2006/relationships/image" Target="../media/image146.png"/><Relationship Id="rId5" Type="http://schemas.openxmlformats.org/officeDocument/2006/relationships/image" Target="../media/image147.png"/><Relationship Id="rId6" Type="http://schemas.openxmlformats.org/officeDocument/2006/relationships/image" Target="../media/image148.png"/><Relationship Id="rId7" Type="http://schemas.openxmlformats.org/officeDocument/2006/relationships/image" Target="../media/image60.png"/><Relationship Id="rId8" Type="http://schemas.openxmlformats.org/officeDocument/2006/relationships/image" Target="../media/image149.png"/><Relationship Id="rId9" Type="http://schemas.openxmlformats.org/officeDocument/2006/relationships/image" Target="../media/image150.png"/><Relationship Id="rId10" Type="http://schemas.openxmlformats.org/officeDocument/2006/relationships/image" Target="../media/image1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3FF6797-9084-4088-B03C-F68BB0D6D29D}"/>
              </a:ext>
            </a:extLst>
          </p:cNvPr>
          <p:cNvGrpSpPr/>
          <p:nvPr/>
        </p:nvGrpSpPr>
        <p:grpSpPr>
          <a:xfrm>
            <a:off x="9677400" y="1676400"/>
            <a:ext cx="13944600" cy="11181523"/>
            <a:chOff x="9851187" y="2126503"/>
            <a:chExt cx="13944600" cy="11181523"/>
          </a:xfrm>
        </p:grpSpPr>
        <p:grpSp>
          <p:nvGrpSpPr>
            <p:cNvPr id="8" name="Group 7"/>
            <p:cNvGrpSpPr/>
            <p:nvPr/>
          </p:nvGrpSpPr>
          <p:grpSpPr>
            <a:xfrm>
              <a:off x="9851187" y="2126503"/>
              <a:ext cx="13944600" cy="11181523"/>
              <a:chOff x="1339699" y="3448230"/>
              <a:chExt cx="13944600" cy="11181523"/>
            </a:xfrm>
          </p:grpSpPr>
          <p:sp>
            <p:nvSpPr>
              <p:cNvPr id="10" name="Right Triangle 9"/>
              <p:cNvSpPr/>
              <p:nvPr/>
            </p:nvSpPr>
            <p:spPr>
              <a:xfrm flipH="1">
                <a:off x="8958821" y="3486542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1339699" y="3448230"/>
                <a:ext cx="13944600" cy="11181523"/>
                <a:chOff x="1339699" y="3448230"/>
                <a:chExt cx="13944600" cy="11181523"/>
              </a:xfrm>
            </p:grpSpPr>
            <p:sp>
              <p:nvSpPr>
                <p:cNvPr id="12" name="Rounded Rectangle 11"/>
                <p:cNvSpPr/>
                <p:nvPr/>
              </p:nvSpPr>
              <p:spPr>
                <a:xfrm>
                  <a:off x="1339699" y="3696072"/>
                  <a:ext cx="13944600" cy="10933681"/>
                </a:xfrm>
                <a:prstGeom prst="roundRect">
                  <a:avLst>
                    <a:gd name="adj" fmla="val 2374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28575">
                  <a:solidFill>
                    <a:srgbClr val="0999C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18000" rIns="36000" bIns="18000" rtlCol="0" anchor="ctr"/>
                <a:lstStyle/>
                <a:p>
                  <a:pPr algn="ctr"/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5759299" y="3448230"/>
                  <a:ext cx="3890809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5400" b="1" cap="all" dirty="0">
                      <a:ln w="0"/>
                      <a:solidFill>
                        <a:schemeClr val="bg1"/>
                      </a:solidFill>
                      <a:effectLst>
                        <a:reflection blurRad="12700" stA="50000" endPos="50000" dist="5000" dir="5400000" sy="-100000" rotWithShape="0"/>
                      </a:effectLst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CHƯƠNG I</a:t>
                  </a:r>
                </a:p>
              </p:txBody>
            </p:sp>
          </p:grpSp>
        </p:grpSp>
        <p:sp>
          <p:nvSpPr>
            <p:cNvPr id="15" name="Right Triangle 14"/>
            <p:cNvSpPr/>
            <p:nvPr/>
          </p:nvSpPr>
          <p:spPr>
            <a:xfrm flipH="1">
              <a:off x="11477625" y="2164818"/>
              <a:ext cx="193377" cy="212342"/>
            </a:xfrm>
            <a:prstGeom prst="rt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ound Same Side Corner Rectangle 15"/>
            <p:cNvSpPr/>
            <p:nvPr/>
          </p:nvSpPr>
          <p:spPr>
            <a:xfrm flipV="1">
              <a:off x="11671001" y="2164811"/>
              <a:ext cx="10807999" cy="1333291"/>
            </a:xfrm>
            <a:prstGeom prst="round2Same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0116799" y="3468887"/>
              <a:ext cx="13413376" cy="93341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§7.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Các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khái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niệm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mở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đầu</a:t>
              </a:r>
              <a:endParaRPr lang="en-US" sz="58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§8.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Tổng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và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hiệu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của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hai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vectơ</a:t>
              </a:r>
              <a:endParaRPr lang="en-US" sz="58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5800" b="1" dirty="0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§9. </a:t>
              </a:r>
              <a:r>
                <a:rPr lang="en-US" sz="5800" b="1" dirty="0" err="1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Tích</a:t>
              </a:r>
              <a:r>
                <a:rPr lang="en-US" sz="5800" b="1" dirty="0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của</a:t>
              </a:r>
              <a:r>
                <a:rPr lang="en-US" sz="5800" b="1" dirty="0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một</a:t>
              </a:r>
              <a:r>
                <a:rPr lang="en-US" sz="5800" b="1" dirty="0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vectơ</a:t>
              </a:r>
              <a:r>
                <a:rPr lang="en-US" sz="5800" b="1" dirty="0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với</a:t>
              </a:r>
              <a:r>
                <a:rPr lang="en-US" sz="5800" b="1" dirty="0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một</a:t>
              </a:r>
              <a:r>
                <a:rPr lang="en-US" sz="5800" b="1" dirty="0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số</a:t>
              </a:r>
              <a:endParaRPr lang="en-US" sz="58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§10.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Vectơ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trong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mặt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phẳng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tọa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độ</a:t>
              </a:r>
              <a:endParaRPr lang="en-US" sz="58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§11.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Tích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vô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hướng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của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hai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vectơ</a:t>
              </a:r>
              <a:endParaRPr lang="en-US" sz="58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Bài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tập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cuối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chương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4</a:t>
              </a: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1912450" y="2428363"/>
              <a:ext cx="103251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48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CHƯƠNG I</a:t>
              </a:r>
              <a:r>
                <a:rPr lang="en-US" sz="48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</a:t>
              </a:r>
              <a:r>
                <a:rPr lang="vi-VN" sz="48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  <a:r>
                <a:rPr lang="en-US" sz="48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VECTƠ</a:t>
              </a:r>
              <a:endParaRPr lang="vi-VN" sz="4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4FF52DF-8AC8-4DAD-B751-39601E57B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34" y="1924240"/>
            <a:ext cx="8813299" cy="10933681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140518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1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8C62C3-3138-4092-86C2-85A1567C6E78}"/>
              </a:ext>
            </a:extLst>
          </p:cNvPr>
          <p:cNvGrpSpPr/>
          <p:nvPr/>
        </p:nvGrpSpPr>
        <p:grpSpPr>
          <a:xfrm>
            <a:off x="981500" y="1809817"/>
            <a:ext cx="22817228" cy="9946698"/>
            <a:chOff x="1438699" y="1793813"/>
            <a:chExt cx="22817228" cy="1064106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17C9077-2F0E-4830-9CBB-2CF87E745444}"/>
                </a:ext>
              </a:extLst>
            </p:cNvPr>
            <p:cNvGrpSpPr/>
            <p:nvPr/>
          </p:nvGrpSpPr>
          <p:grpSpPr>
            <a:xfrm>
              <a:off x="1438699" y="1793813"/>
              <a:ext cx="22817228" cy="10641062"/>
              <a:chOff x="1438699" y="1793813"/>
              <a:chExt cx="22817228" cy="10641062"/>
            </a:xfrm>
          </p:grpSpPr>
          <p:grpSp>
            <p:nvGrpSpPr>
              <p:cNvPr id="69" name="Group 68"/>
              <p:cNvGrpSpPr/>
              <p:nvPr/>
            </p:nvGrpSpPr>
            <p:grpSpPr>
              <a:xfrm>
                <a:off x="1575873" y="1797127"/>
                <a:ext cx="22680054" cy="10637748"/>
                <a:chOff x="-3538955" y="3448230"/>
                <a:chExt cx="22680054" cy="10637748"/>
              </a:xfrm>
            </p:grpSpPr>
            <p:sp>
              <p:nvSpPr>
                <p:cNvPr id="70" name="Right Triangle 69"/>
                <p:cNvSpPr/>
                <p:nvPr/>
              </p:nvSpPr>
              <p:spPr>
                <a:xfrm flipH="1">
                  <a:off x="8958821" y="3486542"/>
                  <a:ext cx="193377" cy="212342"/>
                </a:xfrm>
                <a:prstGeom prst="rtTriangle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71" name="Group 70"/>
                <p:cNvGrpSpPr/>
                <p:nvPr/>
              </p:nvGrpSpPr>
              <p:grpSpPr>
                <a:xfrm>
                  <a:off x="-3538955" y="3448230"/>
                  <a:ext cx="22680054" cy="10637748"/>
                  <a:chOff x="-3538955" y="3448230"/>
                  <a:chExt cx="22680054" cy="10637748"/>
                </a:xfrm>
              </p:grpSpPr>
              <p:sp>
                <p:nvSpPr>
                  <p:cNvPr id="72" name="Rounded Rectangle 71"/>
                  <p:cNvSpPr/>
                  <p:nvPr/>
                </p:nvSpPr>
                <p:spPr>
                  <a:xfrm>
                    <a:off x="-3538955" y="3592713"/>
                    <a:ext cx="22680054" cy="10493265"/>
                  </a:xfrm>
                  <a:prstGeom prst="roundRect">
                    <a:avLst>
                      <a:gd name="adj" fmla="val 2127"/>
                    </a:avLst>
                  </a:prstGeom>
                  <a:solidFill>
                    <a:schemeClr val="bg1"/>
                  </a:solidFill>
                  <a:ln w="76200">
                    <a:solidFill>
                      <a:srgbClr val="0999C8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36000" tIns="18000" rIns="36000" bIns="18000" rtlCol="0" anchor="ctr"/>
                  <a:lstStyle/>
                  <a:p>
                    <a:pPr algn="ctr"/>
                    <a:endParaRPr lang="en-US" sz="4600" dirty="0">
                      <a:latin typeface="Tahoma" pitchFamily="34" charset="0"/>
                      <a:ea typeface="Tahoma" pitchFamily="34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73" name="TextBox 72"/>
                  <p:cNvSpPr txBox="1"/>
                  <p:nvPr/>
                </p:nvSpPr>
                <p:spPr>
                  <a:xfrm>
                    <a:off x="5759299" y="3448230"/>
                    <a:ext cx="3890809" cy="92333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fontAlgn="auto">
                      <a:spcBef>
                        <a:spcPct val="5000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5400" b="1" cap="all" dirty="0">
                        <a:ln w="0"/>
                        <a:solidFill>
                          <a:schemeClr val="bg1"/>
                        </a:solidFill>
                        <a:effectLst>
                          <a:reflection blurRad="12700" stA="50000" endPos="50000" dist="5000" dir="5400000" sy="-100000" rotWithShape="0"/>
                        </a:effectLst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a:t>CHƯƠNG I</a:t>
                    </a:r>
                  </a:p>
                </p:txBody>
              </p:sp>
            </p:grpSp>
          </p:grpSp>
          <p:sp>
            <p:nvSpPr>
              <p:cNvPr id="74" name="Right Triangle 73"/>
              <p:cNvSpPr/>
              <p:nvPr/>
            </p:nvSpPr>
            <p:spPr>
              <a:xfrm flipH="1">
                <a:off x="7921388" y="1793819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ound Same Side Corner Rectangle 95"/>
              <p:cNvSpPr/>
              <p:nvPr/>
            </p:nvSpPr>
            <p:spPr>
              <a:xfrm flipV="1">
                <a:off x="8114764" y="1793813"/>
                <a:ext cx="10807999" cy="1181261"/>
              </a:xfrm>
              <a:prstGeom prst="round2SameRect">
                <a:avLst>
                  <a:gd name="adj1" fmla="val 6458"/>
                  <a:gd name="adj2" fmla="val 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8114763" y="1953929"/>
                <a:ext cx="10808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800" b="1" dirty="0">
                    <a:solidFill>
                      <a:srgbClr val="C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CHƯƠNG I</a:t>
                </a:r>
                <a:r>
                  <a:rPr lang="en-US" sz="4800" b="1" dirty="0">
                    <a:solidFill>
                      <a:srgbClr val="C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</a:t>
                </a:r>
                <a:r>
                  <a:rPr lang="vi-VN" sz="4800" b="1" dirty="0">
                    <a:solidFill>
                      <a:srgbClr val="C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b="1" dirty="0">
                    <a:solidFill>
                      <a:srgbClr val="C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endParaRPr lang="vi-VN" sz="4800" b="1" dirty="0">
                  <a:solidFill>
                    <a:srgbClr val="C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04" name="Picture 53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71230" y="2975075"/>
                <a:ext cx="1495424" cy="14954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7" name="Rectangle 16"/>
              <p:cNvSpPr/>
              <p:nvPr/>
            </p:nvSpPr>
            <p:spPr>
              <a:xfrm>
                <a:off x="7467544" y="4114018"/>
                <a:ext cx="13632086" cy="8332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0" tIns="45705" rIns="91410" bIns="45705" rtlCol="0" anchor="ctr"/>
              <a:lstStyle/>
              <a:p>
                <a:pPr algn="ctr"/>
                <a:endParaRPr lang="en-US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56" name="Group 60"/>
              <p:cNvGrpSpPr/>
              <p:nvPr/>
            </p:nvGrpSpPr>
            <p:grpSpPr>
              <a:xfrm>
                <a:off x="1438699" y="6012513"/>
                <a:ext cx="12732131" cy="904496"/>
                <a:chOff x="7450558" y="7834555"/>
                <a:chExt cx="12733596" cy="904601"/>
              </a:xfrm>
            </p:grpSpPr>
            <p:sp>
              <p:nvSpPr>
                <p:cNvPr id="57" name="Rectangle 56"/>
                <p:cNvSpPr/>
                <p:nvPr/>
              </p:nvSpPr>
              <p:spPr>
                <a:xfrm>
                  <a:off x="9073745" y="7850045"/>
                  <a:ext cx="11110409" cy="88911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  <a:defRPr/>
                  </a:pPr>
                  <a:r>
                    <a:rPr lang="en-US" sz="4800" b="1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TÍCH CỦA MỘT VECTƠ VỚI MỘT SỐ</a:t>
                  </a:r>
                </a:p>
              </p:txBody>
            </p:sp>
            <p:grpSp>
              <p:nvGrpSpPr>
                <p:cNvPr id="58" name="Group 26"/>
                <p:cNvGrpSpPr/>
                <p:nvPr/>
              </p:nvGrpSpPr>
              <p:grpSpPr>
                <a:xfrm>
                  <a:off x="7450558" y="7834555"/>
                  <a:ext cx="1383018" cy="796752"/>
                  <a:chOff x="7450631" y="8291755"/>
                  <a:chExt cx="1371600" cy="796752"/>
                </a:xfrm>
              </p:grpSpPr>
              <p:sp>
                <p:nvSpPr>
                  <p:cNvPr id="59" name="Isosceles Triangle 44"/>
                  <p:cNvSpPr/>
                  <p:nvPr/>
                </p:nvSpPr>
                <p:spPr>
                  <a:xfrm rot="16200000">
                    <a:off x="7469936" y="8281488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60" name="Group 28"/>
                  <p:cNvGrpSpPr/>
                  <p:nvPr/>
                </p:nvGrpSpPr>
                <p:grpSpPr>
                  <a:xfrm>
                    <a:off x="7450631" y="8356987"/>
                    <a:ext cx="1371600" cy="731520"/>
                    <a:chOff x="7450631" y="8356987"/>
                    <a:chExt cx="1371600" cy="731520"/>
                  </a:xfrm>
                </p:grpSpPr>
                <p:sp>
                  <p:nvSpPr>
                    <p:cNvPr id="61" name="Round Same Side Corner Rectangle 60"/>
                    <p:cNvSpPr/>
                    <p:nvPr/>
                  </p:nvSpPr>
                  <p:spPr>
                    <a:xfrm rot="5400000">
                      <a:off x="7770671" y="8036947"/>
                      <a:ext cx="731520" cy="1371600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62" name="TextBox 61"/>
                    <p:cNvSpPr txBox="1"/>
                    <p:nvPr/>
                  </p:nvSpPr>
                  <p:spPr>
                    <a:xfrm>
                      <a:off x="7940249" y="8360620"/>
                      <a:ext cx="507514" cy="70796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US" sz="4000" b="1" dirty="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63" name="Group 67"/>
              <p:cNvGrpSpPr/>
              <p:nvPr/>
            </p:nvGrpSpPr>
            <p:grpSpPr>
              <a:xfrm>
                <a:off x="1447805" y="7460330"/>
                <a:ext cx="17537294" cy="979073"/>
                <a:chOff x="7459672" y="7170625"/>
                <a:chExt cx="17539305" cy="979184"/>
              </a:xfrm>
            </p:grpSpPr>
            <p:sp>
              <p:nvSpPr>
                <p:cNvPr id="75" name="Rectangle 74"/>
                <p:cNvSpPr/>
                <p:nvPr/>
              </p:nvSpPr>
              <p:spPr>
                <a:xfrm>
                  <a:off x="9111075" y="7260701"/>
                  <a:ext cx="15887902" cy="88910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None/>
                    <a:defRPr/>
                  </a:pPr>
                  <a:r>
                    <a:rPr lang="en-US" sz="4800" b="1" spc="-150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CÁC TÍNH CHẤT CỦA PHÉP NHÂN VECTƠ VỚI MỘT SỐ</a:t>
                  </a:r>
                </a:p>
              </p:txBody>
            </p:sp>
            <p:grpSp>
              <p:nvGrpSpPr>
                <p:cNvPr id="76" name="Group 32"/>
                <p:cNvGrpSpPr/>
                <p:nvPr/>
              </p:nvGrpSpPr>
              <p:grpSpPr>
                <a:xfrm>
                  <a:off x="7459672" y="7170625"/>
                  <a:ext cx="1411234" cy="848755"/>
                  <a:chOff x="7459669" y="6189930"/>
                  <a:chExt cx="1399583" cy="848755"/>
                </a:xfrm>
              </p:grpSpPr>
              <p:sp>
                <p:nvSpPr>
                  <p:cNvPr id="77" name="Isosceles Triangle 44"/>
                  <p:cNvSpPr/>
                  <p:nvPr/>
                </p:nvSpPr>
                <p:spPr>
                  <a:xfrm rot="16200000">
                    <a:off x="7469936" y="6179663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78" name="Group 41"/>
                  <p:cNvGrpSpPr/>
                  <p:nvPr/>
                </p:nvGrpSpPr>
                <p:grpSpPr>
                  <a:xfrm>
                    <a:off x="7487652" y="6307165"/>
                    <a:ext cx="1371600" cy="731520"/>
                    <a:chOff x="7487652" y="6307165"/>
                    <a:chExt cx="1371600" cy="731520"/>
                  </a:xfrm>
                </p:grpSpPr>
                <p:sp>
                  <p:nvSpPr>
                    <p:cNvPr id="79" name="Round Same Side Corner Rectangle 78"/>
                    <p:cNvSpPr/>
                    <p:nvPr/>
                  </p:nvSpPr>
                  <p:spPr>
                    <a:xfrm rot="5400000">
                      <a:off x="7807692" y="5987125"/>
                      <a:ext cx="731520" cy="1371600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0" name="TextBox 79"/>
                    <p:cNvSpPr txBox="1"/>
                    <p:nvPr/>
                  </p:nvSpPr>
                  <p:spPr>
                    <a:xfrm>
                      <a:off x="7977269" y="6310797"/>
                      <a:ext cx="507513" cy="70796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US" sz="4000" b="1" dirty="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47" name="Group 67"/>
              <p:cNvGrpSpPr/>
              <p:nvPr/>
            </p:nvGrpSpPr>
            <p:grpSpPr>
              <a:xfrm>
                <a:off x="1447798" y="8899390"/>
                <a:ext cx="4175966" cy="965255"/>
                <a:chOff x="7459670" y="7441560"/>
                <a:chExt cx="5399182" cy="965366"/>
              </a:xfrm>
            </p:grpSpPr>
            <p:sp>
              <p:nvSpPr>
                <p:cNvPr id="48" name="Rectangle 47"/>
                <p:cNvSpPr/>
                <p:nvPr/>
              </p:nvSpPr>
              <p:spPr>
                <a:xfrm>
                  <a:off x="9529919" y="7517816"/>
                  <a:ext cx="3328933" cy="889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None/>
                    <a:defRPr/>
                  </a:pPr>
                  <a:r>
                    <a:rPr lang="en-US" sz="4800" b="1" spc="-150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BÀI TẬP</a:t>
                  </a:r>
                </a:p>
              </p:txBody>
            </p:sp>
            <p:grpSp>
              <p:nvGrpSpPr>
                <p:cNvPr id="49" name="Group 32"/>
                <p:cNvGrpSpPr/>
                <p:nvPr/>
              </p:nvGrpSpPr>
              <p:grpSpPr>
                <a:xfrm>
                  <a:off x="7459670" y="7441560"/>
                  <a:ext cx="1800333" cy="864774"/>
                  <a:chOff x="7459669" y="6460865"/>
                  <a:chExt cx="1785470" cy="864774"/>
                </a:xfrm>
              </p:grpSpPr>
              <p:sp>
                <p:nvSpPr>
                  <p:cNvPr id="50" name="Isosceles Triangle 44"/>
                  <p:cNvSpPr/>
                  <p:nvPr/>
                </p:nvSpPr>
                <p:spPr>
                  <a:xfrm rot="16200000">
                    <a:off x="7469936" y="6450598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51" name="Group 41"/>
                  <p:cNvGrpSpPr/>
                  <p:nvPr/>
                </p:nvGrpSpPr>
                <p:grpSpPr>
                  <a:xfrm>
                    <a:off x="7469193" y="6537082"/>
                    <a:ext cx="1775946" cy="788557"/>
                    <a:chOff x="7469193" y="6537082"/>
                    <a:chExt cx="1775946" cy="788557"/>
                  </a:xfrm>
                </p:grpSpPr>
                <p:sp>
                  <p:nvSpPr>
                    <p:cNvPr id="52" name="Round Same Side Corner Rectangle 51"/>
                    <p:cNvSpPr/>
                    <p:nvPr/>
                  </p:nvSpPr>
                  <p:spPr>
                    <a:xfrm rot="5400000">
                      <a:off x="7962887" y="6043388"/>
                      <a:ext cx="788557" cy="1775946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53" name="TextBox 52"/>
                    <p:cNvSpPr txBox="1"/>
                    <p:nvPr/>
                  </p:nvSpPr>
                  <p:spPr>
                    <a:xfrm>
                      <a:off x="8104943" y="6577389"/>
                      <a:ext cx="656096" cy="70796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US" sz="4000" b="1" dirty="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</p:grpSp>
        </p:grpSp>
        <p:sp>
          <p:nvSpPr>
            <p:cNvPr id="103" name="Google Shape;122;p14">
              <a:extLst>
                <a:ext uri="{FF2B5EF4-FFF2-40B4-BE49-F238E27FC236}">
                  <a16:creationId xmlns:a16="http://schemas.microsoft.com/office/drawing/2014/main" id="{FAF7E6E7-D68E-4774-9801-54F6529B128E}"/>
                </a:ext>
              </a:extLst>
            </p:cNvPr>
            <p:cNvSpPr/>
            <p:nvPr/>
          </p:nvSpPr>
          <p:spPr>
            <a:xfrm>
              <a:off x="3165290" y="3009806"/>
              <a:ext cx="4418523" cy="882637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17500" dir="5400000" sx="90000" sy="-19000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  <a:scene3d>
                <a:camera prst="orthographicFront"/>
                <a:lightRig rig="threePt" dir="t"/>
              </a:scene3d>
              <a:sp3d prstMaterial="metal"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>
                  <a:solidFill>
                    <a:srgbClr val="FF0000"/>
                  </a:solidFill>
                  <a:effectLst>
                    <a:glow rad="76200">
                      <a:srgbClr val="FFFF00">
                        <a:alpha val="47000"/>
                      </a:srgbClr>
                    </a:glow>
                    <a:outerShdw blurRad="50800" dist="38100" dir="18900000" algn="bl" rotWithShape="0">
                      <a:srgbClr val="0000CC">
                        <a:alpha val="40000"/>
                      </a:srgbClr>
                    </a:outerShdw>
                  </a:effectLst>
                  <a:latin typeface="Bahnschrift SemiBold SemiConden" panose="020B0502040204020203" pitchFamily="34" charset="0"/>
                  <a:sym typeface="Baumans"/>
                </a:rPr>
                <a:t>TOÁN ĐẠI SỐ  </a:t>
              </a:r>
              <a:endParaRPr sz="6000" dirty="0">
                <a:solidFill>
                  <a:srgbClr val="FF0000"/>
                </a:solidFill>
                <a:effectLst>
                  <a:glow rad="76200">
                    <a:srgbClr val="FFFF00">
                      <a:alpha val="47000"/>
                    </a:srgbClr>
                  </a:glow>
                  <a:outerShdw blurRad="50800" dist="38100" dir="18900000" algn="bl" rotWithShape="0">
                    <a:srgbClr val="0000CC">
                      <a:alpha val="40000"/>
                    </a:srgbClr>
                  </a:outerShdw>
                </a:effectLst>
                <a:latin typeface="Bahnschrift SemiBold SemiConden" panose="020B0502040204020203" pitchFamily="34" charset="0"/>
              </a:endParaRP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7EC462C3-097E-478F-9154-33220765427C}"/>
                </a:ext>
              </a:extLst>
            </p:cNvPr>
            <p:cNvGrpSpPr/>
            <p:nvPr/>
          </p:nvGrpSpPr>
          <p:grpSpPr>
            <a:xfrm>
              <a:off x="4441592" y="3900043"/>
              <a:ext cx="1316269" cy="1323399"/>
              <a:chOff x="4902568" y="2922072"/>
              <a:chExt cx="1316269" cy="1323399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392A2278-170A-49E8-B48D-301797CCDF5E}"/>
                  </a:ext>
                </a:extLst>
              </p:cNvPr>
              <p:cNvGrpSpPr/>
              <p:nvPr/>
            </p:nvGrpSpPr>
            <p:grpSpPr>
              <a:xfrm>
                <a:off x="5015148" y="2971696"/>
                <a:ext cx="1175009" cy="1143519"/>
                <a:chOff x="5015148" y="2971695"/>
                <a:chExt cx="1175009" cy="1143520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4E1041DC-D475-450B-91E9-794165D6DE77}"/>
                    </a:ext>
                  </a:extLst>
                </p:cNvPr>
                <p:cNvSpPr/>
                <p:nvPr/>
              </p:nvSpPr>
              <p:spPr>
                <a:xfrm>
                  <a:off x="5015148" y="2971695"/>
                  <a:ext cx="1175009" cy="1143520"/>
                </a:xfrm>
                <a:prstGeom prst="ellipse">
                  <a:avLst/>
                </a:prstGeom>
                <a:solidFill>
                  <a:srgbClr val="FFFF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1BBB2B80-ECD5-421E-A4F7-BBA59D5C9CDF}"/>
                    </a:ext>
                  </a:extLst>
                </p:cNvPr>
                <p:cNvSpPr/>
                <p:nvPr/>
              </p:nvSpPr>
              <p:spPr>
                <a:xfrm>
                  <a:off x="5015148" y="2993775"/>
                  <a:ext cx="1091111" cy="1121440"/>
                </a:xfrm>
                <a:prstGeom prst="ellipse">
                  <a:avLst/>
                </a:prstGeom>
                <a:solidFill>
                  <a:srgbClr val="3333FF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7" name="Google Shape;123;p14">
                <a:extLst>
                  <a:ext uri="{FF2B5EF4-FFF2-40B4-BE49-F238E27FC236}">
                    <a16:creationId xmlns:a16="http://schemas.microsoft.com/office/drawing/2014/main" id="{F38EB064-8955-4FC1-9AF5-C49985002268}"/>
                  </a:ext>
                </a:extLst>
              </p:cNvPr>
              <p:cNvSpPr txBox="1"/>
              <p:nvPr/>
            </p:nvSpPr>
            <p:spPr>
              <a:xfrm>
                <a:off x="4902568" y="2922072"/>
                <a:ext cx="1316269" cy="1323399"/>
              </a:xfrm>
              <a:prstGeom prst="rect">
                <a:avLst/>
              </a:prstGeom>
              <a:noFill/>
              <a:ln>
                <a:noFill/>
              </a:ln>
              <a:effectLst>
                <a:innerShdw blurRad="63500" dist="50800">
                  <a:prstClr val="black">
                    <a:alpha val="50000"/>
                  </a:prstClr>
                </a:innerShdw>
              </a:effectLst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0">
                    <a:solidFill>
                      <a:schemeClr val="bg1"/>
                    </a:solidFill>
                    <a:latin typeface="Yu Gothic UI Semilight" panose="020B0400000000000000" pitchFamily="34" charset="-128"/>
                    <a:ea typeface="Yu Gothic UI Semilight" panose="020B0400000000000000" pitchFamily="34" charset="-128"/>
                  </a:rPr>
                  <a:t>➉</a:t>
                </a:r>
                <a:endParaRPr sz="80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39786C1-301C-402F-B908-633A570E2C52}"/>
              </a:ext>
            </a:extLst>
          </p:cNvPr>
          <p:cNvGrpSpPr/>
          <p:nvPr/>
        </p:nvGrpSpPr>
        <p:grpSpPr>
          <a:xfrm>
            <a:off x="7007312" y="3313402"/>
            <a:ext cx="16791416" cy="1309627"/>
            <a:chOff x="7007312" y="3313402"/>
            <a:chExt cx="16791416" cy="1309627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1F6311BF-A4CF-4E55-85D0-0A86514BB33B}"/>
                </a:ext>
              </a:extLst>
            </p:cNvPr>
            <p:cNvGrpSpPr/>
            <p:nvPr/>
          </p:nvGrpSpPr>
          <p:grpSpPr>
            <a:xfrm>
              <a:off x="7007312" y="3330718"/>
              <a:ext cx="11110067" cy="1292311"/>
              <a:chOff x="-84747" y="97578"/>
              <a:chExt cx="6395438" cy="883658"/>
            </a:xfrm>
          </p:grpSpPr>
          <p:pic>
            <p:nvPicPr>
              <p:cNvPr id="113" name="Picture 112">
                <a:extLst>
                  <a:ext uri="{FF2B5EF4-FFF2-40B4-BE49-F238E27FC236}">
                    <a16:creationId xmlns:a16="http://schemas.microsoft.com/office/drawing/2014/main" id="{E248C2BE-8566-4C92-B9DC-0F7EBDD761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4747" y="97578"/>
                <a:ext cx="6395438" cy="824094"/>
              </a:xfrm>
              <a:prstGeom prst="rect">
                <a:avLst/>
              </a:prstGeom>
            </p:spPr>
          </p:pic>
          <p:sp>
            <p:nvSpPr>
              <p:cNvPr id="115" name="TextBox 321">
                <a:extLst>
                  <a:ext uri="{FF2B5EF4-FFF2-40B4-BE49-F238E27FC236}">
                    <a16:creationId xmlns:a16="http://schemas.microsoft.com/office/drawing/2014/main" id="{EFE5FD9A-8DAE-41E9-BE5B-4B8636094028}"/>
                  </a:ext>
                </a:extLst>
              </p:cNvPr>
              <p:cNvSpPr txBox="1"/>
              <p:nvPr/>
            </p:nvSpPr>
            <p:spPr>
              <a:xfrm>
                <a:off x="180215" y="108752"/>
                <a:ext cx="715323" cy="87248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algn="ctr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60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9</a:t>
                </a:r>
                <a:endParaRPr lang="en-US" sz="6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93D231A-4F31-4CD1-BF95-3B25C6FBC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925800" y="3313402"/>
              <a:ext cx="7872928" cy="1222516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B80CDAB-FCA9-4E95-8F6A-72A9575E1286}"/>
              </a:ext>
            </a:extLst>
          </p:cNvPr>
          <p:cNvSpPr txBox="1"/>
          <p:nvPr/>
        </p:nvSpPr>
        <p:spPr>
          <a:xfrm>
            <a:off x="9829800" y="3434715"/>
            <a:ext cx="123597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TÍCH CỦA MỘT VECTƠ VỚI MỘT SỐ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2184254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2877800" cy="11674476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3258800" y="1828800"/>
            <a:ext cx="10896600" cy="11590340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28600" y="2057400"/>
                <a:ext cx="12725400" cy="106365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mỗi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cặp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vật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đặt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đầu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cánh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tay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đòn</a:t>
                </a:r>
                <a14:m>
                  <m:oMath xmlns:m="http://schemas.openxmlformats.org/officeDocument/2006/math">
                    <m:r>
                      <a:rPr lang="en-US" sz="46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46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𝑨𝑩</m:t>
                    </m:r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luôn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duy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6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6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𝑨𝑩</m:t>
                    </m:r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đặt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đỡ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6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cánh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tay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đòn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ở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trạng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thái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cân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(H.4.20).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Điều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còn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những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trường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tổng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quát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hơn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chẳng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hạn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cánh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tay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đòn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thay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bởi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tấm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ván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đa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6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đỉnh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sz="46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sz="46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,...,</m:t>
                    </m:r>
                    <m:sSub>
                      <m:sSubPr>
                        <m:ctrlP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mỗi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đỉnh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đặt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vật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năng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(kg). Ở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đây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ta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coi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cánh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tay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đòn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tấm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ván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trọng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lượng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Vật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lý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6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như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khối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chất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sz="46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sz="46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,...,</m:t>
                    </m:r>
                    <m:sSub>
                      <m:sSubPr>
                        <m:ctrlP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khối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lượng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sz="46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sz="46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,..,</m:t>
                    </m:r>
                    <m:sSub>
                      <m:sSubPr>
                        <m:ctrlP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4600" b="1" i="1">
                            <a:latin typeface="Cambria Math" panose="02040503050406030204" pitchFamily="18" charset="0"/>
                            <a:ea typeface="Cascadia Mono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(kg).</a:t>
                </a:r>
                <a:endParaRPr lang="en-US" sz="46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057400"/>
                <a:ext cx="12725400" cy="10636566"/>
              </a:xfrm>
              <a:prstGeom prst="rect">
                <a:avLst/>
              </a:prstGeom>
              <a:blipFill>
                <a:blip r:embed="rId3"/>
                <a:stretch>
                  <a:fillRect l="-2060" t="-1433" r="-2012" b="-1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B20133AD-6C5F-4579-8086-E7B536BA0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0" y="1905000"/>
            <a:ext cx="10896599" cy="3483837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7816989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1"/>
            <a:ext cx="23164800" cy="10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TÍCH CỦA MỘT VECTƠ VỚI MỘT SỐ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600" y="2805369"/>
                <a:ext cx="11988602" cy="10607675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𝑩𝑪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lv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quan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lv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quan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như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thế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về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đối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805369"/>
                <a:ext cx="11988602" cy="10607675"/>
              </a:xfrm>
              <a:prstGeom prst="rect">
                <a:avLst/>
              </a:prstGeom>
              <a:blipFill>
                <a:blip r:embed="rId3"/>
                <a:stretch>
                  <a:fillRect l="-228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44400" y="2895601"/>
                <a:ext cx="11630891" cy="1052353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:r>
                  <a:rPr lang="en-US" b="1" dirty="0"/>
                  <a:t>                     </a:t>
                </a:r>
                <a:r>
                  <a:rPr lang="en-US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0" lv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acc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acc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e>
                            </m:acc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e>
                            </m:acc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𝑨𝑪</m:t>
                                </m:r>
                              </m:e>
                            </m:acc>
                          </m:e>
                          <m:e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acc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e>
                            </m:acc>
                          </m:e>
                        </m:eqAr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Do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gấp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đôi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Hay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gấp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đôi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lv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Do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gấp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đôi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Suy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gấp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đôi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lvl="0"/>
                <a:endParaRPr lang="en-US" b="1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400" y="2895601"/>
                <a:ext cx="11630891" cy="10523539"/>
              </a:xfrm>
              <a:prstGeom prst="rect">
                <a:avLst/>
              </a:prstGeom>
              <a:blipFill>
                <a:blip r:embed="rId4"/>
                <a:stretch>
                  <a:fillRect l="-2304" t="-2199" r="-230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25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8610600"/>
            <a:ext cx="8016240" cy="27279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roup 7"/>
          <p:cNvGrpSpPr/>
          <p:nvPr/>
        </p:nvGrpSpPr>
        <p:grpSpPr>
          <a:xfrm>
            <a:off x="1150311" y="2962478"/>
            <a:ext cx="3745843" cy="914400"/>
            <a:chOff x="0" y="12490"/>
            <a:chExt cx="1519062" cy="451406"/>
          </a:xfrm>
        </p:grpSpPr>
        <p:sp>
          <p:nvSpPr>
            <p:cNvPr id="9" name="TextBox 321"/>
            <p:cNvSpPr txBox="1"/>
            <p:nvPr/>
          </p:nvSpPr>
          <p:spPr>
            <a:xfrm>
              <a:off x="676123" y="12490"/>
              <a:ext cx="842939" cy="4514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800" b="1" kern="1200" dirty="0">
                  <a:solidFill>
                    <a:srgbClr val="FF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HĐ1: </a:t>
              </a:r>
              <a:endParaRPr lang="en-US" sz="48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0" y="92326"/>
              <a:ext cx="627012" cy="197663"/>
              <a:chOff x="0" y="92326"/>
              <a:chExt cx="575416" cy="197663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0" y="92326"/>
                <a:ext cx="575416" cy="197663"/>
                <a:chOff x="0" y="92326"/>
                <a:chExt cx="644449" cy="302837"/>
              </a:xfrm>
            </p:grpSpPr>
            <p:sp>
              <p:nvSpPr>
                <p:cNvPr id="14" name="Arrow: Pentagon 6"/>
                <p:cNvSpPr/>
                <p:nvPr/>
              </p:nvSpPr>
              <p:spPr>
                <a:xfrm>
                  <a:off x="0" y="103807"/>
                  <a:ext cx="420648" cy="291356"/>
                </a:xfrm>
                <a:prstGeom prst="homePlat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US" b="1"/>
                </a:p>
              </p:txBody>
            </p:sp>
            <p:sp>
              <p:nvSpPr>
                <p:cNvPr id="15" name="Arrow: Chevron 11"/>
                <p:cNvSpPr/>
                <p:nvPr/>
              </p:nvSpPr>
              <p:spPr>
                <a:xfrm>
                  <a:off x="380243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US" b="1"/>
                </a:p>
              </p:txBody>
            </p:sp>
            <p:sp>
              <p:nvSpPr>
                <p:cNvPr id="16" name="Arrow: Chevron 12"/>
                <p:cNvSpPr/>
                <p:nvPr/>
              </p:nvSpPr>
              <p:spPr>
                <a:xfrm>
                  <a:off x="474990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rgbClr val="0000CC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US" b="1"/>
                </a:p>
              </p:txBody>
            </p:sp>
          </p:grpSp>
          <p:sp>
            <p:nvSpPr>
              <p:cNvPr id="12" name="Flowchart: Terminator 11"/>
              <p:cNvSpPr/>
              <p:nvPr/>
            </p:nvSpPr>
            <p:spPr>
              <a:xfrm>
                <a:off x="80311" y="137613"/>
                <a:ext cx="253736" cy="115827"/>
              </a:xfrm>
              <a:prstGeom prst="flowChartTerminator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b="1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211660" y="142761"/>
                <a:ext cx="92369" cy="95432"/>
              </a:xfrm>
              <a:prstGeom prst="ellipse">
                <a:avLst/>
              </a:prstGeom>
              <a:solidFill>
                <a:srgbClr val="333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b="1"/>
              </a:p>
            </p:txBody>
          </p:sp>
        </p:grpSp>
      </p:grp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7497482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332510" y="1981200"/>
            <a:ext cx="11630892" cy="11411749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b="1" i="1" dirty="0"/>
              </a:p>
              <a:p>
                <a:pPr marL="0" indent="0">
                  <a:buNone/>
                </a:pPr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/>
                  <a:t>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hay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       </a:t>
                </a:r>
                <a:r>
                  <a:rPr lang="en-US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332510" y="2002536"/>
                <a:ext cx="11630892" cy="5084064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Tích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</m:acc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≠</m:t>
                    </m:r>
                    <m:acc>
                      <m:accPr>
                        <m:chr m:val="⃗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thực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𝒌</m:t>
                    </m:r>
                    <m:acc>
                      <m:accPr>
                        <m:chr m:val="⃗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𝒌</m:t>
                    </m:r>
                    <m:d>
                      <m:dPr>
                        <m:begChr m:val="|"/>
                        <m:endChr m:val="|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endParaRPr lang="en-US" sz="48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10" y="2002536"/>
                <a:ext cx="11630892" cy="5084064"/>
              </a:xfrm>
              <a:prstGeom prst="roundRect">
                <a:avLst/>
              </a:prstGeom>
              <a:blipFill>
                <a:blip r:embed="rId5"/>
                <a:stretch>
                  <a:fillRect l="-209" r="-105"/>
                </a:stretch>
              </a:blipFill>
              <a:ln w="1905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/>
          <p:nvPr/>
        </p:nvPicPr>
        <p:blipFill>
          <a:blip r:embed="rId6"/>
          <a:stretch>
            <a:fillRect/>
          </a:stretch>
        </p:blipFill>
        <p:spPr>
          <a:xfrm>
            <a:off x="1784667" y="7677073"/>
            <a:ext cx="9232265" cy="5125403"/>
          </a:xfrm>
          <a:prstGeom prst="rect">
            <a:avLst/>
          </a:prstGeom>
        </p:spPr>
      </p:pic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3016984"/>
              </p:ext>
            </p:extLst>
          </p:nvPr>
        </p:nvGraphicFramePr>
        <p:xfrm>
          <a:off x="12344400" y="2209800"/>
          <a:ext cx="1530112" cy="140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" name="Bitmap Image" r:id="rId7" imgW="609524" imgH="561905" progId="Paint.Picture">
                  <p:embed/>
                </p:oleObj>
              </mc:Choice>
              <mc:Fallback>
                <p:oleObj name="Bitmap Image" r:id="rId7" imgW="609524" imgH="561905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44400" y="2209800"/>
                        <a:ext cx="1530112" cy="14057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366277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307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biểu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thị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  <m:r>
                      <a:rPr lang="en-US" b="1" i="1">
                        <a:latin typeface="Cambria Math" panose="02040503050406030204" pitchFamily="18" charset="0"/>
                      </a:rPr>
                      <m:t>;−</m:t>
                    </m:r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quan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về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mỗi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𝑶𝑴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𝑶𝑵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đẳng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quan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𝑶𝑴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>
                <a:blip r:embed="rId3"/>
                <a:stretch>
                  <a:fillRect l="-2463" r="-43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smtClean="0"/>
                  <a:t>                         </a:t>
                </a:r>
                <a:r>
                  <a:rPr lang="en-US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  <a:endParaRPr lang="en-US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𝑶𝑴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𝑶𝑴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lần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𝑶𝑵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ngược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𝑶𝑵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lần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𝑶𝑴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260" t="-186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6576" y="485013"/>
            <a:ext cx="2438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6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8783090"/>
            <a:ext cx="10820400" cy="1756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343400" y="10674542"/>
            <a:ext cx="292580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4.22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3" name="Picture 12"/>
          <p:cNvPicPr/>
          <p:nvPr/>
        </p:nvPicPr>
        <p:blipFill>
          <a:blip r:embed="rId6"/>
          <a:stretch>
            <a:fillRect/>
          </a:stretch>
        </p:blipFill>
        <p:spPr>
          <a:xfrm>
            <a:off x="14401800" y="7687074"/>
            <a:ext cx="8153400" cy="5705875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1168401" y="2514600"/>
            <a:ext cx="2971800" cy="838200"/>
            <a:chOff x="0" y="-45827"/>
            <a:chExt cx="1359670" cy="451406"/>
          </a:xfrm>
        </p:grpSpPr>
        <p:sp>
          <p:nvSpPr>
            <p:cNvPr id="11" name="TextBox 321"/>
            <p:cNvSpPr txBox="1"/>
            <p:nvPr/>
          </p:nvSpPr>
          <p:spPr>
            <a:xfrm>
              <a:off x="516731" y="-45827"/>
              <a:ext cx="842939" cy="4514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kern="12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Cascadia Mono"/>
                  <a:cs typeface="Times New Roman" panose="02020603050405020304" pitchFamily="18" charset="0"/>
                </a:rPr>
                <a:t> </a:t>
              </a:r>
              <a:r>
                <a:rPr lang="en-US" sz="4400" b="1" kern="1200" dirty="0">
                  <a:solidFill>
                    <a:srgbClr val="FF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HĐ2: </a:t>
              </a:r>
              <a:endParaRPr lang="en-US" sz="4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0" y="92326"/>
              <a:ext cx="627012" cy="197663"/>
              <a:chOff x="0" y="92326"/>
              <a:chExt cx="575416" cy="197663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0" y="92326"/>
                <a:ext cx="575416" cy="197663"/>
                <a:chOff x="0" y="92326"/>
                <a:chExt cx="644449" cy="302837"/>
              </a:xfrm>
            </p:grpSpPr>
            <p:sp>
              <p:nvSpPr>
                <p:cNvPr id="17" name="Arrow: Pentagon 6"/>
                <p:cNvSpPr/>
                <p:nvPr/>
              </p:nvSpPr>
              <p:spPr>
                <a:xfrm>
                  <a:off x="0" y="103807"/>
                  <a:ext cx="420648" cy="291356"/>
                </a:xfrm>
                <a:prstGeom prst="homePlat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Arrow: Chevron 11"/>
                <p:cNvSpPr/>
                <p:nvPr/>
              </p:nvSpPr>
              <p:spPr>
                <a:xfrm>
                  <a:off x="380243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" name="Arrow: Chevron 12"/>
                <p:cNvSpPr/>
                <p:nvPr/>
              </p:nvSpPr>
              <p:spPr>
                <a:xfrm>
                  <a:off x="474990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rgbClr val="0000CC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5" name="Flowchart: Terminator 14"/>
              <p:cNvSpPr/>
              <p:nvPr/>
            </p:nvSpPr>
            <p:spPr>
              <a:xfrm>
                <a:off x="80311" y="137613"/>
                <a:ext cx="253736" cy="115827"/>
              </a:xfrm>
              <a:prstGeom prst="flowChartTerminator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11660" y="142761"/>
                <a:ext cx="92369" cy="95432"/>
              </a:xfrm>
              <a:prstGeom prst="ellipse">
                <a:avLst/>
              </a:prstGeom>
              <a:solidFill>
                <a:srgbClr val="333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078" name="Rounded Rectangle 307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9" name="Rectangle 307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0" name="Rectangle 307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1" name="TextBox 308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3082" name="TextBox 308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2308119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304800" y="1981200"/>
            <a:ext cx="11125201" cy="11411749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734800" y="1981200"/>
                <a:ext cx="123166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Chú ý: 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ước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hoặc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</a:t>
                </a:r>
              </a:p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4.24,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𝑨𝑴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𝑩𝑵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cắt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𝑮𝑨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𝑮𝑴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𝑴𝑵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</a:t>
                </a:r>
              </a:p>
              <a:p>
                <a:endParaRPr lang="en-US" b="1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4800" y="1981200"/>
                <a:ext cx="12316691" cy="11411749"/>
              </a:xfrm>
              <a:prstGeom prst="rect">
                <a:avLst/>
              </a:prstGeom>
              <a:blipFill>
                <a:blip r:embed="rId3"/>
                <a:stretch>
                  <a:fillRect l="-2176" t="-1121" r="-173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381000" y="1981200"/>
                <a:ext cx="11125201" cy="36576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Tích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</m:acc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≠</m:t>
                    </m:r>
                    <m:acc>
                      <m:accPr>
                        <m:chr m:val="⃗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thực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𝒌</m:t>
                    </m:r>
                    <m:acc>
                      <m:accPr>
                        <m:chr m:val="⃗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ngược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𝒌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endParaRPr lang="en-US" sz="48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981200"/>
                <a:ext cx="11125201" cy="3657600"/>
              </a:xfrm>
              <a:prstGeom prst="roundRect">
                <a:avLst/>
              </a:prstGeom>
              <a:blipFill>
                <a:blip r:embed="rId4"/>
                <a:stretch>
                  <a:fillRect l="-875" r="-711" b="-2985"/>
                </a:stretch>
              </a:blipFill>
              <a:ln w="1905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/>
          <p:nvPr/>
        </p:nvPicPr>
        <p:blipFill>
          <a:blip r:embed="rId5"/>
          <a:stretch>
            <a:fillRect/>
          </a:stretch>
        </p:blipFill>
        <p:spPr>
          <a:xfrm>
            <a:off x="1219200" y="6400800"/>
            <a:ext cx="9296400" cy="6248400"/>
          </a:xfrm>
          <a:prstGeom prst="rect">
            <a:avLst/>
          </a:prstGeom>
        </p:spPr>
      </p:pic>
      <p:sp>
        <p:nvSpPr>
          <p:cNvPr id="10" name="Text Box 24"/>
          <p:cNvSpPr txBox="1"/>
          <p:nvPr/>
        </p:nvSpPr>
        <p:spPr>
          <a:xfrm>
            <a:off x="16322080" y="8367686"/>
            <a:ext cx="3440430" cy="7239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4.24</a:t>
            </a:r>
            <a:endParaRPr lang="en-US" sz="4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05EC71-DD8E-48C6-BD7D-0A01FCA701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86098" y="3581400"/>
            <a:ext cx="8912395" cy="4786286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8241251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  <p:bldP spid="4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4800" y="1981200"/>
                <a:ext cx="13258800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Nhận </a:t>
                </a:r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xét</a:t>
                </a: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b="1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ngược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b="1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quan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gì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     </a:t>
                </a:r>
                <a:r>
                  <a:rPr lang="en-US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981200"/>
                <a:ext cx="13258800" cy="11411749"/>
              </a:xfrm>
              <a:prstGeom prst="rect">
                <a:avLst/>
              </a:prstGeom>
              <a:blipFill>
                <a:blip r:embed="rId4"/>
                <a:stretch>
                  <a:fillRect l="-2021" t="-186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3868400" y="1981200"/>
            <a:ext cx="10183091" cy="11411749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33121600" y="3568699"/>
            <a:ext cx="650240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6194917"/>
              </p:ext>
            </p:extLst>
          </p:nvPr>
        </p:nvGraphicFramePr>
        <p:xfrm>
          <a:off x="609600" y="4114800"/>
          <a:ext cx="10668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Bitmap Image" r:id="rId5" imgW="487826" imgH="449619" progId="Paint.Picture">
                  <p:embed/>
                </p:oleObj>
              </mc:Choice>
              <mc:Fallback>
                <p:oleObj name="Bitmap Image" r:id="rId5" imgW="487826" imgH="449619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114800"/>
                        <a:ext cx="1066800" cy="1092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5137C090-0884-448D-9AF0-62E252E39B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68400" y="2438400"/>
            <a:ext cx="10134600" cy="5029200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2815911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1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3400" y="1828800"/>
                <a:ext cx="23243315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Chứng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minh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tồn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                                 </a:t>
                </a:r>
                <a:r>
                  <a:rPr lang="en-US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Thật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Ngược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lại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sử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lấy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acc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acc>
                          </m:e>
                        </m:d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lấy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acc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acc>
                          </m:e>
                        </m:d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ngược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828800"/>
                <a:ext cx="23243315" cy="11411749"/>
              </a:xfrm>
              <a:prstGeom prst="rect">
                <a:avLst/>
              </a:prstGeom>
              <a:blipFill>
                <a:blip r:embed="rId3"/>
                <a:stretch>
                  <a:fillRect l="-118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1133370" y="2078016"/>
            <a:ext cx="3895830" cy="1427184"/>
            <a:chOff x="22440" y="59287"/>
            <a:chExt cx="617386" cy="230002"/>
          </a:xfrm>
        </p:grpSpPr>
        <p:grpSp>
          <p:nvGrpSpPr>
            <p:cNvPr id="19" name="Group 18"/>
            <p:cNvGrpSpPr/>
            <p:nvPr/>
          </p:nvGrpSpPr>
          <p:grpSpPr>
            <a:xfrm>
              <a:off x="22440" y="59287"/>
              <a:ext cx="605960" cy="159855"/>
              <a:chOff x="31572" y="60276"/>
              <a:chExt cx="852597" cy="197828"/>
            </a:xfrm>
          </p:grpSpPr>
          <p:sp>
            <p:nvSpPr>
              <p:cNvPr id="21" name="Arrow: Pentagon 25"/>
              <p:cNvSpPr/>
              <p:nvPr/>
            </p:nvSpPr>
            <p:spPr>
              <a:xfrm>
                <a:off x="204585" y="62042"/>
                <a:ext cx="679584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200" b="1" kern="1200">
                    <a:solidFill>
                      <a:srgbClr val="00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Arrow: Chevron 26"/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Arrow: Chevron 27"/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0" name="TextBox 56"/>
            <p:cNvSpPr txBox="1"/>
            <p:nvPr/>
          </p:nvSpPr>
          <p:spPr>
            <a:xfrm>
              <a:off x="188148" y="59287"/>
              <a:ext cx="45167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Ví</a:t>
              </a:r>
              <a:r>
                <a:rPr lang="en-US" sz="4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</a:t>
              </a:r>
              <a:r>
                <a:rPr lang="en-US" sz="4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1.</a:t>
              </a:r>
              <a:endParaRPr lang="en-US" sz="4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0647341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2400" y="1978460"/>
                <a:ext cx="24003000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/>
                <a:endParaRPr lang="en-US" dirty="0"/>
              </a:p>
              <a:p>
                <a:pPr lvl="0"/>
                <a:endParaRPr lang="en-US" dirty="0"/>
              </a:p>
              <a:p>
                <a:pPr lvl="0"/>
                <a:endParaRPr lang="en-US" dirty="0"/>
              </a:p>
              <a:p>
                <a:pPr lvl="0"/>
                <a:endParaRPr lang="en-US" dirty="0"/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tồn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𝑨𝑴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𝒕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</a:t>
                </a:r>
              </a:p>
              <a:p>
                <a:pPr marL="0" lv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bất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kì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luôn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𝑨𝑴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𝑨𝑴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𝑨𝑩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lv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đối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tồn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𝑨𝑴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𝒕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              </a:t>
                </a:r>
                <a:r>
                  <a:rPr lang="en-US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Những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khẳng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a); c).</a:t>
                </a:r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978460"/>
                <a:ext cx="24003000" cy="114117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152400" y="1349568"/>
            <a:ext cx="5029200" cy="1645301"/>
            <a:chOff x="22440" y="-88133"/>
            <a:chExt cx="1134503" cy="307088"/>
          </a:xfrm>
        </p:grpSpPr>
        <p:grpSp>
          <p:nvGrpSpPr>
            <p:cNvPr id="5" name="Group 4"/>
            <p:cNvGrpSpPr/>
            <p:nvPr/>
          </p:nvGrpSpPr>
          <p:grpSpPr>
            <a:xfrm>
              <a:off x="22440" y="59288"/>
              <a:ext cx="1134503" cy="159667"/>
              <a:chOff x="31572" y="60276"/>
              <a:chExt cx="1596267" cy="197595"/>
            </a:xfrm>
          </p:grpSpPr>
          <p:sp>
            <p:nvSpPr>
              <p:cNvPr id="8" name="Arrow: Pentagon 33"/>
              <p:cNvSpPr/>
              <p:nvPr/>
            </p:nvSpPr>
            <p:spPr>
              <a:xfrm>
                <a:off x="204506" y="61809"/>
                <a:ext cx="1423333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Arrow: Chevron 34"/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Arrow: Chevron 35"/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" name="TextBox 56"/>
            <p:cNvSpPr txBox="1"/>
            <p:nvPr/>
          </p:nvSpPr>
          <p:spPr>
            <a:xfrm>
              <a:off x="208271" y="-88133"/>
              <a:ext cx="905861" cy="267033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endParaRPr lang="en-US" sz="4400" b="1" dirty="0">
                <a:solidFill>
                  <a:srgbClr val="00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Luyện</a:t>
              </a:r>
              <a:r>
                <a:rPr lang="en-US" sz="4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lang="en-US" sz="4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1.</a:t>
              </a:r>
              <a:endParaRPr lang="en-US" sz="4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40470" y="3340529"/>
                <a:ext cx="23626859" cy="16018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𝒅</m:t>
                    </m:r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qua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biệt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(H.4.25).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Những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khẳng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đây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70" y="3340529"/>
                <a:ext cx="23626859" cy="1601849"/>
              </a:xfrm>
              <a:prstGeom prst="rect">
                <a:avLst/>
              </a:prstGeom>
              <a:blipFill>
                <a:blip r:embed="rId4"/>
                <a:stretch>
                  <a:fillRect l="-1187" t="-9886" b="-19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/>
          <p:cNvPicPr/>
          <p:nvPr/>
        </p:nvPicPr>
        <p:blipFill>
          <a:blip r:embed="rId5"/>
          <a:stretch>
            <a:fillRect/>
          </a:stretch>
        </p:blipFill>
        <p:spPr>
          <a:xfrm>
            <a:off x="6934200" y="4858894"/>
            <a:ext cx="7772400" cy="1507582"/>
          </a:xfrm>
          <a:prstGeom prst="rect">
            <a:avLst/>
          </a:prstGeom>
        </p:spPr>
      </p:pic>
      <p:sp>
        <p:nvSpPr>
          <p:cNvPr id="14" name="Text Box 27"/>
          <p:cNvSpPr txBox="1"/>
          <p:nvPr/>
        </p:nvSpPr>
        <p:spPr>
          <a:xfrm>
            <a:off x="9067800" y="6366476"/>
            <a:ext cx="4114800" cy="76199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4.25</a:t>
            </a:r>
            <a:endParaRPr lang="en-US" sz="4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2573845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1"/>
            <a:ext cx="23164800" cy="939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/>
              <a:t>2. CÁC TÍNH CHẤT CỦA PHÉP NHÂN VECTƠ VỚI MỘT SỐ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971800"/>
                <a:ext cx="23164800" cy="105314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thực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những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khẳng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đây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  <a:p>
                <a:pPr marL="0" lv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Hai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𝒌𝒕</m:t>
                        </m:r>
                      </m:e>
                    </m:d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𝒌𝒕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lv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cả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𝒌𝒕</m:t>
                        </m:r>
                      </m:e>
                    </m:d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lv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cả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𝒌𝒕</m:t>
                        </m:r>
                      </m:e>
                    </m:d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ngược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       </a:t>
                </a:r>
                <a:r>
                  <a:rPr lang="en-US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Những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khẳng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a); b); c).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971800"/>
                <a:ext cx="23164800" cy="10531476"/>
              </a:xfrm>
              <a:prstGeom prst="rect">
                <a:avLst/>
              </a:prstGeom>
              <a:blipFill>
                <a:blip r:embed="rId3"/>
                <a:stretch>
                  <a:fillRect l="-118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1066800" y="2971800"/>
            <a:ext cx="2971800" cy="838200"/>
            <a:chOff x="0" y="-45827"/>
            <a:chExt cx="1359670" cy="451406"/>
          </a:xfrm>
        </p:grpSpPr>
        <p:sp>
          <p:nvSpPr>
            <p:cNvPr id="10" name="TextBox 321"/>
            <p:cNvSpPr txBox="1"/>
            <p:nvPr/>
          </p:nvSpPr>
          <p:spPr>
            <a:xfrm>
              <a:off x="516731" y="-45827"/>
              <a:ext cx="842939" cy="4514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kern="12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Cascadia Mono"/>
                  <a:cs typeface="Times New Roman" panose="02020603050405020304" pitchFamily="18" charset="0"/>
                </a:rPr>
                <a:t> </a:t>
              </a:r>
              <a:r>
                <a:rPr lang="en-US" sz="4400" b="1" kern="1200" dirty="0">
                  <a:solidFill>
                    <a:srgbClr val="FF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HĐ3:</a:t>
              </a:r>
              <a:r>
                <a:rPr lang="en-US" sz="4400" b="1" kern="12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Cascadia Mono"/>
                  <a:cs typeface="Times New Roman" panose="02020603050405020304" pitchFamily="18" charset="0"/>
                </a:rPr>
                <a:t> </a:t>
              </a:r>
              <a:endParaRPr lang="en-US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0" y="92326"/>
              <a:ext cx="627012" cy="197663"/>
              <a:chOff x="0" y="92326"/>
              <a:chExt cx="575416" cy="197663"/>
            </a:xfrm>
          </p:grpSpPr>
          <p:grpSp>
            <p:nvGrpSpPr>
              <p:cNvPr id="12" name="Group 11"/>
              <p:cNvGrpSpPr/>
              <p:nvPr/>
            </p:nvGrpSpPr>
            <p:grpSpPr>
              <a:xfrm>
                <a:off x="0" y="92326"/>
                <a:ext cx="575416" cy="197663"/>
                <a:chOff x="0" y="92326"/>
                <a:chExt cx="644449" cy="302837"/>
              </a:xfrm>
            </p:grpSpPr>
            <p:sp>
              <p:nvSpPr>
                <p:cNvPr id="15" name="Arrow: Pentagon 6"/>
                <p:cNvSpPr/>
                <p:nvPr/>
              </p:nvSpPr>
              <p:spPr>
                <a:xfrm>
                  <a:off x="0" y="103807"/>
                  <a:ext cx="420648" cy="291356"/>
                </a:xfrm>
                <a:prstGeom prst="homePlat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" name="Arrow: Chevron 11"/>
                <p:cNvSpPr/>
                <p:nvPr/>
              </p:nvSpPr>
              <p:spPr>
                <a:xfrm>
                  <a:off x="380243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Arrow: Chevron 12"/>
                <p:cNvSpPr/>
                <p:nvPr/>
              </p:nvSpPr>
              <p:spPr>
                <a:xfrm>
                  <a:off x="474990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rgbClr val="0000CC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3" name="Flowchart: Terminator 12"/>
              <p:cNvSpPr/>
              <p:nvPr/>
            </p:nvSpPr>
            <p:spPr>
              <a:xfrm>
                <a:off x="80311" y="137613"/>
                <a:ext cx="253736" cy="115827"/>
              </a:xfrm>
              <a:prstGeom prst="flowChartTerminator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211660" y="142761"/>
                <a:ext cx="92369" cy="95432"/>
              </a:xfrm>
              <a:prstGeom prst="ellipse">
                <a:avLst/>
              </a:prstGeom>
              <a:solidFill>
                <a:srgbClr val="333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5494592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1"/>
            <a:ext cx="23164800" cy="939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/>
              <a:t>2. CÁC TÍNH CHẤT CỦA PHÉP NHÂN VECTƠ VỚI MỘT SỐ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4800" y="2962656"/>
                <a:ext cx="23729575" cy="1044734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4.26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quan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           </a:t>
                </a:r>
                <a:r>
                  <a:rPr lang="en-US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d>
                              <m:d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</m:e>
                                </m:acc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𝑶𝑴</m:t>
                                </m:r>
                              </m:e>
                            </m:acc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𝑶𝑪</m:t>
                                </m:r>
                              </m:e>
                            </m:acc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</m:acc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𝑶𝑨</m:t>
                                </m:r>
                              </m:e>
                            </m:acc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𝑶𝑩</m:t>
                                </m:r>
                              </m:e>
                            </m:acc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𝑶𝑪</m:t>
                                </m:r>
                              </m:e>
                            </m:acc>
                          </m:e>
                        </m:eqArr>
                      </m:e>
                    </m:d>
                  </m:oMath>
                </a14:m>
                <a:endParaRPr lang="en-US" b="1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962656"/>
                <a:ext cx="23729575" cy="10447340"/>
              </a:xfrm>
              <a:prstGeom prst="rect">
                <a:avLst/>
              </a:prstGeom>
              <a:blipFill>
                <a:blip r:embed="rId3"/>
                <a:stretch>
                  <a:fillRect l="-113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/>
          <p:nvPr/>
        </p:nvPicPr>
        <p:blipFill>
          <a:blip r:embed="rId4"/>
          <a:stretch>
            <a:fillRect/>
          </a:stretch>
        </p:blipFill>
        <p:spPr>
          <a:xfrm>
            <a:off x="7772400" y="5394411"/>
            <a:ext cx="6705600" cy="3084068"/>
          </a:xfrm>
          <a:prstGeom prst="rect">
            <a:avLst/>
          </a:prstGeom>
        </p:spPr>
      </p:pic>
      <p:sp>
        <p:nvSpPr>
          <p:cNvPr id="8" name="Text Box 32"/>
          <p:cNvSpPr txBox="1"/>
          <p:nvPr/>
        </p:nvSpPr>
        <p:spPr>
          <a:xfrm>
            <a:off x="9358899" y="8478479"/>
            <a:ext cx="3345180" cy="84963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4.26</a:t>
            </a:r>
            <a:endParaRPr lang="en-US" sz="4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1143000" y="2962656"/>
            <a:ext cx="3200400" cy="838200"/>
            <a:chOff x="0" y="-45827"/>
            <a:chExt cx="1359670" cy="451406"/>
          </a:xfrm>
        </p:grpSpPr>
        <p:sp>
          <p:nvSpPr>
            <p:cNvPr id="29" name="TextBox 321"/>
            <p:cNvSpPr txBox="1"/>
            <p:nvPr/>
          </p:nvSpPr>
          <p:spPr>
            <a:xfrm>
              <a:off x="516731" y="-45827"/>
              <a:ext cx="842939" cy="4514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kern="12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Cascadia Mono"/>
                  <a:cs typeface="Times New Roman" panose="02020603050405020304" pitchFamily="18" charset="0"/>
                </a:rPr>
                <a:t> </a:t>
              </a:r>
              <a:r>
                <a:rPr lang="en-US" sz="4400" b="1" kern="1200" dirty="0">
                  <a:solidFill>
                    <a:srgbClr val="FF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HĐ4: </a:t>
              </a:r>
              <a:endParaRPr lang="en-US" sz="4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30" name="Group 29"/>
            <p:cNvGrpSpPr/>
            <p:nvPr/>
          </p:nvGrpSpPr>
          <p:grpSpPr>
            <a:xfrm>
              <a:off x="0" y="92326"/>
              <a:ext cx="627012" cy="197663"/>
              <a:chOff x="0" y="92326"/>
              <a:chExt cx="575416" cy="197663"/>
            </a:xfrm>
          </p:grpSpPr>
          <p:grpSp>
            <p:nvGrpSpPr>
              <p:cNvPr id="31" name="Group 30"/>
              <p:cNvGrpSpPr/>
              <p:nvPr/>
            </p:nvGrpSpPr>
            <p:grpSpPr>
              <a:xfrm>
                <a:off x="0" y="92326"/>
                <a:ext cx="575416" cy="197663"/>
                <a:chOff x="0" y="92326"/>
                <a:chExt cx="644449" cy="302837"/>
              </a:xfrm>
            </p:grpSpPr>
            <p:sp>
              <p:nvSpPr>
                <p:cNvPr id="34" name="Arrow: Pentagon 6"/>
                <p:cNvSpPr/>
                <p:nvPr/>
              </p:nvSpPr>
              <p:spPr>
                <a:xfrm>
                  <a:off x="0" y="103807"/>
                  <a:ext cx="420648" cy="291356"/>
                </a:xfrm>
                <a:prstGeom prst="homePlat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Arrow: Chevron 11"/>
                <p:cNvSpPr/>
                <p:nvPr/>
              </p:nvSpPr>
              <p:spPr>
                <a:xfrm>
                  <a:off x="380243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Arrow: Chevron 12"/>
                <p:cNvSpPr/>
                <p:nvPr/>
              </p:nvSpPr>
              <p:spPr>
                <a:xfrm>
                  <a:off x="474990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rgbClr val="0000CC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32" name="Flowchart: Terminator 31"/>
              <p:cNvSpPr/>
              <p:nvPr/>
            </p:nvSpPr>
            <p:spPr>
              <a:xfrm>
                <a:off x="80311" y="137613"/>
                <a:ext cx="253736" cy="115827"/>
              </a:xfrm>
              <a:prstGeom prst="flowChartTerminator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211660" y="142761"/>
                <a:ext cx="92369" cy="95432"/>
              </a:xfrm>
              <a:prstGeom prst="ellipse">
                <a:avLst/>
              </a:prstGeom>
              <a:solidFill>
                <a:srgbClr val="333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9064172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7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304800" y="1981200"/>
            <a:ext cx="11887200" cy="11411749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2192000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đoạn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Chứng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minh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tùy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ý,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𝑶𝑰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          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nên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𝑰𝑨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Ví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dụ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3a,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Bài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8).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Do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𝑶𝑰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𝑰𝑨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𝑶𝑰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𝑰𝑩</m:t>
                            </m:r>
                          </m:e>
                        </m:acc>
                      </m:e>
                    </m:d>
                  </m:oMath>
                </a14:m>
                <a:endParaRPr lang="en-US" b="1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𝑶𝑰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𝑰𝑨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𝑰𝑩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𝑶𝑰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2192000" cy="11411749"/>
              </a:xfrm>
              <a:prstGeom prst="rect">
                <a:avLst/>
              </a:prstGeom>
              <a:blipFill>
                <a:blip r:embed="rId3"/>
                <a:stretch>
                  <a:fillRect l="-219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/>
              <p:cNvSpPr/>
              <p:nvPr/>
            </p:nvSpPr>
            <p:spPr>
              <a:xfrm>
                <a:off x="457200" y="2286000"/>
                <a:ext cx="11353800" cy="80010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thực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𝒕</m:t>
                    </m:r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luôn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  <a:endParaRPr lang="en-US" sz="48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457200" indent="-228600"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𝒌</m:t>
                    </m:r>
                    <m:d>
                      <m:dPr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𝒕</m:t>
                        </m:r>
                        <m:acc>
                          <m:accPr>
                            <m:chr m:val="⃗"/>
                            <m:ctrlPr>
                              <a:rPr lang="en-US" sz="4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𝒂</m:t>
                            </m:r>
                          </m:e>
                        </m:acc>
                      </m:e>
                    </m:d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d>
                      <m:dPr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𝒌𝒕</m:t>
                        </m:r>
                      </m:e>
                    </m:d>
                    <m:acc>
                      <m:accPr>
                        <m:chr m:val="⃗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		</a:t>
                </a:r>
                <a:endParaRPr lang="en-US" sz="48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457200" indent="-228600"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𝒌</m:t>
                    </m:r>
                    <m:d>
                      <m:dPr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𝒂</m:t>
                            </m:r>
                          </m:e>
                        </m:acc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𝒃</m:t>
                            </m:r>
                          </m:e>
                        </m:acc>
                      </m:e>
                    </m:d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𝒌</m:t>
                    </m:r>
                    <m:acc>
                      <m:accPr>
                        <m:chr m:val="⃗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𝒂</m:t>
                        </m:r>
                      </m:e>
                    </m:acc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𝒌</m:t>
                    </m:r>
                    <m:acc>
                      <m:accPr>
                        <m:chr m:val="⃗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 </a:t>
                </a:r>
              </a:p>
              <a:p>
                <a:pPr marL="457200" indent="-228600"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𝒌</m:t>
                    </m:r>
                    <m:d>
                      <m:dPr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𝒂</m:t>
                            </m:r>
                          </m:e>
                        </m:acc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US" sz="4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𝒃</m:t>
                            </m:r>
                          </m:e>
                        </m:acc>
                      </m:e>
                    </m:d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𝒌</m:t>
                    </m:r>
                    <m:acc>
                      <m:accPr>
                        <m:chr m:val="⃗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𝒂</m:t>
                        </m:r>
                      </m:e>
                    </m:acc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𝒌</m:t>
                    </m:r>
                    <m:acc>
                      <m:accPr>
                        <m:chr m:val="⃗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  <a:endParaRPr lang="en-US" sz="48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457200" indent="-228600"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𝒌</m:t>
                        </m:r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𝒕</m:t>
                        </m:r>
                      </m:e>
                    </m:d>
                    <m:acc>
                      <m:accPr>
                        <m:chr m:val="⃗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𝒂</m:t>
                        </m:r>
                      </m:e>
                    </m:acc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𝒌</m:t>
                    </m:r>
                    <m:acc>
                      <m:accPr>
                        <m:chr m:val="⃗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𝒂</m:t>
                        </m:r>
                      </m:e>
                    </m:acc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𝒕</m:t>
                    </m:r>
                    <m:acc>
                      <m:accPr>
                        <m:chr m:val="⃗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  <a:endParaRPr lang="en-US" sz="48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457200" indent="-228600"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𝟏</m:t>
                    </m:r>
                    <m:acc>
                      <m:accPr>
                        <m:chr m:val="⃗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𝒂</m:t>
                        </m:r>
                      </m:e>
                    </m:acc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𝟏</m:t>
                        </m:r>
                      </m:e>
                    </m:d>
                    <m:acc>
                      <m:accPr>
                        <m:chr m:val="⃗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𝒂</m:t>
                        </m:r>
                      </m:e>
                    </m:acc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=−</m:t>
                    </m:r>
                    <m:acc>
                      <m:accPr>
                        <m:chr m:val="⃗"/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endParaRPr lang="en-US" sz="48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286000"/>
                <a:ext cx="11353800" cy="8001000"/>
              </a:xfrm>
              <a:prstGeom prst="roundRect">
                <a:avLst/>
              </a:prstGeom>
              <a:blipFill>
                <a:blip r:embed="rId4"/>
                <a:stretch>
                  <a:fillRect b="-1140"/>
                </a:stretch>
              </a:blipFill>
              <a:ln w="1905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12344400" y="2362200"/>
            <a:ext cx="3886200" cy="1427184"/>
            <a:chOff x="22440" y="59287"/>
            <a:chExt cx="617386" cy="230002"/>
          </a:xfrm>
        </p:grpSpPr>
        <p:grpSp>
          <p:nvGrpSpPr>
            <p:cNvPr id="6" name="Group 5"/>
            <p:cNvGrpSpPr/>
            <p:nvPr/>
          </p:nvGrpSpPr>
          <p:grpSpPr>
            <a:xfrm>
              <a:off x="22440" y="59287"/>
              <a:ext cx="605960" cy="159855"/>
              <a:chOff x="31572" y="60276"/>
              <a:chExt cx="852597" cy="197828"/>
            </a:xfrm>
          </p:grpSpPr>
          <p:sp>
            <p:nvSpPr>
              <p:cNvPr id="9" name="Arrow: Pentagon 25"/>
              <p:cNvSpPr/>
              <p:nvPr/>
            </p:nvSpPr>
            <p:spPr>
              <a:xfrm>
                <a:off x="204585" y="62042"/>
                <a:ext cx="679584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200" b="1" kern="1200">
                    <a:solidFill>
                      <a:srgbClr val="00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rrow: Chevron 26"/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Arrow: Chevron 27"/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" name="TextBox 56"/>
            <p:cNvSpPr txBox="1"/>
            <p:nvPr/>
          </p:nvSpPr>
          <p:spPr>
            <a:xfrm>
              <a:off x="188148" y="59287"/>
              <a:ext cx="45167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Ví</a:t>
              </a:r>
              <a:r>
                <a:rPr lang="en-US" sz="4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</a:t>
              </a:r>
              <a:r>
                <a:rPr lang="en-US" sz="4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2.</a:t>
              </a:r>
              <a:endParaRPr lang="en-US" sz="4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8168932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000" y="1981200"/>
                <a:ext cx="23774400" cy="11506200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tam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trọng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Chứng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minh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tùy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ý,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𝑶𝑪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𝑶𝑮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                                       </a:t>
                </a:r>
                <a:r>
                  <a:rPr lang="en-US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trọng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𝑮𝑨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𝑮𝑩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𝑮𝑪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Ví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dụ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3b,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Bài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8).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𝑶𝑪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𝑶𝑮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𝑮𝑨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𝑶𝑮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𝑮𝑩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𝑶𝑮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𝑮𝑪</m:t>
                        </m:r>
                      </m:e>
                    </m:acc>
                  </m:oMath>
                </a14:m>
                <a:endParaRPr lang="en-US" b="1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𝟑</m:t>
                      </m:r>
                      <m:acc>
                        <m:accPr>
                          <m:chr m:val="⃗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𝑶𝑮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𝑮𝑨</m:t>
                              </m:r>
                            </m:e>
                          </m:acc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𝑮𝑩</m:t>
                              </m:r>
                            </m:e>
                          </m:acc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𝑮𝑪</m:t>
                              </m:r>
                            </m:e>
                          </m:acc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𝟑</m:t>
                      </m:r>
                      <m:acc>
                        <m:accPr>
                          <m:chr m:val="⃗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𝑶𝑮</m:t>
                          </m:r>
                        </m:e>
                      </m:acc>
                    </m:oMath>
                  </m:oMathPara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Nhận</a:t>
                </a: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xét</a:t>
                </a: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</a:p>
              <a:p>
                <a:pPr lvl="0"/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đoạn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𝑰𝑨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lvl="0"/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trọng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𝑮𝑨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𝑮𝑩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𝑮𝑪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981200"/>
                <a:ext cx="23774400" cy="11506200"/>
              </a:xfrm>
              <a:prstGeom prst="rect">
                <a:avLst/>
              </a:prstGeom>
              <a:blipFill>
                <a:blip r:embed="rId3"/>
                <a:stretch>
                  <a:fillRect l="-1153" r="-20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1219200" y="1600200"/>
            <a:ext cx="5257800" cy="1645301"/>
            <a:chOff x="22440" y="-88133"/>
            <a:chExt cx="1134503" cy="307088"/>
          </a:xfrm>
        </p:grpSpPr>
        <p:grpSp>
          <p:nvGrpSpPr>
            <p:cNvPr id="5" name="Group 4"/>
            <p:cNvGrpSpPr/>
            <p:nvPr/>
          </p:nvGrpSpPr>
          <p:grpSpPr>
            <a:xfrm>
              <a:off x="22440" y="59288"/>
              <a:ext cx="1134503" cy="159667"/>
              <a:chOff x="31572" y="60276"/>
              <a:chExt cx="1596267" cy="197595"/>
            </a:xfrm>
          </p:grpSpPr>
          <p:sp>
            <p:nvSpPr>
              <p:cNvPr id="8" name="Arrow: Pentagon 33"/>
              <p:cNvSpPr/>
              <p:nvPr/>
            </p:nvSpPr>
            <p:spPr>
              <a:xfrm>
                <a:off x="204506" y="61809"/>
                <a:ext cx="1423333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Arrow: Chevron 34"/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Arrow: Chevron 35"/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" name="TextBox 56"/>
            <p:cNvSpPr txBox="1"/>
            <p:nvPr/>
          </p:nvSpPr>
          <p:spPr>
            <a:xfrm>
              <a:off x="208271" y="-88133"/>
              <a:ext cx="905861" cy="267033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endParaRPr lang="en-US" sz="4400" b="1" dirty="0">
                <a:solidFill>
                  <a:srgbClr val="00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Luyện</a:t>
              </a:r>
              <a:r>
                <a:rPr lang="en-US" sz="4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lang="en-US" sz="4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2.</a:t>
              </a:r>
              <a:endParaRPr lang="en-US" sz="4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8730274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000" y="1981200"/>
                <a:ext cx="11658600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4.27,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biểu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thị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mỗi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  <m:r>
                      <a:rPr lang="en-US" b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để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𝒕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𝒛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</a:t>
                </a:r>
                <a:r>
                  <a:rPr lang="en-US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</m:acc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acc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acc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acc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acc>
                          </m:e>
                        </m:eqAr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</a:t>
                </a: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981200"/>
                <a:ext cx="11658600" cy="11411749"/>
              </a:xfrm>
              <a:prstGeom prst="rect">
                <a:avLst/>
              </a:prstGeom>
              <a:blipFill>
                <a:blip r:embed="rId3"/>
                <a:stretch>
                  <a:fillRect l="-2351" b="-186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039600" y="1981200"/>
                <a:ext cx="120118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Chú ý: 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(H.4.28).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mọi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biểu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thị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tích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duy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nghĩa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duy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cặp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sao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600" y="1981200"/>
                <a:ext cx="12011891" cy="11411749"/>
              </a:xfrm>
              <a:prstGeom prst="rect">
                <a:avLst/>
              </a:prstGeom>
              <a:blipFill>
                <a:blip r:embed="rId4"/>
                <a:stretch>
                  <a:fillRect l="-2231" t="-1814" r="-101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838200" y="1158549"/>
            <a:ext cx="5181600" cy="1645301"/>
            <a:chOff x="22440" y="-88133"/>
            <a:chExt cx="1134503" cy="307088"/>
          </a:xfrm>
        </p:grpSpPr>
        <p:grpSp>
          <p:nvGrpSpPr>
            <p:cNvPr id="5" name="Group 4"/>
            <p:cNvGrpSpPr/>
            <p:nvPr/>
          </p:nvGrpSpPr>
          <p:grpSpPr>
            <a:xfrm>
              <a:off x="22440" y="59288"/>
              <a:ext cx="1134503" cy="159667"/>
              <a:chOff x="31572" y="60276"/>
              <a:chExt cx="1596267" cy="197595"/>
            </a:xfrm>
          </p:grpSpPr>
          <p:sp>
            <p:nvSpPr>
              <p:cNvPr id="8" name="Arrow: Pentagon 33"/>
              <p:cNvSpPr/>
              <p:nvPr/>
            </p:nvSpPr>
            <p:spPr>
              <a:xfrm>
                <a:off x="204506" y="61809"/>
                <a:ext cx="1423333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Arrow: Chevron 34"/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Arrow: Chevron 35"/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" name="TextBox 56"/>
            <p:cNvSpPr txBox="1"/>
            <p:nvPr/>
          </p:nvSpPr>
          <p:spPr>
            <a:xfrm>
              <a:off x="208271" y="-88133"/>
              <a:ext cx="905861" cy="267033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endParaRPr lang="en-US" sz="4400" b="1" dirty="0">
                <a:solidFill>
                  <a:srgbClr val="0000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Luyện</a:t>
              </a:r>
              <a:r>
                <a:rPr lang="en-US" sz="4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lang="en-US" sz="4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3.</a:t>
              </a:r>
              <a:endParaRPr lang="en-US" sz="4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11" name="Picture 10"/>
          <p:cNvPicPr/>
          <p:nvPr/>
        </p:nvPicPr>
        <p:blipFill>
          <a:blip r:embed="rId5"/>
          <a:stretch>
            <a:fillRect/>
          </a:stretch>
        </p:blipFill>
        <p:spPr>
          <a:xfrm>
            <a:off x="4718527" y="5771480"/>
            <a:ext cx="5345748" cy="3831187"/>
          </a:xfrm>
          <a:prstGeom prst="rect">
            <a:avLst/>
          </a:prstGeom>
        </p:spPr>
      </p:pic>
      <p:sp>
        <p:nvSpPr>
          <p:cNvPr id="12" name="Text Box 176"/>
          <p:cNvSpPr txBox="1"/>
          <p:nvPr/>
        </p:nvSpPr>
        <p:spPr>
          <a:xfrm>
            <a:off x="6019800" y="9602667"/>
            <a:ext cx="2743200" cy="60198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4.27</a:t>
            </a:r>
            <a:endParaRPr lang="en-US" sz="4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/>
          <p:nvPr/>
        </p:nvPicPr>
        <p:blipFill>
          <a:blip r:embed="rId6"/>
          <a:stretch>
            <a:fillRect/>
          </a:stretch>
        </p:blipFill>
        <p:spPr>
          <a:xfrm>
            <a:off x="15063661" y="3707910"/>
            <a:ext cx="6805739" cy="5131290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2309888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1" y="1879601"/>
                <a:ext cx="23545800" cy="990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en-US" sz="4400" b="1" dirty="0"/>
                  <a:t>                                  Cho tam </a:t>
                </a:r>
                <a:r>
                  <a:rPr lang="en-US" sz="4400" b="1" dirty="0" err="1"/>
                  <a:t>giác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en-US" sz="4400" b="1" dirty="0"/>
                  <a:t>. </a:t>
                </a:r>
                <a:r>
                  <a:rPr lang="en-US" sz="4400" b="1" dirty="0" err="1"/>
                  <a:t>Hãy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xác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định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điểm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để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sz="4400" b="1" dirty="0"/>
                  <a:t>.         </a:t>
                </a: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1879601"/>
                <a:ext cx="23545800" cy="990600"/>
              </a:xfrm>
              <a:prstGeom prst="rect">
                <a:avLst/>
              </a:prstGeom>
              <a:blipFill>
                <a:blip r:embed="rId3"/>
                <a:stretch>
                  <a:fillRect t="-10303" b="-6667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5800" y="2870202"/>
                <a:ext cx="11506199" cy="10574337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4400" b="1" dirty="0" err="1"/>
                  <a:t>Lời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giải</a:t>
                </a:r>
                <a:r>
                  <a:rPr lang="en-US" sz="4400" b="1" dirty="0"/>
                  <a:t> </a:t>
                </a:r>
              </a:p>
              <a:p>
                <a:r>
                  <a:rPr lang="en-US" sz="4400" b="1" dirty="0" err="1"/>
                  <a:t>Đẳng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thức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vectơ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đã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cho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tương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đương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với</a:t>
                </a:r>
                <a:r>
                  <a:rPr lang="en-US" sz="4400" b="1" dirty="0"/>
                  <a:t>: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𝑴𝑨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𝑴𝑨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𝟔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𝑨𝑴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</m:oMath>
                </a14:m>
                <a:r>
                  <a:rPr lang="en-US" sz="4400" b="1" dirty="0"/>
                  <a:t> </a:t>
                </a:r>
              </a:p>
              <a:p>
                <a:r>
                  <a:rPr lang="en-US" sz="4400" b="1" dirty="0" err="1"/>
                  <a:t>Lấy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điểm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sz="4400" b="1" dirty="0"/>
                  <a:t> là trung </a:t>
                </a:r>
                <a:r>
                  <a:rPr lang="en-US" sz="4400" b="1" dirty="0" err="1"/>
                  <a:t>điểm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của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và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điểm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thuộc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cạnh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𝑨𝑪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sao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cho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𝑨𝑭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sz="4400" b="1" i="1">
                        <a:latin typeface="Cambria Math" panose="02040503050406030204" pitchFamily="18" charset="0"/>
                      </a:rPr>
                      <m:t>𝑨𝑪</m:t>
                    </m:r>
                  </m:oMath>
                </a14:m>
                <a:r>
                  <a:rPr lang="en-US" sz="4400" b="1" dirty="0"/>
                  <a:t>.</a:t>
                </a:r>
              </a:p>
              <a:p>
                <a:r>
                  <a:rPr lang="en-US" sz="4400" b="1" dirty="0"/>
                  <a:t>Khi </a:t>
                </a:r>
                <a:r>
                  <a:rPr lang="en-US" sz="4400" b="1" dirty="0" err="1"/>
                  <a:t>đó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𝑨𝑬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và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𝑨𝑭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</m:oMath>
                </a14:m>
                <a:r>
                  <a:rPr lang="en-US" sz="4400" b="1" dirty="0"/>
                  <a:t>. </a:t>
                </a:r>
                <a:r>
                  <a:rPr lang="en-US" sz="4400" b="1" dirty="0" err="1"/>
                  <a:t>Vì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vậy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𝑨𝑴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𝑨𝑬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𝑨𝑭</m:t>
                        </m:r>
                      </m:e>
                    </m:acc>
                  </m:oMath>
                </a14:m>
                <a:r>
                  <a:rPr lang="en-US" sz="4400" b="1" dirty="0"/>
                  <a:t>.</a:t>
                </a:r>
              </a:p>
              <a:p>
                <a:r>
                  <a:rPr lang="en-US" sz="4400" b="1" dirty="0" err="1"/>
                  <a:t>Suy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ra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là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đỉnh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thứ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tư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của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hình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bình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hành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𝑬𝑨𝑭𝑴</m:t>
                    </m:r>
                  </m:oMath>
                </a14:m>
                <a:r>
                  <a:rPr lang="en-US" sz="4400" b="1" dirty="0"/>
                  <a:t>.</a:t>
                </a:r>
              </a:p>
            </p:txBody>
          </p:sp>
        </mc:Choice>
        <mc:Fallback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870202"/>
                <a:ext cx="11506199" cy="10574337"/>
              </a:xfrm>
              <a:prstGeom prst="rect">
                <a:avLst/>
              </a:prstGeom>
              <a:blipFill>
                <a:blip r:embed="rId4"/>
                <a:stretch>
                  <a:fillRect l="-1906" t="-1843" b="-178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2477752" y="2895600"/>
            <a:ext cx="11506199" cy="10548939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400"/>
          </a:p>
        </p:txBody>
      </p:sp>
      <p:grpSp>
        <p:nvGrpSpPr>
          <p:cNvPr id="8" name="Group 57">
            <a:extLst>
              <a:ext uri="{FF2B5EF4-FFF2-40B4-BE49-F238E27FC236}">
                <a16:creationId xmlns:a16="http://schemas.microsoft.com/office/drawing/2014/main" id="{10E6438C-6A6A-45CC-90D0-9CC25324B2FB}"/>
              </a:ext>
            </a:extLst>
          </p:cNvPr>
          <p:cNvGrpSpPr/>
          <p:nvPr/>
        </p:nvGrpSpPr>
        <p:grpSpPr>
          <a:xfrm>
            <a:off x="914400" y="1879601"/>
            <a:ext cx="3733800" cy="990600"/>
            <a:chOff x="22440" y="16831"/>
            <a:chExt cx="850471" cy="230002"/>
          </a:xfrm>
        </p:grpSpPr>
        <p:grpSp>
          <p:nvGrpSpPr>
            <p:cNvPr id="9" name="Group 49">
              <a:extLst>
                <a:ext uri="{FF2B5EF4-FFF2-40B4-BE49-F238E27FC236}">
                  <a16:creationId xmlns:a16="http://schemas.microsoft.com/office/drawing/2014/main" id="{8D44523D-5B0B-4A49-8381-9E6AA12CFEFB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7" cy="197827"/>
            </a:xfrm>
          </p:grpSpPr>
          <p:sp>
            <p:nvSpPr>
              <p:cNvPr id="11" name="Arrow: Pentagon 25">
                <a:extLst>
                  <a:ext uri="{FF2B5EF4-FFF2-40B4-BE49-F238E27FC236}">
                    <a16:creationId xmlns:a16="http://schemas.microsoft.com/office/drawing/2014/main" id="{B87D36F1-1191-4FEA-B8CE-633DBE02776F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4" cy="196061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44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44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Arrow: Chevron 26">
                <a:extLst>
                  <a:ext uri="{FF2B5EF4-FFF2-40B4-BE49-F238E27FC236}">
                    <a16:creationId xmlns:a16="http://schemas.microsoft.com/office/drawing/2014/main" id="{E4CA1E41-4373-4E02-AB98-1360C7A16BE5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400"/>
              </a:p>
            </p:txBody>
          </p:sp>
          <p:sp>
            <p:nvSpPr>
              <p:cNvPr id="13" name="Arrow: Chevron 27">
                <a:extLst>
                  <a:ext uri="{FF2B5EF4-FFF2-40B4-BE49-F238E27FC236}">
                    <a16:creationId xmlns:a16="http://schemas.microsoft.com/office/drawing/2014/main" id="{FFACC0BA-4C16-4A88-85B5-2A10F43C63F1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400"/>
              </a:p>
            </p:txBody>
          </p:sp>
        </p:grpSp>
        <p:sp>
          <p:nvSpPr>
            <p:cNvPr id="10" name="TextBox 56">
              <a:extLst>
                <a:ext uri="{FF2B5EF4-FFF2-40B4-BE49-F238E27FC236}">
                  <a16:creationId xmlns:a16="http://schemas.microsoft.com/office/drawing/2014/main" id="{0032A3DE-5626-4BDB-AC53-2E6F1DB8E104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kern="120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Ví</a:t>
              </a:r>
              <a:r>
                <a:rPr lang="en-US" sz="4400" b="1" kern="120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400" b="1" kern="120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</a:t>
              </a:r>
              <a:r>
                <a:rPr lang="en-US" sz="4400" b="1" kern="120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3.</a:t>
              </a:r>
              <a:endParaRPr lang="en-US" sz="440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14" name="Picture 17">
            <a:extLst>
              <a:ext uri="{FF2B5EF4-FFF2-40B4-BE49-F238E27FC236}">
                <a16:creationId xmlns:a16="http://schemas.microsoft.com/office/drawing/2014/main" id="{FE03DD8B-4E5E-4186-B59E-02DBB94F62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8033" y="3352800"/>
            <a:ext cx="10476739" cy="547409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1992740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533400" y="1676400"/>
            <a:ext cx="23317200" cy="11707133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Hộp Văn bản 12">
                <a:extLst>
                  <a:ext uri="{FF2B5EF4-FFF2-40B4-BE49-F238E27FC236}">
                    <a16:creationId xmlns:a16="http://schemas.microsoft.com/office/drawing/2014/main" id="{D4594F3F-03F9-44A1-8936-EEF5902FDAF7}"/>
                  </a:ext>
                </a:extLst>
              </p:cNvPr>
              <p:cNvSpPr txBox="1"/>
              <p:nvPr/>
            </p:nvSpPr>
            <p:spPr>
              <a:xfrm>
                <a:off x="800100" y="1847850"/>
                <a:ext cx="22783800" cy="46719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trở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lại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vấn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đã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nêu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đầu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bài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học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khối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chất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,..., </m:t>
                    </m:r>
                    <m:sSub>
                      <m:sSub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khối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lượng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,..., </m:t>
                    </m:r>
                    <m:sSub>
                      <m:sSub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xác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bởi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đẳng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thức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𝑴</m:t>
                        </m:r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𝑴</m:t>
                        </m:r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+...+</m:t>
                    </m:r>
                    <m:sSub>
                      <m:sSub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𝑴</m:t>
                        </m:r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e>
                    </m:acc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việc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xác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khối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quy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về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xác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thỏa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mãn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đẳng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thức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tơ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sz="4400" b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Hộp Văn bản 12">
                <a:extLst>
                  <a:ext uri="{FF2B5EF4-FFF2-40B4-BE49-F238E27FC236}">
                    <a16:creationId xmlns:a16="http://schemas.microsoft.com/office/drawing/2014/main" id="{D4594F3F-03F9-44A1-8936-EEF5902FD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1847850"/>
                <a:ext cx="22783800" cy="4671985"/>
              </a:xfrm>
              <a:prstGeom prst="rect">
                <a:avLst/>
              </a:prstGeom>
              <a:blipFill>
                <a:blip r:embed="rId3"/>
                <a:stretch>
                  <a:fillRect l="-1070" t="-2999" r="-1070" b="-5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5883966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79601"/>
                <a:ext cx="23164800" cy="1854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en-US" sz="4400" b="1"/>
                  <a:t>                                          Cho </a:t>
                </a:r>
                <a:r>
                  <a:rPr lang="en-US" sz="4400" b="1" err="1"/>
                  <a:t>hình</a:t>
                </a:r>
                <a:r>
                  <a:rPr lang="en-US" sz="4400" b="1"/>
                  <a:t> </a:t>
                </a:r>
                <a:r>
                  <a:rPr lang="en-US" sz="4400" b="1" err="1"/>
                  <a:t>bình</a:t>
                </a:r>
                <a:r>
                  <a:rPr lang="en-US" sz="4400" b="1"/>
                  <a:t> </a:t>
                </a:r>
                <a:r>
                  <a:rPr lang="en-US" sz="4400" b="1" err="1"/>
                  <a:t>hành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𝑨𝑩𝑪𝑫</m:t>
                    </m:r>
                  </m:oMath>
                </a14:m>
                <a:r>
                  <a:rPr lang="en-US" sz="4400" b="1"/>
                  <a:t>. </a:t>
                </a:r>
                <a:r>
                  <a:rPr lang="en-US" sz="4400" b="1" err="1"/>
                  <a:t>Gọi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4400" b="1"/>
                  <a:t> </a:t>
                </a:r>
                <a:r>
                  <a:rPr lang="en-US" sz="4400" b="1" err="1"/>
                  <a:t>là</a:t>
                </a:r>
                <a:r>
                  <a:rPr lang="en-US" sz="4400" b="1"/>
                  <a:t> </a:t>
                </a:r>
                <a:r>
                  <a:rPr lang="en-US" sz="4400" b="1" err="1"/>
                  <a:t>trung</a:t>
                </a:r>
                <a:r>
                  <a:rPr lang="en-US" sz="4400" b="1"/>
                  <a:t> </a:t>
                </a:r>
                <a:r>
                  <a:rPr lang="en-US" sz="4400" b="1" err="1"/>
                  <a:t>điểm</a:t>
                </a:r>
                <a:r>
                  <a:rPr lang="en-US" sz="4400" b="1"/>
                  <a:t> </a:t>
                </a:r>
                <a:r>
                  <a:rPr lang="en-US" sz="4400" b="1" err="1"/>
                  <a:t>của</a:t>
                </a:r>
                <a:r>
                  <a:rPr lang="en-US" sz="4400" b="1"/>
                  <a:t> </a:t>
                </a:r>
                <a:r>
                  <a:rPr lang="en-US" sz="4400" b="1" err="1"/>
                  <a:t>cạnh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𝑩𝑪</m:t>
                    </m:r>
                  </m:oMath>
                </a14:m>
                <a:r>
                  <a:rPr lang="en-US" sz="4400" b="1"/>
                  <a:t>. </a:t>
                </a:r>
                <a:r>
                  <a:rPr lang="en-US" sz="4400" b="1" err="1"/>
                  <a:t>Hãy</a:t>
                </a:r>
                <a:r>
                  <a:rPr lang="en-US" sz="4400" b="1"/>
                  <a:t> </a:t>
                </a:r>
                <a:r>
                  <a:rPr lang="en-US" sz="4400" b="1" err="1"/>
                  <a:t>biểu</a:t>
                </a:r>
                <a:r>
                  <a:rPr lang="en-US" sz="4400" b="1"/>
                  <a:t> </a:t>
                </a:r>
                <a:r>
                  <a:rPr lang="en-US" sz="4400" b="1" err="1"/>
                  <a:t>thị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𝑨𝑴</m:t>
                        </m:r>
                      </m:e>
                    </m:acc>
                  </m:oMath>
                </a14:m>
                <a:r>
                  <a:rPr lang="en-US" sz="4400" b="1"/>
                  <a:t> </a:t>
                </a:r>
                <a:r>
                  <a:rPr lang="en-US" sz="4400" b="1" err="1"/>
                  <a:t>theo</a:t>
                </a:r>
                <a:r>
                  <a:rPr lang="en-US" sz="4400" b="1"/>
                  <a:t> </a:t>
                </a:r>
                <a:r>
                  <a:rPr lang="en-US" sz="4400" b="1" err="1"/>
                  <a:t>hai</a:t>
                </a:r>
                <a:r>
                  <a:rPr lang="en-US" sz="4400" b="1"/>
                  <a:t> </a:t>
                </a:r>
                <a:r>
                  <a:rPr lang="en-US" sz="4400" b="1" err="1"/>
                  <a:t>vectơ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</m:oMath>
                </a14:m>
                <a:r>
                  <a:rPr lang="en-US" sz="4400" b="1"/>
                  <a:t> </a:t>
                </a:r>
                <a:r>
                  <a:rPr lang="en-US" sz="4400" b="1" err="1"/>
                  <a:t>và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𝑨𝑫</m:t>
                        </m:r>
                      </m:e>
                    </m:acc>
                  </m:oMath>
                </a14:m>
                <a:r>
                  <a:rPr lang="en-US" sz="4400" b="1"/>
                  <a:t>.</a:t>
                </a: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1"/>
                <a:ext cx="23164800" cy="1854200"/>
              </a:xfrm>
              <a:prstGeom prst="rect">
                <a:avLst/>
              </a:prstGeom>
              <a:blipFill>
                <a:blip r:embed="rId3"/>
                <a:stretch>
                  <a:fillRect l="-1052" t="-9772" r="-1552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5800" y="4087199"/>
                <a:ext cx="23317200" cy="924780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14400" lvl="1" indent="0">
                  <a:buNone/>
                </a:pPr>
                <a:r>
                  <a:rPr lang="en-US" sz="4400" b="1"/>
                  <a:t>Lời </a:t>
                </a:r>
                <a:r>
                  <a:rPr lang="en-US" sz="4400" b="1" err="1"/>
                  <a:t>giải</a:t>
                </a:r>
                <a:endParaRPr lang="en-US" sz="4400" b="1"/>
              </a:p>
              <a:p>
                <a:pPr lvl="1"/>
                <a:endParaRPr lang="en-US" sz="4400"/>
              </a:p>
              <a:p>
                <a:pPr lvl="1"/>
                <a:endParaRPr lang="en-US" sz="4400"/>
              </a:p>
              <a:p>
                <a:pPr lvl="1"/>
                <a:endParaRPr lang="en-US" sz="4400"/>
              </a:p>
              <a:p>
                <a:pPr lvl="1"/>
                <a:endParaRPr lang="en-US" sz="4400"/>
              </a:p>
              <a:p>
                <a:pPr lvl="1"/>
                <a:endParaRPr lang="en-US" sz="4400"/>
              </a:p>
              <a:p>
                <a:pPr lvl="1"/>
                <a:endParaRPr lang="en-US" sz="4400"/>
              </a:p>
              <a:p>
                <a:pPr lvl="1"/>
                <a:endParaRPr lang="en-US" sz="4400"/>
              </a:p>
              <a:p>
                <a:pPr lvl="1"/>
                <a:endParaRPr lang="en-US" sz="4400"/>
              </a:p>
              <a:p>
                <a:pPr lvl="1"/>
                <a:r>
                  <a:rPr lang="en-US" sz="4400" b="1"/>
                  <a:t>Ta </a:t>
                </a:r>
                <a:r>
                  <a:rPr lang="en-US" sz="4400" b="1" err="1"/>
                  <a:t>có</a:t>
                </a:r>
                <a:endParaRPr lang="en-US" sz="4400" b="1"/>
              </a:p>
              <a:p>
                <a:pPr marL="914400" lvl="1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𝑨𝑴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𝑨𝑫</m:t>
                            </m:r>
                          </m:e>
                        </m:acc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𝑨𝑫</m:t>
                        </m:r>
                      </m:e>
                    </m:acc>
                  </m:oMath>
                </a14:m>
                <a:r>
                  <a:rPr lang="en-US" sz="4400" b="1"/>
                  <a:t> </a:t>
                </a:r>
              </a:p>
            </p:txBody>
          </p:sp>
        </mc:Choice>
        <mc:Fallback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087199"/>
                <a:ext cx="23317200" cy="9247802"/>
              </a:xfrm>
              <a:prstGeom prst="rect">
                <a:avLst/>
              </a:prstGeom>
              <a:blipFill>
                <a:blip r:embed="rId4"/>
                <a:stretch>
                  <a:fillRect t="-203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57">
            <a:extLst>
              <a:ext uri="{FF2B5EF4-FFF2-40B4-BE49-F238E27FC236}">
                <a16:creationId xmlns:a16="http://schemas.microsoft.com/office/drawing/2014/main" id="{7D907B0A-C1A0-4A12-8A44-A00F4CC672F1}"/>
              </a:ext>
            </a:extLst>
          </p:cNvPr>
          <p:cNvGrpSpPr/>
          <p:nvPr/>
        </p:nvGrpSpPr>
        <p:grpSpPr>
          <a:xfrm>
            <a:off x="914400" y="1752600"/>
            <a:ext cx="5486398" cy="990600"/>
            <a:chOff x="22440" y="16831"/>
            <a:chExt cx="755974" cy="230002"/>
          </a:xfrm>
        </p:grpSpPr>
        <p:grpSp>
          <p:nvGrpSpPr>
            <p:cNvPr id="6" name="Group 49">
              <a:extLst>
                <a:ext uri="{FF2B5EF4-FFF2-40B4-BE49-F238E27FC236}">
                  <a16:creationId xmlns:a16="http://schemas.microsoft.com/office/drawing/2014/main" id="{7BF209D9-C6A6-441C-B309-16A007E6CD80}"/>
                </a:ext>
              </a:extLst>
            </p:cNvPr>
            <p:cNvGrpSpPr/>
            <p:nvPr/>
          </p:nvGrpSpPr>
          <p:grpSpPr>
            <a:xfrm>
              <a:off x="22440" y="59287"/>
              <a:ext cx="714582" cy="159855"/>
              <a:chOff x="31572" y="60276"/>
              <a:chExt cx="1005430" cy="197828"/>
            </a:xfrm>
          </p:grpSpPr>
          <p:sp>
            <p:nvSpPr>
              <p:cNvPr id="9" name="Arrow: Pentagon 25">
                <a:extLst>
                  <a:ext uri="{FF2B5EF4-FFF2-40B4-BE49-F238E27FC236}">
                    <a16:creationId xmlns:a16="http://schemas.microsoft.com/office/drawing/2014/main" id="{904EBBE0-733B-4D7A-B283-6F248D2C6417}"/>
                  </a:ext>
                </a:extLst>
              </p:cNvPr>
              <p:cNvSpPr/>
              <p:nvPr/>
            </p:nvSpPr>
            <p:spPr>
              <a:xfrm>
                <a:off x="204585" y="60276"/>
                <a:ext cx="832417" cy="197828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44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44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rrow: Chevron 26">
                <a:extLst>
                  <a:ext uri="{FF2B5EF4-FFF2-40B4-BE49-F238E27FC236}">
                    <a16:creationId xmlns:a16="http://schemas.microsoft.com/office/drawing/2014/main" id="{F1948BBD-2402-482F-BBF3-63994A8C8AA3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400"/>
              </a:p>
            </p:txBody>
          </p:sp>
          <p:sp>
            <p:nvSpPr>
              <p:cNvPr id="11" name="Arrow: Chevron 27">
                <a:extLst>
                  <a:ext uri="{FF2B5EF4-FFF2-40B4-BE49-F238E27FC236}">
                    <a16:creationId xmlns:a16="http://schemas.microsoft.com/office/drawing/2014/main" id="{593E2C1E-A509-4276-9389-2BA8ADBB0ADD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400"/>
              </a:p>
            </p:txBody>
          </p:sp>
        </p:grpSp>
        <p:sp>
          <p:nvSpPr>
            <p:cNvPr id="8" name="TextBox 56">
              <a:extLst>
                <a:ext uri="{FF2B5EF4-FFF2-40B4-BE49-F238E27FC236}">
                  <a16:creationId xmlns:a16="http://schemas.microsoft.com/office/drawing/2014/main" id="{1FFD724C-08B6-4B99-A537-E22B825034D1}"/>
                </a:ext>
              </a:extLst>
            </p:cNvPr>
            <p:cNvSpPr txBox="1"/>
            <p:nvPr/>
          </p:nvSpPr>
          <p:spPr>
            <a:xfrm>
              <a:off x="192648" y="16831"/>
              <a:ext cx="585766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kern="120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</a:t>
              </a:r>
              <a:r>
                <a:rPr lang="en-US" sz="4400" b="1" kern="120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400" b="1" kern="120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lang="en-US" sz="4400" b="1" kern="120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4.11.</a:t>
              </a:r>
              <a:endParaRPr lang="en-US" sz="440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12" name="Picture 7">
            <a:extLst>
              <a:ext uri="{FF2B5EF4-FFF2-40B4-BE49-F238E27FC236}">
                <a16:creationId xmlns:a16="http://schemas.microsoft.com/office/drawing/2014/main" id="{CA03F332-E79E-45D3-915C-A017BEC5F5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166" y="5029200"/>
            <a:ext cx="9739668" cy="495986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8315903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79601"/>
                <a:ext cx="23164800" cy="1854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r>
                  <a:rPr lang="en-US" sz="4400" b="1"/>
                  <a:t>                                         Cho </a:t>
                </a:r>
                <a:r>
                  <a:rPr lang="en-US" sz="4400" b="1" err="1"/>
                  <a:t>tứ</a:t>
                </a:r>
                <a:r>
                  <a:rPr lang="en-US" sz="4400" b="1"/>
                  <a:t> </a:t>
                </a:r>
                <a:r>
                  <a:rPr lang="en-US" sz="4400" b="1" err="1"/>
                  <a:t>giác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𝑨𝑩𝑪𝑫</m:t>
                    </m:r>
                  </m:oMath>
                </a14:m>
                <a:r>
                  <a:rPr lang="en-US" sz="4400" b="1"/>
                  <a:t> . </a:t>
                </a:r>
                <a:r>
                  <a:rPr lang="en-US" sz="4400" b="1" err="1"/>
                  <a:t>Gọi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4400" b="1"/>
                  <a:t> </a:t>
                </a:r>
                <a:r>
                  <a:rPr lang="en-US" sz="4400" b="1" err="1"/>
                  <a:t>tương</a:t>
                </a:r>
                <a:r>
                  <a:rPr lang="en-US" sz="4400" b="1"/>
                  <a:t> </a:t>
                </a:r>
                <a:r>
                  <a:rPr lang="en-US" sz="4400" b="1" err="1"/>
                  <a:t>ứng</a:t>
                </a:r>
                <a:r>
                  <a:rPr lang="en-US" sz="4400" b="1"/>
                  <a:t> </a:t>
                </a:r>
                <a:r>
                  <a:rPr lang="en-US" sz="4400" b="1" err="1"/>
                  <a:t>là</a:t>
                </a:r>
                <a:r>
                  <a:rPr lang="en-US" sz="4400" b="1"/>
                  <a:t> </a:t>
                </a:r>
                <a:r>
                  <a:rPr lang="en-US" sz="4400" b="1" err="1"/>
                  <a:t>trung</a:t>
                </a:r>
                <a:r>
                  <a:rPr lang="en-US" sz="4400" b="1"/>
                  <a:t> </a:t>
                </a:r>
                <a:r>
                  <a:rPr lang="en-US" sz="4400" b="1" err="1"/>
                  <a:t>điểm</a:t>
                </a:r>
                <a:r>
                  <a:rPr lang="en-US" sz="4400" b="1"/>
                  <a:t> </a:t>
                </a:r>
                <a:r>
                  <a:rPr lang="en-US" sz="4400" b="1" err="1"/>
                  <a:t>của</a:t>
                </a:r>
                <a:r>
                  <a:rPr lang="en-US" sz="4400" b="1"/>
                  <a:t> </a:t>
                </a:r>
                <a:r>
                  <a:rPr lang="en-US" sz="4400" b="1" err="1"/>
                  <a:t>các</a:t>
                </a:r>
                <a:r>
                  <a:rPr lang="en-US" sz="4400" b="1"/>
                  <a:t> </a:t>
                </a:r>
                <a:r>
                  <a:rPr lang="en-US" sz="4400" b="1" err="1"/>
                  <a:t>cạnh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𝑪𝑫</m:t>
                    </m:r>
                  </m:oMath>
                </a14:m>
                <a:r>
                  <a:rPr lang="en-US" sz="4400" b="1"/>
                  <a:t>. </a:t>
                </a:r>
                <a:r>
                  <a:rPr lang="en-US" sz="4400" b="1" err="1"/>
                  <a:t>Chứng</a:t>
                </a:r>
                <a:r>
                  <a:rPr lang="en-US" sz="4400" b="1"/>
                  <a:t> </a:t>
                </a:r>
                <a:r>
                  <a:rPr lang="en-US" sz="4400" b="1" err="1"/>
                  <a:t>minh</a:t>
                </a:r>
                <a:r>
                  <a:rPr lang="en-US" sz="4400" b="1"/>
                  <a:t> </a:t>
                </a:r>
                <a:r>
                  <a:rPr lang="en-US" sz="4400" b="1" err="1"/>
                  <a:t>rằng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𝑨𝑫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𝑴𝑵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𝑩𝑫</m:t>
                        </m:r>
                      </m:e>
                    </m:acc>
                  </m:oMath>
                </a14:m>
                <a:r>
                  <a:rPr lang="en-US" sz="4400" b="1"/>
                  <a:t>.</a:t>
                </a: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1"/>
                <a:ext cx="23164800" cy="1854200"/>
              </a:xfrm>
              <a:prstGeom prst="rect">
                <a:avLst/>
              </a:prstGeom>
              <a:blipFill>
                <a:blip r:embed="rId3"/>
                <a:stretch>
                  <a:fillRect l="-1052" t="-9772" r="-1315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5801" y="3916656"/>
                <a:ext cx="11353800" cy="9619277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4400" b="1"/>
                  <a:t>Lời </a:t>
                </a:r>
                <a:r>
                  <a:rPr lang="en-US" sz="4400" b="1" err="1"/>
                  <a:t>giải</a:t>
                </a:r>
                <a:endParaRPr lang="en-US" sz="4400" b="1"/>
              </a:p>
              <a:p>
                <a:r>
                  <a:rPr lang="en-US" sz="4400" b="1"/>
                  <a:t>Ta </a:t>
                </a:r>
                <a:r>
                  <a:rPr lang="en-US" sz="4400" b="1" err="1"/>
                  <a:t>có</a:t>
                </a:r>
                <a:endParaRPr lang="en-US" sz="4400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𝑩𝑪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𝑨𝑫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𝑩𝑴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𝑴𝑵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𝑵𝑪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𝑨𝑴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𝑴𝑵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𝑵𝑫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𝟐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𝑴𝑵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𝑩𝑴</m:t>
                              </m:r>
                            </m:e>
                          </m:acc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𝑨𝑴</m:t>
                              </m:r>
                            </m:e>
                          </m:acc>
                        </m:e>
                      </m:d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𝑵𝑪</m:t>
                              </m:r>
                            </m:e>
                          </m:acc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𝑵𝑫</m:t>
                              </m:r>
                            </m:e>
                          </m:acc>
                        </m:e>
                      </m:d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𝟐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𝑴𝑵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𝟐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𝑴𝑵</m:t>
                          </m:r>
                        </m:e>
                      </m:acc>
                    </m:oMath>
                  </m:oMathPara>
                </a14:m>
                <a:endParaRPr lang="en-US" sz="4400" b="1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𝑨𝑫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𝑩𝑫</m:t>
                        </m:r>
                      </m:e>
                    </m:acc>
                  </m:oMath>
                </a14:m>
                <a:endParaRPr lang="en-US" sz="4400" b="1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𝑩𝑨</m:t>
                              </m:r>
                            </m:e>
                          </m:acc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𝑨𝑩</m:t>
                              </m:r>
                            </m:e>
                          </m:acc>
                        </m:e>
                      </m:d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𝑨𝑪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𝑩𝑫</m:t>
                          </m:r>
                        </m:e>
                      </m:acc>
                    </m:oMath>
                  </m:oMathPara>
                </a14:m>
                <a:endParaRPr lang="en-US" sz="4400" b="1" i="1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𝑩𝑫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𝑩𝑫</m:t>
                        </m:r>
                      </m:e>
                    </m:acc>
                  </m:oMath>
                </a14:m>
                <a:r>
                  <a:rPr lang="en-US" sz="4400" b="1"/>
                  <a:t> </a:t>
                </a:r>
              </a:p>
              <a:p>
                <a:pPr marL="0" indent="0">
                  <a:buNone/>
                </a:pPr>
                <a:endParaRPr lang="en-US" sz="4400" b="1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1" y="3916656"/>
                <a:ext cx="11353800" cy="9619277"/>
              </a:xfrm>
              <a:prstGeom prst="rect">
                <a:avLst/>
              </a:prstGeom>
              <a:blipFill>
                <a:blip r:embed="rId4"/>
                <a:stretch>
                  <a:fillRect l="-1931" t="-189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2344400" y="3916656"/>
            <a:ext cx="11630891" cy="9502484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400"/>
          </a:p>
        </p:txBody>
      </p:sp>
      <p:grpSp>
        <p:nvGrpSpPr>
          <p:cNvPr id="5" name="Group 57">
            <a:extLst>
              <a:ext uri="{FF2B5EF4-FFF2-40B4-BE49-F238E27FC236}">
                <a16:creationId xmlns:a16="http://schemas.microsoft.com/office/drawing/2014/main" id="{7D907B0A-C1A0-4A12-8A44-A00F4CC672F1}"/>
              </a:ext>
            </a:extLst>
          </p:cNvPr>
          <p:cNvGrpSpPr/>
          <p:nvPr/>
        </p:nvGrpSpPr>
        <p:grpSpPr>
          <a:xfrm>
            <a:off x="914400" y="1752600"/>
            <a:ext cx="5486398" cy="990600"/>
            <a:chOff x="22440" y="16831"/>
            <a:chExt cx="755974" cy="230002"/>
          </a:xfrm>
        </p:grpSpPr>
        <p:grpSp>
          <p:nvGrpSpPr>
            <p:cNvPr id="6" name="Group 49">
              <a:extLst>
                <a:ext uri="{FF2B5EF4-FFF2-40B4-BE49-F238E27FC236}">
                  <a16:creationId xmlns:a16="http://schemas.microsoft.com/office/drawing/2014/main" id="{7BF209D9-C6A6-441C-B309-16A007E6CD80}"/>
                </a:ext>
              </a:extLst>
            </p:cNvPr>
            <p:cNvGrpSpPr/>
            <p:nvPr/>
          </p:nvGrpSpPr>
          <p:grpSpPr>
            <a:xfrm>
              <a:off x="22440" y="59287"/>
              <a:ext cx="714582" cy="159855"/>
              <a:chOff x="31572" y="60276"/>
              <a:chExt cx="1005430" cy="197828"/>
            </a:xfrm>
          </p:grpSpPr>
          <p:sp>
            <p:nvSpPr>
              <p:cNvPr id="9" name="Arrow: Pentagon 25">
                <a:extLst>
                  <a:ext uri="{FF2B5EF4-FFF2-40B4-BE49-F238E27FC236}">
                    <a16:creationId xmlns:a16="http://schemas.microsoft.com/office/drawing/2014/main" id="{904EBBE0-733B-4D7A-B283-6F248D2C6417}"/>
                  </a:ext>
                </a:extLst>
              </p:cNvPr>
              <p:cNvSpPr/>
              <p:nvPr/>
            </p:nvSpPr>
            <p:spPr>
              <a:xfrm>
                <a:off x="204585" y="60276"/>
                <a:ext cx="832417" cy="197828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44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44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rrow: Chevron 26">
                <a:extLst>
                  <a:ext uri="{FF2B5EF4-FFF2-40B4-BE49-F238E27FC236}">
                    <a16:creationId xmlns:a16="http://schemas.microsoft.com/office/drawing/2014/main" id="{F1948BBD-2402-482F-BBF3-63994A8C8AA3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400"/>
              </a:p>
            </p:txBody>
          </p:sp>
          <p:sp>
            <p:nvSpPr>
              <p:cNvPr id="11" name="Arrow: Chevron 27">
                <a:extLst>
                  <a:ext uri="{FF2B5EF4-FFF2-40B4-BE49-F238E27FC236}">
                    <a16:creationId xmlns:a16="http://schemas.microsoft.com/office/drawing/2014/main" id="{593E2C1E-A509-4276-9389-2BA8ADBB0ADD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400"/>
              </a:p>
            </p:txBody>
          </p:sp>
        </p:grpSp>
        <p:sp>
          <p:nvSpPr>
            <p:cNvPr id="8" name="TextBox 56">
              <a:extLst>
                <a:ext uri="{FF2B5EF4-FFF2-40B4-BE49-F238E27FC236}">
                  <a16:creationId xmlns:a16="http://schemas.microsoft.com/office/drawing/2014/main" id="{1FFD724C-08B6-4B99-A537-E22B825034D1}"/>
                </a:ext>
              </a:extLst>
            </p:cNvPr>
            <p:cNvSpPr txBox="1"/>
            <p:nvPr/>
          </p:nvSpPr>
          <p:spPr>
            <a:xfrm>
              <a:off x="192648" y="16831"/>
              <a:ext cx="585766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kern="120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</a:t>
              </a:r>
              <a:r>
                <a:rPr lang="en-US" sz="4400" b="1" kern="120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400" b="1" kern="120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lang="en-US" sz="4400" b="1" kern="120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4.12.</a:t>
              </a:r>
              <a:endParaRPr lang="en-US" sz="440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12" name="Picture 15">
            <a:extLst>
              <a:ext uri="{FF2B5EF4-FFF2-40B4-BE49-F238E27FC236}">
                <a16:creationId xmlns:a16="http://schemas.microsoft.com/office/drawing/2014/main" id="{AA62D332-5B03-4A36-96E9-F6C82A74E6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1710" y="4234165"/>
            <a:ext cx="8256270" cy="524767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7900726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79601"/>
                <a:ext cx="23164800" cy="2616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en-US" sz="4400" b="1"/>
                  <a:t>                                           Cho </a:t>
                </a:r>
                <a:r>
                  <a:rPr lang="en-US" sz="4400" b="1" err="1"/>
                  <a:t>hai</a:t>
                </a:r>
                <a:r>
                  <a:rPr lang="en-US" sz="4400" b="1"/>
                  <a:t> </a:t>
                </a:r>
                <a:r>
                  <a:rPr lang="en-US" sz="4400" b="1" err="1"/>
                  <a:t>điểm</a:t>
                </a:r>
                <a:r>
                  <a:rPr lang="en-US" sz="4400" b="1"/>
                  <a:t> </a:t>
                </a:r>
                <a:r>
                  <a:rPr lang="en-US" sz="4400" b="1" err="1"/>
                  <a:t>phân</a:t>
                </a:r>
                <a:r>
                  <a:rPr lang="en-US" sz="4400" b="1"/>
                  <a:t> </a:t>
                </a:r>
                <a:r>
                  <a:rPr lang="en-US" sz="4400" b="1" err="1"/>
                  <a:t>biệt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4400" b="1"/>
                  <a:t> </a:t>
                </a:r>
                <a:r>
                  <a:rPr lang="en-US" sz="4400" b="1" err="1"/>
                  <a:t>và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sz="4400" b="1"/>
                  <a:t>. </a:t>
                </a:r>
              </a:p>
              <a:p>
                <a:pPr algn="just"/>
                <a:r>
                  <a:rPr lang="en-US" sz="4400" b="1"/>
                  <a:t>a) </a:t>
                </a:r>
                <a:r>
                  <a:rPr lang="en-US" sz="4400" b="1" err="1"/>
                  <a:t>Hãy</a:t>
                </a:r>
                <a:r>
                  <a:rPr lang="en-US" sz="4400" b="1"/>
                  <a:t> </a:t>
                </a:r>
                <a:r>
                  <a:rPr lang="en-US" sz="4400" b="1" err="1"/>
                  <a:t>xác</a:t>
                </a:r>
                <a:r>
                  <a:rPr lang="en-US" sz="4400" b="1"/>
                  <a:t> </a:t>
                </a:r>
                <a:r>
                  <a:rPr lang="en-US" sz="4400" b="1" err="1"/>
                  <a:t>định</a:t>
                </a:r>
                <a:r>
                  <a:rPr lang="en-US" sz="4400" b="1"/>
                  <a:t> </a:t>
                </a:r>
                <a:r>
                  <a:rPr lang="en-US" sz="4400" b="1" err="1"/>
                  <a:t>điểm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4400" b="1"/>
                  <a:t> </a:t>
                </a:r>
                <a:r>
                  <a:rPr lang="en-US" sz="4400" b="1" err="1"/>
                  <a:t>sao</a:t>
                </a:r>
                <a:r>
                  <a:rPr lang="en-US" sz="4400" b="1"/>
                  <a:t> </a:t>
                </a:r>
                <a:r>
                  <a:rPr lang="en-US" sz="4400" b="1" err="1"/>
                  <a:t>cho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𝑲𝑨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𝑲𝑩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sz="4400" b="1"/>
                  <a:t>.</a:t>
                </a:r>
              </a:p>
              <a:p>
                <a:pPr algn="just"/>
                <a:r>
                  <a:rPr lang="en-US" sz="4400" b="1"/>
                  <a:t>b) </a:t>
                </a:r>
                <a:r>
                  <a:rPr lang="en-US" sz="4400" b="1" err="1"/>
                  <a:t>Chứng</a:t>
                </a:r>
                <a:r>
                  <a:rPr lang="en-US" sz="4400" b="1"/>
                  <a:t> </a:t>
                </a:r>
                <a:r>
                  <a:rPr lang="en-US" sz="4400" b="1" err="1"/>
                  <a:t>minh</a:t>
                </a:r>
                <a:r>
                  <a:rPr lang="en-US" sz="4400" b="1"/>
                  <a:t> </a:t>
                </a:r>
                <a:r>
                  <a:rPr lang="en-US" sz="4400" b="1" err="1"/>
                  <a:t>rằng</a:t>
                </a:r>
                <a:r>
                  <a:rPr lang="en-US" sz="4400" b="1"/>
                  <a:t> </a:t>
                </a:r>
                <a:r>
                  <a:rPr lang="en-US" sz="4400" b="1" err="1"/>
                  <a:t>với</a:t>
                </a:r>
                <a:r>
                  <a:rPr lang="en-US" sz="4400" b="1"/>
                  <a:t> </a:t>
                </a:r>
                <a:r>
                  <a:rPr lang="en-US" sz="4400" b="1" err="1"/>
                  <a:t>mọi</a:t>
                </a:r>
                <a:r>
                  <a:rPr lang="en-US" sz="4400" b="1"/>
                  <a:t> </a:t>
                </a:r>
                <a:r>
                  <a:rPr lang="en-US" sz="4400" b="1" err="1"/>
                  <a:t>điểm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en-US" sz="4400" b="1"/>
                  <a:t>, ta </a:t>
                </a:r>
                <a:r>
                  <a:rPr lang="en-US" sz="4400" b="1" err="1"/>
                  <a:t>có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𝑶𝑲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</m:oMath>
                </a14:m>
                <a:r>
                  <a:rPr lang="en-US" sz="4400" b="1"/>
                  <a:t>.</a:t>
                </a:r>
              </a:p>
              <a:p>
                <a:pPr algn="just"/>
                <a:endParaRPr lang="en-US" sz="4400" b="1"/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1"/>
                <a:ext cx="23164800" cy="2616200"/>
              </a:xfrm>
              <a:prstGeom prst="rect">
                <a:avLst/>
              </a:prstGeom>
              <a:blipFill>
                <a:blip r:embed="rId3"/>
                <a:stretch>
                  <a:fillRect l="-1052" t="-6944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5801" y="4950316"/>
                <a:ext cx="11353800" cy="8585617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4400" b="1"/>
                  <a:t>a)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𝑲𝑨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𝑲𝑩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𝑲𝑨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𝑲𝑨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𝑲𝑨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𝑨𝑲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</m:oMath>
                </a14:m>
                <a:r>
                  <a:rPr lang="en-US" sz="4400" b="1"/>
                  <a:t> </a:t>
                </a:r>
              </a:p>
              <a:p>
                <a:pPr marL="0" indent="0">
                  <a:buNone/>
                </a:pPr>
                <a:r>
                  <a:rPr lang="en-US" sz="4400" b="1" err="1"/>
                  <a:t>Vậy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en-US" sz="4400" b="1"/>
                  <a:t> </a:t>
                </a:r>
                <a:r>
                  <a:rPr lang="en-US" sz="4400" b="1" err="1"/>
                  <a:t>sao</a:t>
                </a:r>
                <a:r>
                  <a:rPr lang="en-US" sz="4400" b="1"/>
                  <a:t> </a:t>
                </a:r>
                <a:r>
                  <a:rPr lang="en-US" sz="4400" b="1" err="1"/>
                  <a:t>cho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𝑨𝑲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sz="4400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en-US" sz="4400" b="1"/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1" y="4950316"/>
                <a:ext cx="11353800" cy="8585617"/>
              </a:xfrm>
              <a:prstGeom prst="rect">
                <a:avLst/>
              </a:prstGeom>
              <a:blipFill>
                <a:blip r:embed="rId4"/>
                <a:stretch>
                  <a:fillRect l="-2146" t="-106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420600" y="4950316"/>
                <a:ext cx="11630891" cy="8468824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4400" b="1"/>
                  <a:t>b) Ta </a:t>
                </a:r>
                <a:r>
                  <a:rPr lang="en-US" sz="4400" b="1" err="1"/>
                  <a:t>có</a:t>
                </a:r>
                <a:r>
                  <a:rPr lang="en-US" sz="4400" b="1"/>
                  <a:t>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𝑲𝑨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𝑲𝑩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𝑲𝑨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𝑲𝑩</m:t>
                        </m:r>
                      </m:e>
                    </m:acc>
                  </m:oMath>
                </a14:m>
                <a:r>
                  <a:rPr lang="en-US" sz="4400" b="1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𝑶𝑲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𝑲𝑨</m:t>
                            </m:r>
                          </m:e>
                        </m:acc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𝑶𝑲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𝑲𝑩</m:t>
                            </m:r>
                          </m:e>
                        </m:acc>
                      </m:e>
                    </m:d>
                  </m:oMath>
                </a14:m>
                <a:endParaRPr lang="en-US" sz="4400" b="1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𝑶𝑲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𝑲𝑨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𝑲𝑩</m:t>
                          </m:r>
                        </m:e>
                      </m:acc>
                    </m:oMath>
                  </m:oMathPara>
                </a14:m>
                <a:endParaRPr lang="en-US" sz="4400" b="1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𝑶𝑲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𝑲𝑩</m:t>
                            </m:r>
                          </m:e>
                        </m:acc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𝑲𝑩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𝑶𝑲</m:t>
                        </m:r>
                      </m:e>
                    </m:acc>
                  </m:oMath>
                </a14:m>
                <a:r>
                  <a:rPr lang="en-US" sz="4400" b="1"/>
                  <a:t> 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0600" y="4950316"/>
                <a:ext cx="11630891" cy="8468824"/>
              </a:xfrm>
              <a:prstGeom prst="rect">
                <a:avLst/>
              </a:prstGeom>
              <a:blipFill>
                <a:blip r:embed="rId5"/>
                <a:stretch>
                  <a:fillRect l="-2095" t="-122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57">
            <a:extLst>
              <a:ext uri="{FF2B5EF4-FFF2-40B4-BE49-F238E27FC236}">
                <a16:creationId xmlns:a16="http://schemas.microsoft.com/office/drawing/2014/main" id="{7D907B0A-C1A0-4A12-8A44-A00F4CC672F1}"/>
              </a:ext>
            </a:extLst>
          </p:cNvPr>
          <p:cNvGrpSpPr/>
          <p:nvPr/>
        </p:nvGrpSpPr>
        <p:grpSpPr>
          <a:xfrm>
            <a:off x="914400" y="1752600"/>
            <a:ext cx="5486398" cy="990600"/>
            <a:chOff x="22440" y="16831"/>
            <a:chExt cx="755974" cy="230002"/>
          </a:xfrm>
        </p:grpSpPr>
        <p:grpSp>
          <p:nvGrpSpPr>
            <p:cNvPr id="6" name="Group 49">
              <a:extLst>
                <a:ext uri="{FF2B5EF4-FFF2-40B4-BE49-F238E27FC236}">
                  <a16:creationId xmlns:a16="http://schemas.microsoft.com/office/drawing/2014/main" id="{7BF209D9-C6A6-441C-B309-16A007E6CD80}"/>
                </a:ext>
              </a:extLst>
            </p:cNvPr>
            <p:cNvGrpSpPr/>
            <p:nvPr/>
          </p:nvGrpSpPr>
          <p:grpSpPr>
            <a:xfrm>
              <a:off x="22440" y="59287"/>
              <a:ext cx="714582" cy="159855"/>
              <a:chOff x="31572" y="60276"/>
              <a:chExt cx="1005430" cy="197828"/>
            </a:xfrm>
          </p:grpSpPr>
          <p:sp>
            <p:nvSpPr>
              <p:cNvPr id="9" name="Arrow: Pentagon 25">
                <a:extLst>
                  <a:ext uri="{FF2B5EF4-FFF2-40B4-BE49-F238E27FC236}">
                    <a16:creationId xmlns:a16="http://schemas.microsoft.com/office/drawing/2014/main" id="{904EBBE0-733B-4D7A-B283-6F248D2C6417}"/>
                  </a:ext>
                </a:extLst>
              </p:cNvPr>
              <p:cNvSpPr/>
              <p:nvPr/>
            </p:nvSpPr>
            <p:spPr>
              <a:xfrm>
                <a:off x="204585" y="60276"/>
                <a:ext cx="832417" cy="197828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44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44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rrow: Chevron 26">
                <a:extLst>
                  <a:ext uri="{FF2B5EF4-FFF2-40B4-BE49-F238E27FC236}">
                    <a16:creationId xmlns:a16="http://schemas.microsoft.com/office/drawing/2014/main" id="{F1948BBD-2402-482F-BBF3-63994A8C8AA3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400"/>
              </a:p>
            </p:txBody>
          </p:sp>
          <p:sp>
            <p:nvSpPr>
              <p:cNvPr id="11" name="Arrow: Chevron 27">
                <a:extLst>
                  <a:ext uri="{FF2B5EF4-FFF2-40B4-BE49-F238E27FC236}">
                    <a16:creationId xmlns:a16="http://schemas.microsoft.com/office/drawing/2014/main" id="{593E2C1E-A509-4276-9389-2BA8ADBB0ADD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400"/>
              </a:p>
            </p:txBody>
          </p:sp>
        </p:grpSp>
        <p:sp>
          <p:nvSpPr>
            <p:cNvPr id="8" name="TextBox 56">
              <a:extLst>
                <a:ext uri="{FF2B5EF4-FFF2-40B4-BE49-F238E27FC236}">
                  <a16:creationId xmlns:a16="http://schemas.microsoft.com/office/drawing/2014/main" id="{1FFD724C-08B6-4B99-A537-E22B825034D1}"/>
                </a:ext>
              </a:extLst>
            </p:cNvPr>
            <p:cNvSpPr txBox="1"/>
            <p:nvPr/>
          </p:nvSpPr>
          <p:spPr>
            <a:xfrm>
              <a:off x="192648" y="16831"/>
              <a:ext cx="585766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kern="120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</a:t>
              </a:r>
              <a:r>
                <a:rPr lang="en-US" sz="4400" b="1" kern="120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400" b="1" kern="120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lang="en-US" sz="4400" b="1" kern="120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4.13.</a:t>
              </a:r>
              <a:endParaRPr lang="en-US" sz="440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1734448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79600"/>
                <a:ext cx="23164800" cy="288786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14000"/>
                  </a:lnSpc>
                </a:pPr>
                <a:r>
                  <a:rPr lang="en-US" sz="4400" b="1"/>
                  <a:t>                                           Cho tam </a:t>
                </a:r>
                <a:r>
                  <a:rPr lang="en-US" sz="4400" b="1" err="1"/>
                  <a:t>giác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en-US" sz="4400" b="1"/>
                  <a:t> .</a:t>
                </a:r>
              </a:p>
              <a:p>
                <a:pPr>
                  <a:lnSpc>
                    <a:spcPct val="114000"/>
                  </a:lnSpc>
                </a:pPr>
                <a:r>
                  <a:rPr lang="en-US" sz="4400" b="1"/>
                  <a:t>a) </a:t>
                </a:r>
                <a:r>
                  <a:rPr lang="en-US" sz="4400" b="1" err="1"/>
                  <a:t>Hãy</a:t>
                </a:r>
                <a:r>
                  <a:rPr lang="en-US" sz="4400" b="1"/>
                  <a:t> </a:t>
                </a:r>
                <a:r>
                  <a:rPr lang="en-US" sz="4400" b="1" err="1"/>
                  <a:t>xác</a:t>
                </a:r>
                <a:r>
                  <a:rPr lang="en-US" sz="4400" b="1"/>
                  <a:t> </a:t>
                </a:r>
                <a:r>
                  <a:rPr lang="en-US" sz="4400" b="1" err="1"/>
                  <a:t>định</a:t>
                </a:r>
                <a:r>
                  <a:rPr lang="en-US" sz="4400" b="1"/>
                  <a:t> </a:t>
                </a:r>
                <a:r>
                  <a:rPr lang="en-US" sz="4400" b="1" err="1"/>
                  <a:t>điểm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4400" b="1"/>
                  <a:t> </a:t>
                </a:r>
                <a:r>
                  <a:rPr lang="en-US" sz="4400" b="1" err="1"/>
                  <a:t>để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sz="4400" b="1"/>
                  <a:t>.</a:t>
                </a:r>
              </a:p>
              <a:p>
                <a:pPr>
                  <a:lnSpc>
                    <a:spcPct val="114000"/>
                  </a:lnSpc>
                </a:pPr>
                <a:r>
                  <a:rPr lang="en-US" sz="4400" b="1"/>
                  <a:t>b) </a:t>
                </a:r>
                <a:r>
                  <a:rPr lang="en-US" sz="4400" b="1" err="1"/>
                  <a:t>Chứng</a:t>
                </a:r>
                <a:r>
                  <a:rPr lang="en-US" sz="4400" b="1"/>
                  <a:t> </a:t>
                </a:r>
                <a:r>
                  <a:rPr lang="en-US" sz="4400" b="1" err="1"/>
                  <a:t>minh</a:t>
                </a:r>
                <a:r>
                  <a:rPr lang="en-US" sz="4400" b="1"/>
                  <a:t> </a:t>
                </a:r>
                <a:r>
                  <a:rPr lang="en-US" sz="4400" b="1" err="1"/>
                  <a:t>rằng</a:t>
                </a:r>
                <a:r>
                  <a:rPr lang="en-US" sz="4400" b="1"/>
                  <a:t> </a:t>
                </a:r>
                <a:r>
                  <a:rPr lang="en-US" sz="4400" b="1" err="1"/>
                  <a:t>với</a:t>
                </a:r>
                <a:r>
                  <a:rPr lang="en-US" sz="4400" b="1"/>
                  <a:t> </a:t>
                </a:r>
                <a:r>
                  <a:rPr lang="en-US" sz="4400" b="1" err="1"/>
                  <a:t>mọi</a:t>
                </a:r>
                <a:r>
                  <a:rPr lang="en-US" sz="4400" b="1"/>
                  <a:t> </a:t>
                </a:r>
                <a:r>
                  <a:rPr lang="en-US" sz="4400" b="1" err="1"/>
                  <a:t>điểm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en-US" sz="4400" b="1"/>
                  <a:t>, ta </a:t>
                </a:r>
                <a:r>
                  <a:rPr lang="en-US" sz="4400" b="1" err="1"/>
                  <a:t>có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𝑶𝑪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𝟒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𝑶𝑴</m:t>
                        </m:r>
                      </m:e>
                    </m:acc>
                  </m:oMath>
                </a14:m>
                <a:r>
                  <a:rPr lang="en-US" sz="4400" b="1"/>
                  <a:t>.</a:t>
                </a:r>
              </a:p>
              <a:p>
                <a:pPr>
                  <a:lnSpc>
                    <a:spcPct val="114000"/>
                  </a:lnSpc>
                </a:pPr>
                <a:endParaRPr lang="en-US" sz="4400" b="1"/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23164800" cy="2887861"/>
              </a:xfrm>
              <a:prstGeom prst="rect">
                <a:avLst/>
              </a:prstGeom>
              <a:blipFill>
                <a:blip r:embed="rId3"/>
                <a:stretch>
                  <a:fillRect l="-1052" t="-2311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5801" y="4950316"/>
                <a:ext cx="11353800" cy="8585617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4400" b="1"/>
                  <a:t>a)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sz="4400" b="1"/>
                  <a:t> </a:t>
                </a:r>
                <a:endParaRPr lang="en-US" sz="4400" b="1" i="1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sz="4400" b="1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𝟒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4400" b="1"/>
                  <a:t> </a:t>
                </a:r>
                <a:endParaRPr lang="en-US" sz="4400" b="1" i="1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𝑨𝑴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</m:oMath>
                </a14:m>
                <a:r>
                  <a:rPr lang="en-US" sz="4400" b="1"/>
                  <a:t> </a:t>
                </a:r>
              </a:p>
              <a:p>
                <a:r>
                  <a:rPr lang="en-US" sz="4400" b="1" err="1"/>
                  <a:t>Gọi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en-US" sz="4400" b="1"/>
                  <a:t> </a:t>
                </a:r>
                <a:r>
                  <a:rPr lang="en-US" sz="4400" b="1" err="1"/>
                  <a:t>sao</a:t>
                </a:r>
                <a:r>
                  <a:rPr lang="en-US" sz="4400" b="1"/>
                  <a:t> </a:t>
                </a:r>
                <a:r>
                  <a:rPr lang="en-US" sz="4400" b="1" err="1"/>
                  <a:t>cho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𝑨𝑬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US" sz="4400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en-US" sz="4400" b="1"/>
                  <a:t>. </a:t>
                </a:r>
              </a:p>
              <a:p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sz="4400" b="1"/>
                  <a:t> </a:t>
                </a:r>
                <a:r>
                  <a:rPr lang="en-US" sz="4400" b="1" err="1"/>
                  <a:t>là</a:t>
                </a:r>
                <a:r>
                  <a:rPr lang="en-US" sz="4400" b="1"/>
                  <a:t> </a:t>
                </a:r>
                <a:r>
                  <a:rPr lang="en-US" sz="4400" b="1" err="1"/>
                  <a:t>trung</a:t>
                </a:r>
                <a:r>
                  <a:rPr lang="en-US" sz="4400" b="1"/>
                  <a:t> </a:t>
                </a:r>
                <a:r>
                  <a:rPr lang="en-US" sz="4400" b="1" err="1"/>
                  <a:t>điểm</a:t>
                </a:r>
                <a:r>
                  <a:rPr lang="en-US" sz="4400" b="1"/>
                  <a:t> </a:t>
                </a:r>
                <a:r>
                  <a:rPr lang="en-US" sz="4400" b="1" err="1"/>
                  <a:t>của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𝑨𝑪</m:t>
                    </m:r>
                  </m:oMath>
                </a14:m>
                <a:r>
                  <a:rPr lang="en-US" sz="4400" b="1"/>
                  <a:t> </a:t>
                </a:r>
              </a:p>
              <a:p>
                <a:pPr marL="0" indent="0">
                  <a:buNone/>
                </a:pPr>
                <a:r>
                  <a:rPr lang="en-US" sz="4400" b="1" err="1"/>
                  <a:t>Suy</a:t>
                </a:r>
                <a:r>
                  <a:rPr lang="en-US" sz="4400" b="1"/>
                  <a:t> </a:t>
                </a:r>
                <a:r>
                  <a:rPr lang="en-US" sz="4400" b="1" err="1"/>
                  <a:t>ra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𝑨𝑴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𝑨𝑬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𝑨𝑭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4400" b="1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4400" b="1"/>
                  <a:t> </a:t>
                </a:r>
                <a:r>
                  <a:rPr lang="en-US" sz="4400" b="1" err="1"/>
                  <a:t>là</a:t>
                </a:r>
                <a:r>
                  <a:rPr lang="en-US" sz="4400" b="1"/>
                  <a:t> </a:t>
                </a:r>
                <a:r>
                  <a:rPr lang="en-US" sz="4400" b="1" err="1"/>
                  <a:t>điểm</a:t>
                </a:r>
                <a:r>
                  <a:rPr lang="en-US" sz="4400" b="1"/>
                  <a:t> </a:t>
                </a:r>
                <a:r>
                  <a:rPr lang="en-US" sz="4400" b="1" err="1"/>
                  <a:t>thứ</a:t>
                </a:r>
                <a:r>
                  <a:rPr lang="en-US" sz="4400" b="1"/>
                  <a:t> 4 </a:t>
                </a:r>
                <a:r>
                  <a:rPr lang="en-US" sz="4400" b="1" err="1"/>
                  <a:t>của</a:t>
                </a:r>
                <a:r>
                  <a:rPr lang="en-US" sz="4400" b="1"/>
                  <a:t> </a:t>
                </a:r>
                <a:r>
                  <a:rPr lang="en-US" sz="4400" b="1" err="1"/>
                  <a:t>hình</a:t>
                </a:r>
                <a:r>
                  <a:rPr lang="en-US" sz="4400" b="1"/>
                  <a:t> </a:t>
                </a:r>
                <a:r>
                  <a:rPr lang="en-US" sz="4400" b="1" err="1"/>
                  <a:t>bình</a:t>
                </a:r>
                <a:r>
                  <a:rPr lang="en-US" sz="4400" b="1"/>
                  <a:t> </a:t>
                </a:r>
                <a:r>
                  <a:rPr lang="en-US" sz="4400" b="1" err="1"/>
                  <a:t>hành</a:t>
                </a:r>
                <a:r>
                  <a:rPr lang="en-US" sz="4400" b="1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𝑨𝑬𝑴𝑭</m:t>
                    </m:r>
                  </m:oMath>
                </a14:m>
                <a:r>
                  <a:rPr lang="en-US" sz="4400" b="1"/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1" y="4950316"/>
                <a:ext cx="11353800" cy="8585617"/>
              </a:xfrm>
              <a:prstGeom prst="rect">
                <a:avLst/>
              </a:prstGeom>
              <a:blipFill>
                <a:blip r:embed="rId4"/>
                <a:stretch>
                  <a:fillRect l="-2146" t="-120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44400" y="4950316"/>
                <a:ext cx="11630891" cy="8468824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4400" b="1"/>
                  <a:t>b)</a:t>
                </a:r>
              </a:p>
              <a:p>
                <a:pPr marL="0" indent="0">
                  <a:buNone/>
                </a:pPr>
                <a:r>
                  <a:rPr lang="en-US" sz="4400" b="1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𝑶𝑪</m:t>
                        </m:r>
                      </m:e>
                    </m:acc>
                  </m:oMath>
                </a14:m>
                <a:endParaRPr lang="en-US" sz="4400" b="1" i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𝑶𝑴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𝑴𝑨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𝑶𝑴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𝑴𝑩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𝟐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𝑶𝑴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𝟐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𝑴𝑪</m:t>
                          </m:r>
                        </m:e>
                      </m:acc>
                    </m:oMath>
                  </m:oMathPara>
                </a14:m>
                <a:endParaRPr lang="en-US" sz="4400" b="1" i="1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𝟒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𝑶𝑴</m:t>
                        </m:r>
                      </m:e>
                    </m:acc>
                  </m:oMath>
                </a14:m>
                <a:r>
                  <a:rPr lang="en-US" sz="4400" b="1"/>
                  <a:t> 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400" y="4950316"/>
                <a:ext cx="11630891" cy="8468824"/>
              </a:xfrm>
              <a:prstGeom prst="rect">
                <a:avLst/>
              </a:prstGeom>
              <a:blipFill>
                <a:blip r:embed="rId5"/>
                <a:stretch>
                  <a:fillRect l="-2042" t="-215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57">
            <a:extLst>
              <a:ext uri="{FF2B5EF4-FFF2-40B4-BE49-F238E27FC236}">
                <a16:creationId xmlns:a16="http://schemas.microsoft.com/office/drawing/2014/main" id="{7D907B0A-C1A0-4A12-8A44-A00F4CC672F1}"/>
              </a:ext>
            </a:extLst>
          </p:cNvPr>
          <p:cNvGrpSpPr/>
          <p:nvPr/>
        </p:nvGrpSpPr>
        <p:grpSpPr>
          <a:xfrm>
            <a:off x="914400" y="1879601"/>
            <a:ext cx="5486398" cy="990600"/>
            <a:chOff x="22440" y="16831"/>
            <a:chExt cx="755974" cy="230002"/>
          </a:xfrm>
        </p:grpSpPr>
        <p:grpSp>
          <p:nvGrpSpPr>
            <p:cNvPr id="6" name="Group 49">
              <a:extLst>
                <a:ext uri="{FF2B5EF4-FFF2-40B4-BE49-F238E27FC236}">
                  <a16:creationId xmlns:a16="http://schemas.microsoft.com/office/drawing/2014/main" id="{7BF209D9-C6A6-441C-B309-16A007E6CD80}"/>
                </a:ext>
              </a:extLst>
            </p:cNvPr>
            <p:cNvGrpSpPr/>
            <p:nvPr/>
          </p:nvGrpSpPr>
          <p:grpSpPr>
            <a:xfrm>
              <a:off x="22440" y="59287"/>
              <a:ext cx="714582" cy="159855"/>
              <a:chOff x="31572" y="60276"/>
              <a:chExt cx="1005430" cy="197828"/>
            </a:xfrm>
          </p:grpSpPr>
          <p:sp>
            <p:nvSpPr>
              <p:cNvPr id="9" name="Arrow: Pentagon 25">
                <a:extLst>
                  <a:ext uri="{FF2B5EF4-FFF2-40B4-BE49-F238E27FC236}">
                    <a16:creationId xmlns:a16="http://schemas.microsoft.com/office/drawing/2014/main" id="{904EBBE0-733B-4D7A-B283-6F248D2C6417}"/>
                  </a:ext>
                </a:extLst>
              </p:cNvPr>
              <p:cNvSpPr/>
              <p:nvPr/>
            </p:nvSpPr>
            <p:spPr>
              <a:xfrm>
                <a:off x="204585" y="60276"/>
                <a:ext cx="832417" cy="197828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44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44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rrow: Chevron 26">
                <a:extLst>
                  <a:ext uri="{FF2B5EF4-FFF2-40B4-BE49-F238E27FC236}">
                    <a16:creationId xmlns:a16="http://schemas.microsoft.com/office/drawing/2014/main" id="{F1948BBD-2402-482F-BBF3-63994A8C8AA3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400"/>
              </a:p>
            </p:txBody>
          </p:sp>
          <p:sp>
            <p:nvSpPr>
              <p:cNvPr id="11" name="Arrow: Chevron 27">
                <a:extLst>
                  <a:ext uri="{FF2B5EF4-FFF2-40B4-BE49-F238E27FC236}">
                    <a16:creationId xmlns:a16="http://schemas.microsoft.com/office/drawing/2014/main" id="{593E2C1E-A509-4276-9389-2BA8ADBB0ADD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400"/>
              </a:p>
            </p:txBody>
          </p:sp>
        </p:grpSp>
        <p:sp>
          <p:nvSpPr>
            <p:cNvPr id="8" name="TextBox 56">
              <a:extLst>
                <a:ext uri="{FF2B5EF4-FFF2-40B4-BE49-F238E27FC236}">
                  <a16:creationId xmlns:a16="http://schemas.microsoft.com/office/drawing/2014/main" id="{1FFD724C-08B6-4B99-A537-E22B825034D1}"/>
                </a:ext>
              </a:extLst>
            </p:cNvPr>
            <p:cNvSpPr txBox="1"/>
            <p:nvPr/>
          </p:nvSpPr>
          <p:spPr>
            <a:xfrm>
              <a:off x="192648" y="16831"/>
              <a:ext cx="585766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kern="120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</a:t>
              </a:r>
              <a:r>
                <a:rPr lang="en-US" sz="4400" b="1" kern="120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400" b="1" kern="120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lang="en-US" sz="4400" b="1" kern="120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4.14.</a:t>
              </a:r>
              <a:endParaRPr lang="en-US" sz="440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4789330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79600"/>
                <a:ext cx="23164800" cy="276859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algn="just">
                  <a:lnSpc>
                    <a:spcPct val="114000"/>
                  </a:lnSpc>
                </a:pPr>
                <a:r>
                  <a:rPr lang="en-US" sz="4400" b="1" dirty="0"/>
                  <a:t>                                          </a:t>
                </a:r>
                <a:r>
                  <a:rPr lang="en-US" sz="4400" b="1" dirty="0" err="1"/>
                  <a:t>Chất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điểm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chịu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tác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động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của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ba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lực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như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Hình</a:t>
                </a:r>
                <a:r>
                  <a:rPr lang="en-US" sz="4400" b="1" dirty="0"/>
                  <a:t> 4.30 </a:t>
                </a:r>
                <a:r>
                  <a:rPr lang="en-US" sz="4400" b="1" dirty="0" err="1"/>
                  <a:t>và</a:t>
                </a:r>
                <a:r>
                  <a:rPr lang="en-US" sz="4400" b="1" dirty="0"/>
                  <a:t> ở </a:t>
                </a:r>
                <a:r>
                  <a:rPr lang="en-US" sz="4400" b="1" dirty="0" err="1"/>
                  <a:t>trạng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thái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cân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bằng</a:t>
                </a:r>
                <a:r>
                  <a:rPr lang="en-US" sz="4400" b="1" dirty="0"/>
                  <a:t> (</a:t>
                </a:r>
                <a:r>
                  <a:rPr lang="en-US" sz="4400" b="1" dirty="0" err="1"/>
                  <a:t>tức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là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sz="4400" b="1" dirty="0"/>
                  <a:t> ). </a:t>
                </a:r>
                <a:r>
                  <a:rPr lang="en-US" sz="4400" b="1" dirty="0" err="1"/>
                  <a:t>Tính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độ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lớn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của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các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lực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400" b="1" dirty="0"/>
                  <a:t> , </a:t>
                </a:r>
                <a:r>
                  <a:rPr lang="en-US" sz="4400" b="1" dirty="0" err="1"/>
                  <a:t>biết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có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độ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lớn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là</a:t>
                </a:r>
                <a:r>
                  <a:rPr lang="en-US" sz="4400" b="1" dirty="0"/>
                  <a:t> 20 N.</a:t>
                </a:r>
              </a:p>
              <a:p>
                <a:pPr algn="just">
                  <a:lnSpc>
                    <a:spcPct val="114000"/>
                  </a:lnSpc>
                </a:pPr>
                <a:endParaRPr lang="en-US" sz="4400" b="1" dirty="0"/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23164800" cy="2768599"/>
              </a:xfrm>
              <a:prstGeom prst="rect">
                <a:avLst/>
              </a:prstGeom>
              <a:blipFill>
                <a:blip r:embed="rId3"/>
                <a:stretch>
                  <a:fillRect l="-1052" r="-1578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5800" y="4831054"/>
                <a:ext cx="12573000" cy="870487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4400" b="1" dirty="0"/>
                  <a:t>Lời </a:t>
                </a:r>
                <a:r>
                  <a:rPr lang="en-US" sz="4400" b="1" dirty="0" err="1"/>
                  <a:t>giải</a:t>
                </a:r>
                <a:endParaRPr lang="en-US" sz="4400" b="1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44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sz="44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400" dirty="0"/>
                  <a:t>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44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sz="44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  <m:r>
                      <a:rPr lang="en-US" sz="44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  <m:r>
                      <a:rPr lang="en-US" sz="4400" i="1">
                        <a:latin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  <m:r>
                      <a:rPr lang="en-US" sz="4400" i="1">
                        <a:latin typeface="Cambria Math" panose="02040503050406030204" pitchFamily="18" charset="0"/>
                      </a:rPr>
                      <m:t>=−</m:t>
                    </m:r>
                    <m:acc>
                      <m:accPr>
                        <m:chr m:val="⃗"/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  <m:r>
                      <a:rPr lang="en-US" sz="4400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|"/>
                        <m:endChr m:val="|"/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4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4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sz="4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4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44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en-US" sz="4400" dirty="0"/>
                  <a:t> </a:t>
                </a:r>
              </a:p>
              <a:p>
                <a:pPr marL="0" indent="0">
                  <a:buNone/>
                </a:pPr>
                <a:r>
                  <a:rPr lang="en-US" sz="4400" dirty="0"/>
                  <a:t>Ta </a:t>
                </a:r>
                <a:r>
                  <a:rPr lang="en-US" sz="4400" dirty="0" err="1"/>
                  <a:t>có</a:t>
                </a:r>
                <a:r>
                  <a:rPr lang="en-US" sz="4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4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4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sz="4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4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4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sz="4400" i="1">
                        <a:latin typeface="Cambria Math" panose="02040503050406030204" pitchFamily="18" charset="0"/>
                      </a:rPr>
                      <m:t>.</m:t>
                    </m:r>
                    <m:func>
                      <m:func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𝑡𝑎𝑛</m:t>
                        </m:r>
                      </m:fName>
                      <m:e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func>
                    <m:r>
                      <a:rPr lang="en-US" sz="4400" i="1">
                        <a:latin typeface="Cambria Math" panose="02040503050406030204" pitchFamily="18" charset="0"/>
                      </a:rPr>
                      <m:t>0°=</m:t>
                    </m:r>
                    <m:f>
                      <m:f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20</m:t>
                        </m:r>
                        <m:rad>
                          <m:radPr>
                            <m:degHide m:val="on"/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44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4400" i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4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44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sz="4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4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4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4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num>
                      <m:den>
                        <m:r>
                          <m:rPr>
                            <m:nor/>
                          </m:rPr>
                          <a:rPr lang="en-US" sz="4400"/>
                          <m:t>cos</m:t>
                        </m:r>
                        <m:r>
                          <m:rPr>
                            <m:nor/>
                          </m:rPr>
                          <a:rPr lang="en-US" sz="4400"/>
                          <m:t>3</m:t>
                        </m:r>
                        <m:r>
                          <a:rPr lang="en-US" sz="4400">
                            <a:latin typeface="Cambria Math" panose="02040503050406030204" pitchFamily="18" charset="0"/>
                          </a:rPr>
                          <m:t>0°</m:t>
                        </m:r>
                      </m:den>
                    </m:f>
                    <m:r>
                      <a:rPr lang="en-US" sz="4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40</m:t>
                        </m:r>
                        <m:rad>
                          <m:radPr>
                            <m:degHide m:val="on"/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4400" dirty="0"/>
                  <a:t> ;</a:t>
                </a:r>
              </a:p>
              <a:p>
                <a:r>
                  <a:rPr lang="en-US" sz="4400" dirty="0" err="1"/>
                  <a:t>Vậy</a:t>
                </a:r>
                <a:r>
                  <a:rPr lang="en-US" sz="4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4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4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sz="4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20</m:t>
                        </m:r>
                        <m:rad>
                          <m:radPr>
                            <m:degHide m:val="on"/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nor/>
                      </m:rPr>
                      <a:rPr lang="en-US" sz="4400"/>
                      <m:t> </m:t>
                    </m:r>
                    <m:r>
                      <m:rPr>
                        <m:nor/>
                      </m:rPr>
                      <a:rPr lang="en-US" sz="4400"/>
                      <m:t>N</m:t>
                    </m:r>
                    <m:r>
                      <a:rPr lang="en-US" sz="4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44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4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4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sz="4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40</m:t>
                        </m:r>
                        <m:rad>
                          <m:radPr>
                            <m:degHide m:val="on"/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nor/>
                      </m:rPr>
                      <a:rPr lang="en-US" sz="4400"/>
                      <m:t> </m:t>
                    </m:r>
                    <m:r>
                      <m:rPr>
                        <m:nor/>
                      </m:rPr>
                      <a:rPr lang="en-US" sz="4400"/>
                      <m:t>N</m:t>
                    </m:r>
                  </m:oMath>
                </a14:m>
                <a:r>
                  <a:rPr lang="en-US" sz="4400" dirty="0"/>
                  <a:t>.</a:t>
                </a:r>
              </a:p>
              <a:p>
                <a:endParaRPr lang="en-US" sz="4400" b="1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831054"/>
                <a:ext cx="12573000" cy="8704879"/>
              </a:xfrm>
              <a:prstGeom prst="rect">
                <a:avLst/>
              </a:prstGeom>
              <a:blipFill>
                <a:blip r:embed="rId4"/>
                <a:stretch>
                  <a:fillRect l="-1938" t="-209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3487400" y="4831054"/>
            <a:ext cx="10487892" cy="8588086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0" lvl="4" indent="0">
              <a:buNone/>
            </a:pPr>
            <a:endParaRPr lang="en-US" sz="4400" b="1" dirty="0"/>
          </a:p>
          <a:p>
            <a:pPr lvl="4"/>
            <a:endParaRPr lang="en-US" sz="4400" b="1" dirty="0"/>
          </a:p>
          <a:p>
            <a:pPr lvl="4"/>
            <a:endParaRPr lang="en-US" sz="4400" b="1" dirty="0"/>
          </a:p>
          <a:p>
            <a:pPr lvl="4"/>
            <a:endParaRPr lang="en-US" sz="4400" b="1" dirty="0"/>
          </a:p>
          <a:p>
            <a:pPr lvl="4"/>
            <a:endParaRPr lang="en-US" sz="4400" b="1" dirty="0"/>
          </a:p>
          <a:p>
            <a:pPr lvl="4"/>
            <a:endParaRPr lang="en-US" sz="4400" b="1" dirty="0"/>
          </a:p>
          <a:p>
            <a:pPr lvl="4"/>
            <a:endParaRPr lang="en-US" sz="4400" b="1" dirty="0"/>
          </a:p>
          <a:p>
            <a:pPr marL="0" indent="0" algn="ctr">
              <a:buNone/>
            </a:pPr>
            <a:endParaRPr lang="en-US" sz="4400" b="1" i="1" dirty="0"/>
          </a:p>
          <a:p>
            <a:pPr marL="0" indent="0">
              <a:buNone/>
            </a:pPr>
            <a:r>
              <a:rPr lang="en-US" sz="4400" b="1" i="1" dirty="0"/>
              <a:t>          </a:t>
            </a:r>
            <a:r>
              <a:rPr lang="en-US" sz="4400" b="1" i="1" dirty="0" err="1"/>
              <a:t>Hình</a:t>
            </a:r>
            <a:r>
              <a:rPr lang="en-US" sz="4400" b="1" i="1" dirty="0"/>
              <a:t> 4.30</a:t>
            </a:r>
            <a:endParaRPr lang="en-US" sz="4400" b="1" dirty="0"/>
          </a:p>
        </p:txBody>
      </p:sp>
      <p:grpSp>
        <p:nvGrpSpPr>
          <p:cNvPr id="5" name="Group 57">
            <a:extLst>
              <a:ext uri="{FF2B5EF4-FFF2-40B4-BE49-F238E27FC236}">
                <a16:creationId xmlns:a16="http://schemas.microsoft.com/office/drawing/2014/main" id="{7D907B0A-C1A0-4A12-8A44-A00F4CC672F1}"/>
              </a:ext>
            </a:extLst>
          </p:cNvPr>
          <p:cNvGrpSpPr/>
          <p:nvPr/>
        </p:nvGrpSpPr>
        <p:grpSpPr>
          <a:xfrm>
            <a:off x="914400" y="1904999"/>
            <a:ext cx="5486398" cy="990600"/>
            <a:chOff x="22440" y="22728"/>
            <a:chExt cx="755974" cy="230002"/>
          </a:xfrm>
        </p:grpSpPr>
        <p:grpSp>
          <p:nvGrpSpPr>
            <p:cNvPr id="6" name="Group 49">
              <a:extLst>
                <a:ext uri="{FF2B5EF4-FFF2-40B4-BE49-F238E27FC236}">
                  <a16:creationId xmlns:a16="http://schemas.microsoft.com/office/drawing/2014/main" id="{7BF209D9-C6A6-441C-B309-16A007E6CD80}"/>
                </a:ext>
              </a:extLst>
            </p:cNvPr>
            <p:cNvGrpSpPr/>
            <p:nvPr/>
          </p:nvGrpSpPr>
          <p:grpSpPr>
            <a:xfrm>
              <a:off x="22440" y="59287"/>
              <a:ext cx="714582" cy="159855"/>
              <a:chOff x="31572" y="60276"/>
              <a:chExt cx="1005430" cy="197828"/>
            </a:xfrm>
          </p:grpSpPr>
          <p:sp>
            <p:nvSpPr>
              <p:cNvPr id="9" name="Arrow: Pentagon 25">
                <a:extLst>
                  <a:ext uri="{FF2B5EF4-FFF2-40B4-BE49-F238E27FC236}">
                    <a16:creationId xmlns:a16="http://schemas.microsoft.com/office/drawing/2014/main" id="{904EBBE0-733B-4D7A-B283-6F248D2C6417}"/>
                  </a:ext>
                </a:extLst>
              </p:cNvPr>
              <p:cNvSpPr/>
              <p:nvPr/>
            </p:nvSpPr>
            <p:spPr>
              <a:xfrm>
                <a:off x="204585" y="60276"/>
                <a:ext cx="832417" cy="197828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44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44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rrow: Chevron 26">
                <a:extLst>
                  <a:ext uri="{FF2B5EF4-FFF2-40B4-BE49-F238E27FC236}">
                    <a16:creationId xmlns:a16="http://schemas.microsoft.com/office/drawing/2014/main" id="{F1948BBD-2402-482F-BBF3-63994A8C8AA3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400"/>
              </a:p>
            </p:txBody>
          </p:sp>
          <p:sp>
            <p:nvSpPr>
              <p:cNvPr id="11" name="Arrow: Chevron 27">
                <a:extLst>
                  <a:ext uri="{FF2B5EF4-FFF2-40B4-BE49-F238E27FC236}">
                    <a16:creationId xmlns:a16="http://schemas.microsoft.com/office/drawing/2014/main" id="{593E2C1E-A509-4276-9389-2BA8ADBB0ADD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400"/>
              </a:p>
            </p:txBody>
          </p:sp>
        </p:grpSp>
        <p:sp>
          <p:nvSpPr>
            <p:cNvPr id="8" name="TextBox 56">
              <a:extLst>
                <a:ext uri="{FF2B5EF4-FFF2-40B4-BE49-F238E27FC236}">
                  <a16:creationId xmlns:a16="http://schemas.microsoft.com/office/drawing/2014/main" id="{1FFD724C-08B6-4B99-A537-E22B825034D1}"/>
                </a:ext>
              </a:extLst>
            </p:cNvPr>
            <p:cNvSpPr txBox="1"/>
            <p:nvPr/>
          </p:nvSpPr>
          <p:spPr>
            <a:xfrm>
              <a:off x="192648" y="22728"/>
              <a:ext cx="585766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kern="120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</a:t>
              </a:r>
              <a:r>
                <a:rPr lang="en-US" sz="4400" b="1" kern="120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400" b="1" kern="120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lang="en-US" sz="4400" b="1" kern="120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4.15.</a:t>
              </a:r>
              <a:endParaRPr lang="en-US" sz="440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12" name="Picture 18">
            <a:extLst>
              <a:ext uri="{FF2B5EF4-FFF2-40B4-BE49-F238E27FC236}">
                <a16:creationId xmlns:a16="http://schemas.microsoft.com/office/drawing/2014/main" id="{47B73FC0-3D9B-431F-8C42-44D85F7D31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2203" y="4717276"/>
            <a:ext cx="4693397" cy="5889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BB5FB0-D3C0-40B0-87A9-4159304F77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5600" y="4831054"/>
            <a:ext cx="5819223" cy="577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7370460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biết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? </a:t>
                </a:r>
              </a:p>
              <a:p>
                <a:pPr algn="just"/>
                <a:endParaRPr lang="en-US" sz="4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4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4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4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4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4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4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hãy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dùng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kiến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vectơ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chính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tác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sự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thuyền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buồm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</m:acc>
                  </m:oMath>
                </a14:m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gió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tác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cánh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buồm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acc>
                  </m:oMath>
                </a14:m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cùng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cánh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buồm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acc>
                  </m:oMath>
                </a14:m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vuông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cánh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buồm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>
                <a:blip r:embed="rId3"/>
                <a:stretch>
                  <a:fillRect l="-1970" t="-1547" r="-2135" b="-112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cánh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buồm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mỏng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acc>
                  </m:oMath>
                </a14:m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trượt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tác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lên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cánh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buồm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Ta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lại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acc>
                  </m:oMath>
                </a14:m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cùng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thuyền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vuông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thuyền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Thuyền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buồm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thuyền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sâu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mũi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nhọn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nó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chịu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cản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acc>
                  </m:oMath>
                </a14:m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đáng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kể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nước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vuông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thuyền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Người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chỉnh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hướng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thuyền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hướng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thuyền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cánh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buồm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cản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acc>
                  </m:oMath>
                </a14:m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nước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phụ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thuộc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sự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chỉnh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thắng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chỉnh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lớn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Cuối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cùng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dưới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tác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thuyền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sau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thời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gian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nó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lại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chỉnh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hướng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đích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dích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dắc</a:t>
                </a:r>
                <a:r>
                  <a:rPr lang="en-US" sz="4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1798" t="-1547" r="-200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19">
            <a:extLst>
              <a:ext uri="{FF2B5EF4-FFF2-40B4-BE49-F238E27FC236}">
                <a16:creationId xmlns:a16="http://schemas.microsoft.com/office/drawing/2014/main" id="{B4CBB953-35A8-4C22-8FF6-5C6752759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819400"/>
            <a:ext cx="7562851" cy="537485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8703821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79600"/>
                <a:ext cx="23164800" cy="3302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en-US" sz="4400" b="1" dirty="0">
                    <a:solidFill>
                      <a:srgbClr val="FF0000"/>
                    </a:solidFill>
                  </a:rPr>
                  <a:t>BÀI TẬP TƯƠNG TỰ</a:t>
                </a:r>
              </a:p>
              <a:p>
                <a:pPr lvl="0"/>
                <a:r>
                  <a:rPr lang="nl-NL" sz="4400" b="1" dirty="0"/>
                  <a:t>1. </a:t>
                </a:r>
                <a:r>
                  <a:rPr lang="pt-BR" sz="4400" b="1" dirty="0"/>
                  <a:t>Cho tứ giác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𝑨𝑩𝑪𝑫</m:t>
                    </m:r>
                  </m:oMath>
                </a14:m>
                <a:r>
                  <a:rPr lang="pt-BR" sz="4400" b="1" dirty="0"/>
                  <a:t>. Gọi </a:t>
                </a:r>
                <a14:m>
                  <m:oMath xmlns:m="http://schemas.openxmlformats.org/officeDocument/2006/math">
                    <m:r>
                      <a:rPr lang="pt-BR" sz="4400" b="1" i="1">
                        <a:latin typeface="Cambria Math" panose="02040503050406030204" pitchFamily="18" charset="0"/>
                      </a:rPr>
                      <m:t>𝑰</m:t>
                    </m:r>
                    <m:r>
                      <a:rPr lang="pt-BR" sz="44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4400" b="1" i="1">
                        <a:latin typeface="Cambria Math" panose="02040503050406030204" pitchFamily="18" charset="0"/>
                      </a:rPr>
                      <m:t>𝑱</m:t>
                    </m:r>
                  </m:oMath>
                </a14:m>
                <a:r>
                  <a:rPr lang="pt-BR" sz="4400" b="1" dirty="0"/>
                  <a:t> lần lượt là trung điểm của </a:t>
                </a:r>
                <a14:m>
                  <m:oMath xmlns:m="http://schemas.openxmlformats.org/officeDocument/2006/math">
                    <m:r>
                      <a:rPr lang="pt-BR" sz="4400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pt-BR" sz="4400" b="1" dirty="0"/>
                  <a:t> và </a:t>
                </a:r>
                <a14:m>
                  <m:oMath xmlns:m="http://schemas.openxmlformats.org/officeDocument/2006/math">
                    <m:r>
                      <a:rPr lang="pt-BR" sz="4400" b="1" i="1">
                        <a:latin typeface="Cambria Math" panose="02040503050406030204" pitchFamily="18" charset="0"/>
                      </a:rPr>
                      <m:t>𝑪𝑫</m:t>
                    </m:r>
                  </m:oMath>
                </a14:m>
                <a:r>
                  <a:rPr lang="pt-BR" sz="4400" b="1" dirty="0"/>
                  <a:t>, </a:t>
                </a:r>
                <a14:m>
                  <m:oMath xmlns:m="http://schemas.openxmlformats.org/officeDocument/2006/math">
                    <m:r>
                      <a:rPr lang="pt-BR" sz="4400" b="1" i="1"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pt-BR" sz="4400" b="1" dirty="0"/>
                  <a:t> là trung điểm của </a:t>
                </a:r>
                <a14:m>
                  <m:oMath xmlns:m="http://schemas.openxmlformats.org/officeDocument/2006/math">
                    <m:r>
                      <a:rPr lang="pt-BR" sz="4400" b="1" i="1">
                        <a:latin typeface="Cambria Math" panose="02040503050406030204" pitchFamily="18" charset="0"/>
                      </a:rPr>
                      <m:t>𝑰𝑱</m:t>
                    </m:r>
                  </m:oMath>
                </a14:m>
                <a:r>
                  <a:rPr lang="pt-BR" sz="4400" b="1" dirty="0"/>
                  <a:t> </a:t>
                </a:r>
                <a:r>
                  <a:rPr lang="pt-BR" sz="4400" b="1" i="1" dirty="0"/>
                  <a:t> </a:t>
                </a:r>
                <a:r>
                  <a:rPr lang="pt-BR" sz="4400" b="1" dirty="0"/>
                  <a:t>.Chứng minh rằng:</a:t>
                </a:r>
                <a:endParaRPr lang="en-US" sz="4400" b="1" dirty="0"/>
              </a:p>
              <a:p>
                <a:pPr marL="914400" indent="-914400">
                  <a:buAutoNum type="alphaLcParenR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𝑩𝑫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𝑰𝑱</m:t>
                        </m:r>
                      </m:e>
                    </m:acc>
                  </m:oMath>
                </a14:m>
                <a:r>
                  <a:rPr lang="nl-NL" sz="4400" b="1" dirty="0"/>
                  <a:t> </a:t>
                </a:r>
                <a:r>
                  <a:rPr lang="en-US" sz="4400" b="1" dirty="0"/>
                  <a:t>    				</a:t>
                </a:r>
                <a:r>
                  <a:rPr lang="pt-BR" sz="4400" b="1" dirty="0"/>
                  <a:t>b)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𝑶𝑫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nl-NL" sz="4400" b="1" dirty="0"/>
                  <a:t> </a:t>
                </a:r>
              </a:p>
              <a:p>
                <a:r>
                  <a:rPr lang="pt-BR" sz="4400" b="1" dirty="0"/>
                  <a:t>c)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𝑴𝑨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𝑴𝑩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𝑴𝑪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𝑴𝑫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𝟒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𝑴𝑶</m:t>
                        </m:r>
                      </m:e>
                    </m:acc>
                  </m:oMath>
                </a14:m>
                <a:r>
                  <a:rPr lang="pt-BR" sz="4400" b="1" dirty="0"/>
                  <a:t> với M là điểm bất kì</a:t>
                </a:r>
                <a:endParaRPr lang="en-US" sz="4400" b="1" dirty="0"/>
              </a:p>
              <a:p>
                <a:endParaRPr lang="en-US" sz="4400" b="1" dirty="0"/>
              </a:p>
              <a:p>
                <a:pPr algn="just"/>
                <a:endParaRPr lang="en-US" sz="4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23164800" cy="3302000"/>
              </a:xfrm>
              <a:prstGeom prst="rect">
                <a:avLst/>
              </a:prstGeom>
              <a:blipFill>
                <a:blip r:embed="rId3"/>
                <a:stretch>
                  <a:fillRect l="-1052" t="-5515" r="-552" b="-7537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5181600"/>
                <a:ext cx="11353800" cy="83216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nl-NL" sz="4400" b="1" dirty="0"/>
                  <a:t>Lời giải</a:t>
                </a:r>
              </a:p>
              <a:p>
                <a:endParaRPr lang="nl-NL" sz="4400" b="1" dirty="0"/>
              </a:p>
              <a:p>
                <a:endParaRPr lang="nl-NL" sz="4400" b="1" dirty="0"/>
              </a:p>
              <a:p>
                <a:endParaRPr lang="nl-NL" sz="4400" b="1" dirty="0"/>
              </a:p>
              <a:p>
                <a:endParaRPr lang="nl-NL" sz="4400" b="1" dirty="0"/>
              </a:p>
              <a:p>
                <a:endParaRPr lang="nl-NL" sz="4400" b="1" dirty="0"/>
              </a:p>
              <a:p>
                <a:pPr marL="0" indent="0">
                  <a:buNone/>
                </a:pPr>
                <a:r>
                  <a:rPr lang="pt-BR" sz="4400" b="1" dirty="0"/>
                  <a:t>a) Theo quy tắc ba điểm ta có</a:t>
                </a:r>
                <a:endParaRPr lang="en-US" sz="4400" b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𝑨𝑰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𝑰𝑱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𝑨𝑰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𝑰𝑱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𝑱𝑪</m:t>
                        </m:r>
                      </m:e>
                    </m:acc>
                  </m:oMath>
                </a14:m>
                <a:r>
                  <a:rPr lang="nl-NL" sz="4400" b="1" dirty="0"/>
                  <a:t> </a:t>
                </a:r>
                <a:endParaRPr lang="en-US" sz="4400" b="1" dirty="0"/>
              </a:p>
              <a:p>
                <a:pPr marL="0" indent="0">
                  <a:buNone/>
                </a:pPr>
                <a:r>
                  <a:rPr lang="nl-NL" sz="4400" b="1" dirty="0"/>
                  <a:t>Tương tự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𝑩𝑫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𝑩𝑰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𝑰𝑱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𝑱𝑫</m:t>
                        </m:r>
                      </m:e>
                    </m:acc>
                  </m:oMath>
                </a14:m>
                <a:r>
                  <a:rPr lang="nl-NL" sz="4400" b="1" dirty="0"/>
                  <a:t> </a:t>
                </a:r>
                <a:endParaRPr lang="en-US" sz="4400" b="1" dirty="0"/>
              </a:p>
              <a:p>
                <a:pPr marL="0" indent="0">
                  <a:buNone/>
                </a:pPr>
                <a:endParaRPr lang="en-US" sz="4400" b="1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181600"/>
                <a:ext cx="11353800" cy="8321676"/>
              </a:xfrm>
              <a:prstGeom prst="rect">
                <a:avLst/>
              </a:prstGeom>
              <a:blipFill>
                <a:blip r:embed="rId4"/>
                <a:stretch>
                  <a:fillRect l="-2146" t="-219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91159" y="5113337"/>
                <a:ext cx="11630891" cy="823754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nl-NL" sz="4400" b="1" dirty="0"/>
                  <a:t>Mà I, J lần lượt là trung điểm của AB và CD nên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𝑨𝑰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𝑩𝑰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𝑱𝑪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𝑱𝑫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nl-NL" sz="4400" b="1" dirty="0"/>
                  <a:t> </a:t>
                </a:r>
                <a:endParaRPr lang="en-US" sz="4400" b="1" dirty="0"/>
              </a:p>
              <a:p>
                <a:pPr marL="0" indent="0">
                  <a:buNone/>
                </a:pPr>
                <a:r>
                  <a:rPr lang="nl-NL" sz="4400" b="1" dirty="0"/>
                  <a:t>Vậy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𝑩𝑫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𝑨𝑰</m:t>
                            </m:r>
                          </m:e>
                        </m:acc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𝑩𝑰</m:t>
                            </m:r>
                          </m:e>
                        </m:acc>
                      </m:e>
                    </m:d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𝑱𝑪</m:t>
                            </m:r>
                          </m:e>
                        </m:acc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𝑱𝑫</m:t>
                            </m:r>
                          </m:e>
                        </m:acc>
                      </m:e>
                    </m:d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𝑰𝑱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𝑰𝑱</m:t>
                        </m:r>
                      </m:e>
                    </m:acc>
                  </m:oMath>
                </a14:m>
                <a:r>
                  <a:rPr lang="nl-NL" sz="4400" b="1" dirty="0"/>
                  <a:t> (đpcm)</a:t>
                </a:r>
              </a:p>
              <a:p>
                <a:pPr marL="0" indent="0">
                  <a:buNone/>
                </a:pPr>
                <a:r>
                  <a:rPr lang="nl-NL" sz="4400" b="1" dirty="0"/>
                  <a:t>b) Theo hệ thức trung điểm ta có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𝑶𝑰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𝑶𝑫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𝑶𝑱</m:t>
                        </m:r>
                      </m:e>
                    </m:acc>
                  </m:oMath>
                </a14:m>
                <a:r>
                  <a:rPr lang="nl-NL" sz="4400" b="1" dirty="0"/>
                  <a:t> </a:t>
                </a:r>
                <a:endParaRPr lang="en-US" sz="4400" b="1" dirty="0"/>
              </a:p>
              <a:p>
                <a:pPr marL="0" indent="0">
                  <a:buNone/>
                </a:pPr>
                <a:r>
                  <a:rPr lang="nl-NL" sz="4400" b="1" dirty="0"/>
                  <a:t>Mặt khác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nl-NL" sz="4400" b="1" dirty="0"/>
                  <a:t> là trung điểm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𝑰𝑱</m:t>
                    </m:r>
                  </m:oMath>
                </a14:m>
                <a:r>
                  <a:rPr lang="nl-NL" sz="4400" b="1" dirty="0"/>
                  <a:t> nên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𝑶𝑰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𝑶𝑱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nl-NL" sz="4400" b="1" dirty="0"/>
                  <a:t>.</a:t>
                </a:r>
                <a:endParaRPr lang="en-US" sz="4400" b="1" dirty="0"/>
              </a:p>
              <a:p>
                <a:pPr marL="0" indent="0">
                  <a:buNone/>
                </a:pPr>
                <a:r>
                  <a:rPr lang="nl-NL" sz="4400" b="1" dirty="0"/>
                  <a:t>Suy ra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𝑶𝑫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𝑶𝑰</m:t>
                            </m:r>
                          </m:e>
                        </m:acc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𝑶𝑱</m:t>
                            </m:r>
                          </m:e>
                        </m:acc>
                      </m:e>
                    </m:d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nl-NL" sz="4400" b="1" dirty="0"/>
                  <a:t> (đpcm)</a:t>
                </a:r>
                <a:endParaRPr lang="en-US" sz="4400" b="1" dirty="0"/>
              </a:p>
              <a:p>
                <a:pPr marL="0" indent="0">
                  <a:buNone/>
                </a:pPr>
                <a:endParaRPr lang="en-US" sz="4400" b="1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1159" y="5113337"/>
                <a:ext cx="11630891" cy="8237540"/>
              </a:xfrm>
              <a:prstGeom prst="rect">
                <a:avLst/>
              </a:prstGeom>
              <a:blipFill>
                <a:blip r:embed="rId5"/>
                <a:stretch>
                  <a:fillRect l="-2094" t="-229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118">
            <a:extLst>
              <a:ext uri="{FF2B5EF4-FFF2-40B4-BE49-F238E27FC236}">
                <a16:creationId xmlns:a16="http://schemas.microsoft.com/office/drawing/2014/main" id="{024C30B3-FC89-46A0-8535-6AA1C7607B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800" y="5562600"/>
            <a:ext cx="4670425" cy="4710133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30628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79600"/>
                <a:ext cx="23164800" cy="3302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en-US" sz="4400" b="1" dirty="0">
                    <a:solidFill>
                      <a:srgbClr val="FF0000"/>
                    </a:solidFill>
                  </a:rPr>
                  <a:t>BÀI TẬP TƯƠNG TỰ</a:t>
                </a:r>
              </a:p>
              <a:p>
                <a:pPr lvl="0"/>
                <a:r>
                  <a:rPr lang="nl-NL" sz="4400" b="1" dirty="0"/>
                  <a:t>1. </a:t>
                </a:r>
                <a:r>
                  <a:rPr lang="pt-BR" sz="4400" b="1" dirty="0"/>
                  <a:t>Cho tứ giác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𝑨𝑩𝑪𝑫</m:t>
                    </m:r>
                  </m:oMath>
                </a14:m>
                <a:r>
                  <a:rPr lang="pt-BR" sz="4400" b="1" dirty="0"/>
                  <a:t>. Gọi </a:t>
                </a:r>
                <a14:m>
                  <m:oMath xmlns:m="http://schemas.openxmlformats.org/officeDocument/2006/math">
                    <m:r>
                      <a:rPr lang="pt-BR" sz="4400" b="1" i="1">
                        <a:latin typeface="Cambria Math" panose="02040503050406030204" pitchFamily="18" charset="0"/>
                      </a:rPr>
                      <m:t>𝑰</m:t>
                    </m:r>
                    <m:r>
                      <a:rPr lang="pt-BR" sz="44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4400" b="1" i="1">
                        <a:latin typeface="Cambria Math" panose="02040503050406030204" pitchFamily="18" charset="0"/>
                      </a:rPr>
                      <m:t>𝑱</m:t>
                    </m:r>
                  </m:oMath>
                </a14:m>
                <a:r>
                  <a:rPr lang="pt-BR" sz="4400" b="1" dirty="0"/>
                  <a:t> lần lượt là trung điểm của </a:t>
                </a:r>
                <a14:m>
                  <m:oMath xmlns:m="http://schemas.openxmlformats.org/officeDocument/2006/math">
                    <m:r>
                      <a:rPr lang="pt-BR" sz="4400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pt-BR" sz="4400" b="1" dirty="0"/>
                  <a:t> và </a:t>
                </a:r>
                <a14:m>
                  <m:oMath xmlns:m="http://schemas.openxmlformats.org/officeDocument/2006/math">
                    <m:r>
                      <a:rPr lang="pt-BR" sz="4400" b="1" i="1">
                        <a:latin typeface="Cambria Math" panose="02040503050406030204" pitchFamily="18" charset="0"/>
                      </a:rPr>
                      <m:t>𝑪𝑫</m:t>
                    </m:r>
                  </m:oMath>
                </a14:m>
                <a:r>
                  <a:rPr lang="pt-BR" sz="4400" b="1" dirty="0"/>
                  <a:t>, </a:t>
                </a:r>
                <a14:m>
                  <m:oMath xmlns:m="http://schemas.openxmlformats.org/officeDocument/2006/math">
                    <m:r>
                      <a:rPr lang="pt-BR" sz="4400" b="1" i="1"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pt-BR" sz="4400" b="1" dirty="0"/>
                  <a:t> là trung điểm của </a:t>
                </a:r>
                <a14:m>
                  <m:oMath xmlns:m="http://schemas.openxmlformats.org/officeDocument/2006/math">
                    <m:r>
                      <a:rPr lang="pt-BR" sz="4400" b="1" i="1">
                        <a:latin typeface="Cambria Math" panose="02040503050406030204" pitchFamily="18" charset="0"/>
                      </a:rPr>
                      <m:t>𝑰𝑱</m:t>
                    </m:r>
                  </m:oMath>
                </a14:m>
                <a:r>
                  <a:rPr lang="pt-BR" sz="4400" b="1" dirty="0"/>
                  <a:t> </a:t>
                </a:r>
                <a:r>
                  <a:rPr lang="pt-BR" sz="4400" b="1" i="1" dirty="0"/>
                  <a:t> </a:t>
                </a:r>
                <a:r>
                  <a:rPr lang="pt-BR" sz="4400" b="1" dirty="0"/>
                  <a:t>.Chứng minh rằng:</a:t>
                </a:r>
                <a:endParaRPr lang="en-US" sz="4400" b="1" dirty="0"/>
              </a:p>
              <a:p>
                <a:pPr marL="914400" indent="-914400">
                  <a:buAutoNum type="alphaLcParenR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𝑩𝑫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𝑰𝑱</m:t>
                        </m:r>
                      </m:e>
                    </m:acc>
                  </m:oMath>
                </a14:m>
                <a:r>
                  <a:rPr lang="nl-NL" sz="4400" b="1" dirty="0"/>
                  <a:t> </a:t>
                </a:r>
                <a:r>
                  <a:rPr lang="en-US" sz="4400" b="1" dirty="0"/>
                  <a:t>    				</a:t>
                </a:r>
                <a:r>
                  <a:rPr lang="pt-BR" sz="4400" b="1" dirty="0"/>
                  <a:t>b)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𝑶𝑫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nl-NL" sz="4400" b="1" dirty="0"/>
                  <a:t> </a:t>
                </a:r>
              </a:p>
              <a:p>
                <a:r>
                  <a:rPr lang="pt-BR" sz="4400" b="1" dirty="0"/>
                  <a:t>c)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𝑴𝑨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𝑴𝑩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𝑴𝑪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𝑴𝑫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𝟒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𝑴𝑶</m:t>
                        </m:r>
                      </m:e>
                    </m:acc>
                  </m:oMath>
                </a14:m>
                <a:r>
                  <a:rPr lang="pt-BR" sz="4400" b="1" dirty="0"/>
                  <a:t> với M là điểm bất kì</a:t>
                </a:r>
                <a:endParaRPr lang="en-US" sz="4400" b="1" dirty="0"/>
              </a:p>
              <a:p>
                <a:endParaRPr lang="en-US" sz="4400" b="1" dirty="0"/>
              </a:p>
              <a:p>
                <a:pPr algn="just"/>
                <a:endParaRPr lang="en-US" sz="4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23164800" cy="3302000"/>
              </a:xfrm>
              <a:prstGeom prst="rect">
                <a:avLst/>
              </a:prstGeom>
              <a:blipFill>
                <a:blip r:embed="rId3"/>
                <a:stretch>
                  <a:fillRect l="-1052" t="-5515" r="-552" b="-7537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5181600"/>
                <a:ext cx="11734800" cy="83216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nl-NL" sz="4400" b="1" dirty="0"/>
                  <a:t>Lời giải</a:t>
                </a:r>
              </a:p>
              <a:p>
                <a:pPr marL="0" indent="0">
                  <a:buNone/>
                </a:pPr>
                <a:r>
                  <a:rPr lang="nl-NL" sz="4400" b="1" dirty="0"/>
                  <a:t>c) Theo câu b ta có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𝑶𝑫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nl-NL" sz="4400" b="1" dirty="0"/>
                  <a:t> do đó với mọi điểm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nl-NL" sz="4400" b="1" dirty="0"/>
                  <a:t> thì </a:t>
                </a:r>
                <a:endParaRPr lang="en-US" sz="44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l-NL" sz="4400" b="1" i="1">
                              <a:latin typeface="Cambria Math" panose="02040503050406030204" pitchFamily="18" charset="0"/>
                            </a:rPr>
                            <m:t>𝑶𝑨</m:t>
                          </m:r>
                        </m:e>
                      </m:acc>
                      <m:r>
                        <a:rPr lang="nl-NL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l-NL" sz="4400" b="1" i="1">
                              <a:latin typeface="Cambria Math" panose="02040503050406030204" pitchFamily="18" charset="0"/>
                            </a:rPr>
                            <m:t>𝑶𝑩</m:t>
                          </m:r>
                        </m:e>
                      </m:acc>
                      <m:r>
                        <a:rPr lang="nl-NL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l-NL" sz="4400" b="1" i="1">
                              <a:latin typeface="Cambria Math" panose="02040503050406030204" pitchFamily="18" charset="0"/>
                            </a:rPr>
                            <m:t>𝑶𝑪</m:t>
                          </m:r>
                        </m:e>
                      </m:acc>
                      <m:r>
                        <a:rPr lang="nl-NL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l-NL" sz="4400" b="1" i="1">
                              <a:latin typeface="Cambria Math" panose="02040503050406030204" pitchFamily="18" charset="0"/>
                            </a:rPr>
                            <m:t>𝑶𝑫</m:t>
                          </m:r>
                        </m:e>
                      </m:acc>
                      <m:r>
                        <a:rPr lang="nl-NL" sz="44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l-NL" sz="4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acc>
                    </m:oMath>
                  </m:oMathPara>
                </a14:m>
                <a:endParaRPr lang="en-US" sz="44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𝑶𝑴</m:t>
                            </m:r>
                          </m:e>
                        </m:acc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𝑴𝑨</m:t>
                            </m:r>
                          </m:e>
                        </m:acc>
                      </m:e>
                    </m:d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𝑶𝑴</m:t>
                            </m:r>
                          </m:e>
                        </m:acc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𝑴𝑩</m:t>
                            </m:r>
                          </m:e>
                        </m:acc>
                      </m:e>
                    </m:d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𝑶𝑴</m:t>
                            </m:r>
                          </m:e>
                        </m:acc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𝑴𝑪</m:t>
                            </m:r>
                          </m:e>
                        </m:acc>
                      </m:e>
                    </m:d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𝑶𝑴</m:t>
                            </m:r>
                          </m:e>
                        </m:acc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𝑴𝑫</m:t>
                            </m:r>
                          </m:e>
                        </m:acc>
                      </m:e>
                    </m:d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nl-NL" sz="4400" b="1" dirty="0"/>
                  <a:t> </a:t>
                </a:r>
                <a:endParaRPr lang="en-US" sz="4400" b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𝑴𝑨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𝑴𝑩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𝑴𝑪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𝑴𝑫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𝟒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𝑴𝑶</m:t>
                        </m:r>
                      </m:e>
                    </m:acc>
                  </m:oMath>
                </a14:m>
                <a:r>
                  <a:rPr lang="nl-NL" sz="4400" b="1" dirty="0"/>
                  <a:t> (đpcm)</a:t>
                </a:r>
                <a:endParaRPr lang="en-US" sz="4400" b="1" dirty="0"/>
              </a:p>
              <a:p>
                <a:endParaRPr lang="nl-NL" sz="4400" b="1" dirty="0"/>
              </a:p>
              <a:p>
                <a:endParaRPr lang="nl-NL" sz="4400" b="1" dirty="0"/>
              </a:p>
              <a:p>
                <a:endParaRPr lang="nl-NL" sz="4400" b="1" dirty="0"/>
              </a:p>
              <a:p>
                <a:endParaRPr lang="nl-NL" sz="4400" b="1" dirty="0"/>
              </a:p>
              <a:p>
                <a:endParaRPr lang="nl-NL" sz="4400" b="1" dirty="0"/>
              </a:p>
              <a:p>
                <a:pPr marL="0" indent="0">
                  <a:buNone/>
                </a:pPr>
                <a:endParaRPr lang="en-US" sz="4400" b="1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181600"/>
                <a:ext cx="11734800" cy="8321676"/>
              </a:xfrm>
              <a:prstGeom prst="rect">
                <a:avLst/>
              </a:prstGeom>
              <a:blipFill>
                <a:blip r:embed="rId4"/>
                <a:stretch>
                  <a:fillRect l="-2076" t="-2195" r="-186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2954000" y="5181600"/>
            <a:ext cx="11068050" cy="8321676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400" b="1" dirty="0"/>
          </a:p>
        </p:txBody>
      </p:sp>
      <p:pic>
        <p:nvPicPr>
          <p:cNvPr id="8" name="Picture 118">
            <a:extLst>
              <a:ext uri="{FF2B5EF4-FFF2-40B4-BE49-F238E27FC236}">
                <a16:creationId xmlns:a16="http://schemas.microsoft.com/office/drawing/2014/main" id="{024C30B3-FC89-46A0-8535-6AA1C7607B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68600" y="6285677"/>
            <a:ext cx="4670425" cy="4710133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5674181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79601"/>
                <a:ext cx="23164800" cy="274955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lvl="0"/>
                <a:r>
                  <a:rPr lang="nl-NL" sz="4400" b="1" dirty="0"/>
                  <a:t>2. Cho hai tam giác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nl-NL" sz="4400" b="1" dirty="0"/>
                  <a:t>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nl-NL" sz="4400" b="1" dirty="0"/>
                  <a:t> có cùng trọng tâm G. Gọi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nl-NL" sz="4400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nl-NL" sz="4400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nl-NL" sz="4400" b="1" dirty="0"/>
                  <a:t> lần lượt là trọng tâm tam giác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𝑩𝑪</m:t>
                    </m:r>
                    <m:sSub>
                      <m:sSub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nl-NL" sz="4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𝑨𝑩</m:t>
                    </m:r>
                    <m:sSub>
                      <m:sSub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nl-NL" sz="4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𝑨𝑪</m:t>
                    </m:r>
                    <m:sSub>
                      <m:sSub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nl-NL" sz="4400" b="1" dirty="0"/>
                  <a:t>. </a:t>
                </a:r>
              </a:p>
              <a:p>
                <a:pPr lvl="0"/>
                <a:r>
                  <a:rPr lang="nl-NL" sz="4400" b="1" dirty="0"/>
                  <a:t>				Chứng minh rằng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</m:t>
                        </m:r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</m:t>
                        </m:r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</m:t>
                        </m:r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nl-NL" sz="4400" b="1" dirty="0"/>
                  <a:t>.</a:t>
                </a:r>
                <a:endParaRPr lang="en-US" sz="4400" b="1" dirty="0"/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1"/>
                <a:ext cx="23164800" cy="2749550"/>
              </a:xfrm>
              <a:prstGeom prst="rect">
                <a:avLst/>
              </a:prstGeom>
              <a:blipFill>
                <a:blip r:embed="rId3"/>
                <a:stretch>
                  <a:fillRect l="-1052" t="-6623" r="-316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716464"/>
                <a:ext cx="11353800" cy="878681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nl-NL" sz="4400" b="1" dirty="0"/>
                  <a:t>Lời giải</a:t>
                </a:r>
              </a:p>
              <a:p>
                <a:r>
                  <a:rPr lang="nl-NL" sz="4400" b="1" dirty="0"/>
                  <a:t>Vì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nl-NL" sz="4400" b="1" dirty="0"/>
                  <a:t> là trọng tâm tam giác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𝑩𝑪</m:t>
                    </m:r>
                    <m:sSub>
                      <m:sSub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nl-NL" sz="4400" b="1" dirty="0"/>
                  <a:t> nên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</m:t>
                        </m:r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𝑮𝑩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</m:t>
                        </m:r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nl-NL" sz="4400" b="1" dirty="0"/>
                  <a:t> </a:t>
                </a:r>
                <a:endParaRPr lang="en-US" sz="4400" b="1" dirty="0"/>
              </a:p>
              <a:p>
                <a:r>
                  <a:rPr lang="nl-NL" sz="4400" b="1" dirty="0"/>
                  <a:t>Tương tự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nl-NL" sz="4400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nl-NL" sz="4400" b="1" dirty="0"/>
                  <a:t> lần lượt là trọng tâm tam giác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𝑨𝑩</m:t>
                    </m:r>
                    <m:sSub>
                      <m:sSub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nl-NL" sz="4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𝑨𝑪</m:t>
                    </m:r>
                    <m:sSub>
                      <m:sSub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nl-NL" sz="4400" b="1" dirty="0"/>
                  <a:t> suy ra</a:t>
                </a:r>
                <a:endParaRPr lang="en-US" sz="4400" b="1" dirty="0"/>
              </a:p>
              <a:p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</m:t>
                        </m:r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𝑮𝑨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𝑮𝑩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</m:t>
                        </m:r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nl-NL" sz="4400" b="1" dirty="0"/>
                  <a:t> và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</m:t>
                        </m:r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𝑮𝑨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</m:t>
                        </m:r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nl-NL" sz="4400" b="1" dirty="0"/>
                  <a:t> </a:t>
                </a:r>
                <a:endParaRPr lang="en-US" sz="4400" b="1" dirty="0"/>
              </a:p>
              <a:p>
                <a:r>
                  <a:rPr lang="nl-NL" sz="4400" b="1" dirty="0"/>
                  <a:t>Công theo vế với vế các đẳng thức trên ta có</a:t>
                </a:r>
                <a:endParaRPr lang="en-US" sz="4400" b="1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</m:t>
                        </m:r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</m:t>
                        </m:r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</m:t>
                        </m:r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𝑮𝑨</m:t>
                            </m:r>
                          </m:e>
                        </m:acc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𝑮𝑩</m:t>
                            </m:r>
                          </m:e>
                        </m:acc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𝑮𝑪</m:t>
                            </m:r>
                          </m:e>
                        </m:acc>
                      </m:e>
                    </m:d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𝑮</m:t>
                            </m:r>
                            <m:sSub>
                              <m:sSubPr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sz="4400" b="1" i="1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nl-NL" sz="44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acc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𝑮</m:t>
                            </m:r>
                            <m:sSub>
                              <m:sSubPr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sz="4400" b="1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e>
                              <m:sub>
                                <m:r>
                                  <a:rPr lang="nl-NL" sz="44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acc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𝑮</m:t>
                            </m:r>
                            <m:sSub>
                              <m:sSubPr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sz="4400" b="1" i="1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nl-NL" sz="44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nl-NL" sz="4400" b="1" dirty="0"/>
                  <a:t> </a:t>
                </a:r>
                <a:endParaRPr lang="en-US" sz="4400" b="1" dirty="0"/>
              </a:p>
              <a:p>
                <a:endParaRPr lang="en-US" sz="4400" b="1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16464"/>
                <a:ext cx="11353800" cy="8786812"/>
              </a:xfrm>
              <a:prstGeom prst="rect">
                <a:avLst/>
              </a:prstGeom>
              <a:blipFill>
                <a:blip r:embed="rId4"/>
                <a:stretch>
                  <a:fillRect l="-2146" t="-214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420600" y="4713836"/>
                <a:ext cx="11630891" cy="878681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nl-NL" b="1" dirty="0"/>
                  <a:t>Mặt khác hai tam giác </a:t>
                </a:r>
                <a14:m>
                  <m:oMath xmlns:m="http://schemas.openxmlformats.org/officeDocument/2006/math">
                    <m:r>
                      <a:rPr lang="nl-NL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nl-NL" b="1" dirty="0"/>
                  <a:t>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nl-NL" b="1" dirty="0"/>
                  <a:t> có cùng trọng tâm G nên </a:t>
                </a:r>
                <a:endParaRPr lang="en-US" b="1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𝑮𝑨</m:t>
                        </m:r>
                      </m:e>
                    </m:acc>
                    <m:r>
                      <a:rPr lang="nl-NL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𝑮𝑩</m:t>
                        </m:r>
                      </m:e>
                    </m:acc>
                    <m:r>
                      <a:rPr lang="nl-NL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𝑮𝑪</m:t>
                        </m:r>
                      </m:e>
                    </m:acc>
                    <m:r>
                      <a:rPr lang="nl-NL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nl-NL" b="1" dirty="0"/>
                  <a:t> và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𝑮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nl-NL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𝑮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nl-NL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𝑮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nl-NL" b="1" dirty="0"/>
                  <a:t> </a:t>
                </a:r>
                <a:endParaRPr lang="en-US" b="1" dirty="0"/>
              </a:p>
              <a:p>
                <a:r>
                  <a:rPr lang="nl-NL" b="1" dirty="0"/>
                  <a:t>Suy ra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𝑮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nl-NL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𝑮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nl-NL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𝑮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acc>
                    <m:r>
                      <a:rPr lang="nl-NL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nl-NL" b="1" dirty="0"/>
                  <a:t> .</a:t>
                </a:r>
                <a:endParaRPr lang="en-US" b="1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0600" y="4713836"/>
                <a:ext cx="11630891" cy="8786812"/>
              </a:xfrm>
              <a:prstGeom prst="rect">
                <a:avLst/>
              </a:prstGeom>
              <a:blipFill>
                <a:blip r:embed="rId5"/>
                <a:stretch>
                  <a:fillRect l="-2148" t="-2285" r="-120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9344821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79600"/>
                <a:ext cx="23164800" cy="223519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lvl="0"/>
                <a:r>
                  <a:rPr lang="en-US" sz="4400" b="1" dirty="0"/>
                  <a:t>3. </a:t>
                </a:r>
                <a:r>
                  <a:rPr lang="nl-NL" sz="4400" b="1" dirty="0"/>
                  <a:t>Cho tam giác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nl-NL" sz="4400" b="1" dirty="0"/>
                  <a:t>. Gọi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𝑵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nl-NL" sz="4400" b="1" dirty="0"/>
                  <a:t> lần lượt là trung điểm của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𝑩𝑪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𝑪𝑨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nl-NL" sz="4400" b="1" dirty="0"/>
                  <a:t>. Chứng minh rằng</a:t>
                </a:r>
                <a:endParaRPr lang="en-US" sz="4400" b="1" dirty="0"/>
              </a:p>
              <a:p>
                <a:r>
                  <a:rPr lang="nl-NL" sz="4400" b="1" dirty="0"/>
                  <a:t>	a)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𝑨𝑴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𝑩𝑵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𝑪𝑷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nl-NL" sz="4400" b="1" dirty="0"/>
                  <a:t> </a:t>
                </a:r>
                <a:endParaRPr lang="en-US" sz="4400" b="1" dirty="0"/>
              </a:p>
              <a:p>
                <a:r>
                  <a:rPr lang="nl-NL" sz="4400" b="1" dirty="0"/>
                  <a:t>	b)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𝑶𝑴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𝑶𝑵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𝑶𝑷</m:t>
                        </m:r>
                      </m:e>
                    </m:acc>
                  </m:oMath>
                </a14:m>
                <a:r>
                  <a:rPr lang="nl-NL" sz="4400" b="1" dirty="0"/>
                  <a:t> với O là điểm bất kỳ.</a:t>
                </a:r>
                <a:endParaRPr lang="en-US" sz="4400" b="1" dirty="0"/>
              </a:p>
              <a:p>
                <a:endParaRPr lang="en-US" sz="4400" b="1" dirty="0"/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23164800" cy="2235199"/>
              </a:xfrm>
              <a:prstGeom prst="rect">
                <a:avLst/>
              </a:prstGeom>
              <a:blipFill>
                <a:blip r:embed="rId3"/>
                <a:stretch>
                  <a:fillRect l="-1052" t="-8130" b="-4878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4292600"/>
                <a:ext cx="13944601" cy="92106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Lời </a:t>
                </a:r>
                <a:r>
                  <a:rPr lang="en-US" b="1" dirty="0" err="1"/>
                  <a:t>giải</a:t>
                </a:r>
                <a:endParaRPr lang="en-US" b="1" dirty="0"/>
              </a:p>
              <a:p>
                <a:r>
                  <a:rPr lang="nl-NL" sz="4400" b="1" dirty="0"/>
                  <a:t>a)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𝑨𝑴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𝑩𝑵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𝑪𝑷</m:t>
                        </m:r>
                      </m:e>
                    </m:acc>
                  </m:oMath>
                </a14:m>
                <a:endParaRPr lang="en-US" sz="4400" b="1" i="1" dirty="0"/>
              </a:p>
              <a:p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nl-NL" sz="4400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</m:e>
                    </m:d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𝑩𝑪</m:t>
                            </m:r>
                          </m:e>
                        </m:acc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𝑩𝑨</m:t>
                            </m:r>
                          </m:e>
                        </m:acc>
                      </m:e>
                    </m:d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𝑪𝑨</m:t>
                            </m:r>
                          </m:e>
                        </m:acc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𝑪𝑩</m:t>
                            </m:r>
                          </m:e>
                        </m:acc>
                      </m:e>
                    </m:d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nl-NL" sz="4400" b="1" dirty="0"/>
                  <a:t> </a:t>
                </a:r>
                <a:endParaRPr lang="en-US" sz="4400" b="1" dirty="0"/>
              </a:p>
              <a:p>
                <a:r>
                  <a:rPr lang="nl-NL" sz="4400" b="1" dirty="0"/>
                  <a:t>b)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𝑶𝑴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𝑶𝑵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𝑶𝑷</m:t>
                        </m:r>
                      </m:e>
                    </m:acc>
                  </m:oMath>
                </a14:m>
                <a:endParaRPr lang="en-US" sz="4400" b="1" i="1" dirty="0"/>
              </a:p>
              <a:p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nl-NL" sz="4400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𝑶𝑩</m:t>
                            </m:r>
                          </m:e>
                        </m:acc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𝑶𝑪</m:t>
                            </m:r>
                          </m:e>
                        </m:acc>
                      </m:e>
                    </m:d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𝑶𝑪</m:t>
                            </m:r>
                          </m:e>
                        </m:acc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𝑶𝑨</m:t>
                            </m:r>
                          </m:e>
                        </m:acc>
                      </m:e>
                    </m:d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𝑶𝑨</m:t>
                            </m:r>
                          </m:e>
                        </m:acc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𝑶𝑩</m:t>
                            </m:r>
                          </m:e>
                        </m:acc>
                      </m:e>
                    </m:d>
                  </m:oMath>
                </a14:m>
                <a:r>
                  <a:rPr lang="nl-NL" sz="4400" b="1" dirty="0"/>
                  <a:t> </a:t>
                </a:r>
                <a:endParaRPr lang="en-US" sz="4400" b="1" i="1" dirty="0"/>
              </a:p>
              <a:p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𝑶𝑪</m:t>
                        </m:r>
                      </m:e>
                    </m:acc>
                  </m:oMath>
                </a14:m>
                <a:r>
                  <a:rPr lang="nl-NL" sz="4400" b="1" dirty="0"/>
                  <a:t> </a:t>
                </a:r>
                <a:endParaRPr lang="en-US" sz="4400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292600"/>
                <a:ext cx="13944601" cy="9210676"/>
              </a:xfrm>
              <a:prstGeom prst="rect">
                <a:avLst/>
              </a:prstGeom>
              <a:blipFill>
                <a:blip r:embed="rId4"/>
                <a:stretch>
                  <a:fillRect l="-1747" t="-218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5079025" y="4292600"/>
            <a:ext cx="8896266" cy="9126540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400" b="1" dirty="0"/>
          </a:p>
        </p:txBody>
      </p:sp>
      <p:pic>
        <p:nvPicPr>
          <p:cNvPr id="5" name="Picture 208">
            <a:extLst>
              <a:ext uri="{FF2B5EF4-FFF2-40B4-BE49-F238E27FC236}">
                <a16:creationId xmlns:a16="http://schemas.microsoft.com/office/drawing/2014/main" id="{F2A506AD-73E0-4121-B5DB-266D07A2B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0" y="4674395"/>
            <a:ext cx="6161640" cy="4152900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8211310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79601"/>
                <a:ext cx="23164800" cy="9398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lvl="0"/>
                <a:r>
                  <a:rPr lang="nl-NL" sz="4400" b="1" dirty="0"/>
                  <a:t>4. </a:t>
                </a:r>
                <a:r>
                  <a:rPr lang="en-US" sz="4400" b="1" dirty="0"/>
                  <a:t>Cho tam </a:t>
                </a:r>
                <a:r>
                  <a:rPr lang="en-US" sz="4400" b="1" dirty="0" err="1"/>
                  <a:t>giác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và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một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điểm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tùy</a:t>
                </a:r>
                <a:r>
                  <a:rPr lang="en-US" sz="4400" b="1" dirty="0"/>
                  <a:t> ý. </a:t>
                </a:r>
                <a:r>
                  <a:rPr lang="en-US" sz="4400" b="1" dirty="0" err="1"/>
                  <a:t>Chứng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minh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rằng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𝑪𝑨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𝑪𝑩</m:t>
                        </m:r>
                      </m:e>
                    </m:acc>
                  </m:oMath>
                </a14:m>
                <a:r>
                  <a:rPr lang="en-US" sz="4400" b="1" dirty="0"/>
                  <a:t>.</a:t>
                </a:r>
              </a:p>
              <a:p>
                <a:endParaRPr lang="en-US" sz="4400" b="1" dirty="0"/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1"/>
                <a:ext cx="23164800" cy="939800"/>
              </a:xfrm>
              <a:prstGeom prst="rect">
                <a:avLst/>
              </a:prstGeom>
              <a:blipFill>
                <a:blip r:embed="rId3"/>
                <a:stretch>
                  <a:fillRect l="-1052" t="-10828" b="-12102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200400"/>
                <a:ext cx="11353800" cy="103028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nl-NL" b="1" dirty="0"/>
                  <a:t>Lời giải</a:t>
                </a:r>
              </a:p>
              <a:p>
                <a:r>
                  <a:rPr lang="en-US" dirty="0"/>
                  <a:t>Ta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𝑀𝐴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−3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𝑀𝐶</m:t>
                        </m:r>
                      </m:e>
                    </m:acc>
                  </m:oMath>
                </a14:m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𝑀𝐶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𝐶𝐴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𝑀𝐶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𝐶𝐵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−3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𝑀𝐶</m:t>
                          </m:r>
                        </m:e>
                      </m:acc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𝐶𝐴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𝐶𝐵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𝑉𝑃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00400"/>
                <a:ext cx="11353800" cy="10302876"/>
              </a:xfrm>
              <a:prstGeom prst="rect">
                <a:avLst/>
              </a:prstGeom>
              <a:blipFill>
                <a:blip r:embed="rId4"/>
                <a:stretch>
                  <a:fillRect l="-2200" t="-195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2344400" y="3200400"/>
            <a:ext cx="11630891" cy="10218740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400" b="1" dirty="0"/>
          </a:p>
        </p:txBody>
      </p: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4799992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79601"/>
                <a:ext cx="23164800" cy="17018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lvl="0"/>
                <a:r>
                  <a:rPr lang="nl-NL" sz="4400" b="1" dirty="0"/>
                  <a:t>5. </a:t>
                </a:r>
                <a:r>
                  <a:rPr lang="en-US" sz="4400" b="1" dirty="0"/>
                  <a:t>Cho 4 </a:t>
                </a:r>
                <a:r>
                  <a:rPr lang="en-US" sz="4400" b="1" dirty="0" err="1"/>
                  <a:t>điểm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sz="4400" b="1" dirty="0"/>
                  <a:t>. </a:t>
                </a:r>
                <a:r>
                  <a:rPr lang="en-US" sz="4400" b="1" dirty="0" err="1"/>
                  <a:t>Gọi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𝑱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lần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lượt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là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trung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điểm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của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𝑩𝑪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𝑪𝑫</m:t>
                    </m:r>
                  </m:oMath>
                </a14:m>
                <a:r>
                  <a:rPr lang="en-US" sz="4400" b="1" dirty="0"/>
                  <a:t>. </a:t>
                </a:r>
                <a:r>
                  <a:rPr lang="en-US" sz="4400" b="1" dirty="0" err="1"/>
                  <a:t>Chứng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minh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𝑨𝑰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𝑱𝑨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𝑫𝑨</m:t>
                            </m:r>
                          </m:e>
                        </m:acc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𝑫𝑩</m:t>
                        </m:r>
                      </m:e>
                    </m:acc>
                  </m:oMath>
                </a14:m>
                <a:r>
                  <a:rPr lang="en-US" sz="4400" b="1" dirty="0"/>
                  <a:t>.</a:t>
                </a:r>
              </a:p>
              <a:p>
                <a:endParaRPr lang="en-US" sz="4400" b="1" dirty="0"/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1"/>
                <a:ext cx="23164800" cy="1701800"/>
              </a:xfrm>
              <a:prstGeom prst="rect">
                <a:avLst/>
              </a:prstGeom>
              <a:blipFill>
                <a:blip r:embed="rId3"/>
                <a:stretch>
                  <a:fillRect l="-1052" t="-5319" b="-5319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3901" y="3802064"/>
                <a:ext cx="11353800" cy="96170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4400" b="1" dirty="0"/>
                  <a:t>Lời giải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𝐴𝐼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𝐽𝐴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𝐷𝐴</m:t>
                            </m:r>
                          </m:e>
                        </m:acc>
                      </m:e>
                    </m:d>
                  </m:oMath>
                </a14:m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𝐷𝐵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𝐴𝐼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𝐽𝐴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𝐷𝐵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𝐽𝐼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𝐷𝐵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𝐽𝐼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𝐷𝐵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1" y="3802064"/>
                <a:ext cx="11353800" cy="9617076"/>
              </a:xfrm>
              <a:prstGeom prst="rect">
                <a:avLst/>
              </a:prstGeom>
              <a:blipFill>
                <a:blip r:embed="rId4"/>
                <a:stretch>
                  <a:fillRect l="-1931" t="-196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2344400" y="3886200"/>
            <a:ext cx="11630891" cy="9532940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840385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79601"/>
                <a:ext cx="23164800" cy="1016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lvl="0"/>
                <a:r>
                  <a:rPr lang="nl-NL" sz="4400" b="1" dirty="0"/>
                  <a:t>6. Xác định điểm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nl-NL" sz="4400" b="1" dirty="0"/>
                  <a:t> biết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𝑴𝑨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𝑴𝑩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𝑴𝑪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nl-NL" sz="4400" b="1" dirty="0"/>
                  <a:t>.</a:t>
                </a:r>
                <a:endParaRPr lang="en-US" sz="4400" b="1" dirty="0"/>
              </a:p>
              <a:p>
                <a:endParaRPr lang="en-US" sz="4400" b="1" dirty="0"/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1"/>
                <a:ext cx="23164800" cy="1016000"/>
              </a:xfrm>
              <a:prstGeom prst="rect">
                <a:avLst/>
              </a:prstGeom>
              <a:blipFill>
                <a:blip r:embed="rId3"/>
                <a:stretch>
                  <a:fillRect l="-1052" t="-10059" b="-4142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200400"/>
                <a:ext cx="11353800" cy="103028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nl-NL" sz="4400" b="1" dirty="0"/>
                  <a:t>Lời giải</a:t>
                </a:r>
              </a:p>
              <a:p>
                <a:r>
                  <a:rPr lang="en-US" sz="4400" b="1" dirty="0" err="1"/>
                  <a:t>Gọi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𝑱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lần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lượt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là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trung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điểm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𝑨𝑪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và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𝑩𝑪</m:t>
                    </m:r>
                  </m:oMath>
                </a14:m>
                <a:r>
                  <a:rPr lang="en-US" sz="4400" b="1" dirty="0"/>
                  <a:t>. Khi </a:t>
                </a:r>
                <a:r>
                  <a:rPr lang="en-US" sz="4400" b="1" dirty="0" err="1"/>
                  <a:t>đó</a:t>
                </a:r>
                <a:r>
                  <a:rPr lang="en-US" sz="4400" b="1" dirty="0"/>
                  <a:t> ta </a:t>
                </a:r>
                <a:r>
                  <a:rPr lang="en-US" sz="4400" b="1" dirty="0" err="1"/>
                  <a:t>có</a:t>
                </a:r>
                <a:r>
                  <a:rPr lang="en-US" sz="4400" b="1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l-NL" sz="4400" b="1" i="1">
                              <a:latin typeface="Cambria Math" panose="02040503050406030204" pitchFamily="18" charset="0"/>
                            </a:rPr>
                            <m:t>𝑴𝑨</m:t>
                          </m:r>
                        </m:e>
                      </m:acc>
                      <m:r>
                        <a:rPr lang="nl-NL" sz="4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NL" sz="4400" b="1" i="1">
                          <a:latin typeface="Cambria Math" panose="02040503050406030204" pitchFamily="18" charset="0"/>
                        </a:rPr>
                        <m:t>𝟐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l-NL" sz="4400" b="1" i="1">
                              <a:latin typeface="Cambria Math" panose="02040503050406030204" pitchFamily="18" charset="0"/>
                            </a:rPr>
                            <m:t>𝑴𝑩</m:t>
                          </m:r>
                        </m:e>
                      </m:acc>
                      <m:r>
                        <a:rPr lang="nl-NL" sz="4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NL" sz="4400" b="1" i="1">
                          <a:latin typeface="Cambria Math" panose="02040503050406030204" pitchFamily="18" charset="0"/>
                        </a:rPr>
                        <m:t>𝟑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l-NL" sz="4400" b="1" i="1">
                              <a:latin typeface="Cambria Math" panose="02040503050406030204" pitchFamily="18" charset="0"/>
                            </a:rPr>
                            <m:t>𝑴𝑪</m:t>
                          </m:r>
                        </m:e>
                      </m:acc>
                      <m:r>
                        <a:rPr lang="nl-NL" sz="44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l-NL" sz="4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acc>
                    </m:oMath>
                  </m:oMathPara>
                </a14:m>
                <a:endParaRPr lang="en-US" sz="4400" b="1" i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𝑴𝑨</m:t>
                            </m:r>
                          </m:e>
                        </m:acc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𝑴𝑪</m:t>
                            </m:r>
                          </m:e>
                        </m:acc>
                      </m:e>
                    </m:d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𝑴𝑩</m:t>
                            </m:r>
                          </m:e>
                        </m:acc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𝑴𝑪</m:t>
                            </m:r>
                          </m:e>
                        </m:acc>
                      </m:e>
                    </m:d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nl-NL" sz="4400" b="1" dirty="0"/>
                  <a:t> </a:t>
                </a:r>
                <a:endParaRPr lang="en-US" sz="4400" b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𝑴𝑰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𝟒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𝑴𝑱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𝑴𝑰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𝑴𝑱</m:t>
                        </m:r>
                      </m:e>
                    </m:acc>
                  </m:oMath>
                </a14:m>
                <a:r>
                  <a:rPr lang="nl-NL" sz="4400" b="1" dirty="0"/>
                  <a:t> </a:t>
                </a:r>
                <a:endParaRPr lang="en-US" sz="4400" b="1" dirty="0"/>
              </a:p>
              <a:p>
                <a:pPr marL="0" indent="0">
                  <a:buNone/>
                </a:pPr>
                <a:r>
                  <a:rPr lang="en-US" sz="4400" b="1" dirty="0" err="1"/>
                  <a:t>Vậy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điểm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cần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tìm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thuộc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đoạn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𝑰𝑱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sao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cho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𝑴𝑰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𝑴𝑱</m:t>
                    </m:r>
                  </m:oMath>
                </a14:m>
                <a:r>
                  <a:rPr lang="en-US" sz="4400" b="1" dirty="0"/>
                  <a:t>.</a:t>
                </a:r>
              </a:p>
              <a:p>
                <a:endParaRPr lang="en-US" sz="4400" b="1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00400"/>
                <a:ext cx="11353800" cy="10302876"/>
              </a:xfrm>
              <a:prstGeom prst="rect">
                <a:avLst/>
              </a:prstGeom>
              <a:blipFill>
                <a:blip r:embed="rId4"/>
                <a:stretch>
                  <a:fillRect l="-2146" t="-177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2344400" y="3200400"/>
            <a:ext cx="11630891" cy="10218740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400" b="1" dirty="0"/>
          </a:p>
        </p:txBody>
      </p: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5352179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79601"/>
                <a:ext cx="23164800" cy="1473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lvl="0"/>
                <a:r>
                  <a:rPr lang="nl-NL" sz="4400" b="1" dirty="0"/>
                  <a:t>7. </a:t>
                </a:r>
                <a:r>
                  <a:rPr lang="en-US" sz="4400" b="1" dirty="0"/>
                  <a:t>Cho tam </a:t>
                </a:r>
                <a:r>
                  <a:rPr lang="en-US" sz="4400" b="1" dirty="0" err="1"/>
                  <a:t>giác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có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thuộc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cạnh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sao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cho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𝑨𝑴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𝑴𝑩</m:t>
                    </m:r>
                  </m:oMath>
                </a14:m>
                <a:r>
                  <a:rPr lang="en-US" sz="4400" b="1" dirty="0"/>
                  <a:t>. </a:t>
                </a:r>
                <a:r>
                  <a:rPr lang="en-US" sz="4400" b="1" dirty="0" err="1"/>
                  <a:t>Phân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tích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vectơ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𝑪𝑴</m:t>
                        </m:r>
                      </m:e>
                    </m:acc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theo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hai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vectơ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𝑪𝑨</m:t>
                        </m:r>
                      </m:e>
                    </m:acc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và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𝑪𝑩</m:t>
                        </m:r>
                      </m:e>
                    </m:acc>
                  </m:oMath>
                </a14:m>
                <a:r>
                  <a:rPr lang="en-US" sz="4400" b="1" dirty="0"/>
                  <a:t> .</a:t>
                </a: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1"/>
                <a:ext cx="23164800" cy="1473200"/>
              </a:xfrm>
              <a:prstGeom prst="rect">
                <a:avLst/>
              </a:prstGeom>
              <a:blipFill>
                <a:blip r:embed="rId3"/>
                <a:stretch>
                  <a:fillRect l="-1052" t="-6967" r="-710" b="-18033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581400"/>
                <a:ext cx="11506200" cy="99218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nl-NL" sz="4400" b="1" dirty="0"/>
                  <a:t>Lời giải</a:t>
                </a:r>
              </a:p>
              <a:p>
                <a:r>
                  <a:rPr lang="en-US" sz="4400" b="1" dirty="0"/>
                  <a:t>Ta </a:t>
                </a:r>
                <a:r>
                  <a:rPr lang="en-US" sz="4400" b="1" dirty="0" err="1"/>
                  <a:t>có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𝑪𝑴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𝑪𝑨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𝑨𝑴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𝑪𝑨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</m:oMath>
                </a14:m>
                <a:endParaRPr lang="en-US" sz="4400" b="1" i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𝑪𝑨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𝑪𝑩</m:t>
                            </m:r>
                          </m:e>
                        </m:acc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𝑪𝑨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𝑪𝑩</m:t>
                        </m:r>
                      </m:e>
                    </m:acc>
                  </m:oMath>
                </a14:m>
                <a:r>
                  <a:rPr lang="en-US" sz="4400" b="1" dirty="0"/>
                  <a:t>.</a:t>
                </a:r>
              </a:p>
              <a:p>
                <a:endParaRPr lang="en-US" sz="4400" b="1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81400"/>
                <a:ext cx="11506200" cy="9921876"/>
              </a:xfrm>
              <a:prstGeom prst="rect">
                <a:avLst/>
              </a:prstGeom>
              <a:blipFill>
                <a:blip r:embed="rId4"/>
                <a:stretch>
                  <a:fillRect l="-2118" t="-190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2469091" y="3581400"/>
            <a:ext cx="11506200" cy="9837740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400" b="1" dirty="0"/>
          </a:p>
        </p:txBody>
      </p:sp>
      <p:pic>
        <p:nvPicPr>
          <p:cNvPr id="5" name="Picture 210">
            <a:extLst>
              <a:ext uri="{FF2B5EF4-FFF2-40B4-BE49-F238E27FC236}">
                <a16:creationId xmlns:a16="http://schemas.microsoft.com/office/drawing/2014/main" id="{7B0AED3C-DF29-4AB3-8782-C46889A8BC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0" y="4614705"/>
            <a:ext cx="5977792" cy="388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6981677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000" y="1879600"/>
                <a:ext cx="23594291" cy="276859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lvl="0"/>
                <a:r>
                  <a:rPr lang="nl-NL" sz="4400" b="1" dirty="0"/>
                  <a:t>8. </a:t>
                </a:r>
                <a:r>
                  <a:rPr lang="en-US" sz="4400" b="1" dirty="0"/>
                  <a:t>Cho tam </a:t>
                </a:r>
                <a:r>
                  <a:rPr lang="en-US" sz="4400" b="1" dirty="0" err="1"/>
                  <a:t>giác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có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thuộc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cạnh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𝑩𝑪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sao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cho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𝑩𝑵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𝑵𝑪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và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là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trung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điểm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của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en-US" sz="4400" b="1" dirty="0"/>
                  <a:t>.</a:t>
                </a:r>
              </a:p>
              <a:p>
                <a:pPr lvl="0"/>
                <a:r>
                  <a:rPr lang="en-US" sz="4400" b="1" dirty="0"/>
                  <a:t> </a:t>
                </a:r>
                <a:r>
                  <a:rPr lang="en-US" sz="4400" b="1" dirty="0" err="1"/>
                  <a:t>Phân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tích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𝑵𝑰</m:t>
                        </m:r>
                      </m:e>
                    </m:acc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theo</a:t>
                </a:r>
                <a:r>
                  <a:rPr lang="en-US" sz="4400" b="1" dirty="0"/>
                  <a:t> 2 </a:t>
                </a:r>
                <a:r>
                  <a:rPr lang="en-US" sz="4400" b="1" dirty="0" err="1"/>
                  <a:t>vectơ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4400" b="1" dirty="0"/>
                  <a:t> </a:t>
                </a: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879600"/>
                <a:ext cx="23594291" cy="2768599"/>
              </a:xfrm>
              <a:prstGeom prst="rect">
                <a:avLst/>
              </a:prstGeom>
              <a:blipFill>
                <a:blip r:embed="rId3"/>
                <a:stretch>
                  <a:fillRect l="-1033" t="-6579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4716464"/>
                <a:ext cx="14048509" cy="878681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nl-NL" sz="4400" b="1" dirty="0"/>
                  <a:t>Lời giải</a:t>
                </a:r>
              </a:p>
              <a:p>
                <a:r>
                  <a:rPr lang="en-US" sz="4400" b="1" dirty="0"/>
                  <a:t>Ta </a:t>
                </a:r>
                <a:r>
                  <a:rPr lang="en-US" sz="4400" b="1" dirty="0" err="1"/>
                  <a:t>có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𝑵𝑰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𝑩𝑰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𝑩𝑵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𝑩𝑪</m:t>
                        </m:r>
                      </m:e>
                    </m:acc>
                  </m:oMath>
                </a14:m>
                <a:r>
                  <a:rPr lang="en-US" sz="4400" b="1" dirty="0"/>
                  <a:t> </a:t>
                </a:r>
                <a:endParaRPr lang="en-US" sz="4400" b="1" i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</m:oMath>
                </a14:m>
                <a:r>
                  <a:rPr lang="en-US" sz="4400" b="1" dirty="0"/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716464"/>
                <a:ext cx="14048509" cy="8786812"/>
              </a:xfrm>
              <a:prstGeom prst="rect">
                <a:avLst/>
              </a:prstGeom>
              <a:blipFill>
                <a:blip r:embed="rId4"/>
                <a:stretch>
                  <a:fillRect l="-1517" t="-214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5316200" y="4648199"/>
            <a:ext cx="8659091" cy="8577266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8" name="Picture 209">
            <a:extLst>
              <a:ext uri="{FF2B5EF4-FFF2-40B4-BE49-F238E27FC236}">
                <a16:creationId xmlns:a16="http://schemas.microsoft.com/office/drawing/2014/main" id="{A6325687-A9B9-481D-8825-A8853217787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5760" y="5375358"/>
            <a:ext cx="5454398" cy="354004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0105832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5800" y="1879601"/>
                <a:ext cx="23164800" cy="254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lvl="0"/>
                <a:r>
                  <a:rPr lang="nl-NL" sz="4400" b="1" dirty="0"/>
                  <a:t>9. </a:t>
                </a:r>
                <a:r>
                  <a:rPr lang="en-US" sz="4400" b="1" dirty="0"/>
                  <a:t>Cho tam </a:t>
                </a:r>
                <a:r>
                  <a:rPr lang="en-US" sz="4400" b="1" dirty="0" err="1"/>
                  <a:t>giác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có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lần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lượt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là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trung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điểm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𝑪𝑰</m:t>
                    </m:r>
                  </m:oMath>
                </a14:m>
                <a:r>
                  <a:rPr lang="en-US" sz="4400" b="1" dirty="0"/>
                  <a:t>. </a:t>
                </a:r>
              </a:p>
              <a:p>
                <a:pPr lvl="0"/>
                <a:r>
                  <a:rPr lang="en-US" sz="4400" b="1" dirty="0" err="1"/>
                  <a:t>Phân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tích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𝑩𝑫</m:t>
                        </m:r>
                      </m:e>
                    </m:acc>
                  </m:oMath>
                </a14:m>
                <a:r>
                  <a:rPr lang="en-US" sz="4400" b="1" dirty="0"/>
                  <a:t> qua </a:t>
                </a:r>
                <a:r>
                  <a:rPr lang="en-US" sz="4400" b="1" dirty="0" err="1"/>
                  <a:t>hai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vectơ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và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</m:oMath>
                </a14:m>
                <a:r>
                  <a:rPr lang="en-US" sz="4400" b="1" dirty="0"/>
                  <a:t>.</a:t>
                </a: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879601"/>
                <a:ext cx="23164800" cy="2540000"/>
              </a:xfrm>
              <a:prstGeom prst="rect">
                <a:avLst/>
              </a:prstGeom>
              <a:blipFill>
                <a:blip r:embed="rId3"/>
                <a:stretch>
                  <a:fillRect l="-1052" t="-7160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8710" y="4716464"/>
                <a:ext cx="13002490" cy="878681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nl-NL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 giải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𝑩𝑫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𝑩𝑰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𝑰𝑫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𝑰𝑪</m:t>
                        </m:r>
                      </m:e>
                    </m:acc>
                  </m:oMath>
                </a14:m>
                <a:endParaRPr lang="en-US" sz="4400" b="1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𝑰𝑨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𝑰𝑨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</m:oMath>
                </a14:m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10" y="4716464"/>
                <a:ext cx="13002490" cy="8786812"/>
              </a:xfrm>
              <a:prstGeom prst="rect">
                <a:avLst/>
              </a:prstGeom>
              <a:blipFill>
                <a:blip r:embed="rId4"/>
                <a:stretch>
                  <a:fillRect l="-1639" t="-214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3639800" y="4716464"/>
            <a:ext cx="10335491" cy="8702676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8" name="Picture 211">
            <a:extLst>
              <a:ext uri="{FF2B5EF4-FFF2-40B4-BE49-F238E27FC236}">
                <a16:creationId xmlns:a16="http://schemas.microsoft.com/office/drawing/2014/main" id="{5F790A69-72CB-4C29-9925-E23CBD44A71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3800" y="5562600"/>
            <a:ext cx="5895975" cy="424289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1494171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79601"/>
                <a:ext cx="23164800" cy="254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lvl="0"/>
                <a:r>
                  <a:rPr lang="nl-NL" sz="4400" b="1" dirty="0"/>
                  <a:t>10. </a:t>
                </a:r>
                <a:r>
                  <a:rPr lang="en-US" sz="4400" b="1" dirty="0"/>
                  <a:t>Cho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có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trung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tuyến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𝑨𝑴</m:t>
                    </m:r>
                  </m:oMath>
                </a14:m>
                <a:r>
                  <a:rPr lang="en-US" sz="4400" b="1" dirty="0"/>
                  <a:t>. </a:t>
                </a:r>
                <a:r>
                  <a:rPr lang="en-US" sz="4400" b="1" dirty="0" err="1"/>
                  <a:t>Gọi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là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trung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điểm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𝑨𝑴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và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là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điểm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thuộc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𝑨𝑪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sao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cho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𝑨𝑲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sz="4400" b="1" i="1">
                        <a:latin typeface="Cambria Math" panose="02040503050406030204" pitchFamily="18" charset="0"/>
                      </a:rPr>
                      <m:t>𝑨𝑪</m:t>
                    </m:r>
                  </m:oMath>
                </a14:m>
                <a:r>
                  <a:rPr lang="en-US" sz="4400" b="1" dirty="0"/>
                  <a:t>. </a:t>
                </a:r>
                <a:r>
                  <a:rPr lang="en-US" sz="4400" b="1" dirty="0" err="1"/>
                  <a:t>Chứng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minh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ba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điểm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thẳng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hàng</a:t>
                </a:r>
                <a:r>
                  <a:rPr lang="en-US" sz="4400" b="1" dirty="0"/>
                  <a:t>.</a:t>
                </a: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1"/>
                <a:ext cx="23164800" cy="2540000"/>
              </a:xfrm>
              <a:prstGeom prst="rect">
                <a:avLst/>
              </a:prstGeom>
              <a:blipFill>
                <a:blip r:embed="rId3"/>
                <a:stretch>
                  <a:fillRect l="-1052" t="-7160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8710" y="4716464"/>
                <a:ext cx="13002490" cy="878681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nl-NL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 giải</a:t>
                </a:r>
              </a:p>
              <a:p>
                <a:r>
                  <a:rPr lang="en-US" sz="4400" b="1" i="1" dirty="0"/>
                  <a:t>Ta </a:t>
                </a:r>
                <a:r>
                  <a:rPr lang="en-US" sz="4400" b="1" i="1" dirty="0" err="1"/>
                  <a:t>có</a:t>
                </a:r>
                <a:r>
                  <a:rPr lang="en-US" sz="4400" b="1" i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𝑩𝑰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𝑩𝑴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𝟒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𝑩𝑰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400" b="1" i="1" dirty="0"/>
                  <a:t> </a:t>
                </a:r>
                <a:endParaRPr lang="en-US" sz="4400" b="1" dirty="0"/>
              </a:p>
              <a:p>
                <a:r>
                  <a:rPr lang="en-US" sz="4400" b="1" i="1" dirty="0"/>
                  <a:t>Ta </a:t>
                </a:r>
                <a:r>
                  <a:rPr lang="en-US" sz="4400" b="1" i="1" dirty="0" err="1"/>
                  <a:t>có</a:t>
                </a:r>
                <a:r>
                  <a:rPr lang="en-US" sz="4400" b="1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𝑩𝑲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𝑨𝑲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sz="4400" b="1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𝑩𝑪</m:t>
                        </m:r>
                      </m:e>
                    </m:acc>
                  </m:oMath>
                </a14:m>
                <a:r>
                  <a:rPr lang="en-US" sz="4400" b="1" i="1" dirty="0"/>
                  <a:t> </a:t>
                </a:r>
                <a:endParaRPr lang="en-US" sz="4400" b="1" dirty="0"/>
              </a:p>
              <a:p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𝑩𝑲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400" b="1" i="1" dirty="0"/>
                  <a:t> </a:t>
                </a:r>
                <a:endParaRPr lang="en-US" sz="4400" b="1" dirty="0"/>
              </a:p>
              <a:p>
                <a:r>
                  <a:rPr lang="en-US" sz="4400" b="1" i="1" dirty="0" err="1"/>
                  <a:t>Từ</a:t>
                </a:r>
                <a:r>
                  <a:rPr lang="en-US" sz="4400" b="1" i="1" dirty="0"/>
                  <a:t> (1)&amp;(2)</a:t>
                </a:r>
                <a:r>
                  <a:rPr lang="en-US" sz="4400" b="1" i="1" dirty="0">
                    <a:sym typeface="Symbol" panose="05050102010706020507" pitchFamily="18" charset="2"/>
                  </a:rPr>
                  <a:t></a:t>
                </a:r>
                <a:r>
                  <a:rPr lang="en-US" sz="4400" b="1" i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𝑩𝑲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𝟒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𝑩𝑰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⇒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𝑩𝑲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𝑩𝑰</m:t>
                        </m:r>
                      </m:e>
                    </m:acc>
                  </m:oMath>
                </a14:m>
                <a:r>
                  <a:rPr lang="en-US" sz="4400" b="1" i="1" dirty="0"/>
                  <a:t> </a:t>
                </a:r>
                <a:r>
                  <a:rPr lang="en-US" sz="4400" b="1" i="1" dirty="0">
                    <a:sym typeface="Symbol" panose="05050102010706020507" pitchFamily="18" charset="2"/>
                  </a:rPr>
                  <a:t></a:t>
                </a:r>
                <a:r>
                  <a:rPr lang="en-US" sz="4400" b="1" i="1" dirty="0"/>
                  <a:t> B, I, K </a:t>
                </a:r>
                <a:r>
                  <a:rPr lang="en-US" sz="4400" b="1" dirty="0" err="1"/>
                  <a:t>thẳng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hàng</a:t>
                </a:r>
                <a:r>
                  <a:rPr lang="en-US" sz="4400" b="1" dirty="0"/>
                  <a:t>.</a:t>
                </a:r>
              </a:p>
              <a:p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10" y="4716464"/>
                <a:ext cx="13002490" cy="8786812"/>
              </a:xfrm>
              <a:prstGeom prst="rect">
                <a:avLst/>
              </a:prstGeom>
              <a:blipFill>
                <a:blip r:embed="rId4"/>
                <a:stretch>
                  <a:fillRect l="-1639" t="-214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3639800" y="4716464"/>
            <a:ext cx="10335491" cy="8702676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04FE068D-6197-490F-A646-D31C0A426E9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800" y="5943600"/>
            <a:ext cx="8182551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0084757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79601"/>
                <a:ext cx="23164800" cy="2616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lvl="0"/>
                <a:r>
                  <a:rPr lang="nl-NL" sz="4400" b="1" dirty="0"/>
                  <a:t>11. Cho tam giác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nl-NL" sz="4400" b="1" dirty="0"/>
                  <a:t> có trực tâm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nl-NL" sz="4400" b="1" dirty="0"/>
                  <a:t> , trọng tâm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nl-NL" sz="4400" b="1" dirty="0"/>
                  <a:t> và tâm đường tròn ngoại tiếp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nl-NL" sz="4400" b="1" dirty="0"/>
                  <a:t> . Chứng minh rằng </a:t>
                </a:r>
                <a:endParaRPr lang="en-US" sz="4400" b="1" dirty="0"/>
              </a:p>
              <a:p>
                <a:r>
                  <a:rPr lang="nl-NL" sz="4400" b="1" dirty="0"/>
                  <a:t>	a)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𝑯𝑨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𝑯𝑩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𝑯𝑪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𝑯𝑶</m:t>
                        </m:r>
                      </m:e>
                    </m:acc>
                  </m:oMath>
                </a14:m>
                <a:r>
                  <a:rPr lang="nl-NL" sz="4400" b="1" dirty="0"/>
                  <a:t>  </a:t>
                </a:r>
                <a:r>
                  <a:rPr lang="en-US" sz="4400" b="1" dirty="0"/>
                  <a:t>		</a:t>
                </a:r>
                <a:r>
                  <a:rPr lang="nl-NL" sz="4400" b="1" dirty="0"/>
                  <a:t>b)</a:t>
                </a:r>
                <a:r>
                  <a:rPr lang="nl-NL" sz="4400" b="1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𝑶𝑯</m:t>
                        </m:r>
                      </m:e>
                    </m:acc>
                  </m:oMath>
                </a14:m>
                <a:r>
                  <a:rPr lang="nl-NL" sz="4400" b="1" dirty="0"/>
                  <a:t>  </a:t>
                </a:r>
                <a:endParaRPr lang="en-US" sz="4400" b="1" dirty="0"/>
              </a:p>
              <a:p>
                <a:r>
                  <a:rPr lang="nl-NL" sz="4400" b="1" dirty="0"/>
                  <a:t>	c)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𝑮𝑯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𝑮𝑶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nl-NL" sz="4400" b="1" dirty="0"/>
                  <a:t>.</a:t>
                </a:r>
                <a:endParaRPr lang="en-US" sz="4400" b="1" dirty="0"/>
              </a:p>
              <a:p>
                <a:pPr lvl="0"/>
                <a:endParaRPr lang="en-US" sz="4400" b="1" dirty="0"/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1"/>
                <a:ext cx="23164800" cy="2616200"/>
              </a:xfrm>
              <a:prstGeom prst="rect">
                <a:avLst/>
              </a:prstGeom>
              <a:blipFill>
                <a:blip r:embed="rId3"/>
                <a:stretch>
                  <a:fillRect l="-1052" t="-6944" b="-12500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8710" y="4716464"/>
                <a:ext cx="13002490" cy="878681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nl-NL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 giải</a:t>
                </a:r>
              </a:p>
              <a:p>
                <a:r>
                  <a:rPr lang="nl-NL" sz="4400" b="1" dirty="0"/>
                  <a:t>a) Dễ thấy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𝑯𝑨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𝑯𝑩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𝑯𝑪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𝑯𝑶</m:t>
                        </m:r>
                      </m:e>
                    </m:acc>
                  </m:oMath>
                </a14:m>
                <a:r>
                  <a:rPr lang="nl-NL" sz="4400" b="1" dirty="0"/>
                  <a:t> nếu tam giác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nl-NL" sz="4400" b="1" dirty="0"/>
                  <a:t> vuông.</a:t>
                </a:r>
                <a:endParaRPr lang="en-US" sz="4400" b="1" dirty="0"/>
              </a:p>
              <a:p>
                <a:r>
                  <a:rPr lang="nl-NL" sz="4400" b="1" dirty="0"/>
                  <a:t>Nếu tam giác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nl-NL" sz="4400" b="1" dirty="0"/>
                  <a:t> không vuông gọi D là điểm đối xứng của A qua O khi đó </a:t>
                </a:r>
                <a:endParaRPr lang="en-US" sz="4400" b="1" dirty="0"/>
              </a:p>
              <a:p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𝑩𝑯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//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𝑫𝑪</m:t>
                    </m:r>
                  </m:oMath>
                </a14:m>
                <a:r>
                  <a:rPr lang="nl-NL" sz="4400" b="1" dirty="0"/>
                  <a:t> (vì cùng vuông góc với AC)</a:t>
                </a:r>
                <a:endParaRPr lang="en-US" sz="4400" b="1" dirty="0"/>
              </a:p>
              <a:p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𝑩𝑫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//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𝑪𝑯</m:t>
                    </m:r>
                  </m:oMath>
                </a14:m>
                <a:r>
                  <a:rPr lang="nl-NL" sz="4400" b="1" dirty="0"/>
                  <a:t> (vì cùng vuông góc với AB)</a:t>
                </a:r>
                <a:endParaRPr lang="en-US" sz="4400" b="1" dirty="0"/>
              </a:p>
              <a:p>
                <a:r>
                  <a:rPr lang="nl-NL" sz="4400" b="1" dirty="0"/>
                  <a:t>Suy ra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𝑩𝑫𝑪𝑯</m:t>
                    </m:r>
                  </m:oMath>
                </a14:m>
                <a:r>
                  <a:rPr lang="nl-NL" sz="4400" b="1" dirty="0"/>
                  <a:t> là hình bình hành, do đó theo quy tắc hình bình hành thì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𝑯𝑩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𝑯𝑪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𝑯𝑫</m:t>
                        </m:r>
                      </m:e>
                    </m:acc>
                  </m:oMath>
                </a14:m>
                <a:r>
                  <a:rPr lang="nl-NL" sz="4400" b="1" dirty="0"/>
                  <a:t> (1)</a:t>
                </a:r>
                <a:endParaRPr lang="en-US" sz="4400" b="1" dirty="0"/>
              </a:p>
              <a:p>
                <a:r>
                  <a:rPr lang="nl-NL" sz="4400" b="1" dirty="0"/>
                  <a:t>Mặt khác vì O là trung điểm của AD nên</a:t>
                </a:r>
              </a:p>
              <a:p>
                <a:pPr marL="0" indent="0">
                  <a:buNone/>
                </a:pPr>
                <a:r>
                  <a:rPr lang="nl-NL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𝑯𝑨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𝑯𝑫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𝑯𝑶</m:t>
                        </m:r>
                      </m:e>
                    </m:acc>
                  </m:oMath>
                </a14:m>
                <a:r>
                  <a:rPr lang="nl-NL" sz="4400" b="1" dirty="0"/>
                  <a:t> (2)</a:t>
                </a:r>
                <a:endParaRPr lang="en-US" sz="4400" b="1" dirty="0"/>
              </a:p>
              <a:p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10" y="4716464"/>
                <a:ext cx="13002490" cy="8786812"/>
              </a:xfrm>
              <a:prstGeom prst="rect">
                <a:avLst/>
              </a:prstGeom>
              <a:blipFill>
                <a:blip r:embed="rId4"/>
                <a:stretch>
                  <a:fillRect l="-1639" t="-2148" b="-277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639800" y="4716464"/>
                <a:ext cx="10335491" cy="87026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nl-NL" b="1" dirty="0"/>
              </a:p>
              <a:p>
                <a:endParaRPr lang="nl-NL" b="1" dirty="0"/>
              </a:p>
              <a:p>
                <a:endParaRPr lang="nl-NL" b="1" dirty="0"/>
              </a:p>
              <a:p>
                <a:endParaRPr lang="nl-NL" b="1" dirty="0"/>
              </a:p>
              <a:p>
                <a:endParaRPr lang="nl-NL" b="1" dirty="0"/>
              </a:p>
              <a:p>
                <a:endParaRPr lang="nl-NL" b="1" dirty="0"/>
              </a:p>
              <a:p>
                <a:endParaRPr lang="nl-NL" b="1" dirty="0"/>
              </a:p>
              <a:p>
                <a:r>
                  <a:rPr lang="nl-NL" b="1" dirty="0"/>
                  <a:t>Từ (1) và (2) suy ra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𝑯𝑨</m:t>
                        </m:r>
                      </m:e>
                    </m:acc>
                    <m:r>
                      <a:rPr lang="nl-NL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𝑯𝑩</m:t>
                        </m:r>
                      </m:e>
                    </m:acc>
                    <m:r>
                      <a:rPr lang="nl-NL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𝑯𝑪</m:t>
                        </m:r>
                      </m:e>
                    </m:acc>
                    <m:r>
                      <a:rPr lang="nl-NL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b="1" i="1">
                            <a:latin typeface="Cambria Math" panose="02040503050406030204" pitchFamily="18" charset="0"/>
                          </a:rPr>
                          <m:t>𝑯𝑶</m:t>
                        </m:r>
                      </m:e>
                    </m:acc>
                  </m:oMath>
                </a14:m>
                <a:r>
                  <a:rPr lang="nl-NL" b="1" dirty="0"/>
                  <a:t> </a:t>
                </a:r>
                <a:endParaRPr lang="en-US" b="1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9800" y="4716464"/>
                <a:ext cx="10335491" cy="87026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119">
            <a:extLst>
              <a:ext uri="{FF2B5EF4-FFF2-40B4-BE49-F238E27FC236}">
                <a16:creationId xmlns:a16="http://schemas.microsoft.com/office/drawing/2014/main" id="{3FDEEB74-9EE2-4E65-94A4-5E88C84624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880" y="5029200"/>
            <a:ext cx="5863329" cy="6019800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2188328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79601"/>
                <a:ext cx="23164800" cy="2616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lvl="0"/>
                <a:r>
                  <a:rPr lang="nl-NL" sz="4400" b="1" dirty="0"/>
                  <a:t>11. Cho tam giác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nl-NL" sz="4400" b="1" dirty="0"/>
                  <a:t> có trực tâm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nl-NL" sz="4400" b="1" dirty="0"/>
                  <a:t> , trọng tâm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nl-NL" sz="4400" b="1" dirty="0"/>
                  <a:t> và tâm đường tròn ngoại tiếp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nl-NL" sz="4400" b="1" dirty="0"/>
                  <a:t> . Chứng minh rằng </a:t>
                </a:r>
                <a:endParaRPr lang="en-US" sz="4400" b="1" dirty="0"/>
              </a:p>
              <a:p>
                <a:r>
                  <a:rPr lang="nl-NL" sz="4400" b="1" dirty="0"/>
                  <a:t>	a)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𝑯𝑨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𝑯𝑩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𝑯𝑪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𝑯𝑶</m:t>
                        </m:r>
                      </m:e>
                    </m:acc>
                  </m:oMath>
                </a14:m>
                <a:r>
                  <a:rPr lang="nl-NL" sz="4400" b="1" dirty="0"/>
                  <a:t>  </a:t>
                </a:r>
                <a:r>
                  <a:rPr lang="en-US" sz="4400" b="1" dirty="0"/>
                  <a:t>		</a:t>
                </a:r>
                <a:r>
                  <a:rPr lang="nl-NL" sz="4400" b="1" dirty="0"/>
                  <a:t>b)</a:t>
                </a:r>
                <a:r>
                  <a:rPr lang="nl-NL" sz="4400" b="1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𝑶𝑯</m:t>
                        </m:r>
                      </m:e>
                    </m:acc>
                  </m:oMath>
                </a14:m>
                <a:r>
                  <a:rPr lang="nl-NL" sz="4400" b="1" dirty="0"/>
                  <a:t>  </a:t>
                </a:r>
                <a:endParaRPr lang="en-US" sz="4400" b="1" dirty="0"/>
              </a:p>
              <a:p>
                <a:r>
                  <a:rPr lang="nl-NL" sz="4400" b="1" dirty="0"/>
                  <a:t>	c)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𝑮𝑯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𝑮𝑶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nl-NL" sz="4400" b="1" dirty="0"/>
                  <a:t>.</a:t>
                </a:r>
                <a:endParaRPr lang="en-US" sz="4400" b="1" dirty="0"/>
              </a:p>
              <a:p>
                <a:pPr lvl="0"/>
                <a:endParaRPr lang="en-US" sz="4400" b="1" dirty="0"/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1"/>
                <a:ext cx="23164800" cy="2616200"/>
              </a:xfrm>
              <a:prstGeom prst="rect">
                <a:avLst/>
              </a:prstGeom>
              <a:blipFill>
                <a:blip r:embed="rId3"/>
                <a:stretch>
                  <a:fillRect l="-1052" t="-6944" b="-12500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8710" y="4716464"/>
                <a:ext cx="13002490" cy="878681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nl-NL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 giải</a:t>
                </a:r>
              </a:p>
              <a:p>
                <a:r>
                  <a:rPr lang="nl-NL" sz="4400" b="1" dirty="0"/>
                  <a:t>b) Theo câu a) ta có</a:t>
                </a:r>
                <a:endParaRPr lang="en-US" sz="4400" b="1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𝑯𝑨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𝑯𝑩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𝑯𝑪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𝑯𝑶</m:t>
                        </m:r>
                      </m:e>
                    </m:acc>
                  </m:oMath>
                </a14:m>
                <a:endParaRPr lang="en-US" sz="4400" b="1" i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𝑯𝑶</m:t>
                            </m:r>
                          </m:e>
                        </m:acc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𝑶𝑨</m:t>
                            </m:r>
                          </m:e>
                        </m:acc>
                      </m:e>
                    </m:d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𝑯𝑶</m:t>
                            </m:r>
                          </m:e>
                        </m:acc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𝑶𝑩</m:t>
                            </m:r>
                          </m:e>
                        </m:acc>
                      </m:e>
                    </m:d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𝑯𝑶</m:t>
                            </m:r>
                          </m:e>
                        </m:acc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𝑶𝑪</m:t>
                            </m:r>
                          </m:e>
                        </m:acc>
                      </m:e>
                    </m:d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𝑯𝑶</m:t>
                        </m:r>
                      </m:e>
                    </m:acc>
                  </m:oMath>
                </a14:m>
                <a:r>
                  <a:rPr lang="nl-NL" sz="4400" b="1" dirty="0"/>
                  <a:t> </a:t>
                </a:r>
                <a:endParaRPr lang="en-US" sz="4400" b="1" dirty="0"/>
              </a:p>
              <a:p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𝑶𝑯</m:t>
                        </m:r>
                      </m:e>
                    </m:acc>
                  </m:oMath>
                </a14:m>
                <a:r>
                  <a:rPr lang="nl-NL" sz="4400" b="1" dirty="0"/>
                  <a:t> đpcm</a:t>
                </a:r>
                <a:endParaRPr lang="en-US" sz="4400" b="1" dirty="0"/>
              </a:p>
              <a:p>
                <a:r>
                  <a:rPr lang="nl-NL" sz="4400" b="1" dirty="0"/>
                  <a:t>c) Vì G là trọng tâm tam giác </a:t>
                </a:r>
                <a14:m>
                  <m:oMath xmlns:m="http://schemas.openxmlformats.org/officeDocument/2006/math">
                    <m:r>
                      <a:rPr lang="nl-NL" sz="44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nl-NL" sz="4400" b="1" dirty="0"/>
                  <a:t> nên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𝑶𝑮</m:t>
                        </m:r>
                      </m:e>
                    </m:acc>
                  </m:oMath>
                </a14:m>
                <a:r>
                  <a:rPr lang="nl-NL" sz="4400" b="1" i="1" dirty="0"/>
                  <a:t> </a:t>
                </a:r>
                <a:endParaRPr lang="en-US" sz="4400" b="1" dirty="0"/>
              </a:p>
              <a:p>
                <a:r>
                  <a:rPr lang="nl-NL" sz="4400" b="1" dirty="0"/>
                  <a:t>Mặt khác theo câu b) ta có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𝑶𝑪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𝑶𝑯</m:t>
                        </m:r>
                      </m:e>
                    </m:acc>
                  </m:oMath>
                </a14:m>
                <a:r>
                  <a:rPr lang="nl-NL" sz="4400" b="1" i="1" dirty="0"/>
                  <a:t> </a:t>
                </a:r>
                <a:endParaRPr lang="en-US" sz="4400" b="1" dirty="0"/>
              </a:p>
              <a:p>
                <a:r>
                  <a:rPr lang="nl-NL" sz="4400" b="1" dirty="0"/>
                  <a:t>Suy ra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𝑶𝑯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𝑶𝑮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𝑶𝑮</m:t>
                            </m:r>
                          </m:e>
                        </m:acc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4400" b="1" i="1">
                                <a:latin typeface="Cambria Math" panose="02040503050406030204" pitchFamily="18" charset="0"/>
                              </a:rPr>
                              <m:t>𝑮𝑯</m:t>
                            </m:r>
                          </m:e>
                        </m:acc>
                      </m:e>
                    </m:d>
                    <m:r>
                      <a:rPr lang="nl-NL" sz="4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𝑶𝑮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𝑮𝑯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nl-NL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𝑮𝑶</m:t>
                        </m:r>
                      </m:e>
                    </m:acc>
                    <m:r>
                      <a:rPr lang="nl-NL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sz="4400" b="1" dirty="0"/>
                  <a:t>.</a:t>
                </a:r>
              </a:p>
              <a:p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10" y="4716464"/>
                <a:ext cx="13002490" cy="8786812"/>
              </a:xfrm>
              <a:prstGeom prst="rect">
                <a:avLst/>
              </a:prstGeom>
              <a:blipFill>
                <a:blip r:embed="rId4"/>
                <a:stretch>
                  <a:fillRect l="-1639" t="-2148" b="-138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3639800" y="4716464"/>
            <a:ext cx="10335491" cy="8702676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b="1" dirty="0"/>
          </a:p>
          <a:p>
            <a:endParaRPr lang="nl-NL" b="1" dirty="0"/>
          </a:p>
          <a:p>
            <a:endParaRPr lang="nl-NL" b="1" dirty="0"/>
          </a:p>
          <a:p>
            <a:endParaRPr lang="nl-NL" b="1" dirty="0"/>
          </a:p>
          <a:p>
            <a:endParaRPr lang="nl-NL" b="1" dirty="0"/>
          </a:p>
          <a:p>
            <a:endParaRPr lang="nl-NL" b="1" dirty="0"/>
          </a:p>
          <a:p>
            <a:endParaRPr lang="nl-NL" b="1" dirty="0"/>
          </a:p>
        </p:txBody>
      </p:sp>
      <p:pic>
        <p:nvPicPr>
          <p:cNvPr id="8" name="Picture 119">
            <a:extLst>
              <a:ext uri="{FF2B5EF4-FFF2-40B4-BE49-F238E27FC236}">
                <a16:creationId xmlns:a16="http://schemas.microsoft.com/office/drawing/2014/main" id="{3FDEEB74-9EE2-4E65-94A4-5E88C84624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880" y="5029200"/>
            <a:ext cx="5863329" cy="6019800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3736393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EB82AE6-AEC7-471B-B78A-1191782FE5EE}"/>
              </a:ext>
            </a:extLst>
          </p:cNvPr>
          <p:cNvGrpSpPr/>
          <p:nvPr/>
        </p:nvGrpSpPr>
        <p:grpSpPr>
          <a:xfrm>
            <a:off x="-52720" y="8849975"/>
            <a:ext cx="23500172" cy="3537370"/>
            <a:chOff x="48567" y="4381495"/>
            <a:chExt cx="23018772" cy="4864954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8EC90793-DF17-4A07-A5D2-DB94D58C8AE3}"/>
                </a:ext>
              </a:extLst>
            </p:cNvPr>
            <p:cNvSpPr/>
            <p:nvPr/>
          </p:nvSpPr>
          <p:spPr>
            <a:xfrm>
              <a:off x="842663" y="4941556"/>
              <a:ext cx="22224676" cy="4304893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8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800" b="1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562FFBD-FE77-4735-B718-FA3371130E3F}"/>
                </a:ext>
              </a:extLst>
            </p:cNvPr>
            <p:cNvGrpSpPr/>
            <p:nvPr/>
          </p:nvGrpSpPr>
          <p:grpSpPr>
            <a:xfrm>
              <a:off x="48567" y="4381495"/>
              <a:ext cx="3991939" cy="1485320"/>
              <a:chOff x="410517" y="4648195"/>
              <a:chExt cx="3991939" cy="1485320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3133C863-4078-4B8D-9552-4D4B3BE93052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161593" y="3892652"/>
                <a:ext cx="1485320" cy="2996406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546F6A-11D8-4A99-9EB4-C5D65E0A2719}"/>
                  </a:ext>
                </a:extLst>
              </p:cNvPr>
              <p:cNvSpPr txBox="1"/>
              <p:nvPr/>
            </p:nvSpPr>
            <p:spPr>
              <a:xfrm>
                <a:off x="1406053" y="4732064"/>
                <a:ext cx="2872839" cy="110054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6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600" b="1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6F515284-21E0-44AF-AAEA-E1929AD3468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1"/>
                <a:ext cx="1058948" cy="1485314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A230B1-3214-42A4-BF48-E31182151FA4}"/>
              </a:ext>
            </a:extLst>
          </p:cNvPr>
          <p:cNvGrpSpPr/>
          <p:nvPr/>
        </p:nvGrpSpPr>
        <p:grpSpPr>
          <a:xfrm>
            <a:off x="220060" y="2006810"/>
            <a:ext cx="23943880" cy="6165277"/>
            <a:chOff x="923003" y="3917552"/>
            <a:chExt cx="23943880" cy="6165275"/>
          </a:xfrm>
        </p:grpSpPr>
        <p:sp>
          <p:nvSpPr>
            <p:cNvPr id="15" name="Rounded Rectangle 41">
              <a:extLst>
                <a:ext uri="{FF2B5EF4-FFF2-40B4-BE49-F238E27FC236}">
                  <a16:creationId xmlns:a16="http://schemas.microsoft.com/office/drawing/2014/main" id="{8EE06E5B-F42B-4A33-B714-81E567F4D072}"/>
                </a:ext>
              </a:extLst>
            </p:cNvPr>
            <p:cNvSpPr/>
            <p:nvPr/>
          </p:nvSpPr>
          <p:spPr>
            <a:xfrm>
              <a:off x="1272211" y="4426857"/>
              <a:ext cx="23594672" cy="5655970"/>
            </a:xfrm>
            <a:prstGeom prst="roundRect">
              <a:avLst>
                <a:gd name="adj" fmla="val 10158"/>
              </a:avLst>
            </a:prstGeom>
            <a:solidFill>
              <a:srgbClr val="FEEBB0"/>
            </a:solidFill>
            <a:ln w="12700">
              <a:solidFill>
                <a:srgbClr val="91720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                 </a:t>
              </a:r>
              <a:endParaRPr lang="en-US" sz="4800" b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493BF6-34C0-45F2-8FB7-B7F144687DAE}"/>
                </a:ext>
              </a:extLst>
            </p:cNvPr>
            <p:cNvGrpSpPr/>
            <p:nvPr/>
          </p:nvGrpSpPr>
          <p:grpSpPr>
            <a:xfrm>
              <a:off x="923003" y="3917552"/>
              <a:ext cx="4029041" cy="1040476"/>
              <a:chOff x="923003" y="3917552"/>
              <a:chExt cx="4029041" cy="1040476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845F444A-634F-41D3-8BAE-FDC1B3FD945C}"/>
                  </a:ext>
                </a:extLst>
              </p:cNvPr>
              <p:cNvGrpSpPr/>
              <p:nvPr/>
            </p:nvGrpSpPr>
            <p:grpSpPr>
              <a:xfrm>
                <a:off x="1448984" y="4075060"/>
                <a:ext cx="3503060" cy="882966"/>
                <a:chOff x="2115734" y="4437010"/>
                <a:chExt cx="3503060" cy="882966"/>
              </a:xfrm>
            </p:grpSpPr>
            <p:sp>
              <p:nvSpPr>
                <p:cNvPr id="19" name="Freeform 20">
                  <a:extLst>
                    <a:ext uri="{FF2B5EF4-FFF2-40B4-BE49-F238E27FC236}">
                      <a16:creationId xmlns:a16="http://schemas.microsoft.com/office/drawing/2014/main" id="{C202490D-5AF0-419F-9F35-52A4057497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3425781" y="3126963"/>
                  <a:ext cx="882966" cy="3503060"/>
                </a:xfrm>
                <a:prstGeom prst="round2SameRect">
                  <a:avLst>
                    <a:gd name="adj1" fmla="val 19445"/>
                    <a:gd name="adj2" fmla="val 0"/>
                  </a:avLst>
                </a:prstGeom>
                <a:solidFill>
                  <a:srgbClr val="FFF9BC"/>
                </a:solidFill>
                <a:ln w="57150">
                  <a:solidFill>
                    <a:srgbClr val="91720D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B483DCE-626C-42FE-8324-5C1C5BBDC4E1}"/>
                    </a:ext>
                  </a:extLst>
                </p:cNvPr>
                <p:cNvSpPr txBox="1"/>
                <p:nvPr/>
              </p:nvSpPr>
              <p:spPr>
                <a:xfrm>
                  <a:off x="2542254" y="4480056"/>
                  <a:ext cx="2895398" cy="800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vi-VN" sz="4600" b="1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CÂU</a:t>
                  </a:r>
                  <a:r>
                    <a:rPr lang="en-US" sz="4600" b="1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1</a:t>
                  </a:r>
                  <a:r>
                    <a:rPr lang="vi-VN" sz="4600" b="1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</a:t>
                  </a:r>
                  <a:endParaRPr lang="en-US" sz="46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74605736-4062-48B7-90A5-5915C724FB0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99" t="21515" r="9759" b="14519"/>
              <a:stretch/>
            </p:blipFill>
            <p:spPr>
              <a:xfrm>
                <a:off x="923003" y="3917552"/>
                <a:ext cx="1076356" cy="1040476"/>
              </a:xfrm>
              <a:prstGeom prst="round2DiagRect">
                <a:avLst>
                  <a:gd name="adj1" fmla="val 30509"/>
                  <a:gd name="adj2" fmla="val 0"/>
                </a:avLst>
              </a:prstGeom>
              <a:ln w="38100" cap="sq">
                <a:solidFill>
                  <a:srgbClr val="91720D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A1F8AF4-8999-4ECB-821A-877BA8BDFBD6}"/>
                  </a:ext>
                </a:extLst>
              </p:cNvPr>
              <p:cNvSpPr txBox="1"/>
              <p:nvPr/>
            </p:nvSpPr>
            <p:spPr>
              <a:xfrm>
                <a:off x="1743677" y="2503283"/>
                <a:ext cx="21765346" cy="15287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4400" b="1" dirty="0"/>
                  <a:t>                     </a:t>
                </a:r>
                <a:r>
                  <a:rPr lang="en-US" sz="4400" b="1" dirty="0" err="1"/>
                  <a:t>Trên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đường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thẳng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𝑴𝑵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lấy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điểm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sao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cho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𝑴𝑵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𝑴𝑷</m:t>
                        </m:r>
                      </m:e>
                    </m:acc>
                  </m:oMath>
                </a14:m>
                <a:r>
                  <a:rPr lang="en-US" sz="4400" b="1" dirty="0"/>
                  <a:t>. </a:t>
                </a:r>
                <a:r>
                  <a:rPr lang="en-US" sz="4400" b="1" dirty="0" err="1"/>
                  <a:t>Điểm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được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xác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định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đúng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trong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hình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vẽ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nào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sau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đây</a:t>
                </a:r>
                <a:r>
                  <a:rPr lang="en-US" sz="4400" b="1" dirty="0"/>
                  <a:t>?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A1F8AF4-8999-4ECB-821A-877BA8BDF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677" y="2503283"/>
                <a:ext cx="21765346" cy="1528752"/>
              </a:xfrm>
              <a:prstGeom prst="rect">
                <a:avLst/>
              </a:prstGeom>
              <a:blipFill>
                <a:blip r:embed="rId4"/>
                <a:stretch>
                  <a:fillRect l="-1120" t="-2800" r="-112" b="-18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8439E4D-A79D-43E7-ACD0-D530140DAEC5}"/>
                  </a:ext>
                </a:extLst>
              </p:cNvPr>
              <p:cNvSpPr txBox="1"/>
              <p:nvPr/>
            </p:nvSpPr>
            <p:spPr>
              <a:xfrm>
                <a:off x="2235082" y="10043382"/>
                <a:ext cx="13538318" cy="8516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400" b="1" dirty="0" err="1"/>
                  <a:t>Vì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𝑴𝑵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𝑴𝑷</m:t>
                        </m:r>
                      </m:e>
                    </m:acc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nên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nằm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giữa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và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𝑴𝑵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𝑴𝑷</m:t>
                    </m:r>
                  </m:oMath>
                </a14:m>
                <a:r>
                  <a:rPr lang="en-US" sz="4400" b="1" dirty="0"/>
                  <a:t>.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8439E4D-A79D-43E7-ACD0-D530140DA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082" y="10043382"/>
                <a:ext cx="13538318" cy="851643"/>
              </a:xfrm>
              <a:prstGeom prst="rect">
                <a:avLst/>
              </a:prstGeom>
              <a:blipFill>
                <a:blip r:embed="rId5"/>
                <a:stretch>
                  <a:fillRect l="-1846" t="-5036" b="-34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Hộp Văn bản 39">
            <a:extLst>
              <a:ext uri="{FF2B5EF4-FFF2-40B4-BE49-F238E27FC236}">
                <a16:creationId xmlns:a16="http://schemas.microsoft.com/office/drawing/2014/main" id="{46F3E21E-1440-45AB-B007-B92EF326D266}"/>
              </a:ext>
            </a:extLst>
          </p:cNvPr>
          <p:cNvSpPr txBox="1"/>
          <p:nvPr/>
        </p:nvSpPr>
        <p:spPr>
          <a:xfrm>
            <a:off x="10964565" y="11002266"/>
            <a:ext cx="304434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sz="44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</a:t>
            </a:r>
            <a:endParaRPr lang="en-US" sz="4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" name="TextBox 27">
            <a:extLst>
              <a:ext uri="{FF2B5EF4-FFF2-40B4-BE49-F238E27FC236}">
                <a16:creationId xmlns:a16="http://schemas.microsoft.com/office/drawing/2014/main" id="{60F5BA16-9407-44BC-AE74-BC3B45F03A00}"/>
              </a:ext>
            </a:extLst>
          </p:cNvPr>
          <p:cNvSpPr txBox="1"/>
          <p:nvPr/>
        </p:nvSpPr>
        <p:spPr>
          <a:xfrm>
            <a:off x="6180602" y="1328655"/>
            <a:ext cx="172799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>
                <a:solidFill>
                  <a:srgbClr val="145F82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BÀI TẬP TRẮC NGHIỆM CỦNG CỐ</a:t>
            </a:r>
          </a:p>
        </p:txBody>
      </p:sp>
      <p:pic>
        <p:nvPicPr>
          <p:cNvPr id="31" name="Picture 122">
            <a:extLst>
              <a:ext uri="{FF2B5EF4-FFF2-40B4-BE49-F238E27FC236}">
                <a16:creationId xmlns:a16="http://schemas.microsoft.com/office/drawing/2014/main" id="{6C6CE60D-CE3F-4652-8199-6166EC2B3B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270" y="4278928"/>
            <a:ext cx="12894168" cy="32235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roup 1">
            <a:extLst>
              <a:ext uri="{FF2B5EF4-FFF2-40B4-BE49-F238E27FC236}">
                <a16:creationId xmlns:a16="http://schemas.microsoft.com/office/drawing/2014/main" id="{EED2B8AA-CC03-4021-BEA9-7F79DFCB5FB1}"/>
              </a:ext>
            </a:extLst>
          </p:cNvPr>
          <p:cNvGrpSpPr/>
          <p:nvPr/>
        </p:nvGrpSpPr>
        <p:grpSpPr>
          <a:xfrm>
            <a:off x="783942" y="6054771"/>
            <a:ext cx="9960258" cy="1671800"/>
            <a:chOff x="12439525" y="4540909"/>
            <a:chExt cx="11277074" cy="1671800"/>
          </a:xfrm>
          <a:solidFill>
            <a:srgbClr val="398842"/>
          </a:solidFill>
        </p:grpSpPr>
        <p:grpSp>
          <p:nvGrpSpPr>
            <p:cNvPr id="33" name="Group 2">
              <a:extLst>
                <a:ext uri="{FF2B5EF4-FFF2-40B4-BE49-F238E27FC236}">
                  <a16:creationId xmlns:a16="http://schemas.microsoft.com/office/drawing/2014/main" id="{A0906E8B-ED5D-434A-B435-94F65F8F2E04}"/>
                </a:ext>
              </a:extLst>
            </p:cNvPr>
            <p:cNvGrpSpPr/>
            <p:nvPr/>
          </p:nvGrpSpPr>
          <p:grpSpPr>
            <a:xfrm>
              <a:off x="12439525" y="4540909"/>
              <a:ext cx="11277074" cy="1671800"/>
              <a:chOff x="6248168" y="2025161"/>
              <a:chExt cx="5638537" cy="835900"/>
            </a:xfrm>
            <a:grpFill/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669153AB-E935-4D9A-9CAB-9B7EE73CC39A}"/>
                  </a:ext>
                </a:extLst>
              </p:cNvPr>
              <p:cNvSpPr/>
              <p:nvPr/>
            </p:nvSpPr>
            <p:spPr>
              <a:xfrm>
                <a:off x="6544723" y="2025161"/>
                <a:ext cx="2468235" cy="835899"/>
              </a:xfrm>
              <a:prstGeom prst="rect">
                <a:avLst/>
              </a:prstGeom>
              <a:grpFill/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400" b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37" name="Oval 6">
                <a:extLst>
                  <a:ext uri="{FF2B5EF4-FFF2-40B4-BE49-F238E27FC236}">
                    <a16:creationId xmlns:a16="http://schemas.microsoft.com/office/drawing/2014/main" id="{CA2BD9B0-5F96-4614-9DA4-08BA40D953D8}"/>
                  </a:ext>
                </a:extLst>
              </p:cNvPr>
              <p:cNvSpPr/>
              <p:nvPr/>
            </p:nvSpPr>
            <p:spPr>
              <a:xfrm>
                <a:off x="6248168" y="2189805"/>
                <a:ext cx="603111" cy="540000"/>
              </a:xfrm>
              <a:prstGeom prst="ellipse">
                <a:avLst/>
              </a:prstGeom>
              <a:grpFill/>
              <a:ln w="571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</a:t>
                </a:r>
                <a:endParaRPr lang="en-US" sz="6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Rectangle 7">
                <a:extLst>
                  <a:ext uri="{FF2B5EF4-FFF2-40B4-BE49-F238E27FC236}">
                    <a16:creationId xmlns:a16="http://schemas.microsoft.com/office/drawing/2014/main" id="{CCB46617-16E9-4214-90BF-3D4C87005EB4}"/>
                  </a:ext>
                </a:extLst>
              </p:cNvPr>
              <p:cNvSpPr/>
              <p:nvPr/>
            </p:nvSpPr>
            <p:spPr>
              <a:xfrm>
                <a:off x="9418470" y="2025162"/>
                <a:ext cx="2468235" cy="835899"/>
              </a:xfrm>
              <a:prstGeom prst="rect">
                <a:avLst/>
              </a:prstGeom>
              <a:grpFill/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400" b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39" name="Oval 8">
                <a:extLst>
                  <a:ext uri="{FF2B5EF4-FFF2-40B4-BE49-F238E27FC236}">
                    <a16:creationId xmlns:a16="http://schemas.microsoft.com/office/drawing/2014/main" id="{42E04B30-AA73-42A9-9726-B95814CA26E3}"/>
                  </a:ext>
                </a:extLst>
              </p:cNvPr>
              <p:cNvSpPr/>
              <p:nvPr/>
            </p:nvSpPr>
            <p:spPr>
              <a:xfrm>
                <a:off x="9098992" y="2152849"/>
                <a:ext cx="540000" cy="540000"/>
              </a:xfrm>
              <a:prstGeom prst="ellipse">
                <a:avLst/>
              </a:prstGeom>
              <a:grpFill/>
              <a:ln w="571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</a:t>
                </a:r>
                <a:endParaRPr lang="en-US" sz="64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">
                  <a:extLst>
                    <a:ext uri="{FF2B5EF4-FFF2-40B4-BE49-F238E27FC236}">
                      <a16:creationId xmlns:a16="http://schemas.microsoft.com/office/drawing/2014/main" id="{48D20AA9-203C-4A53-B2AC-7962CF434D53}"/>
                    </a:ext>
                  </a:extLst>
                </p:cNvPr>
                <p:cNvSpPr/>
                <p:nvPr/>
              </p:nvSpPr>
              <p:spPr>
                <a:xfrm>
                  <a:off x="13685081" y="4959417"/>
                  <a:ext cx="3631577" cy="7694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4400" b="1" i="1" smtClean="0">
                            <a:solidFill>
                              <a:schemeClr val="bg1"/>
                            </a:solidFill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4400" b="1" i="1" smtClean="0">
                            <a:solidFill>
                              <a:schemeClr val="bg1"/>
                            </a:solidFill>
                          </a:rPr>
                          <m:t>ì</m:t>
                        </m:r>
                        <m:r>
                          <m:rPr>
                            <m:nor/>
                          </m:rPr>
                          <a:rPr lang="en-US" sz="4400" b="1" i="1" smtClean="0">
                            <a:solidFill>
                              <a:schemeClr val="bg1"/>
                            </a:solidFill>
                          </a:rPr>
                          <m:t>nh</m:t>
                        </m:r>
                        <m:r>
                          <m:rPr>
                            <m:nor/>
                          </m:rPr>
                          <a:rPr lang="en-US" sz="4400" b="1" i="1" smtClean="0">
                            <a:solidFill>
                              <a:schemeClr val="bg1"/>
                            </a:solidFill>
                          </a:rPr>
                          <m:t> 3</m:t>
                        </m:r>
                        <m:r>
                          <m:rPr>
                            <m:nor/>
                          </m:rPr>
                          <a:rPr lang="en-US" sz="4400" smtClean="0">
                            <a:solidFill>
                              <a:schemeClr val="bg1"/>
                            </a:solidFill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4" name="Rectangle 3">
                  <a:extLst>
                    <a:ext uri="{FF2B5EF4-FFF2-40B4-BE49-F238E27FC236}">
                      <a16:creationId xmlns:a16="http://schemas.microsoft.com/office/drawing/2014/main" id="{48D20AA9-203C-4A53-B2AC-7962CF434D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85081" y="4959417"/>
                  <a:ext cx="3631577" cy="76944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Oval 14">
            <a:extLst>
              <a:ext uri="{FF2B5EF4-FFF2-40B4-BE49-F238E27FC236}">
                <a16:creationId xmlns:a16="http://schemas.microsoft.com/office/drawing/2014/main" id="{6C34D813-0347-4E7A-82BB-FBFAB0D6ACF2}"/>
              </a:ext>
            </a:extLst>
          </p:cNvPr>
          <p:cNvSpPr/>
          <p:nvPr/>
        </p:nvSpPr>
        <p:spPr>
          <a:xfrm>
            <a:off x="776656" y="6422470"/>
            <a:ext cx="1080000" cy="108000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C</a:t>
            </a:r>
            <a:endParaRPr lang="en-US" sz="6400" dirty="0"/>
          </a:p>
        </p:txBody>
      </p:sp>
      <p:sp>
        <p:nvSpPr>
          <p:cNvPr id="43" name="Rectangle 27">
            <a:extLst>
              <a:ext uri="{FF2B5EF4-FFF2-40B4-BE49-F238E27FC236}">
                <a16:creationId xmlns:a16="http://schemas.microsoft.com/office/drawing/2014/main" id="{2864472E-C1AD-4F84-9AAA-397BA25FF3B1}"/>
              </a:ext>
            </a:extLst>
          </p:cNvPr>
          <p:cNvSpPr/>
          <p:nvPr/>
        </p:nvSpPr>
        <p:spPr>
          <a:xfrm>
            <a:off x="6414300" y="4278928"/>
            <a:ext cx="4360042" cy="1500400"/>
          </a:xfrm>
          <a:prstGeom prst="rect">
            <a:avLst/>
          </a:prstGeom>
          <a:solidFill>
            <a:srgbClr val="398842"/>
          </a:solidFill>
          <a:ln w="190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400" b="1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4" name="Rectangle 29">
            <a:extLst>
              <a:ext uri="{FF2B5EF4-FFF2-40B4-BE49-F238E27FC236}">
                <a16:creationId xmlns:a16="http://schemas.microsoft.com/office/drawing/2014/main" id="{D1A3CD29-7248-4F67-ABFD-AF30000CF71A}"/>
              </a:ext>
            </a:extLst>
          </p:cNvPr>
          <p:cNvSpPr/>
          <p:nvPr/>
        </p:nvSpPr>
        <p:spPr>
          <a:xfrm>
            <a:off x="1409546" y="4278928"/>
            <a:ext cx="4251529" cy="1500400"/>
          </a:xfrm>
          <a:prstGeom prst="rect">
            <a:avLst/>
          </a:prstGeom>
          <a:solidFill>
            <a:srgbClr val="398842"/>
          </a:solidFill>
          <a:ln w="190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400" b="1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5" name="Oval 30">
            <a:extLst>
              <a:ext uri="{FF2B5EF4-FFF2-40B4-BE49-F238E27FC236}">
                <a16:creationId xmlns:a16="http://schemas.microsoft.com/office/drawing/2014/main" id="{CA64554C-FEAE-4A5C-983A-F865DD26D0FE}"/>
              </a:ext>
            </a:extLst>
          </p:cNvPr>
          <p:cNvSpPr/>
          <p:nvPr/>
        </p:nvSpPr>
        <p:spPr>
          <a:xfrm>
            <a:off x="693127" y="4436114"/>
            <a:ext cx="1080000" cy="1080000"/>
          </a:xfrm>
          <a:prstGeom prst="ellipse">
            <a:avLst/>
          </a:prstGeom>
          <a:solidFill>
            <a:srgbClr val="327E3B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6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endParaRPr lang="en-US" sz="6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3">
                <a:extLst>
                  <a:ext uri="{FF2B5EF4-FFF2-40B4-BE49-F238E27FC236}">
                    <a16:creationId xmlns:a16="http://schemas.microsoft.com/office/drawing/2014/main" id="{79360EA1-9D0E-4994-B470-6F98CDA422E8}"/>
                  </a:ext>
                </a:extLst>
              </p:cNvPr>
              <p:cNvSpPr/>
              <p:nvPr/>
            </p:nvSpPr>
            <p:spPr>
              <a:xfrm>
                <a:off x="1672026" y="4614283"/>
                <a:ext cx="3631577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H</m:t>
                      </m:r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ì</m:t>
                      </m:r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nh</m:t>
                      </m:r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 1</m:t>
                      </m:r>
                      <m:r>
                        <m:rPr>
                          <m:nor/>
                        </m:rPr>
                        <a:rPr lang="en-US" sz="4400" smtClean="0">
                          <a:solidFill>
                            <a:schemeClr val="bg1"/>
                          </a:solidFill>
                        </a:rPr>
                        <m:t>.</m:t>
                      </m:r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7" name="Rectangle 3">
                <a:extLst>
                  <a:ext uri="{FF2B5EF4-FFF2-40B4-BE49-F238E27FC236}">
                    <a16:creationId xmlns:a16="http://schemas.microsoft.com/office/drawing/2014/main" id="{79360EA1-9D0E-4994-B470-6F98CDA422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2026" y="4614283"/>
                <a:ext cx="3631577" cy="7694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3">
                <a:extLst>
                  <a:ext uri="{FF2B5EF4-FFF2-40B4-BE49-F238E27FC236}">
                    <a16:creationId xmlns:a16="http://schemas.microsoft.com/office/drawing/2014/main" id="{8A4F9C55-C2A9-4201-A516-CCC18B7F6D56}"/>
                  </a:ext>
                </a:extLst>
              </p:cNvPr>
              <p:cNvSpPr/>
              <p:nvPr/>
            </p:nvSpPr>
            <p:spPr>
              <a:xfrm>
                <a:off x="6851836" y="4669302"/>
                <a:ext cx="3631577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H</m:t>
                      </m:r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ì</m:t>
                      </m:r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nh</m:t>
                      </m:r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4400" b="1" i="0" smtClean="0">
                          <a:solidFill>
                            <a:schemeClr val="bg1"/>
                          </a:solidFill>
                        </a:rPr>
                        <m:t>2</m:t>
                      </m:r>
                      <m:r>
                        <m:rPr>
                          <m:nor/>
                        </m:rPr>
                        <a:rPr lang="en-US" sz="4400" smtClean="0">
                          <a:solidFill>
                            <a:schemeClr val="bg1"/>
                          </a:solidFill>
                        </a:rPr>
                        <m:t>.</m:t>
                      </m:r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8" name="Rectangle 3">
                <a:extLst>
                  <a:ext uri="{FF2B5EF4-FFF2-40B4-BE49-F238E27FC236}">
                    <a16:creationId xmlns:a16="http://schemas.microsoft.com/office/drawing/2014/main" id="{8A4F9C55-C2A9-4201-A516-CCC18B7F6D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1836" y="4669302"/>
                <a:ext cx="3631577" cy="7694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3">
                <a:extLst>
                  <a:ext uri="{FF2B5EF4-FFF2-40B4-BE49-F238E27FC236}">
                    <a16:creationId xmlns:a16="http://schemas.microsoft.com/office/drawing/2014/main" id="{9C3D85FF-EA70-4546-B8CE-C8C9EE4AF2FB}"/>
                  </a:ext>
                </a:extLst>
              </p:cNvPr>
              <p:cNvSpPr/>
              <p:nvPr/>
            </p:nvSpPr>
            <p:spPr>
              <a:xfrm>
                <a:off x="6899813" y="6377387"/>
                <a:ext cx="3631577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H</m:t>
                      </m:r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ì</m:t>
                      </m:r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nh</m:t>
                      </m:r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 4</m:t>
                      </m:r>
                      <m:r>
                        <m:rPr>
                          <m:nor/>
                        </m:rPr>
                        <a:rPr lang="en-US" sz="4400" smtClean="0">
                          <a:solidFill>
                            <a:schemeClr val="bg1"/>
                          </a:solidFill>
                        </a:rPr>
                        <m:t>.</m:t>
                      </m:r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9" name="Rectangle 3">
                <a:extLst>
                  <a:ext uri="{FF2B5EF4-FFF2-40B4-BE49-F238E27FC236}">
                    <a16:creationId xmlns:a16="http://schemas.microsoft.com/office/drawing/2014/main" id="{9C3D85FF-EA70-4546-B8CE-C8C9EE4AF2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813" y="6377387"/>
                <a:ext cx="3631577" cy="7694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28">
            <a:extLst>
              <a:ext uri="{FF2B5EF4-FFF2-40B4-BE49-F238E27FC236}">
                <a16:creationId xmlns:a16="http://schemas.microsoft.com/office/drawing/2014/main" id="{F1301F7D-7FC6-498D-A4CC-DC47A9B7D9A6}"/>
              </a:ext>
            </a:extLst>
          </p:cNvPr>
          <p:cNvSpPr/>
          <p:nvPr/>
        </p:nvSpPr>
        <p:spPr>
          <a:xfrm>
            <a:off x="5771836" y="4499562"/>
            <a:ext cx="1080000" cy="1080000"/>
          </a:xfrm>
          <a:prstGeom prst="ellipse">
            <a:avLst/>
          </a:prstGeom>
          <a:solidFill>
            <a:srgbClr val="327E3B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6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endParaRPr lang="en-US" sz="6400" dirty="0"/>
          </a:p>
        </p:txBody>
      </p:sp>
      <p:sp>
        <p:nvSpPr>
          <p:cNvPr id="57" name="Rounded Rectangle 56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0418563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0" grpId="0"/>
      <p:bldP spid="40" grpId="0"/>
      <p:bldP spid="42" grpId="0" animBg="1"/>
      <p:bldP spid="43" grpId="0" animBg="1"/>
      <p:bldP spid="44" grpId="0" animBg="1"/>
      <p:bldP spid="45" grpId="0" animBg="1"/>
      <p:bldP spid="47" grpId="0"/>
      <p:bldP spid="48" grpId="0"/>
      <p:bldP spid="49" grpId="0"/>
      <p:bldP spid="5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313519-0C89-483D-A08E-CF6067282148}"/>
              </a:ext>
            </a:extLst>
          </p:cNvPr>
          <p:cNvGrpSpPr/>
          <p:nvPr/>
        </p:nvGrpSpPr>
        <p:grpSpPr>
          <a:xfrm>
            <a:off x="141341" y="7267711"/>
            <a:ext cx="23862374" cy="5716250"/>
            <a:chOff x="48567" y="4381499"/>
            <a:chExt cx="23018772" cy="5716249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5B1AB244-3D78-416D-AEF1-35CC4562B7A3}"/>
                </a:ext>
              </a:extLst>
            </p:cNvPr>
            <p:cNvSpPr/>
            <p:nvPr/>
          </p:nvSpPr>
          <p:spPr>
            <a:xfrm>
              <a:off x="385312" y="4941556"/>
              <a:ext cx="22682027" cy="5156192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400" b="1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FC852D-338F-4593-BDAE-4432C24EAC82}"/>
                </a:ext>
              </a:extLst>
            </p:cNvPr>
            <p:cNvGrpSpPr/>
            <p:nvPr/>
          </p:nvGrpSpPr>
          <p:grpSpPr>
            <a:xfrm>
              <a:off x="48567" y="4381499"/>
              <a:ext cx="3991940" cy="1079474"/>
              <a:chOff x="410517" y="4648199"/>
              <a:chExt cx="3991940" cy="1079474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20085AD8-BD87-4A35-B6D4-9AE383128185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421084" y="3633167"/>
                <a:ext cx="966341" cy="2996405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4400" b="1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C0313-9358-457E-845F-D4B035AC31D3}"/>
                  </a:ext>
                </a:extLst>
              </p:cNvPr>
              <p:cNvSpPr txBox="1"/>
              <p:nvPr/>
            </p:nvSpPr>
            <p:spPr>
              <a:xfrm>
                <a:off x="1406054" y="4732063"/>
                <a:ext cx="2872839" cy="76944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400" b="1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B75B5B9-D442-4C6E-96A9-9A573FE06D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0"/>
                <a:ext cx="1058947" cy="1079473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A8B4DB7-EFF8-4AF8-B0FA-839D4C447E82}"/>
              </a:ext>
            </a:extLst>
          </p:cNvPr>
          <p:cNvGrpSpPr/>
          <p:nvPr/>
        </p:nvGrpSpPr>
        <p:grpSpPr>
          <a:xfrm>
            <a:off x="620483" y="5105400"/>
            <a:ext cx="23556178" cy="1234536"/>
            <a:chOff x="241306" y="2243792"/>
            <a:chExt cx="11778089" cy="617268"/>
          </a:xfrm>
          <a:solidFill>
            <a:srgbClr val="327E3B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/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3</m:t>
                        </m:r>
                        <m:acc>
                          <m:accPr>
                            <m:chr m:val="⃗"/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𝐼𝐴</m:t>
                            </m:r>
                          </m:e>
                        </m:acc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𝐼𝐵</m:t>
                            </m:r>
                          </m:e>
                        </m:acc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⃗"/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vi-VN" sz="4400" dirty="0"/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prstClr val="white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78679C-83F1-4149-AB69-2BCAF6D951FA}"/>
                </a:ext>
              </a:extLst>
            </p:cNvPr>
            <p:cNvSpPr/>
            <p:nvPr/>
          </p:nvSpPr>
          <p:spPr>
            <a:xfrm>
              <a:off x="3247742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/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3</m:t>
                        </m:r>
                        <m:acc>
                          <m:accPr>
                            <m:chr m:val="⃗"/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𝐴𝐼</m:t>
                            </m:r>
                          </m:e>
                        </m:acc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e>
                        </m:acc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⃗"/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</m:oMath>
                    </m:oMathPara>
                  </a14:m>
                  <a:endParaRPr lang="en-US" sz="4400" b="1" dirty="0">
                    <a:solidFill>
                      <a:prstClr val="white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8947F5-5540-4A85-BACE-6641A507F5A0}"/>
                </a:ext>
              </a:extLst>
            </p:cNvPr>
            <p:cNvSpPr/>
            <p:nvPr/>
          </p:nvSpPr>
          <p:spPr>
            <a:xfrm>
              <a:off x="241306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/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𝐵𝐼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+3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𝐵𝐴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</m:oMath>
                    </m:oMathPara>
                  </a14:m>
                  <a:endParaRPr lang="en-US" sz="4400" b="1" dirty="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7BF74FF-3652-4371-9E0B-A97FA806BC48}"/>
                </a:ext>
              </a:extLst>
            </p:cNvPr>
            <p:cNvSpPr/>
            <p:nvPr/>
          </p:nvSpPr>
          <p:spPr>
            <a:xfrm>
              <a:off x="6254178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/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𝐴𝐼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+3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vi-VN"/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B907C0F-6FC4-4852-8CFD-AD2FACA13C7F}"/>
                </a:ext>
              </a:extLst>
            </p:cNvPr>
            <p:cNvSpPr/>
            <p:nvPr/>
          </p:nvSpPr>
          <p:spPr>
            <a:xfrm>
              <a:off x="9260615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3AF6DD6E-C69C-4024-A5BF-FE21EA5DD223}"/>
              </a:ext>
            </a:extLst>
          </p:cNvPr>
          <p:cNvSpPr/>
          <p:nvPr/>
        </p:nvSpPr>
        <p:spPr>
          <a:xfrm>
            <a:off x="661573" y="5182668"/>
            <a:ext cx="1080000" cy="108000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endParaRPr lang="en-US" sz="44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B11C65-8BD6-48B2-A424-E6F4B06755C4}"/>
              </a:ext>
            </a:extLst>
          </p:cNvPr>
          <p:cNvSpPr txBox="1"/>
          <p:nvPr/>
        </p:nvSpPr>
        <p:spPr>
          <a:xfrm>
            <a:off x="12646227" y="10353010"/>
            <a:ext cx="28623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Hộp Văn bản 32">
                <a:extLst>
                  <a:ext uri="{FF2B5EF4-FFF2-40B4-BE49-F238E27FC236}">
                    <a16:creationId xmlns:a16="http://schemas.microsoft.com/office/drawing/2014/main" id="{FA66E39E-45DD-4D8D-9701-4E0D7B27D607}"/>
                  </a:ext>
                </a:extLst>
              </p:cNvPr>
              <p:cNvSpPr txBox="1"/>
              <p:nvPr/>
            </p:nvSpPr>
            <p:spPr>
              <a:xfrm>
                <a:off x="1388512" y="8516738"/>
                <a:ext cx="15756488" cy="856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nằm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𝑰𝑨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𝑨𝑰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3" name="Hộp Văn bản 32">
                <a:extLst>
                  <a:ext uri="{FF2B5EF4-FFF2-40B4-BE49-F238E27FC236}">
                    <a16:creationId xmlns:a16="http://schemas.microsoft.com/office/drawing/2014/main" id="{FA66E39E-45DD-4D8D-9701-4E0D7B27D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512" y="8516738"/>
                <a:ext cx="15756488" cy="856068"/>
              </a:xfrm>
              <a:prstGeom prst="rect">
                <a:avLst/>
              </a:prstGeom>
              <a:blipFill>
                <a:blip r:embed="rId7"/>
                <a:stretch>
                  <a:fillRect l="-1586" t="-4965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ounded Rectangle 41">
            <a:extLst>
              <a:ext uri="{FF2B5EF4-FFF2-40B4-BE49-F238E27FC236}">
                <a16:creationId xmlns:a16="http://schemas.microsoft.com/office/drawing/2014/main" id="{794A51D1-55F2-4D87-8FEA-CA4EFEB1AF68}"/>
              </a:ext>
            </a:extLst>
          </p:cNvPr>
          <p:cNvSpPr/>
          <p:nvPr/>
        </p:nvSpPr>
        <p:spPr>
          <a:xfrm>
            <a:off x="353579" y="2153388"/>
            <a:ext cx="23594672" cy="2522626"/>
          </a:xfrm>
          <a:prstGeom prst="roundRect">
            <a:avLst>
              <a:gd name="adj" fmla="val 10158"/>
            </a:avLst>
          </a:prstGeom>
          <a:solidFill>
            <a:srgbClr val="FEEBB0"/>
          </a:solidFill>
          <a:ln w="12700">
            <a:solidFill>
              <a:srgbClr val="91720D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            </a:t>
            </a:r>
          </a:p>
        </p:txBody>
      </p:sp>
      <p:sp>
        <p:nvSpPr>
          <p:cNvPr id="35" name="Freeform 20">
            <a:extLst>
              <a:ext uri="{FF2B5EF4-FFF2-40B4-BE49-F238E27FC236}">
                <a16:creationId xmlns:a16="http://schemas.microsoft.com/office/drawing/2014/main" id="{0C3C5302-44DC-4A8A-B599-834CEAC11DC1}"/>
              </a:ext>
            </a:extLst>
          </p:cNvPr>
          <p:cNvSpPr>
            <a:spLocks/>
          </p:cNvSpPr>
          <p:nvPr/>
        </p:nvSpPr>
        <p:spPr bwMode="auto">
          <a:xfrm rot="5400000">
            <a:off x="1856268" y="785661"/>
            <a:ext cx="1042135" cy="3503060"/>
          </a:xfrm>
          <a:prstGeom prst="round2SameRect">
            <a:avLst>
              <a:gd name="adj1" fmla="val 19445"/>
              <a:gd name="adj2" fmla="val 0"/>
            </a:avLst>
          </a:prstGeom>
          <a:solidFill>
            <a:srgbClr val="FFF9BC"/>
          </a:solidFill>
          <a:ln w="57150">
            <a:solidFill>
              <a:srgbClr val="91720D"/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4400" b="1">
              <a:solidFill>
                <a:prstClr val="black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36" name="Picture 17">
            <a:extLst>
              <a:ext uri="{FF2B5EF4-FFF2-40B4-BE49-F238E27FC236}">
                <a16:creationId xmlns:a16="http://schemas.microsoft.com/office/drawing/2014/main" id="{CFEA5439-EC49-4A87-BA35-48AD5CA706FC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99" t="21515" r="9759" b="14519"/>
          <a:stretch/>
        </p:blipFill>
        <p:spPr>
          <a:xfrm>
            <a:off x="99824" y="1830222"/>
            <a:ext cx="1076356" cy="1228039"/>
          </a:xfrm>
          <a:prstGeom prst="round2DiagRect">
            <a:avLst>
              <a:gd name="adj1" fmla="val 30509"/>
              <a:gd name="adj2" fmla="val 0"/>
            </a:avLst>
          </a:prstGeom>
          <a:ln w="38100" cap="sq">
            <a:solidFill>
              <a:srgbClr val="91720D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7" name="TextBox 19">
            <a:extLst>
              <a:ext uri="{FF2B5EF4-FFF2-40B4-BE49-F238E27FC236}">
                <a16:creationId xmlns:a16="http://schemas.microsoft.com/office/drawing/2014/main" id="{826CDD11-85BF-49A2-8E32-E04CED08FF7E}"/>
              </a:ext>
            </a:extLst>
          </p:cNvPr>
          <p:cNvSpPr txBox="1"/>
          <p:nvPr/>
        </p:nvSpPr>
        <p:spPr>
          <a:xfrm>
            <a:off x="1052325" y="2066929"/>
            <a:ext cx="2895398" cy="769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4400" b="1" dirty="0">
                <a:solidFill>
                  <a:prstClr val="black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CÂU</a:t>
            </a:r>
            <a:r>
              <a:rPr lang="en-US" sz="4400" b="1" dirty="0">
                <a:solidFill>
                  <a:prstClr val="black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2</a:t>
            </a:r>
            <a:r>
              <a:rPr lang="vi-VN" sz="4400" b="1" dirty="0">
                <a:solidFill>
                  <a:prstClr val="black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endParaRPr lang="en-US" sz="4400" b="1" dirty="0">
              <a:solidFill>
                <a:prstClr val="black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8" name="TextBox 23">
            <a:extLst>
              <a:ext uri="{FF2B5EF4-FFF2-40B4-BE49-F238E27FC236}">
                <a16:creationId xmlns:a16="http://schemas.microsoft.com/office/drawing/2014/main" id="{6D8E1639-1516-4EBE-A341-4AF39D1218EE}"/>
              </a:ext>
            </a:extLst>
          </p:cNvPr>
          <p:cNvSpPr txBox="1"/>
          <p:nvPr/>
        </p:nvSpPr>
        <p:spPr>
          <a:xfrm>
            <a:off x="1767838" y="2412818"/>
            <a:ext cx="235978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44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    </a:t>
            </a:r>
            <a:r>
              <a:rPr lang="en-US" sz="4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Đẳng</a:t>
            </a:r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thức</a:t>
            </a:r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nào</a:t>
            </a:r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đây</a:t>
            </a:r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mô</a:t>
            </a:r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tả</a:t>
            </a:r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đúng</a:t>
            </a:r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vẽ</a:t>
            </a:r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bên</a:t>
            </a:r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pic>
        <p:nvPicPr>
          <p:cNvPr id="39" name="Picture 213">
            <a:extLst>
              <a:ext uri="{FF2B5EF4-FFF2-40B4-BE49-F238E27FC236}">
                <a16:creationId xmlns:a16="http://schemas.microsoft.com/office/drawing/2014/main" id="{DD6D2E8D-E321-43D0-8355-2853D87A47B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4731" y="3290303"/>
            <a:ext cx="8093363" cy="1586483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Rounded Rectangle 4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1346240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9" grpId="0"/>
      <p:bldP spid="3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EB82AE6-AEC7-471B-B78A-1191782FE5EE}"/>
              </a:ext>
            </a:extLst>
          </p:cNvPr>
          <p:cNvGrpSpPr/>
          <p:nvPr/>
        </p:nvGrpSpPr>
        <p:grpSpPr>
          <a:xfrm>
            <a:off x="-52720" y="8849975"/>
            <a:ext cx="23500172" cy="3537370"/>
            <a:chOff x="48567" y="4381495"/>
            <a:chExt cx="23018772" cy="4864954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8EC90793-DF17-4A07-A5D2-DB94D58C8AE3}"/>
                </a:ext>
              </a:extLst>
            </p:cNvPr>
            <p:cNvSpPr/>
            <p:nvPr/>
          </p:nvSpPr>
          <p:spPr>
            <a:xfrm>
              <a:off x="842663" y="4941556"/>
              <a:ext cx="22224676" cy="4304893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8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800" b="1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562FFBD-FE77-4735-B718-FA3371130E3F}"/>
                </a:ext>
              </a:extLst>
            </p:cNvPr>
            <p:cNvGrpSpPr/>
            <p:nvPr/>
          </p:nvGrpSpPr>
          <p:grpSpPr>
            <a:xfrm>
              <a:off x="48567" y="4381495"/>
              <a:ext cx="3991939" cy="1485320"/>
              <a:chOff x="410517" y="4648195"/>
              <a:chExt cx="3991939" cy="1485320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3133C863-4078-4B8D-9552-4D4B3BE93052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161593" y="3892652"/>
                <a:ext cx="1485320" cy="2996406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546F6A-11D8-4A99-9EB4-C5D65E0A2719}"/>
                  </a:ext>
                </a:extLst>
              </p:cNvPr>
              <p:cNvSpPr txBox="1"/>
              <p:nvPr/>
            </p:nvSpPr>
            <p:spPr>
              <a:xfrm>
                <a:off x="1406053" y="4732064"/>
                <a:ext cx="2872839" cy="110054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6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600" b="1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6F515284-21E0-44AF-AAEA-E1929AD3468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1"/>
                <a:ext cx="1058948" cy="1485314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A230B1-3214-42A4-BF48-E31182151FA4}"/>
              </a:ext>
            </a:extLst>
          </p:cNvPr>
          <p:cNvGrpSpPr/>
          <p:nvPr/>
        </p:nvGrpSpPr>
        <p:grpSpPr>
          <a:xfrm>
            <a:off x="220060" y="2006810"/>
            <a:ext cx="23943880" cy="6165277"/>
            <a:chOff x="923003" y="3917552"/>
            <a:chExt cx="23943880" cy="6165275"/>
          </a:xfrm>
        </p:grpSpPr>
        <p:sp>
          <p:nvSpPr>
            <p:cNvPr id="15" name="Rounded Rectangle 41">
              <a:extLst>
                <a:ext uri="{FF2B5EF4-FFF2-40B4-BE49-F238E27FC236}">
                  <a16:creationId xmlns:a16="http://schemas.microsoft.com/office/drawing/2014/main" id="{8EE06E5B-F42B-4A33-B714-81E567F4D072}"/>
                </a:ext>
              </a:extLst>
            </p:cNvPr>
            <p:cNvSpPr/>
            <p:nvPr/>
          </p:nvSpPr>
          <p:spPr>
            <a:xfrm>
              <a:off x="1272211" y="4426857"/>
              <a:ext cx="23594672" cy="5655970"/>
            </a:xfrm>
            <a:prstGeom prst="roundRect">
              <a:avLst>
                <a:gd name="adj" fmla="val 10158"/>
              </a:avLst>
            </a:prstGeom>
            <a:solidFill>
              <a:srgbClr val="FEEBB0"/>
            </a:solidFill>
            <a:ln w="12700">
              <a:solidFill>
                <a:srgbClr val="91720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                 </a:t>
              </a:r>
              <a:endParaRPr lang="en-US" sz="4800" b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493BF6-34C0-45F2-8FB7-B7F144687DAE}"/>
                </a:ext>
              </a:extLst>
            </p:cNvPr>
            <p:cNvGrpSpPr/>
            <p:nvPr/>
          </p:nvGrpSpPr>
          <p:grpSpPr>
            <a:xfrm>
              <a:off x="923003" y="3917552"/>
              <a:ext cx="4029041" cy="1040476"/>
              <a:chOff x="923003" y="3917552"/>
              <a:chExt cx="4029041" cy="1040476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845F444A-634F-41D3-8BAE-FDC1B3FD945C}"/>
                  </a:ext>
                </a:extLst>
              </p:cNvPr>
              <p:cNvGrpSpPr/>
              <p:nvPr/>
            </p:nvGrpSpPr>
            <p:grpSpPr>
              <a:xfrm>
                <a:off x="1448984" y="4075060"/>
                <a:ext cx="3503060" cy="882966"/>
                <a:chOff x="2115734" y="4437010"/>
                <a:chExt cx="3503060" cy="882966"/>
              </a:xfrm>
            </p:grpSpPr>
            <p:sp>
              <p:nvSpPr>
                <p:cNvPr id="19" name="Freeform 20">
                  <a:extLst>
                    <a:ext uri="{FF2B5EF4-FFF2-40B4-BE49-F238E27FC236}">
                      <a16:creationId xmlns:a16="http://schemas.microsoft.com/office/drawing/2014/main" id="{C202490D-5AF0-419F-9F35-52A4057497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3425781" y="3126963"/>
                  <a:ext cx="882966" cy="3503060"/>
                </a:xfrm>
                <a:prstGeom prst="round2SameRect">
                  <a:avLst>
                    <a:gd name="adj1" fmla="val 19445"/>
                    <a:gd name="adj2" fmla="val 0"/>
                  </a:avLst>
                </a:prstGeom>
                <a:solidFill>
                  <a:srgbClr val="FFF9BC"/>
                </a:solidFill>
                <a:ln w="57150">
                  <a:solidFill>
                    <a:srgbClr val="91720D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B483DCE-626C-42FE-8324-5C1C5BBDC4E1}"/>
                    </a:ext>
                  </a:extLst>
                </p:cNvPr>
                <p:cNvSpPr txBox="1"/>
                <p:nvPr/>
              </p:nvSpPr>
              <p:spPr>
                <a:xfrm>
                  <a:off x="2542254" y="4480056"/>
                  <a:ext cx="2895398" cy="800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vi-VN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CÂU</a:t>
                  </a:r>
                  <a:r>
                    <a:rPr lang="en-US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3</a:t>
                  </a:r>
                  <a:r>
                    <a:rPr lang="vi-VN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</a:t>
                  </a:r>
                  <a:endParaRPr lang="en-US" sz="46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74605736-4062-48B7-90A5-5915C724FB0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99" t="21515" r="9759" b="14519"/>
              <a:stretch/>
            </p:blipFill>
            <p:spPr>
              <a:xfrm>
                <a:off x="923003" y="3917552"/>
                <a:ext cx="1076356" cy="1040476"/>
              </a:xfrm>
              <a:prstGeom prst="round2DiagRect">
                <a:avLst>
                  <a:gd name="adj1" fmla="val 30509"/>
                  <a:gd name="adj2" fmla="val 0"/>
                </a:avLst>
              </a:prstGeom>
              <a:ln w="38100" cap="sq">
                <a:solidFill>
                  <a:srgbClr val="91720D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A1F8AF4-8999-4ECB-821A-877BA8BDFBD6}"/>
                  </a:ext>
                </a:extLst>
              </p:cNvPr>
              <p:cNvSpPr txBox="1"/>
              <p:nvPr/>
            </p:nvSpPr>
            <p:spPr>
              <a:xfrm>
                <a:off x="1743677" y="2503283"/>
                <a:ext cx="21765346" cy="15287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Cho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đoạn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I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thỏa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mãn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𝑰𝑩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𝑰𝑨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đây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mô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tả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thiết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này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A1F8AF4-8999-4ECB-821A-877BA8BDF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677" y="2503283"/>
                <a:ext cx="21765346" cy="1528752"/>
              </a:xfrm>
              <a:prstGeom prst="rect">
                <a:avLst/>
              </a:prstGeom>
              <a:blipFill>
                <a:blip r:embed="rId4"/>
                <a:stretch>
                  <a:fillRect l="-1120" t="-3200" b="-18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8439E4D-A79D-43E7-ACD0-D530140DAEC5}"/>
                  </a:ext>
                </a:extLst>
              </p:cNvPr>
              <p:cNvSpPr txBox="1"/>
              <p:nvPr/>
            </p:nvSpPr>
            <p:spPr>
              <a:xfrm>
                <a:off x="2235082" y="10043382"/>
                <a:ext cx="13538318" cy="8516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𝑰𝑩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𝑰𝑨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nằm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𝑰𝑩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𝑰𝑨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8439E4D-A79D-43E7-ACD0-D530140DA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082" y="10043382"/>
                <a:ext cx="13538318" cy="851643"/>
              </a:xfrm>
              <a:prstGeom prst="rect">
                <a:avLst/>
              </a:prstGeom>
              <a:blipFill>
                <a:blip r:embed="rId5"/>
                <a:stretch>
                  <a:fillRect l="-1846" t="-5755" b="-33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Hộp Văn bản 39">
            <a:extLst>
              <a:ext uri="{FF2B5EF4-FFF2-40B4-BE49-F238E27FC236}">
                <a16:creationId xmlns:a16="http://schemas.microsoft.com/office/drawing/2014/main" id="{46F3E21E-1440-45AB-B007-B92EF326D266}"/>
              </a:ext>
            </a:extLst>
          </p:cNvPr>
          <p:cNvSpPr txBox="1"/>
          <p:nvPr/>
        </p:nvSpPr>
        <p:spPr>
          <a:xfrm>
            <a:off x="10964565" y="11002266"/>
            <a:ext cx="304434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sz="44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</a:p>
        </p:txBody>
      </p:sp>
      <p:sp>
        <p:nvSpPr>
          <p:cNvPr id="41" name="TextBox 27">
            <a:extLst>
              <a:ext uri="{FF2B5EF4-FFF2-40B4-BE49-F238E27FC236}">
                <a16:creationId xmlns:a16="http://schemas.microsoft.com/office/drawing/2014/main" id="{60F5BA16-9407-44BC-AE74-BC3B45F03A00}"/>
              </a:ext>
            </a:extLst>
          </p:cNvPr>
          <p:cNvSpPr txBox="1"/>
          <p:nvPr/>
        </p:nvSpPr>
        <p:spPr>
          <a:xfrm>
            <a:off x="6180602" y="1328655"/>
            <a:ext cx="172799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>
                <a:solidFill>
                  <a:srgbClr val="145F82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BÀI TẬP TRẮC NGHIỆM CỦNG CỐ</a:t>
            </a:r>
          </a:p>
        </p:txBody>
      </p:sp>
      <p:grpSp>
        <p:nvGrpSpPr>
          <p:cNvPr id="32" name="Group 1">
            <a:extLst>
              <a:ext uri="{FF2B5EF4-FFF2-40B4-BE49-F238E27FC236}">
                <a16:creationId xmlns:a16="http://schemas.microsoft.com/office/drawing/2014/main" id="{EED2B8AA-CC03-4021-BEA9-7F79DFCB5FB1}"/>
              </a:ext>
            </a:extLst>
          </p:cNvPr>
          <p:cNvGrpSpPr/>
          <p:nvPr/>
        </p:nvGrpSpPr>
        <p:grpSpPr>
          <a:xfrm>
            <a:off x="783942" y="6054771"/>
            <a:ext cx="9960258" cy="1671800"/>
            <a:chOff x="12439525" y="4540909"/>
            <a:chExt cx="11277074" cy="1671800"/>
          </a:xfrm>
          <a:solidFill>
            <a:srgbClr val="398842"/>
          </a:solidFill>
        </p:grpSpPr>
        <p:grpSp>
          <p:nvGrpSpPr>
            <p:cNvPr id="33" name="Group 2">
              <a:extLst>
                <a:ext uri="{FF2B5EF4-FFF2-40B4-BE49-F238E27FC236}">
                  <a16:creationId xmlns:a16="http://schemas.microsoft.com/office/drawing/2014/main" id="{A0906E8B-ED5D-434A-B435-94F65F8F2E04}"/>
                </a:ext>
              </a:extLst>
            </p:cNvPr>
            <p:cNvGrpSpPr/>
            <p:nvPr/>
          </p:nvGrpSpPr>
          <p:grpSpPr>
            <a:xfrm>
              <a:off x="12439525" y="4540909"/>
              <a:ext cx="11277074" cy="1671800"/>
              <a:chOff x="6248168" y="2025161"/>
              <a:chExt cx="5638537" cy="835900"/>
            </a:xfrm>
            <a:grpFill/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669153AB-E935-4D9A-9CAB-9B7EE73CC39A}"/>
                  </a:ext>
                </a:extLst>
              </p:cNvPr>
              <p:cNvSpPr/>
              <p:nvPr/>
            </p:nvSpPr>
            <p:spPr>
              <a:xfrm>
                <a:off x="6544723" y="2025161"/>
                <a:ext cx="2468235" cy="835899"/>
              </a:xfrm>
              <a:prstGeom prst="rect">
                <a:avLst/>
              </a:prstGeom>
              <a:grpFill/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400" b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37" name="Oval 6">
                <a:extLst>
                  <a:ext uri="{FF2B5EF4-FFF2-40B4-BE49-F238E27FC236}">
                    <a16:creationId xmlns:a16="http://schemas.microsoft.com/office/drawing/2014/main" id="{CA2BD9B0-5F96-4614-9DA4-08BA40D953D8}"/>
                  </a:ext>
                </a:extLst>
              </p:cNvPr>
              <p:cNvSpPr/>
              <p:nvPr/>
            </p:nvSpPr>
            <p:spPr>
              <a:xfrm>
                <a:off x="6248168" y="2189805"/>
                <a:ext cx="603111" cy="540000"/>
              </a:xfrm>
              <a:prstGeom prst="ellipse">
                <a:avLst/>
              </a:prstGeom>
              <a:grpFill/>
              <a:ln w="571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</a:t>
                </a:r>
                <a:endParaRPr lang="en-US" sz="6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Rectangle 7">
                <a:extLst>
                  <a:ext uri="{FF2B5EF4-FFF2-40B4-BE49-F238E27FC236}">
                    <a16:creationId xmlns:a16="http://schemas.microsoft.com/office/drawing/2014/main" id="{CCB46617-16E9-4214-90BF-3D4C87005EB4}"/>
                  </a:ext>
                </a:extLst>
              </p:cNvPr>
              <p:cNvSpPr/>
              <p:nvPr/>
            </p:nvSpPr>
            <p:spPr>
              <a:xfrm>
                <a:off x="9418470" y="2025162"/>
                <a:ext cx="2468235" cy="835899"/>
              </a:xfrm>
              <a:prstGeom prst="rect">
                <a:avLst/>
              </a:prstGeom>
              <a:grpFill/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400" b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39" name="Oval 8">
                <a:extLst>
                  <a:ext uri="{FF2B5EF4-FFF2-40B4-BE49-F238E27FC236}">
                    <a16:creationId xmlns:a16="http://schemas.microsoft.com/office/drawing/2014/main" id="{42E04B30-AA73-42A9-9726-B95814CA26E3}"/>
                  </a:ext>
                </a:extLst>
              </p:cNvPr>
              <p:cNvSpPr/>
              <p:nvPr/>
            </p:nvSpPr>
            <p:spPr>
              <a:xfrm>
                <a:off x="9098992" y="2152849"/>
                <a:ext cx="540000" cy="540000"/>
              </a:xfrm>
              <a:prstGeom prst="ellipse">
                <a:avLst/>
              </a:prstGeom>
              <a:grpFill/>
              <a:ln w="571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</a:t>
                </a:r>
                <a:endParaRPr lang="en-US" sz="64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">
                  <a:extLst>
                    <a:ext uri="{FF2B5EF4-FFF2-40B4-BE49-F238E27FC236}">
                      <a16:creationId xmlns:a16="http://schemas.microsoft.com/office/drawing/2014/main" id="{48D20AA9-203C-4A53-B2AC-7962CF434D53}"/>
                    </a:ext>
                  </a:extLst>
                </p:cNvPr>
                <p:cNvSpPr/>
                <p:nvPr/>
              </p:nvSpPr>
              <p:spPr>
                <a:xfrm>
                  <a:off x="13685081" y="4959417"/>
                  <a:ext cx="3631577" cy="7694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4400" b="1" i="1" smtClean="0">
                            <a:solidFill>
                              <a:schemeClr val="bg1"/>
                            </a:solidFill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4400" b="1" i="1" smtClean="0">
                            <a:solidFill>
                              <a:schemeClr val="bg1"/>
                            </a:solidFill>
                          </a:rPr>
                          <m:t>ì</m:t>
                        </m:r>
                        <m:r>
                          <m:rPr>
                            <m:nor/>
                          </m:rPr>
                          <a:rPr lang="en-US" sz="4400" b="1" i="1" smtClean="0">
                            <a:solidFill>
                              <a:schemeClr val="bg1"/>
                            </a:solidFill>
                          </a:rPr>
                          <m:t>nh</m:t>
                        </m:r>
                        <m:r>
                          <m:rPr>
                            <m:nor/>
                          </m:rPr>
                          <a:rPr lang="en-US" sz="4400" b="1" i="1" smtClean="0">
                            <a:solidFill>
                              <a:schemeClr val="bg1"/>
                            </a:solidFill>
                          </a:rPr>
                          <m:t> 3</m:t>
                        </m:r>
                        <m:r>
                          <m:rPr>
                            <m:nor/>
                          </m:rPr>
                          <a:rPr lang="en-US" sz="4400" smtClean="0">
                            <a:solidFill>
                              <a:schemeClr val="bg1"/>
                            </a:solidFill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4" name="Rectangle 3">
                  <a:extLst>
                    <a:ext uri="{FF2B5EF4-FFF2-40B4-BE49-F238E27FC236}">
                      <a16:creationId xmlns:a16="http://schemas.microsoft.com/office/drawing/2014/main" id="{48D20AA9-203C-4A53-B2AC-7962CF434D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85081" y="4959417"/>
                  <a:ext cx="3631577" cy="76944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Oval 14">
            <a:extLst>
              <a:ext uri="{FF2B5EF4-FFF2-40B4-BE49-F238E27FC236}">
                <a16:creationId xmlns:a16="http://schemas.microsoft.com/office/drawing/2014/main" id="{6C34D813-0347-4E7A-82BB-FBFAB0D6ACF2}"/>
              </a:ext>
            </a:extLst>
          </p:cNvPr>
          <p:cNvSpPr/>
          <p:nvPr/>
        </p:nvSpPr>
        <p:spPr>
          <a:xfrm>
            <a:off x="5756757" y="6295487"/>
            <a:ext cx="1080000" cy="108000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D</a:t>
            </a:r>
            <a:endParaRPr lang="en-US" sz="6400" dirty="0"/>
          </a:p>
        </p:txBody>
      </p:sp>
      <p:sp>
        <p:nvSpPr>
          <p:cNvPr id="43" name="Rectangle 27">
            <a:extLst>
              <a:ext uri="{FF2B5EF4-FFF2-40B4-BE49-F238E27FC236}">
                <a16:creationId xmlns:a16="http://schemas.microsoft.com/office/drawing/2014/main" id="{2864472E-C1AD-4F84-9AAA-397BA25FF3B1}"/>
              </a:ext>
            </a:extLst>
          </p:cNvPr>
          <p:cNvSpPr/>
          <p:nvPr/>
        </p:nvSpPr>
        <p:spPr>
          <a:xfrm>
            <a:off x="6414300" y="4278928"/>
            <a:ext cx="4360042" cy="1500400"/>
          </a:xfrm>
          <a:prstGeom prst="rect">
            <a:avLst/>
          </a:prstGeom>
          <a:solidFill>
            <a:srgbClr val="398842"/>
          </a:solidFill>
          <a:ln w="190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400" b="1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4" name="Rectangle 29">
            <a:extLst>
              <a:ext uri="{FF2B5EF4-FFF2-40B4-BE49-F238E27FC236}">
                <a16:creationId xmlns:a16="http://schemas.microsoft.com/office/drawing/2014/main" id="{D1A3CD29-7248-4F67-ABFD-AF30000CF71A}"/>
              </a:ext>
            </a:extLst>
          </p:cNvPr>
          <p:cNvSpPr/>
          <p:nvPr/>
        </p:nvSpPr>
        <p:spPr>
          <a:xfrm>
            <a:off x="1409546" y="4278928"/>
            <a:ext cx="4251529" cy="1500400"/>
          </a:xfrm>
          <a:prstGeom prst="rect">
            <a:avLst/>
          </a:prstGeom>
          <a:solidFill>
            <a:srgbClr val="398842"/>
          </a:solidFill>
          <a:ln w="190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400" b="1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5" name="Oval 30">
            <a:extLst>
              <a:ext uri="{FF2B5EF4-FFF2-40B4-BE49-F238E27FC236}">
                <a16:creationId xmlns:a16="http://schemas.microsoft.com/office/drawing/2014/main" id="{CA64554C-FEAE-4A5C-983A-F865DD26D0FE}"/>
              </a:ext>
            </a:extLst>
          </p:cNvPr>
          <p:cNvSpPr/>
          <p:nvPr/>
        </p:nvSpPr>
        <p:spPr>
          <a:xfrm>
            <a:off x="693127" y="4436114"/>
            <a:ext cx="1080000" cy="1080000"/>
          </a:xfrm>
          <a:prstGeom prst="ellipse">
            <a:avLst/>
          </a:prstGeom>
          <a:solidFill>
            <a:srgbClr val="327E3B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6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endParaRPr lang="en-US" sz="6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3">
                <a:extLst>
                  <a:ext uri="{FF2B5EF4-FFF2-40B4-BE49-F238E27FC236}">
                    <a16:creationId xmlns:a16="http://schemas.microsoft.com/office/drawing/2014/main" id="{79360EA1-9D0E-4994-B470-6F98CDA422E8}"/>
                  </a:ext>
                </a:extLst>
              </p:cNvPr>
              <p:cNvSpPr/>
              <p:nvPr/>
            </p:nvSpPr>
            <p:spPr>
              <a:xfrm>
                <a:off x="1672026" y="4614283"/>
                <a:ext cx="3631577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H</m:t>
                      </m:r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ì</m:t>
                      </m:r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nh</m:t>
                      </m:r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 1</m:t>
                      </m:r>
                      <m:r>
                        <m:rPr>
                          <m:nor/>
                        </m:rPr>
                        <a:rPr lang="en-US" sz="4400" smtClean="0">
                          <a:solidFill>
                            <a:schemeClr val="bg1"/>
                          </a:solidFill>
                        </a:rPr>
                        <m:t>.</m:t>
                      </m:r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7" name="Rectangle 3">
                <a:extLst>
                  <a:ext uri="{FF2B5EF4-FFF2-40B4-BE49-F238E27FC236}">
                    <a16:creationId xmlns:a16="http://schemas.microsoft.com/office/drawing/2014/main" id="{79360EA1-9D0E-4994-B470-6F98CDA422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2026" y="4614283"/>
                <a:ext cx="3631577" cy="7694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3">
                <a:extLst>
                  <a:ext uri="{FF2B5EF4-FFF2-40B4-BE49-F238E27FC236}">
                    <a16:creationId xmlns:a16="http://schemas.microsoft.com/office/drawing/2014/main" id="{8A4F9C55-C2A9-4201-A516-CCC18B7F6D56}"/>
                  </a:ext>
                </a:extLst>
              </p:cNvPr>
              <p:cNvSpPr/>
              <p:nvPr/>
            </p:nvSpPr>
            <p:spPr>
              <a:xfrm>
                <a:off x="6851836" y="4669302"/>
                <a:ext cx="3631577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H</m:t>
                      </m:r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ì</m:t>
                      </m:r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nh</m:t>
                      </m:r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4400" b="1" i="0" smtClean="0">
                          <a:solidFill>
                            <a:schemeClr val="bg1"/>
                          </a:solidFill>
                        </a:rPr>
                        <m:t>2</m:t>
                      </m:r>
                      <m:r>
                        <m:rPr>
                          <m:nor/>
                        </m:rPr>
                        <a:rPr lang="en-US" sz="4400" smtClean="0">
                          <a:solidFill>
                            <a:schemeClr val="bg1"/>
                          </a:solidFill>
                        </a:rPr>
                        <m:t>.</m:t>
                      </m:r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8" name="Rectangle 3">
                <a:extLst>
                  <a:ext uri="{FF2B5EF4-FFF2-40B4-BE49-F238E27FC236}">
                    <a16:creationId xmlns:a16="http://schemas.microsoft.com/office/drawing/2014/main" id="{8A4F9C55-C2A9-4201-A516-CCC18B7F6D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1836" y="4669302"/>
                <a:ext cx="3631577" cy="7694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3">
                <a:extLst>
                  <a:ext uri="{FF2B5EF4-FFF2-40B4-BE49-F238E27FC236}">
                    <a16:creationId xmlns:a16="http://schemas.microsoft.com/office/drawing/2014/main" id="{9C3D85FF-EA70-4546-B8CE-C8C9EE4AF2FB}"/>
                  </a:ext>
                </a:extLst>
              </p:cNvPr>
              <p:cNvSpPr/>
              <p:nvPr/>
            </p:nvSpPr>
            <p:spPr>
              <a:xfrm>
                <a:off x="6899813" y="6377387"/>
                <a:ext cx="3631577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H</m:t>
                      </m:r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ì</m:t>
                      </m:r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nh</m:t>
                      </m:r>
                      <m:r>
                        <m:rPr>
                          <m:nor/>
                        </m:rPr>
                        <a:rPr lang="en-US" sz="4400" b="1" i="1" smtClean="0">
                          <a:solidFill>
                            <a:schemeClr val="bg1"/>
                          </a:solidFill>
                        </a:rPr>
                        <m:t> 4</m:t>
                      </m:r>
                      <m:r>
                        <m:rPr>
                          <m:nor/>
                        </m:rPr>
                        <a:rPr lang="en-US" sz="4400" smtClean="0">
                          <a:solidFill>
                            <a:schemeClr val="bg1"/>
                          </a:solidFill>
                        </a:rPr>
                        <m:t>.</m:t>
                      </m:r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9" name="Rectangle 3">
                <a:extLst>
                  <a:ext uri="{FF2B5EF4-FFF2-40B4-BE49-F238E27FC236}">
                    <a16:creationId xmlns:a16="http://schemas.microsoft.com/office/drawing/2014/main" id="{9C3D85FF-EA70-4546-B8CE-C8C9EE4AF2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813" y="6377387"/>
                <a:ext cx="3631577" cy="7694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28">
            <a:extLst>
              <a:ext uri="{FF2B5EF4-FFF2-40B4-BE49-F238E27FC236}">
                <a16:creationId xmlns:a16="http://schemas.microsoft.com/office/drawing/2014/main" id="{F1301F7D-7FC6-498D-A4CC-DC47A9B7D9A6}"/>
              </a:ext>
            </a:extLst>
          </p:cNvPr>
          <p:cNvSpPr/>
          <p:nvPr/>
        </p:nvSpPr>
        <p:spPr>
          <a:xfrm>
            <a:off x="5771836" y="4499562"/>
            <a:ext cx="1080000" cy="1080000"/>
          </a:xfrm>
          <a:prstGeom prst="ellipse">
            <a:avLst/>
          </a:prstGeom>
          <a:solidFill>
            <a:srgbClr val="327E3B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6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endParaRPr lang="en-US" sz="6400" dirty="0"/>
          </a:p>
        </p:txBody>
      </p:sp>
      <p:pic>
        <p:nvPicPr>
          <p:cNvPr id="35" name="Picture 258">
            <a:extLst>
              <a:ext uri="{FF2B5EF4-FFF2-40B4-BE49-F238E27FC236}">
                <a16:creationId xmlns:a16="http://schemas.microsoft.com/office/drawing/2014/main" id="{89EE47E7-31BA-4F50-B619-E70CA6F4039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8972" y="4241894"/>
            <a:ext cx="12930196" cy="341969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Rounded Rectangle 65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2398564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0" grpId="0"/>
      <p:bldP spid="40" grpId="0"/>
      <p:bldP spid="42" grpId="0" animBg="1"/>
      <p:bldP spid="43" grpId="0" animBg="1"/>
      <p:bldP spid="44" grpId="0" animBg="1"/>
      <p:bldP spid="45" grpId="0" animBg="1"/>
      <p:bldP spid="47" grpId="0"/>
      <p:bldP spid="48" grpId="0"/>
      <p:bldP spid="49" grpId="0"/>
      <p:bldP spid="5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EB82AE6-AEC7-471B-B78A-1191782FE5EE}"/>
              </a:ext>
            </a:extLst>
          </p:cNvPr>
          <p:cNvGrpSpPr/>
          <p:nvPr/>
        </p:nvGrpSpPr>
        <p:grpSpPr>
          <a:xfrm>
            <a:off x="-2" y="8749610"/>
            <a:ext cx="23500172" cy="3537370"/>
            <a:chOff x="48567" y="4381495"/>
            <a:chExt cx="23018772" cy="4864954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8EC90793-DF17-4A07-A5D2-DB94D58C8AE3}"/>
                </a:ext>
              </a:extLst>
            </p:cNvPr>
            <p:cNvSpPr/>
            <p:nvPr/>
          </p:nvSpPr>
          <p:spPr>
            <a:xfrm>
              <a:off x="842663" y="4941556"/>
              <a:ext cx="22224676" cy="4304893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400" b="1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562FFBD-FE77-4735-B718-FA3371130E3F}"/>
                </a:ext>
              </a:extLst>
            </p:cNvPr>
            <p:cNvGrpSpPr/>
            <p:nvPr/>
          </p:nvGrpSpPr>
          <p:grpSpPr>
            <a:xfrm>
              <a:off x="48567" y="4381495"/>
              <a:ext cx="3991939" cy="1485320"/>
              <a:chOff x="410517" y="4648195"/>
              <a:chExt cx="3991939" cy="1485320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3133C863-4078-4B8D-9552-4D4B3BE93052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161593" y="3892652"/>
                <a:ext cx="1485320" cy="2996406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4400" b="1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546F6A-11D8-4A99-9EB4-C5D65E0A2719}"/>
                  </a:ext>
                </a:extLst>
              </p:cNvPr>
              <p:cNvSpPr txBox="1"/>
              <p:nvPr/>
            </p:nvSpPr>
            <p:spPr>
              <a:xfrm>
                <a:off x="1406053" y="4732064"/>
                <a:ext cx="2872839" cy="1058214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400" b="1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6F515284-21E0-44AF-AAEA-E1929AD3468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1"/>
                <a:ext cx="1058948" cy="1485314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DA79702-BC73-45DD-8B0D-06F87A7F6834}"/>
              </a:ext>
            </a:extLst>
          </p:cNvPr>
          <p:cNvGrpSpPr/>
          <p:nvPr/>
        </p:nvGrpSpPr>
        <p:grpSpPr>
          <a:xfrm>
            <a:off x="460997" y="4798635"/>
            <a:ext cx="22999594" cy="1234536"/>
            <a:chOff x="241306" y="2243792"/>
            <a:chExt cx="11499797" cy="617268"/>
          </a:xfrm>
          <a:solidFill>
            <a:srgbClr val="327E3B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FB0C42A7-D65C-4CAC-9A0D-3A94CCB1A1A2}"/>
                    </a:ext>
                  </a:extLst>
                </p:cNvPr>
                <p:cNvSpPr/>
                <p:nvPr/>
              </p:nvSpPr>
              <p:spPr>
                <a:xfrm>
                  <a:off x="6637226" y="2243792"/>
                  <a:ext cx="5103877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Hai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vect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ơ </m:t>
                        </m:r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 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acc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  </m:t>
                        </m:r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à 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ng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ượ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ướ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ng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FB0C42A7-D65C-4CAC-9A0D-3A94CCB1A1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7226" y="2243792"/>
                  <a:ext cx="5103877" cy="61726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74B8A5C-5EC7-4D8A-A650-84DAC943F49E}"/>
                </a:ext>
              </a:extLst>
            </p:cNvPr>
            <p:cNvSpPr/>
            <p:nvPr/>
          </p:nvSpPr>
          <p:spPr>
            <a:xfrm>
              <a:off x="6254178" y="2279571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3619AB8-54F6-481A-B57C-7747834DD824}"/>
                    </a:ext>
                  </a:extLst>
                </p:cNvPr>
                <p:cNvSpPr/>
                <p:nvPr/>
              </p:nvSpPr>
              <p:spPr>
                <a:xfrm>
                  <a:off x="531851" y="2243792"/>
                  <a:ext cx="5044541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4400" b="1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   Hai </a:t>
                  </a:r>
                  <a:r>
                    <a:rPr lang="en-US" sz="4400" b="1" dirty="0" err="1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vectơ</a:t>
                  </a:r>
                  <a:r>
                    <a:rPr lang="en-US" sz="4400" b="1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4400" b="1" i="1">
                          <a:latin typeface="Cambria Math" panose="02040503050406030204" pitchFamily="18" charset="0"/>
                        </a:rPr>
                        <m:t> 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  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𝒗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à 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acc>
                    </m:oMath>
                  </a14:m>
                  <a:r>
                    <a:rPr lang="en-US" sz="4400" b="1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US" sz="4400" b="1" dirty="0" err="1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bằng</a:t>
                  </a:r>
                  <a:r>
                    <a:rPr lang="en-US" sz="4400" b="1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US" sz="4400" b="1" dirty="0" err="1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nhau</a:t>
                  </a:r>
                  <a:r>
                    <a:rPr lang="en-US" sz="4400" b="1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.</a:t>
                  </a:r>
                  <a:endParaRPr lang="en-US" sz="4400" b="1" dirty="0">
                    <a:solidFill>
                      <a:prstClr val="white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3619AB8-54F6-481A-B57C-7747834DD8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851" y="2243792"/>
                  <a:ext cx="5044541" cy="617268"/>
                </a:xfrm>
                <a:prstGeom prst="rect">
                  <a:avLst/>
                </a:prstGeom>
                <a:blipFill>
                  <a:blip r:embed="rId4"/>
                  <a:stretch>
                    <a:fillRect b="-5687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FD56429-64B0-4D11-A1D9-849C0D79D914}"/>
                </a:ext>
              </a:extLst>
            </p:cNvPr>
            <p:cNvSpPr/>
            <p:nvPr/>
          </p:nvSpPr>
          <p:spPr>
            <a:xfrm>
              <a:off x="241306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A230B1-3214-42A4-BF48-E31182151FA4}"/>
              </a:ext>
            </a:extLst>
          </p:cNvPr>
          <p:cNvGrpSpPr/>
          <p:nvPr/>
        </p:nvGrpSpPr>
        <p:grpSpPr>
          <a:xfrm>
            <a:off x="141340" y="1905000"/>
            <a:ext cx="23943880" cy="2506966"/>
            <a:chOff x="923003" y="3917552"/>
            <a:chExt cx="23943880" cy="2506965"/>
          </a:xfrm>
        </p:grpSpPr>
        <p:sp>
          <p:nvSpPr>
            <p:cNvPr id="15" name="Rounded Rectangle 41">
              <a:extLst>
                <a:ext uri="{FF2B5EF4-FFF2-40B4-BE49-F238E27FC236}">
                  <a16:creationId xmlns:a16="http://schemas.microsoft.com/office/drawing/2014/main" id="{8EE06E5B-F42B-4A33-B714-81E567F4D072}"/>
                </a:ext>
              </a:extLst>
            </p:cNvPr>
            <p:cNvSpPr/>
            <p:nvPr/>
          </p:nvSpPr>
          <p:spPr>
            <a:xfrm>
              <a:off x="1272211" y="4426857"/>
              <a:ext cx="23594672" cy="1997660"/>
            </a:xfrm>
            <a:prstGeom prst="roundRect">
              <a:avLst>
                <a:gd name="adj" fmla="val 10158"/>
              </a:avLst>
            </a:prstGeom>
            <a:solidFill>
              <a:srgbClr val="FEEBB0"/>
            </a:solidFill>
            <a:ln w="12700">
              <a:solidFill>
                <a:srgbClr val="91720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                 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493BF6-34C0-45F2-8FB7-B7F144687DAE}"/>
                </a:ext>
              </a:extLst>
            </p:cNvPr>
            <p:cNvGrpSpPr/>
            <p:nvPr/>
          </p:nvGrpSpPr>
          <p:grpSpPr>
            <a:xfrm>
              <a:off x="923003" y="3917552"/>
              <a:ext cx="4029041" cy="1040476"/>
              <a:chOff x="923003" y="3917552"/>
              <a:chExt cx="4029041" cy="1040476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845F444A-634F-41D3-8BAE-FDC1B3FD945C}"/>
                  </a:ext>
                </a:extLst>
              </p:cNvPr>
              <p:cNvGrpSpPr/>
              <p:nvPr/>
            </p:nvGrpSpPr>
            <p:grpSpPr>
              <a:xfrm>
                <a:off x="1448984" y="4075060"/>
                <a:ext cx="3503060" cy="882966"/>
                <a:chOff x="2115734" y="4437010"/>
                <a:chExt cx="3503060" cy="882966"/>
              </a:xfrm>
            </p:grpSpPr>
            <p:sp>
              <p:nvSpPr>
                <p:cNvPr id="19" name="Freeform 20">
                  <a:extLst>
                    <a:ext uri="{FF2B5EF4-FFF2-40B4-BE49-F238E27FC236}">
                      <a16:creationId xmlns:a16="http://schemas.microsoft.com/office/drawing/2014/main" id="{C202490D-5AF0-419F-9F35-52A4057497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3425781" y="3126963"/>
                  <a:ext cx="882966" cy="3503060"/>
                </a:xfrm>
                <a:prstGeom prst="round2SameRect">
                  <a:avLst>
                    <a:gd name="adj1" fmla="val 19445"/>
                    <a:gd name="adj2" fmla="val 0"/>
                  </a:avLst>
                </a:prstGeom>
                <a:solidFill>
                  <a:srgbClr val="FFF9BC"/>
                </a:solidFill>
                <a:ln w="57150">
                  <a:solidFill>
                    <a:srgbClr val="91720D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B483DCE-626C-42FE-8324-5C1C5BBDC4E1}"/>
                    </a:ext>
                  </a:extLst>
                </p:cNvPr>
                <p:cNvSpPr txBox="1"/>
                <p:nvPr/>
              </p:nvSpPr>
              <p:spPr>
                <a:xfrm>
                  <a:off x="2542254" y="4480056"/>
                  <a:ext cx="2895398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vi-VN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CÂU</a:t>
                  </a:r>
                  <a:r>
                    <a:rPr lang="en-US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4</a:t>
                  </a:r>
                  <a:r>
                    <a:rPr lang="vi-VN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</a:t>
                  </a:r>
                  <a:endParaRPr lang="en-US" sz="44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74605736-4062-48B7-90A5-5915C724FB0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99" t="21515" r="9759" b="14519"/>
              <a:stretch/>
            </p:blipFill>
            <p:spPr>
              <a:xfrm>
                <a:off x="923003" y="3917552"/>
                <a:ext cx="1076356" cy="1040476"/>
              </a:xfrm>
              <a:prstGeom prst="round2DiagRect">
                <a:avLst>
                  <a:gd name="adj1" fmla="val 30509"/>
                  <a:gd name="adj2" fmla="val 0"/>
                </a:avLst>
              </a:prstGeom>
              <a:ln w="38100" cap="sq">
                <a:solidFill>
                  <a:srgbClr val="91720D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A1F8AF4-8999-4ECB-821A-877BA8BDFBD6}"/>
                  </a:ext>
                </a:extLst>
              </p:cNvPr>
              <p:cNvSpPr txBox="1"/>
              <p:nvPr/>
            </p:nvSpPr>
            <p:spPr>
              <a:xfrm>
                <a:off x="3704157" y="2815379"/>
                <a:ext cx="20471634" cy="869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  <m:r>
                      <m:rPr>
                        <m:nor/>
                      </m:rPr>
                      <a:rPr lang="en-US" sz="4400" b="1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 , 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Khẳng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đây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sai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A1F8AF4-8999-4ECB-821A-877BA8BDF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4157" y="2815379"/>
                <a:ext cx="20471634" cy="869597"/>
              </a:xfrm>
              <a:prstGeom prst="rect">
                <a:avLst/>
              </a:prstGeom>
              <a:blipFill>
                <a:blip r:embed="rId6"/>
                <a:stretch>
                  <a:fillRect l="-1221" t="-4225" b="-32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2783BFEB-9740-48FE-B28E-C14846D0132C}"/>
              </a:ext>
            </a:extLst>
          </p:cNvPr>
          <p:cNvGrpSpPr/>
          <p:nvPr/>
        </p:nvGrpSpPr>
        <p:grpSpPr>
          <a:xfrm>
            <a:off x="487414" y="6734653"/>
            <a:ext cx="22973176" cy="1234536"/>
            <a:chOff x="6254178" y="2243792"/>
            <a:chExt cx="11486588" cy="617268"/>
          </a:xfrm>
          <a:solidFill>
            <a:srgbClr val="327E3B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5B1821F2-040F-4C1E-8FCA-A1688ADC3066}"/>
                    </a:ext>
                  </a:extLst>
                </p:cNvPr>
                <p:cNvSpPr/>
                <p:nvPr/>
              </p:nvSpPr>
              <p:spPr>
                <a:xfrm>
                  <a:off x="6524178" y="2243792"/>
                  <a:ext cx="5103877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Hai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vect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ơ 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 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 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à 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ù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ng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ph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ươ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ng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prstClr val="white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5B1821F2-040F-4C1E-8FCA-A1688ADC30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4178" y="2243792"/>
                  <a:ext cx="5103877" cy="61726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BC53347-A8CE-4D55-A636-9686BCF162F3}"/>
                </a:ext>
              </a:extLst>
            </p:cNvPr>
            <p:cNvSpPr/>
            <p:nvPr/>
          </p:nvSpPr>
          <p:spPr>
            <a:xfrm>
              <a:off x="6254178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30667F9-116D-4633-ACCD-1123DFE5C4E3}"/>
                    </a:ext>
                  </a:extLst>
                </p:cNvPr>
                <p:cNvSpPr/>
                <p:nvPr/>
              </p:nvSpPr>
              <p:spPr>
                <a:xfrm>
                  <a:off x="12636889" y="2243792"/>
                  <a:ext cx="5103877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4400" b="1" dirty="0"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4400" b="1" i="0" smtClean="0"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  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Hai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vect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ơ 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 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  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𝒗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à 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acc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đố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nhau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.</m:t>
                      </m:r>
                    </m:oMath>
                  </a14:m>
                  <a:endPara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30667F9-116D-4633-ACCD-1123DFE5C4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36889" y="2243792"/>
                  <a:ext cx="5103877" cy="61726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6C226C6-5EFF-4660-AA38-79138F2EDB2B}"/>
                </a:ext>
              </a:extLst>
            </p:cNvPr>
            <p:cNvSpPr/>
            <p:nvPr/>
          </p:nvSpPr>
          <p:spPr>
            <a:xfrm>
              <a:off x="12236701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40" name="Hộp Văn bản 39">
            <a:extLst>
              <a:ext uri="{FF2B5EF4-FFF2-40B4-BE49-F238E27FC236}">
                <a16:creationId xmlns:a16="http://schemas.microsoft.com/office/drawing/2014/main" id="{46F3E21E-1440-45AB-B007-B92EF326D266}"/>
              </a:ext>
            </a:extLst>
          </p:cNvPr>
          <p:cNvSpPr txBox="1"/>
          <p:nvPr/>
        </p:nvSpPr>
        <p:spPr>
          <a:xfrm>
            <a:off x="10964565" y="11002266"/>
            <a:ext cx="304434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sz="4400" b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</a:t>
            </a:r>
            <a:endParaRPr lang="en-US" sz="4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Oval 12">
            <a:extLst>
              <a:ext uri="{FF2B5EF4-FFF2-40B4-BE49-F238E27FC236}">
                <a16:creationId xmlns:a16="http://schemas.microsoft.com/office/drawing/2014/main" id="{60D29733-FE4D-4B2C-96D6-F5867E1C3FE0}"/>
              </a:ext>
            </a:extLst>
          </p:cNvPr>
          <p:cNvSpPr/>
          <p:nvPr/>
        </p:nvSpPr>
        <p:spPr>
          <a:xfrm>
            <a:off x="488731" y="6858000"/>
            <a:ext cx="1053478" cy="106776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</a:t>
            </a:r>
            <a:endParaRPr lang="en-US" sz="4400" b="1" dirty="0">
              <a:solidFill>
                <a:prstClr val="white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Hộp Văn bản 41">
                <a:extLst>
                  <a:ext uri="{FF2B5EF4-FFF2-40B4-BE49-F238E27FC236}">
                    <a16:creationId xmlns:a16="http://schemas.microsoft.com/office/drawing/2014/main" id="{96790774-4474-4478-B0B7-5A2A0B690B4D}"/>
                  </a:ext>
                </a:extLst>
              </p:cNvPr>
              <p:cNvSpPr txBox="1"/>
              <p:nvPr/>
            </p:nvSpPr>
            <p:spPr>
              <a:xfrm>
                <a:off x="4281071" y="9245945"/>
                <a:ext cx="17373600" cy="232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ì 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𝟐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, 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𝟐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=−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</m:oMath>
                  </m:oMathPara>
                </a14:m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Do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đó: 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Hai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vect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ơ 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 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  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𝒗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à 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acc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ằ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ng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nhau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à 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kh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ẳ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ng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đị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nh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sai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.</m:t>
                      </m:r>
                    </m:oMath>
                  </m:oMathPara>
                </a14:m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2" name="Hộp Văn bản 41">
                <a:extLst>
                  <a:ext uri="{FF2B5EF4-FFF2-40B4-BE49-F238E27FC236}">
                    <a16:creationId xmlns:a16="http://schemas.microsoft.com/office/drawing/2014/main" id="{96790774-4474-4478-B0B7-5A2A0B690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1071" y="9245945"/>
                <a:ext cx="17373600" cy="23249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ounded Rectangle 43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9046660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0" grpId="0"/>
      <p:bldP spid="37" grpId="0" animBg="1"/>
      <p:bldP spid="4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313519-0C89-483D-A08E-CF6067282148}"/>
              </a:ext>
            </a:extLst>
          </p:cNvPr>
          <p:cNvGrpSpPr/>
          <p:nvPr/>
        </p:nvGrpSpPr>
        <p:grpSpPr>
          <a:xfrm>
            <a:off x="141341" y="7267711"/>
            <a:ext cx="23862374" cy="5716250"/>
            <a:chOff x="48567" y="4381499"/>
            <a:chExt cx="23018772" cy="5716249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5B1AB244-3D78-416D-AEF1-35CC4562B7A3}"/>
                </a:ext>
              </a:extLst>
            </p:cNvPr>
            <p:cNvSpPr/>
            <p:nvPr/>
          </p:nvSpPr>
          <p:spPr>
            <a:xfrm>
              <a:off x="385312" y="4941556"/>
              <a:ext cx="22682027" cy="5156192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400" b="1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FC852D-338F-4593-BDAE-4432C24EAC82}"/>
                </a:ext>
              </a:extLst>
            </p:cNvPr>
            <p:cNvGrpSpPr/>
            <p:nvPr/>
          </p:nvGrpSpPr>
          <p:grpSpPr>
            <a:xfrm>
              <a:off x="48567" y="4381499"/>
              <a:ext cx="3991940" cy="1079474"/>
              <a:chOff x="410517" y="4648199"/>
              <a:chExt cx="3991940" cy="1079474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20085AD8-BD87-4A35-B6D4-9AE383128185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421084" y="3633167"/>
                <a:ext cx="966341" cy="2996405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4400" b="1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C0313-9358-457E-845F-D4B035AC31D3}"/>
                  </a:ext>
                </a:extLst>
              </p:cNvPr>
              <p:cNvSpPr txBox="1"/>
              <p:nvPr/>
            </p:nvSpPr>
            <p:spPr>
              <a:xfrm>
                <a:off x="1406054" y="4732063"/>
                <a:ext cx="2872839" cy="76944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400" b="1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B75B5B9-D442-4C6E-96A9-9A573FE06D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0"/>
                <a:ext cx="1058947" cy="1079473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A8B4DB7-EFF8-4AF8-B0FA-839D4C447E82}"/>
              </a:ext>
            </a:extLst>
          </p:cNvPr>
          <p:cNvGrpSpPr/>
          <p:nvPr/>
        </p:nvGrpSpPr>
        <p:grpSpPr>
          <a:xfrm>
            <a:off x="620483" y="5105400"/>
            <a:ext cx="23556178" cy="1234536"/>
            <a:chOff x="241306" y="2243792"/>
            <a:chExt cx="11778089" cy="617268"/>
          </a:xfrm>
          <a:solidFill>
            <a:srgbClr val="327E3B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/>
                <p:nvPr/>
              </p:nvSpPr>
              <p:spPr>
                <a:xfrm>
                  <a:off x="3538287" y="2243792"/>
                  <a:ext cx="2599614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𝑨𝑶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prstClr val="white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8287" y="2243792"/>
                  <a:ext cx="2599614" cy="61726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78679C-83F1-4149-AB69-2BCAF6D951FA}"/>
                </a:ext>
              </a:extLst>
            </p:cNvPr>
            <p:cNvSpPr/>
            <p:nvPr/>
          </p:nvSpPr>
          <p:spPr>
            <a:xfrm>
              <a:off x="3247742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/>
                <p:nvPr/>
              </p:nvSpPr>
              <p:spPr>
                <a:xfrm>
                  <a:off x="531851" y="2243792"/>
                  <a:ext cx="2599614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𝑶𝑩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𝑶𝑫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𝑶𝑩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prstClr val="white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851" y="2243792"/>
                  <a:ext cx="2599614" cy="61726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8947F5-5540-4A85-BACE-6641A507F5A0}"/>
                </a:ext>
              </a:extLst>
            </p:cNvPr>
            <p:cNvSpPr/>
            <p:nvPr/>
          </p:nvSpPr>
          <p:spPr>
            <a:xfrm>
              <a:off x="241306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/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𝑪𝑩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𝑪𝑫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𝑪𝑨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7BF74FF-3652-4371-9E0B-A97FA806BC48}"/>
                </a:ext>
              </a:extLst>
            </p:cNvPr>
            <p:cNvSpPr/>
            <p:nvPr/>
          </p:nvSpPr>
          <p:spPr>
            <a:xfrm>
              <a:off x="6254178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/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𝑫𝑩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𝑩𝑶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vi-VN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B907C0F-6FC4-4852-8CFD-AD2FACA13C7F}"/>
                </a:ext>
              </a:extLst>
            </p:cNvPr>
            <p:cNvSpPr/>
            <p:nvPr/>
          </p:nvSpPr>
          <p:spPr>
            <a:xfrm>
              <a:off x="9260615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3AF6DD6E-C69C-4024-A5BF-FE21EA5DD223}"/>
              </a:ext>
            </a:extLst>
          </p:cNvPr>
          <p:cNvSpPr/>
          <p:nvPr/>
        </p:nvSpPr>
        <p:spPr>
          <a:xfrm>
            <a:off x="18659101" y="5208432"/>
            <a:ext cx="1080000" cy="108000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</a:t>
            </a:r>
            <a:endParaRPr lang="en-US" sz="44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06450E-ACA8-42F7-B878-4360BA0CBA71}"/>
              </a:ext>
            </a:extLst>
          </p:cNvPr>
          <p:cNvGrpSpPr/>
          <p:nvPr/>
        </p:nvGrpSpPr>
        <p:grpSpPr>
          <a:xfrm>
            <a:off x="59835" y="1935874"/>
            <a:ext cx="23888416" cy="2864726"/>
            <a:chOff x="923003" y="3917552"/>
            <a:chExt cx="23888416" cy="2572278"/>
          </a:xfrm>
        </p:grpSpPr>
        <p:sp>
          <p:nvSpPr>
            <p:cNvPr id="19" name="Rounded Rectangle 41">
              <a:extLst>
                <a:ext uri="{FF2B5EF4-FFF2-40B4-BE49-F238E27FC236}">
                  <a16:creationId xmlns:a16="http://schemas.microsoft.com/office/drawing/2014/main" id="{CC866FB0-B137-49F3-A47E-0B1A18FC432E}"/>
                </a:ext>
              </a:extLst>
            </p:cNvPr>
            <p:cNvSpPr/>
            <p:nvPr/>
          </p:nvSpPr>
          <p:spPr>
            <a:xfrm>
              <a:off x="1216747" y="4597669"/>
              <a:ext cx="23594672" cy="1892161"/>
            </a:xfrm>
            <a:prstGeom prst="roundRect">
              <a:avLst>
                <a:gd name="adj" fmla="val 10158"/>
              </a:avLst>
            </a:prstGeom>
            <a:solidFill>
              <a:srgbClr val="FEEBB0"/>
            </a:solidFill>
            <a:ln w="12700">
              <a:solidFill>
                <a:srgbClr val="91720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                 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1E96746-B33C-4D41-836E-CA7E0074841E}"/>
                </a:ext>
              </a:extLst>
            </p:cNvPr>
            <p:cNvGrpSpPr/>
            <p:nvPr/>
          </p:nvGrpSpPr>
          <p:grpSpPr>
            <a:xfrm>
              <a:off x="923003" y="3917552"/>
              <a:ext cx="3942102" cy="1040476"/>
              <a:chOff x="923003" y="3917552"/>
              <a:chExt cx="3942102" cy="104047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719E236-B0D7-442E-8A08-3228625765BF}"/>
                  </a:ext>
                </a:extLst>
              </p:cNvPr>
              <p:cNvGrpSpPr/>
              <p:nvPr/>
            </p:nvGrpSpPr>
            <p:grpSpPr>
              <a:xfrm>
                <a:off x="1362045" y="4022855"/>
                <a:ext cx="3503060" cy="865576"/>
                <a:chOff x="2028795" y="4384805"/>
                <a:chExt cx="3503060" cy="865576"/>
              </a:xfrm>
            </p:grpSpPr>
            <p:sp>
              <p:nvSpPr>
                <p:cNvPr id="23" name="Freeform 20">
                  <a:extLst>
                    <a:ext uri="{FF2B5EF4-FFF2-40B4-BE49-F238E27FC236}">
                      <a16:creationId xmlns:a16="http://schemas.microsoft.com/office/drawing/2014/main" id="{B393AAC4-D254-453D-8479-B404D455FF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3364273" y="3082799"/>
                  <a:ext cx="832104" cy="3503060"/>
                </a:xfrm>
                <a:prstGeom prst="round2SameRect">
                  <a:avLst>
                    <a:gd name="adj1" fmla="val 19445"/>
                    <a:gd name="adj2" fmla="val 0"/>
                  </a:avLst>
                </a:prstGeom>
                <a:solidFill>
                  <a:srgbClr val="FFF9BC"/>
                </a:solidFill>
                <a:ln w="57150">
                  <a:solidFill>
                    <a:srgbClr val="91720D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641E29D-906E-4634-ADED-96B1E8DA8216}"/>
                    </a:ext>
                  </a:extLst>
                </p:cNvPr>
                <p:cNvSpPr txBox="1"/>
                <p:nvPr/>
              </p:nvSpPr>
              <p:spPr>
                <a:xfrm>
                  <a:off x="2542253" y="4384805"/>
                  <a:ext cx="2895398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vi-VN" sz="4400" b="1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CÂU</a:t>
                  </a:r>
                  <a:r>
                    <a:rPr lang="en-US" sz="4400" b="1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5</a:t>
                  </a:r>
                  <a:r>
                    <a:rPr lang="vi-VN" sz="4400" b="1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</a:t>
                  </a:r>
                  <a:endParaRPr lang="en-US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50C43C-37F7-4A87-880E-749F8F1583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99" t="21515" r="9759" b="14519"/>
              <a:stretch/>
            </p:blipFill>
            <p:spPr>
              <a:xfrm>
                <a:off x="923003" y="3917552"/>
                <a:ext cx="1076356" cy="1040476"/>
              </a:xfrm>
              <a:prstGeom prst="round2DiagRect">
                <a:avLst>
                  <a:gd name="adj1" fmla="val 30509"/>
                  <a:gd name="adj2" fmla="val 0"/>
                </a:avLst>
              </a:prstGeom>
              <a:ln w="38100" cap="sq">
                <a:solidFill>
                  <a:srgbClr val="91720D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FB11C65-8BD6-48B2-A424-E6F4B06755C4}"/>
              </a:ext>
            </a:extLst>
          </p:cNvPr>
          <p:cNvSpPr txBox="1"/>
          <p:nvPr/>
        </p:nvSpPr>
        <p:spPr>
          <a:xfrm>
            <a:off x="9857057" y="11927204"/>
            <a:ext cx="28623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/>
              <p:nvPr/>
            </p:nvSpPr>
            <p:spPr>
              <a:xfrm>
                <a:off x="728707" y="3111200"/>
                <a:ext cx="23513288" cy="1446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giao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chéo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𝑨𝑪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𝑩𝑫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hành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4400" b="1" i="1">
                        <a:latin typeface="Cambria Math" panose="02040503050406030204" pitchFamily="18" charset="0"/>
                      </a:rPr>
                      <m:t>𝑨𝑩𝑪𝑫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Đẳng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đây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đẳng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sai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07" y="3111200"/>
                <a:ext cx="23513288" cy="1446550"/>
              </a:xfrm>
              <a:prstGeom prst="rect">
                <a:avLst/>
              </a:prstGeom>
              <a:blipFill>
                <a:blip r:embed="rId8"/>
                <a:stretch>
                  <a:fillRect l="-1063" t="-8824" b="-18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Hộp Văn bản 30">
                <a:extLst>
                  <a:ext uri="{FF2B5EF4-FFF2-40B4-BE49-F238E27FC236}">
                    <a16:creationId xmlns:a16="http://schemas.microsoft.com/office/drawing/2014/main" id="{DCD9302F-FB56-45A0-B224-482FF7C65B27}"/>
                  </a:ext>
                </a:extLst>
              </p:cNvPr>
              <p:cNvSpPr txBox="1"/>
              <p:nvPr/>
            </p:nvSpPr>
            <p:spPr>
              <a:xfrm>
                <a:off x="4279579" y="8672230"/>
                <a:ext cx="12358686" cy="3201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𝑶𝑫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𝑶𝑩</m:t>
                            </m:r>
                          </m:e>
                        </m:acc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𝑨𝑶</m:t>
                        </m:r>
                      </m:e>
                    </m:acc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𝑪𝑩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𝑪𝑫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𝑪𝑨</m:t>
                        </m:r>
                      </m:e>
                    </m:acc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𝑫𝑩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𝑩𝑶</m:t>
                        </m:r>
                      </m:e>
                    </m:acc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Hộp Văn bản 30">
                <a:extLst>
                  <a:ext uri="{FF2B5EF4-FFF2-40B4-BE49-F238E27FC236}">
                    <a16:creationId xmlns:a16="http://schemas.microsoft.com/office/drawing/2014/main" id="{DCD9302F-FB56-45A0-B224-482FF7C65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579" y="8672230"/>
                <a:ext cx="12358686" cy="320151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4">
            <a:extLst>
              <a:ext uri="{FF2B5EF4-FFF2-40B4-BE49-F238E27FC236}">
                <a16:creationId xmlns:a16="http://schemas.microsoft.com/office/drawing/2014/main" id="{4C9B1D93-2108-4098-8D3E-0FE12868B69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0743" y="8097066"/>
            <a:ext cx="8766087" cy="34975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Rounded Rectangle 35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4748907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9" grpId="0"/>
      <p:bldP spid="30" grpId="0"/>
      <p:bldP spid="3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313519-0C89-483D-A08E-CF6067282148}"/>
              </a:ext>
            </a:extLst>
          </p:cNvPr>
          <p:cNvGrpSpPr/>
          <p:nvPr/>
        </p:nvGrpSpPr>
        <p:grpSpPr>
          <a:xfrm>
            <a:off x="141341" y="7267711"/>
            <a:ext cx="23862374" cy="5716250"/>
            <a:chOff x="48567" y="4381499"/>
            <a:chExt cx="23018772" cy="5716249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5B1AB244-3D78-416D-AEF1-35CC4562B7A3}"/>
                </a:ext>
              </a:extLst>
            </p:cNvPr>
            <p:cNvSpPr/>
            <p:nvPr/>
          </p:nvSpPr>
          <p:spPr>
            <a:xfrm>
              <a:off x="385312" y="4941556"/>
              <a:ext cx="22682027" cy="5156192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400" b="1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FC852D-338F-4593-BDAE-4432C24EAC82}"/>
                </a:ext>
              </a:extLst>
            </p:cNvPr>
            <p:cNvGrpSpPr/>
            <p:nvPr/>
          </p:nvGrpSpPr>
          <p:grpSpPr>
            <a:xfrm>
              <a:off x="48567" y="4381499"/>
              <a:ext cx="3991940" cy="1079474"/>
              <a:chOff x="410517" y="4648199"/>
              <a:chExt cx="3991940" cy="1079474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20085AD8-BD87-4A35-B6D4-9AE383128185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421084" y="3633167"/>
                <a:ext cx="966341" cy="2996405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4400" b="1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C0313-9358-457E-845F-D4B035AC31D3}"/>
                  </a:ext>
                </a:extLst>
              </p:cNvPr>
              <p:cNvSpPr txBox="1"/>
              <p:nvPr/>
            </p:nvSpPr>
            <p:spPr>
              <a:xfrm>
                <a:off x="1406054" y="4732063"/>
                <a:ext cx="2872839" cy="76944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400" b="1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B75B5B9-D442-4C6E-96A9-9A573FE06D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0"/>
                <a:ext cx="1058947" cy="1079473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A8B4DB7-EFF8-4AF8-B0FA-839D4C447E82}"/>
              </a:ext>
            </a:extLst>
          </p:cNvPr>
          <p:cNvGrpSpPr/>
          <p:nvPr/>
        </p:nvGrpSpPr>
        <p:grpSpPr>
          <a:xfrm>
            <a:off x="620483" y="5105400"/>
            <a:ext cx="23556178" cy="1234536"/>
            <a:chOff x="241306" y="2243792"/>
            <a:chExt cx="11778089" cy="617268"/>
          </a:xfrm>
          <a:solidFill>
            <a:srgbClr val="327E3B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/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m:rPr>
                            <m:nor/>
                          </m:rPr>
                          <a:rPr lang="en-US" sz="4400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78679C-83F1-4149-AB69-2BCAF6D951FA}"/>
                </a:ext>
              </a:extLst>
            </p:cNvPr>
            <p:cNvSpPr/>
            <p:nvPr/>
          </p:nvSpPr>
          <p:spPr>
            <a:xfrm>
              <a:off x="3247742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/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8947F5-5540-4A85-BACE-6641A507F5A0}"/>
                </a:ext>
              </a:extLst>
            </p:cNvPr>
            <p:cNvSpPr/>
            <p:nvPr/>
          </p:nvSpPr>
          <p:spPr>
            <a:xfrm>
              <a:off x="241306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/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𝒂</m:t>
                        </m:r>
                        <m:rad>
                          <m:radPr>
                            <m:degHide m:val="on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  <m:r>
                          <m:rPr>
                            <m:nor/>
                          </m:rPr>
                          <a:rPr lang="en-US" sz="4400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7BF74FF-3652-4371-9E0B-A97FA806BC48}"/>
                </a:ext>
              </a:extLst>
            </p:cNvPr>
            <p:cNvSpPr/>
            <p:nvPr/>
          </p:nvSpPr>
          <p:spPr>
            <a:xfrm>
              <a:off x="6254178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/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𝒂</m:t>
                        </m:r>
                        <m:rad>
                          <m:radPr>
                            <m:degHide m:val="on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rad>
                        <m:r>
                          <m:rPr>
                            <m:nor/>
                          </m:rPr>
                          <a:rPr lang="vi-VN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B907C0F-6FC4-4852-8CFD-AD2FACA13C7F}"/>
                </a:ext>
              </a:extLst>
            </p:cNvPr>
            <p:cNvSpPr/>
            <p:nvPr/>
          </p:nvSpPr>
          <p:spPr>
            <a:xfrm>
              <a:off x="9260615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3AF6DD6E-C69C-4024-A5BF-FE21EA5DD223}"/>
              </a:ext>
            </a:extLst>
          </p:cNvPr>
          <p:cNvSpPr/>
          <p:nvPr/>
        </p:nvSpPr>
        <p:spPr>
          <a:xfrm>
            <a:off x="618684" y="5241923"/>
            <a:ext cx="1080000" cy="108000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endParaRPr lang="en-US" sz="4400" b="1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06450E-ACA8-42F7-B878-4360BA0CBA71}"/>
              </a:ext>
            </a:extLst>
          </p:cNvPr>
          <p:cNvGrpSpPr/>
          <p:nvPr/>
        </p:nvGrpSpPr>
        <p:grpSpPr>
          <a:xfrm>
            <a:off x="59835" y="1935874"/>
            <a:ext cx="23888416" cy="2572279"/>
            <a:chOff x="923003" y="3917552"/>
            <a:chExt cx="23888416" cy="2572278"/>
          </a:xfrm>
        </p:grpSpPr>
        <p:sp>
          <p:nvSpPr>
            <p:cNvPr id="19" name="Rounded Rectangle 41">
              <a:extLst>
                <a:ext uri="{FF2B5EF4-FFF2-40B4-BE49-F238E27FC236}">
                  <a16:creationId xmlns:a16="http://schemas.microsoft.com/office/drawing/2014/main" id="{CC866FB0-B137-49F3-A47E-0B1A18FC432E}"/>
                </a:ext>
              </a:extLst>
            </p:cNvPr>
            <p:cNvSpPr/>
            <p:nvPr/>
          </p:nvSpPr>
          <p:spPr>
            <a:xfrm>
              <a:off x="1216747" y="4597669"/>
              <a:ext cx="23594672" cy="1892161"/>
            </a:xfrm>
            <a:prstGeom prst="roundRect">
              <a:avLst>
                <a:gd name="adj" fmla="val 10158"/>
              </a:avLst>
            </a:prstGeom>
            <a:solidFill>
              <a:srgbClr val="FEEBB0"/>
            </a:solidFill>
            <a:ln w="12700">
              <a:solidFill>
                <a:srgbClr val="91720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                 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1E96746-B33C-4D41-836E-CA7E0074841E}"/>
                </a:ext>
              </a:extLst>
            </p:cNvPr>
            <p:cNvGrpSpPr/>
            <p:nvPr/>
          </p:nvGrpSpPr>
          <p:grpSpPr>
            <a:xfrm>
              <a:off x="923003" y="3917552"/>
              <a:ext cx="3942102" cy="1040476"/>
              <a:chOff x="923003" y="3917552"/>
              <a:chExt cx="3942102" cy="104047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719E236-B0D7-442E-8A08-3228625765BF}"/>
                  </a:ext>
                </a:extLst>
              </p:cNvPr>
              <p:cNvGrpSpPr/>
              <p:nvPr/>
            </p:nvGrpSpPr>
            <p:grpSpPr>
              <a:xfrm>
                <a:off x="1362045" y="4022855"/>
                <a:ext cx="3503060" cy="865576"/>
                <a:chOff x="2028795" y="4384805"/>
                <a:chExt cx="3503060" cy="865576"/>
              </a:xfrm>
            </p:grpSpPr>
            <p:sp>
              <p:nvSpPr>
                <p:cNvPr id="23" name="Freeform 20">
                  <a:extLst>
                    <a:ext uri="{FF2B5EF4-FFF2-40B4-BE49-F238E27FC236}">
                      <a16:creationId xmlns:a16="http://schemas.microsoft.com/office/drawing/2014/main" id="{B393AAC4-D254-453D-8479-B404D455FF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3364273" y="3082799"/>
                  <a:ext cx="832104" cy="3503060"/>
                </a:xfrm>
                <a:prstGeom prst="round2SameRect">
                  <a:avLst>
                    <a:gd name="adj1" fmla="val 19445"/>
                    <a:gd name="adj2" fmla="val 0"/>
                  </a:avLst>
                </a:prstGeom>
                <a:solidFill>
                  <a:srgbClr val="FFF9BC"/>
                </a:solidFill>
                <a:ln w="57150">
                  <a:solidFill>
                    <a:srgbClr val="91720D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641E29D-906E-4634-ADED-96B1E8DA8216}"/>
                    </a:ext>
                  </a:extLst>
                </p:cNvPr>
                <p:cNvSpPr txBox="1"/>
                <p:nvPr/>
              </p:nvSpPr>
              <p:spPr>
                <a:xfrm>
                  <a:off x="2542253" y="4384805"/>
                  <a:ext cx="2895398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vi-VN" sz="4400" b="1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CÂU</a:t>
                  </a:r>
                  <a:r>
                    <a:rPr lang="en-US" sz="4400" b="1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6</a:t>
                  </a:r>
                  <a:r>
                    <a:rPr lang="vi-VN" sz="4400" b="1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</a:t>
                  </a:r>
                  <a:endParaRPr lang="en-US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50C43C-37F7-4A87-880E-749F8F1583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99" t="21515" r="9759" b="14519"/>
              <a:stretch/>
            </p:blipFill>
            <p:spPr>
              <a:xfrm>
                <a:off x="923003" y="3917552"/>
                <a:ext cx="1076356" cy="1040476"/>
              </a:xfrm>
              <a:prstGeom prst="round2DiagRect">
                <a:avLst>
                  <a:gd name="adj1" fmla="val 30509"/>
                  <a:gd name="adj2" fmla="val 0"/>
                </a:avLst>
              </a:prstGeom>
              <a:ln w="38100" cap="sq">
                <a:solidFill>
                  <a:srgbClr val="91720D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FB11C65-8BD6-48B2-A424-E6F4B06755C4}"/>
              </a:ext>
            </a:extLst>
          </p:cNvPr>
          <p:cNvSpPr txBox="1"/>
          <p:nvPr/>
        </p:nvSpPr>
        <p:spPr>
          <a:xfrm>
            <a:off x="13012854" y="11799667"/>
            <a:ext cx="28623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/>
              <p:nvPr/>
            </p:nvSpPr>
            <p:spPr>
              <a:xfrm>
                <a:off x="1868319" y="3110406"/>
                <a:ext cx="22717995" cy="910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vuông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4400" b="1" i="1">
                        <a:latin typeface="Cambria Math" panose="02040503050406030204" pitchFamily="18" charset="0"/>
                      </a:rPr>
                      <m:t>𝑨𝑩𝑪𝑫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cạnh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𝒂</m:t>
                    </m:r>
                    <m:rad>
                      <m:radPr>
                        <m:degHide m:val="on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𝑨𝑫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𝑫𝑩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?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8319" y="3110406"/>
                <a:ext cx="22717995" cy="910314"/>
              </a:xfrm>
              <a:prstGeom prst="rect">
                <a:avLst/>
              </a:prstGeom>
              <a:blipFill>
                <a:blip r:embed="rId8"/>
                <a:stretch>
                  <a:fillRect l="-1073" t="-5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3">
                <a:extLst>
                  <a:ext uri="{FF2B5EF4-FFF2-40B4-BE49-F238E27FC236}">
                    <a16:creationId xmlns:a16="http://schemas.microsoft.com/office/drawing/2014/main" id="{D83C9955-595B-458F-A19E-B0421BBB8F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0688" y="7825879"/>
                <a:ext cx="9818585" cy="30282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630238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630238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630238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630238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630238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630238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630238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630238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630238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630238" algn="l"/>
                  </a:tabLst>
                </a:pPr>
                <a:r>
                  <a:rPr kumimoji="0" lang="fr-FR" altLang="en-US" sz="4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endParaRPr kumimoji="0" lang="en-US" altLang="en-US" sz="4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 defTabSz="914400"/>
                <a:r>
                  <a:rPr kumimoji="0" lang="fr-FR" altLang="en-US" sz="4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𝑨𝑫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𝑫𝑩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𝑨𝑫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𝑫𝑶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𝑨𝑶</m:t>
                        </m:r>
                      </m:e>
                    </m:acc>
                  </m:oMath>
                </a14:m>
                <a:endParaRPr lang="en-US" sz="4400" b="1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 defTabSz="914400"/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|"/>
                        <m:endChr m:val="|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𝑨𝑫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𝑫𝑩</m:t>
                            </m:r>
                          </m:e>
                        </m:acc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begChr m:val="|"/>
                        <m:endChr m:val="|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𝑨𝑶</m:t>
                            </m:r>
                          </m:e>
                        </m:acc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𝑨𝑶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630238" algn="l"/>
                  </a:tabLst>
                </a:pPr>
                <a:endParaRPr kumimoji="0" lang="en-US" altLang="en-US" sz="4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8" name="Rectangle 3">
                <a:extLst>
                  <a:ext uri="{FF2B5EF4-FFF2-40B4-BE49-F238E27FC236}">
                    <a16:creationId xmlns:a16="http://schemas.microsoft.com/office/drawing/2014/main" id="{D83C9955-595B-458F-A19E-B0421BBB8F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40688" y="7825879"/>
                <a:ext cx="9818585" cy="30282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6">
            <a:extLst>
              <a:ext uri="{FF2B5EF4-FFF2-40B4-BE49-F238E27FC236}">
                <a16:creationId xmlns:a16="http://schemas.microsoft.com/office/drawing/2014/main" id="{0D0D14EF-00B5-4025-BDFD-45CB3E7A126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8190" y="8170087"/>
            <a:ext cx="4338793" cy="440291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Rounded Rectangle 35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4652793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9" grpId="0"/>
      <p:bldP spid="30" grpId="0"/>
      <p:bldP spid="2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313519-0C89-483D-A08E-CF6067282148}"/>
              </a:ext>
            </a:extLst>
          </p:cNvPr>
          <p:cNvGrpSpPr/>
          <p:nvPr/>
        </p:nvGrpSpPr>
        <p:grpSpPr>
          <a:xfrm>
            <a:off x="141341" y="7267711"/>
            <a:ext cx="23862374" cy="5716250"/>
            <a:chOff x="48567" y="4381499"/>
            <a:chExt cx="23018772" cy="5716249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5B1AB244-3D78-416D-AEF1-35CC4562B7A3}"/>
                </a:ext>
              </a:extLst>
            </p:cNvPr>
            <p:cNvSpPr/>
            <p:nvPr/>
          </p:nvSpPr>
          <p:spPr>
            <a:xfrm>
              <a:off x="385312" y="4941556"/>
              <a:ext cx="22682027" cy="5156192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400" b="1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FC852D-338F-4593-BDAE-4432C24EAC82}"/>
                </a:ext>
              </a:extLst>
            </p:cNvPr>
            <p:cNvGrpSpPr/>
            <p:nvPr/>
          </p:nvGrpSpPr>
          <p:grpSpPr>
            <a:xfrm>
              <a:off x="48567" y="4381499"/>
              <a:ext cx="3991940" cy="1079474"/>
              <a:chOff x="410517" y="4648199"/>
              <a:chExt cx="3991940" cy="1079474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20085AD8-BD87-4A35-B6D4-9AE383128185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421084" y="3633167"/>
                <a:ext cx="966341" cy="2996405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4400" b="1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C0313-9358-457E-845F-D4B035AC31D3}"/>
                  </a:ext>
                </a:extLst>
              </p:cNvPr>
              <p:cNvSpPr txBox="1"/>
              <p:nvPr/>
            </p:nvSpPr>
            <p:spPr>
              <a:xfrm>
                <a:off x="1406054" y="4732063"/>
                <a:ext cx="2872839" cy="76944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400" b="1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B75B5B9-D442-4C6E-96A9-9A573FE06D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0"/>
                <a:ext cx="1058947" cy="1079473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A8B4DB7-EFF8-4AF8-B0FA-839D4C447E82}"/>
              </a:ext>
            </a:extLst>
          </p:cNvPr>
          <p:cNvGrpSpPr/>
          <p:nvPr/>
        </p:nvGrpSpPr>
        <p:grpSpPr>
          <a:xfrm>
            <a:off x="620483" y="5105400"/>
            <a:ext cx="23556178" cy="1234536"/>
            <a:chOff x="241306" y="2243792"/>
            <a:chExt cx="11778089" cy="617268"/>
          </a:xfrm>
          <a:solidFill>
            <a:srgbClr val="327E3B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/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𝑩𝑪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78679C-83F1-4149-AB69-2BCAF6D951FA}"/>
                </a:ext>
              </a:extLst>
            </p:cNvPr>
            <p:cNvSpPr/>
            <p:nvPr/>
          </p:nvSpPr>
          <p:spPr>
            <a:xfrm>
              <a:off x="3247742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/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8947F5-5540-4A85-BACE-6641A507F5A0}"/>
                </a:ext>
              </a:extLst>
            </p:cNvPr>
            <p:cNvSpPr/>
            <p:nvPr/>
          </p:nvSpPr>
          <p:spPr>
            <a:xfrm>
              <a:off x="241306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/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𝑨𝑫</m:t>
                        </m:r>
                        <m:r>
                          <m:rPr>
                            <m:nor/>
                          </m:rPr>
                          <a:rPr lang="en-US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7BF74FF-3652-4371-9E0B-A97FA806BC48}"/>
                </a:ext>
              </a:extLst>
            </p:cNvPr>
            <p:cNvSpPr/>
            <p:nvPr/>
          </p:nvSpPr>
          <p:spPr>
            <a:xfrm>
              <a:off x="6254178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/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𝑪𝑫</m:t>
                        </m:r>
                        <m:r>
                          <m:rPr>
                            <m:nor/>
                          </m:rPr>
                          <a:rPr lang="vi-VN" sz="4400" b="1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B907C0F-6FC4-4852-8CFD-AD2FACA13C7F}"/>
                </a:ext>
              </a:extLst>
            </p:cNvPr>
            <p:cNvSpPr/>
            <p:nvPr/>
          </p:nvSpPr>
          <p:spPr>
            <a:xfrm>
              <a:off x="9260615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3AF6DD6E-C69C-4024-A5BF-FE21EA5DD223}"/>
              </a:ext>
            </a:extLst>
          </p:cNvPr>
          <p:cNvSpPr/>
          <p:nvPr/>
        </p:nvSpPr>
        <p:spPr>
          <a:xfrm>
            <a:off x="18700189" y="5182668"/>
            <a:ext cx="1080000" cy="108000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</a:t>
            </a:r>
            <a:endParaRPr lang="en-US" sz="4400" b="1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06450E-ACA8-42F7-B878-4360BA0CBA71}"/>
              </a:ext>
            </a:extLst>
          </p:cNvPr>
          <p:cNvGrpSpPr/>
          <p:nvPr/>
        </p:nvGrpSpPr>
        <p:grpSpPr>
          <a:xfrm>
            <a:off x="59835" y="1935874"/>
            <a:ext cx="23888416" cy="2572279"/>
            <a:chOff x="923003" y="3917552"/>
            <a:chExt cx="23888416" cy="2572278"/>
          </a:xfrm>
        </p:grpSpPr>
        <p:sp>
          <p:nvSpPr>
            <p:cNvPr id="19" name="Rounded Rectangle 41">
              <a:extLst>
                <a:ext uri="{FF2B5EF4-FFF2-40B4-BE49-F238E27FC236}">
                  <a16:creationId xmlns:a16="http://schemas.microsoft.com/office/drawing/2014/main" id="{CC866FB0-B137-49F3-A47E-0B1A18FC432E}"/>
                </a:ext>
              </a:extLst>
            </p:cNvPr>
            <p:cNvSpPr/>
            <p:nvPr/>
          </p:nvSpPr>
          <p:spPr>
            <a:xfrm>
              <a:off x="1216747" y="4597669"/>
              <a:ext cx="23594672" cy="1892161"/>
            </a:xfrm>
            <a:prstGeom prst="roundRect">
              <a:avLst>
                <a:gd name="adj" fmla="val 10158"/>
              </a:avLst>
            </a:prstGeom>
            <a:solidFill>
              <a:srgbClr val="FEEBB0"/>
            </a:solidFill>
            <a:ln w="12700">
              <a:solidFill>
                <a:srgbClr val="91720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                 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1E96746-B33C-4D41-836E-CA7E0074841E}"/>
                </a:ext>
              </a:extLst>
            </p:cNvPr>
            <p:cNvGrpSpPr/>
            <p:nvPr/>
          </p:nvGrpSpPr>
          <p:grpSpPr>
            <a:xfrm>
              <a:off x="923003" y="3917552"/>
              <a:ext cx="3942102" cy="1040476"/>
              <a:chOff x="923003" y="3917552"/>
              <a:chExt cx="3942102" cy="104047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719E236-B0D7-442E-8A08-3228625765BF}"/>
                  </a:ext>
                </a:extLst>
              </p:cNvPr>
              <p:cNvGrpSpPr/>
              <p:nvPr/>
            </p:nvGrpSpPr>
            <p:grpSpPr>
              <a:xfrm>
                <a:off x="1362045" y="4022855"/>
                <a:ext cx="3503060" cy="865576"/>
                <a:chOff x="2028795" y="4384805"/>
                <a:chExt cx="3503060" cy="865576"/>
              </a:xfrm>
            </p:grpSpPr>
            <p:sp>
              <p:nvSpPr>
                <p:cNvPr id="23" name="Freeform 20">
                  <a:extLst>
                    <a:ext uri="{FF2B5EF4-FFF2-40B4-BE49-F238E27FC236}">
                      <a16:creationId xmlns:a16="http://schemas.microsoft.com/office/drawing/2014/main" id="{B393AAC4-D254-453D-8479-B404D455FF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3364273" y="3082799"/>
                  <a:ext cx="832104" cy="3503060"/>
                </a:xfrm>
                <a:prstGeom prst="round2SameRect">
                  <a:avLst>
                    <a:gd name="adj1" fmla="val 19445"/>
                    <a:gd name="adj2" fmla="val 0"/>
                  </a:avLst>
                </a:prstGeom>
                <a:solidFill>
                  <a:srgbClr val="FFF9BC"/>
                </a:solidFill>
                <a:ln w="57150">
                  <a:solidFill>
                    <a:srgbClr val="91720D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641E29D-906E-4634-ADED-96B1E8DA8216}"/>
                    </a:ext>
                  </a:extLst>
                </p:cNvPr>
                <p:cNvSpPr txBox="1"/>
                <p:nvPr/>
              </p:nvSpPr>
              <p:spPr>
                <a:xfrm>
                  <a:off x="2542253" y="4384805"/>
                  <a:ext cx="2895398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vi-VN" sz="4400" b="1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CÂU</a:t>
                  </a:r>
                  <a:r>
                    <a:rPr lang="en-US" sz="4400" b="1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7</a:t>
                  </a:r>
                  <a:r>
                    <a:rPr lang="vi-VN" sz="4400" b="1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</a:t>
                  </a:r>
                  <a:endParaRPr lang="en-US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50C43C-37F7-4A87-880E-749F8F1583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99" t="21515" r="9759" b="14519"/>
              <a:stretch/>
            </p:blipFill>
            <p:spPr>
              <a:xfrm>
                <a:off x="923003" y="3917552"/>
                <a:ext cx="1076356" cy="1040476"/>
              </a:xfrm>
              <a:prstGeom prst="round2DiagRect">
                <a:avLst>
                  <a:gd name="adj1" fmla="val 30509"/>
                  <a:gd name="adj2" fmla="val 0"/>
                </a:avLst>
              </a:prstGeom>
              <a:ln w="38100" cap="sq">
                <a:solidFill>
                  <a:srgbClr val="91720D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FB11C65-8BD6-48B2-A424-E6F4B06755C4}"/>
              </a:ext>
            </a:extLst>
          </p:cNvPr>
          <p:cNvSpPr txBox="1"/>
          <p:nvPr/>
        </p:nvSpPr>
        <p:spPr>
          <a:xfrm>
            <a:off x="12906469" y="11925737"/>
            <a:ext cx="28623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/>
              <p:nvPr/>
            </p:nvSpPr>
            <p:spPr>
              <a:xfrm>
                <a:off x="1068060" y="2851860"/>
                <a:ext cx="23156334" cy="1533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hành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4400" b="1" i="1">
                        <a:latin typeface="Cambria Math" panose="02040503050406030204" pitchFamily="18" charset="0"/>
                      </a:rPr>
                      <m:t>𝑨𝑩𝑪𝑫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thoả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mãn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Khi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060" y="2851860"/>
                <a:ext cx="23156334" cy="1533177"/>
              </a:xfrm>
              <a:prstGeom prst="rect">
                <a:avLst/>
              </a:prstGeom>
              <a:blipFill>
                <a:blip r:embed="rId8"/>
                <a:stretch>
                  <a:fillRect l="-1053" t="-3187" b="-18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A83578B6-5D84-44C8-B0F6-A7172A06B791}"/>
                  </a:ext>
                </a:extLst>
              </p:cNvPr>
              <p:cNvSpPr txBox="1"/>
              <p:nvPr/>
            </p:nvSpPr>
            <p:spPr>
              <a:xfrm>
                <a:off x="2250407" y="8570716"/>
                <a:ext cx="9959574" cy="38193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𝑴𝑨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𝑴𝑪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𝑨𝑩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en-US" sz="4400" b="1" i="1">
                          <a:latin typeface="Cambria Math" panose="02040503050406030204" pitchFamily="18" charset="0"/>
                        </a:rPr>
                        <m:t>⇔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𝑴𝑫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𝑫𝑨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𝑴𝑫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𝑫𝑪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𝑨𝑩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en-US" sz="4400" b="1" i="1"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𝟐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𝑴𝑫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𝑫𝑩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𝑨𝑩</m:t>
                          </m:r>
                        </m:e>
                      </m:acc>
                    </m:oMath>
                  </m:oMathPara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/>
                </a:r>
                <a:b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𝑴𝑫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𝑫𝑩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𝑴𝑫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𝑨𝑫</m:t>
                        </m:r>
                      </m:e>
                    </m:acc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𝑨𝑫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A83578B6-5D84-44C8-B0F6-A7172A06B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407" y="8570716"/>
                <a:ext cx="9959574" cy="3819379"/>
              </a:xfrm>
              <a:prstGeom prst="rect">
                <a:avLst/>
              </a:prstGeom>
              <a:blipFill>
                <a:blip r:embed="rId9"/>
                <a:stretch>
                  <a:fillRect l="-2448" b="-6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4">
            <a:extLst>
              <a:ext uri="{FF2B5EF4-FFF2-40B4-BE49-F238E27FC236}">
                <a16:creationId xmlns:a16="http://schemas.microsoft.com/office/drawing/2014/main" id="{A853ABB1-8128-4179-A380-EE60AB3F1D7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3450" y="8397174"/>
            <a:ext cx="8200674" cy="3271939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Rounded Rectangle 3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9353115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9" grpId="0"/>
      <p:bldP spid="30" grpId="0"/>
      <p:bldP spid="3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313519-0C89-483D-A08E-CF6067282148}"/>
              </a:ext>
            </a:extLst>
          </p:cNvPr>
          <p:cNvGrpSpPr/>
          <p:nvPr/>
        </p:nvGrpSpPr>
        <p:grpSpPr>
          <a:xfrm>
            <a:off x="219728" y="7369787"/>
            <a:ext cx="23862374" cy="5716250"/>
            <a:chOff x="48567" y="4381499"/>
            <a:chExt cx="23018772" cy="5716249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5B1AB244-3D78-416D-AEF1-35CC4562B7A3}"/>
                </a:ext>
              </a:extLst>
            </p:cNvPr>
            <p:cNvSpPr/>
            <p:nvPr/>
          </p:nvSpPr>
          <p:spPr>
            <a:xfrm>
              <a:off x="385312" y="4941556"/>
              <a:ext cx="22682027" cy="5156192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400" b="1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FC852D-338F-4593-BDAE-4432C24EAC82}"/>
                </a:ext>
              </a:extLst>
            </p:cNvPr>
            <p:cNvGrpSpPr/>
            <p:nvPr/>
          </p:nvGrpSpPr>
          <p:grpSpPr>
            <a:xfrm>
              <a:off x="48567" y="4381499"/>
              <a:ext cx="3991940" cy="1079474"/>
              <a:chOff x="410517" y="4648199"/>
              <a:chExt cx="3991940" cy="1079474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20085AD8-BD87-4A35-B6D4-9AE383128185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421084" y="3633167"/>
                <a:ext cx="966341" cy="2996405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4400" b="1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C0313-9358-457E-845F-D4B035AC31D3}"/>
                  </a:ext>
                </a:extLst>
              </p:cNvPr>
              <p:cNvSpPr txBox="1"/>
              <p:nvPr/>
            </p:nvSpPr>
            <p:spPr>
              <a:xfrm>
                <a:off x="1406054" y="4732063"/>
                <a:ext cx="2872839" cy="76944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400" b="1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B75B5B9-D442-4C6E-96A9-9A573FE06D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0"/>
                <a:ext cx="1058947" cy="1079473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A8B4DB7-EFF8-4AF8-B0FA-839D4C447E82}"/>
              </a:ext>
            </a:extLst>
          </p:cNvPr>
          <p:cNvGrpSpPr/>
          <p:nvPr/>
        </p:nvGrpSpPr>
        <p:grpSpPr>
          <a:xfrm>
            <a:off x="353578" y="5105400"/>
            <a:ext cx="23870815" cy="1234536"/>
            <a:chOff x="241306" y="2243792"/>
            <a:chExt cx="11778089" cy="617268"/>
          </a:xfrm>
          <a:solidFill>
            <a:srgbClr val="327E3B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/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𝑨𝑮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78679C-83F1-4149-AB69-2BCAF6D951FA}"/>
                </a:ext>
              </a:extLst>
            </p:cNvPr>
            <p:cNvSpPr/>
            <p:nvPr/>
          </p:nvSpPr>
          <p:spPr>
            <a:xfrm>
              <a:off x="3247742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/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𝑮𝑨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num>
                          <m:den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den>
                        </m:f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𝑨𝑴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8947F5-5540-4A85-BACE-6641A507F5A0}"/>
                </a:ext>
              </a:extLst>
            </p:cNvPr>
            <p:cNvSpPr/>
            <p:nvPr/>
          </p:nvSpPr>
          <p:spPr>
            <a:xfrm>
              <a:off x="241306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/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𝑮𝑨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𝑩𝑮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𝑪𝑮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7BF74FF-3652-4371-9E0B-A97FA806BC48}"/>
                </a:ext>
              </a:extLst>
            </p:cNvPr>
            <p:cNvSpPr/>
            <p:nvPr/>
          </p:nvSpPr>
          <p:spPr>
            <a:xfrm>
              <a:off x="6254178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/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𝑮𝑩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𝑮𝑪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𝑮𝑴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B907C0F-6FC4-4852-8CFD-AD2FACA13C7F}"/>
                </a:ext>
              </a:extLst>
            </p:cNvPr>
            <p:cNvSpPr/>
            <p:nvPr/>
          </p:nvSpPr>
          <p:spPr>
            <a:xfrm>
              <a:off x="9260615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3AF6DD6E-C69C-4024-A5BF-FE21EA5DD223}"/>
              </a:ext>
            </a:extLst>
          </p:cNvPr>
          <p:cNvSpPr/>
          <p:nvPr/>
        </p:nvSpPr>
        <p:spPr>
          <a:xfrm>
            <a:off x="6422970" y="5233886"/>
            <a:ext cx="1080000" cy="1060047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endParaRPr lang="en-US" sz="44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06450E-ACA8-42F7-B878-4360BA0CBA71}"/>
              </a:ext>
            </a:extLst>
          </p:cNvPr>
          <p:cNvGrpSpPr/>
          <p:nvPr/>
        </p:nvGrpSpPr>
        <p:grpSpPr>
          <a:xfrm>
            <a:off x="59835" y="1935874"/>
            <a:ext cx="23888416" cy="2572279"/>
            <a:chOff x="923003" y="3917552"/>
            <a:chExt cx="23888416" cy="2572278"/>
          </a:xfrm>
        </p:grpSpPr>
        <p:sp>
          <p:nvSpPr>
            <p:cNvPr id="19" name="Rounded Rectangle 41">
              <a:extLst>
                <a:ext uri="{FF2B5EF4-FFF2-40B4-BE49-F238E27FC236}">
                  <a16:creationId xmlns:a16="http://schemas.microsoft.com/office/drawing/2014/main" id="{CC866FB0-B137-49F3-A47E-0B1A18FC432E}"/>
                </a:ext>
              </a:extLst>
            </p:cNvPr>
            <p:cNvSpPr/>
            <p:nvPr/>
          </p:nvSpPr>
          <p:spPr>
            <a:xfrm>
              <a:off x="1216747" y="4597669"/>
              <a:ext cx="23594672" cy="1892161"/>
            </a:xfrm>
            <a:prstGeom prst="roundRect">
              <a:avLst>
                <a:gd name="adj" fmla="val 10158"/>
              </a:avLst>
            </a:prstGeom>
            <a:solidFill>
              <a:srgbClr val="FEEBB0"/>
            </a:solidFill>
            <a:ln w="12700">
              <a:solidFill>
                <a:srgbClr val="91720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                 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1E96746-B33C-4D41-836E-CA7E0074841E}"/>
                </a:ext>
              </a:extLst>
            </p:cNvPr>
            <p:cNvGrpSpPr/>
            <p:nvPr/>
          </p:nvGrpSpPr>
          <p:grpSpPr>
            <a:xfrm>
              <a:off x="923003" y="3917552"/>
              <a:ext cx="3942102" cy="1040476"/>
              <a:chOff x="923003" y="3917552"/>
              <a:chExt cx="3942102" cy="104047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719E236-B0D7-442E-8A08-3228625765BF}"/>
                  </a:ext>
                </a:extLst>
              </p:cNvPr>
              <p:cNvGrpSpPr/>
              <p:nvPr/>
            </p:nvGrpSpPr>
            <p:grpSpPr>
              <a:xfrm>
                <a:off x="1362045" y="4022855"/>
                <a:ext cx="3503060" cy="865576"/>
                <a:chOff x="2028795" y="4384805"/>
                <a:chExt cx="3503060" cy="865576"/>
              </a:xfrm>
            </p:grpSpPr>
            <p:sp>
              <p:nvSpPr>
                <p:cNvPr id="23" name="Freeform 20">
                  <a:extLst>
                    <a:ext uri="{FF2B5EF4-FFF2-40B4-BE49-F238E27FC236}">
                      <a16:creationId xmlns:a16="http://schemas.microsoft.com/office/drawing/2014/main" id="{B393AAC4-D254-453D-8479-B404D455FF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3364273" y="3082799"/>
                  <a:ext cx="832104" cy="3503060"/>
                </a:xfrm>
                <a:prstGeom prst="round2SameRect">
                  <a:avLst>
                    <a:gd name="adj1" fmla="val 19445"/>
                    <a:gd name="adj2" fmla="val 0"/>
                  </a:avLst>
                </a:prstGeom>
                <a:solidFill>
                  <a:srgbClr val="FFF9BC"/>
                </a:solidFill>
                <a:ln w="57150">
                  <a:solidFill>
                    <a:srgbClr val="91720D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641E29D-906E-4634-ADED-96B1E8DA8216}"/>
                    </a:ext>
                  </a:extLst>
                </p:cNvPr>
                <p:cNvSpPr txBox="1"/>
                <p:nvPr/>
              </p:nvSpPr>
              <p:spPr>
                <a:xfrm>
                  <a:off x="2542253" y="4384805"/>
                  <a:ext cx="2895398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vi-VN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CÂU</a:t>
                  </a:r>
                  <a:r>
                    <a:rPr lang="en-US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8</a:t>
                  </a:r>
                  <a:r>
                    <a:rPr lang="vi-VN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</a:t>
                  </a:r>
                  <a:endParaRPr lang="en-US" sz="44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50C43C-37F7-4A87-880E-749F8F1583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99" t="21515" r="9759" b="14519"/>
              <a:stretch/>
            </p:blipFill>
            <p:spPr>
              <a:xfrm>
                <a:off x="923003" y="3917552"/>
                <a:ext cx="1076356" cy="1040476"/>
              </a:xfrm>
              <a:prstGeom prst="round2DiagRect">
                <a:avLst>
                  <a:gd name="adj1" fmla="val 30509"/>
                  <a:gd name="adj2" fmla="val 0"/>
                </a:avLst>
              </a:prstGeom>
              <a:ln w="38100" cap="sq">
                <a:solidFill>
                  <a:srgbClr val="91720D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FB11C65-8BD6-48B2-A424-E6F4B06755C4}"/>
              </a:ext>
            </a:extLst>
          </p:cNvPr>
          <p:cNvSpPr txBox="1"/>
          <p:nvPr/>
        </p:nvSpPr>
        <p:spPr>
          <a:xfrm>
            <a:off x="12906469" y="11925737"/>
            <a:ext cx="28623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/>
              <p:nvPr/>
            </p:nvSpPr>
            <p:spPr>
              <a:xfrm>
                <a:off x="1068060" y="2851860"/>
                <a:ext cx="23156334" cy="1446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tam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là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trọng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là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𝑩𝑪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Khẳng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đây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sai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?</a:t>
                </a:r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060" y="2851860"/>
                <a:ext cx="23156334" cy="1446550"/>
              </a:xfrm>
              <a:prstGeom prst="rect">
                <a:avLst/>
              </a:prstGeom>
              <a:blipFill>
                <a:blip r:embed="rId8"/>
                <a:stretch>
                  <a:fillRect l="-1053" t="-9283" b="-19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A83578B6-5D84-44C8-B0F6-A7172A06B791}"/>
                  </a:ext>
                </a:extLst>
              </p:cNvPr>
              <p:cNvSpPr txBox="1"/>
              <p:nvPr/>
            </p:nvSpPr>
            <p:spPr>
              <a:xfrm>
                <a:off x="4200971" y="9458292"/>
                <a:ext cx="9959574" cy="10671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𝑨𝑴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𝑨𝑮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𝑨𝑮</m:t>
                        </m:r>
                      </m:e>
                    </m:acc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A83578B6-5D84-44C8-B0F6-A7172A06B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971" y="9458292"/>
                <a:ext cx="9959574" cy="10671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16">
            <a:extLst>
              <a:ext uri="{FF2B5EF4-FFF2-40B4-BE49-F238E27FC236}">
                <a16:creationId xmlns:a16="http://schemas.microsoft.com/office/drawing/2014/main" id="{85642879-088A-4387-9E8F-242725DE91D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1566" y="7807448"/>
            <a:ext cx="5002405" cy="436884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Rounded Rectangle 3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2520984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9" grpId="0"/>
      <p:bldP spid="30" grpId="0"/>
      <p:bldP spid="3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313519-0C89-483D-A08E-CF6067282148}"/>
              </a:ext>
            </a:extLst>
          </p:cNvPr>
          <p:cNvGrpSpPr/>
          <p:nvPr/>
        </p:nvGrpSpPr>
        <p:grpSpPr>
          <a:xfrm>
            <a:off x="219728" y="7369787"/>
            <a:ext cx="23862374" cy="5716250"/>
            <a:chOff x="48567" y="4381499"/>
            <a:chExt cx="23018772" cy="5716249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5B1AB244-3D78-416D-AEF1-35CC4562B7A3}"/>
                </a:ext>
              </a:extLst>
            </p:cNvPr>
            <p:cNvSpPr/>
            <p:nvPr/>
          </p:nvSpPr>
          <p:spPr>
            <a:xfrm>
              <a:off x="385312" y="4941556"/>
              <a:ext cx="22682027" cy="5156192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400" b="1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FC852D-338F-4593-BDAE-4432C24EAC82}"/>
                </a:ext>
              </a:extLst>
            </p:cNvPr>
            <p:cNvGrpSpPr/>
            <p:nvPr/>
          </p:nvGrpSpPr>
          <p:grpSpPr>
            <a:xfrm>
              <a:off x="48567" y="4381499"/>
              <a:ext cx="3991940" cy="1079474"/>
              <a:chOff x="410517" y="4648199"/>
              <a:chExt cx="3991940" cy="1079474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20085AD8-BD87-4A35-B6D4-9AE383128185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421084" y="3633167"/>
                <a:ext cx="966341" cy="2996405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4400" b="1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C0313-9358-457E-845F-D4B035AC31D3}"/>
                  </a:ext>
                </a:extLst>
              </p:cNvPr>
              <p:cNvSpPr txBox="1"/>
              <p:nvPr/>
            </p:nvSpPr>
            <p:spPr>
              <a:xfrm>
                <a:off x="1406054" y="4732063"/>
                <a:ext cx="2872839" cy="76944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400" b="1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B75B5B9-D442-4C6E-96A9-9A573FE06D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0"/>
                <a:ext cx="1058947" cy="1079473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A8B4DB7-EFF8-4AF8-B0FA-839D4C447E82}"/>
              </a:ext>
            </a:extLst>
          </p:cNvPr>
          <p:cNvGrpSpPr/>
          <p:nvPr/>
        </p:nvGrpSpPr>
        <p:grpSpPr>
          <a:xfrm>
            <a:off x="353578" y="4876800"/>
            <a:ext cx="23870815" cy="1752600"/>
            <a:chOff x="241306" y="2129492"/>
            <a:chExt cx="11778089" cy="876300"/>
          </a:xfrm>
          <a:solidFill>
            <a:srgbClr val="327E3B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/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𝑴𝑩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𝑴𝑪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78679C-83F1-4149-AB69-2BCAF6D951FA}"/>
                </a:ext>
              </a:extLst>
            </p:cNvPr>
            <p:cNvSpPr/>
            <p:nvPr/>
          </p:nvSpPr>
          <p:spPr>
            <a:xfrm>
              <a:off x="3247742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/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𝑨𝑴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𝑴𝑩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𝑴𝑪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8947F5-5540-4A85-BACE-6641A507F5A0}"/>
                </a:ext>
              </a:extLst>
            </p:cNvPr>
            <p:cNvSpPr/>
            <p:nvPr/>
          </p:nvSpPr>
          <p:spPr>
            <a:xfrm>
              <a:off x="241306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/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𝑴𝑩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=−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𝑴𝑪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7BF74FF-3652-4371-9E0B-A97FA806BC48}"/>
                </a:ext>
              </a:extLst>
            </p:cNvPr>
            <p:cNvSpPr/>
            <p:nvPr/>
          </p:nvSpPr>
          <p:spPr>
            <a:xfrm>
              <a:off x="6254178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/>
                <p:nvPr/>
              </p:nvSpPr>
              <p:spPr>
                <a:xfrm>
                  <a:off x="9551160" y="2129492"/>
                  <a:ext cx="2468235" cy="876300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𝑨𝑴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e>
                            </m:acc>
                          </m:num>
                          <m:den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1160" y="2129492"/>
                  <a:ext cx="2468235" cy="8763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B907C0F-6FC4-4852-8CFD-AD2FACA13C7F}"/>
                </a:ext>
              </a:extLst>
            </p:cNvPr>
            <p:cNvSpPr/>
            <p:nvPr/>
          </p:nvSpPr>
          <p:spPr>
            <a:xfrm>
              <a:off x="9260615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3AF6DD6E-C69C-4024-A5BF-FE21EA5DD223}"/>
              </a:ext>
            </a:extLst>
          </p:cNvPr>
          <p:cNvSpPr/>
          <p:nvPr/>
        </p:nvSpPr>
        <p:spPr>
          <a:xfrm>
            <a:off x="12554373" y="5233886"/>
            <a:ext cx="1080000" cy="1060047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06450E-ACA8-42F7-B878-4360BA0CBA71}"/>
              </a:ext>
            </a:extLst>
          </p:cNvPr>
          <p:cNvGrpSpPr/>
          <p:nvPr/>
        </p:nvGrpSpPr>
        <p:grpSpPr>
          <a:xfrm>
            <a:off x="59835" y="1935874"/>
            <a:ext cx="23888416" cy="2572279"/>
            <a:chOff x="923003" y="3917552"/>
            <a:chExt cx="23888416" cy="2572278"/>
          </a:xfrm>
        </p:grpSpPr>
        <p:sp>
          <p:nvSpPr>
            <p:cNvPr id="19" name="Rounded Rectangle 41">
              <a:extLst>
                <a:ext uri="{FF2B5EF4-FFF2-40B4-BE49-F238E27FC236}">
                  <a16:creationId xmlns:a16="http://schemas.microsoft.com/office/drawing/2014/main" id="{CC866FB0-B137-49F3-A47E-0B1A18FC432E}"/>
                </a:ext>
              </a:extLst>
            </p:cNvPr>
            <p:cNvSpPr/>
            <p:nvPr/>
          </p:nvSpPr>
          <p:spPr>
            <a:xfrm>
              <a:off x="1216747" y="4597669"/>
              <a:ext cx="23594672" cy="1892161"/>
            </a:xfrm>
            <a:prstGeom prst="roundRect">
              <a:avLst>
                <a:gd name="adj" fmla="val 10158"/>
              </a:avLst>
            </a:prstGeom>
            <a:solidFill>
              <a:srgbClr val="FEEBB0"/>
            </a:solidFill>
            <a:ln w="12700">
              <a:solidFill>
                <a:srgbClr val="91720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                 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1E96746-B33C-4D41-836E-CA7E0074841E}"/>
                </a:ext>
              </a:extLst>
            </p:cNvPr>
            <p:cNvGrpSpPr/>
            <p:nvPr/>
          </p:nvGrpSpPr>
          <p:grpSpPr>
            <a:xfrm>
              <a:off x="923003" y="3917552"/>
              <a:ext cx="3942102" cy="1040476"/>
              <a:chOff x="923003" y="3917552"/>
              <a:chExt cx="3942102" cy="104047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719E236-B0D7-442E-8A08-3228625765BF}"/>
                  </a:ext>
                </a:extLst>
              </p:cNvPr>
              <p:cNvGrpSpPr/>
              <p:nvPr/>
            </p:nvGrpSpPr>
            <p:grpSpPr>
              <a:xfrm>
                <a:off x="1362045" y="4022855"/>
                <a:ext cx="3503060" cy="865576"/>
                <a:chOff x="2028795" y="4384805"/>
                <a:chExt cx="3503060" cy="865576"/>
              </a:xfrm>
            </p:grpSpPr>
            <p:sp>
              <p:nvSpPr>
                <p:cNvPr id="23" name="Freeform 20">
                  <a:extLst>
                    <a:ext uri="{FF2B5EF4-FFF2-40B4-BE49-F238E27FC236}">
                      <a16:creationId xmlns:a16="http://schemas.microsoft.com/office/drawing/2014/main" id="{B393AAC4-D254-453D-8479-B404D455FF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3364273" y="3082799"/>
                  <a:ext cx="832104" cy="3503060"/>
                </a:xfrm>
                <a:prstGeom prst="round2SameRect">
                  <a:avLst>
                    <a:gd name="adj1" fmla="val 19445"/>
                    <a:gd name="adj2" fmla="val 0"/>
                  </a:avLst>
                </a:prstGeom>
                <a:solidFill>
                  <a:srgbClr val="FFF9BC"/>
                </a:solidFill>
                <a:ln w="57150">
                  <a:solidFill>
                    <a:srgbClr val="91720D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641E29D-906E-4634-ADED-96B1E8DA8216}"/>
                    </a:ext>
                  </a:extLst>
                </p:cNvPr>
                <p:cNvSpPr txBox="1"/>
                <p:nvPr/>
              </p:nvSpPr>
              <p:spPr>
                <a:xfrm>
                  <a:off x="2542253" y="4384805"/>
                  <a:ext cx="2895398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vi-VN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CÂU</a:t>
                  </a:r>
                  <a:r>
                    <a:rPr lang="en-US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9</a:t>
                  </a:r>
                  <a:r>
                    <a:rPr lang="vi-VN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</a:t>
                  </a:r>
                  <a:endParaRPr lang="en-US" sz="44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50C43C-37F7-4A87-880E-749F8F1583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99" t="21515" r="9759" b="14519"/>
              <a:stretch/>
            </p:blipFill>
            <p:spPr>
              <a:xfrm>
                <a:off x="923003" y="3917552"/>
                <a:ext cx="1076356" cy="1040476"/>
              </a:xfrm>
              <a:prstGeom prst="round2DiagRect">
                <a:avLst>
                  <a:gd name="adj1" fmla="val 30509"/>
                  <a:gd name="adj2" fmla="val 0"/>
                </a:avLst>
              </a:prstGeom>
              <a:ln w="38100" cap="sq">
                <a:solidFill>
                  <a:srgbClr val="91720D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FB11C65-8BD6-48B2-A424-E6F4B06755C4}"/>
              </a:ext>
            </a:extLst>
          </p:cNvPr>
          <p:cNvSpPr txBox="1"/>
          <p:nvPr/>
        </p:nvSpPr>
        <p:spPr>
          <a:xfrm>
            <a:off x="12906469" y="11925737"/>
            <a:ext cx="28623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/>
              <p:nvPr/>
            </p:nvSpPr>
            <p:spPr>
              <a:xfrm>
                <a:off x="1068060" y="2851860"/>
                <a:ext cx="23156334" cy="1446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tam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vuông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là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𝑩𝑪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Khẳng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đây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? </a:t>
                </a:r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060" y="2851860"/>
                <a:ext cx="23156334" cy="1446550"/>
              </a:xfrm>
              <a:prstGeom prst="rect">
                <a:avLst/>
              </a:prstGeom>
              <a:blipFill>
                <a:blip r:embed="rId8"/>
                <a:stretch>
                  <a:fillRect l="-1053" t="-9283" b="-19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A83578B6-5D84-44C8-B0F6-A7172A06B791}"/>
                  </a:ext>
                </a:extLst>
              </p:cNvPr>
              <p:cNvSpPr txBox="1"/>
              <p:nvPr/>
            </p:nvSpPr>
            <p:spPr>
              <a:xfrm>
                <a:off x="4200971" y="9458292"/>
                <a:ext cx="9959574" cy="856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𝑴𝑩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=−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𝑴𝑪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A83578B6-5D84-44C8-B0F6-A7172A06B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971" y="9458292"/>
                <a:ext cx="9959574" cy="8560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41">
            <a:extLst>
              <a:ext uri="{FF2B5EF4-FFF2-40B4-BE49-F238E27FC236}">
                <a16:creationId xmlns:a16="http://schemas.microsoft.com/office/drawing/2014/main" id="{338396A4-752C-4061-BFEA-82806B55376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2771" y="8223092"/>
            <a:ext cx="5105400" cy="445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Rounded Rectangle 3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765841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9" grpId="0"/>
      <p:bldP spid="30" grpId="0"/>
      <p:bldP spid="3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313519-0C89-483D-A08E-CF6067282148}"/>
              </a:ext>
            </a:extLst>
          </p:cNvPr>
          <p:cNvGrpSpPr/>
          <p:nvPr/>
        </p:nvGrpSpPr>
        <p:grpSpPr>
          <a:xfrm>
            <a:off x="219728" y="7369787"/>
            <a:ext cx="23862374" cy="5716250"/>
            <a:chOff x="48567" y="4381499"/>
            <a:chExt cx="23018772" cy="5716249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5B1AB244-3D78-416D-AEF1-35CC4562B7A3}"/>
                </a:ext>
              </a:extLst>
            </p:cNvPr>
            <p:cNvSpPr/>
            <p:nvPr/>
          </p:nvSpPr>
          <p:spPr>
            <a:xfrm>
              <a:off x="385312" y="4941556"/>
              <a:ext cx="22682027" cy="5156192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400" b="1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FC852D-338F-4593-BDAE-4432C24EAC82}"/>
                </a:ext>
              </a:extLst>
            </p:cNvPr>
            <p:cNvGrpSpPr/>
            <p:nvPr/>
          </p:nvGrpSpPr>
          <p:grpSpPr>
            <a:xfrm>
              <a:off x="48567" y="4381499"/>
              <a:ext cx="3991940" cy="1079474"/>
              <a:chOff x="410517" y="4648199"/>
              <a:chExt cx="3991940" cy="1079474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20085AD8-BD87-4A35-B6D4-9AE383128185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421084" y="3633167"/>
                <a:ext cx="966341" cy="2996405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4400" b="1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C0313-9358-457E-845F-D4B035AC31D3}"/>
                  </a:ext>
                </a:extLst>
              </p:cNvPr>
              <p:cNvSpPr txBox="1"/>
              <p:nvPr/>
            </p:nvSpPr>
            <p:spPr>
              <a:xfrm>
                <a:off x="1406054" y="4732063"/>
                <a:ext cx="2872839" cy="76944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400" b="1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B75B5B9-D442-4C6E-96A9-9A573FE06D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0"/>
                <a:ext cx="1058947" cy="1079473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A8B4DB7-EFF8-4AF8-B0FA-839D4C447E82}"/>
              </a:ext>
            </a:extLst>
          </p:cNvPr>
          <p:cNvGrpSpPr/>
          <p:nvPr/>
        </p:nvGrpSpPr>
        <p:grpSpPr>
          <a:xfrm>
            <a:off x="353578" y="4981576"/>
            <a:ext cx="23870815" cy="1446550"/>
            <a:chOff x="241306" y="2181880"/>
            <a:chExt cx="11778089" cy="723275"/>
          </a:xfrm>
          <a:solidFill>
            <a:srgbClr val="327E3B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/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𝑵𝑪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78679C-83F1-4149-AB69-2BCAF6D951FA}"/>
                </a:ext>
              </a:extLst>
            </p:cNvPr>
            <p:cNvSpPr/>
            <p:nvPr/>
          </p:nvSpPr>
          <p:spPr>
            <a:xfrm>
              <a:off x="3247742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/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𝑨𝑴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8947F5-5540-4A85-BACE-6641A507F5A0}"/>
                </a:ext>
              </a:extLst>
            </p:cNvPr>
            <p:cNvSpPr/>
            <p:nvPr/>
          </p:nvSpPr>
          <p:spPr>
            <a:xfrm>
              <a:off x="241306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/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𝑩𝑪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𝑴𝑵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7BF74FF-3652-4371-9E0B-A97FA806BC48}"/>
                </a:ext>
              </a:extLst>
            </p:cNvPr>
            <p:cNvSpPr/>
            <p:nvPr/>
          </p:nvSpPr>
          <p:spPr>
            <a:xfrm>
              <a:off x="6254178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/>
                <p:nvPr/>
              </p:nvSpPr>
              <p:spPr>
                <a:xfrm>
                  <a:off x="9551160" y="2181880"/>
                  <a:ext cx="2468235" cy="723275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𝑪𝑵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en-US" b="1"/>
                          <m:t> 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1160" y="2181880"/>
                  <a:ext cx="2468235" cy="7232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B907C0F-6FC4-4852-8CFD-AD2FACA13C7F}"/>
                </a:ext>
              </a:extLst>
            </p:cNvPr>
            <p:cNvSpPr/>
            <p:nvPr/>
          </p:nvSpPr>
          <p:spPr>
            <a:xfrm>
              <a:off x="9260615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3AF6DD6E-C69C-4024-A5BF-FE21EA5DD223}"/>
              </a:ext>
            </a:extLst>
          </p:cNvPr>
          <p:cNvSpPr/>
          <p:nvPr/>
        </p:nvSpPr>
        <p:spPr>
          <a:xfrm>
            <a:off x="12554373" y="5233886"/>
            <a:ext cx="1080000" cy="1060047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06450E-ACA8-42F7-B878-4360BA0CBA71}"/>
              </a:ext>
            </a:extLst>
          </p:cNvPr>
          <p:cNvGrpSpPr/>
          <p:nvPr/>
        </p:nvGrpSpPr>
        <p:grpSpPr>
          <a:xfrm>
            <a:off x="59835" y="1935874"/>
            <a:ext cx="23888416" cy="2572279"/>
            <a:chOff x="923003" y="3917552"/>
            <a:chExt cx="23888416" cy="2572278"/>
          </a:xfrm>
        </p:grpSpPr>
        <p:sp>
          <p:nvSpPr>
            <p:cNvPr id="19" name="Rounded Rectangle 41">
              <a:extLst>
                <a:ext uri="{FF2B5EF4-FFF2-40B4-BE49-F238E27FC236}">
                  <a16:creationId xmlns:a16="http://schemas.microsoft.com/office/drawing/2014/main" id="{CC866FB0-B137-49F3-A47E-0B1A18FC432E}"/>
                </a:ext>
              </a:extLst>
            </p:cNvPr>
            <p:cNvSpPr/>
            <p:nvPr/>
          </p:nvSpPr>
          <p:spPr>
            <a:xfrm>
              <a:off x="1216747" y="4597669"/>
              <a:ext cx="23594672" cy="1892161"/>
            </a:xfrm>
            <a:prstGeom prst="roundRect">
              <a:avLst>
                <a:gd name="adj" fmla="val 10158"/>
              </a:avLst>
            </a:prstGeom>
            <a:solidFill>
              <a:srgbClr val="FEEBB0"/>
            </a:solidFill>
            <a:ln w="12700">
              <a:solidFill>
                <a:srgbClr val="91720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                 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1E96746-B33C-4D41-836E-CA7E0074841E}"/>
                </a:ext>
              </a:extLst>
            </p:cNvPr>
            <p:cNvGrpSpPr/>
            <p:nvPr/>
          </p:nvGrpSpPr>
          <p:grpSpPr>
            <a:xfrm>
              <a:off x="923003" y="3917552"/>
              <a:ext cx="3942102" cy="1040476"/>
              <a:chOff x="923003" y="3917552"/>
              <a:chExt cx="3942102" cy="104047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719E236-B0D7-442E-8A08-3228625765BF}"/>
                  </a:ext>
                </a:extLst>
              </p:cNvPr>
              <p:cNvGrpSpPr/>
              <p:nvPr/>
            </p:nvGrpSpPr>
            <p:grpSpPr>
              <a:xfrm>
                <a:off x="1362045" y="4022855"/>
                <a:ext cx="3503060" cy="865576"/>
                <a:chOff x="2028795" y="4384805"/>
                <a:chExt cx="3503060" cy="865576"/>
              </a:xfrm>
            </p:grpSpPr>
            <p:sp>
              <p:nvSpPr>
                <p:cNvPr id="23" name="Freeform 20">
                  <a:extLst>
                    <a:ext uri="{FF2B5EF4-FFF2-40B4-BE49-F238E27FC236}">
                      <a16:creationId xmlns:a16="http://schemas.microsoft.com/office/drawing/2014/main" id="{B393AAC4-D254-453D-8479-B404D455FF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3364273" y="3082799"/>
                  <a:ext cx="832104" cy="3503060"/>
                </a:xfrm>
                <a:prstGeom prst="round2SameRect">
                  <a:avLst>
                    <a:gd name="adj1" fmla="val 19445"/>
                    <a:gd name="adj2" fmla="val 0"/>
                  </a:avLst>
                </a:prstGeom>
                <a:solidFill>
                  <a:srgbClr val="FFF9BC"/>
                </a:solidFill>
                <a:ln w="57150">
                  <a:solidFill>
                    <a:srgbClr val="91720D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641E29D-906E-4634-ADED-96B1E8DA8216}"/>
                    </a:ext>
                  </a:extLst>
                </p:cNvPr>
                <p:cNvSpPr txBox="1"/>
                <p:nvPr/>
              </p:nvSpPr>
              <p:spPr>
                <a:xfrm>
                  <a:off x="2542253" y="4384805"/>
                  <a:ext cx="2895398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vi-VN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CÂU</a:t>
                  </a:r>
                  <a:r>
                    <a:rPr lang="en-US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10</a:t>
                  </a:r>
                  <a:r>
                    <a:rPr lang="vi-VN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</a:t>
                  </a:r>
                  <a:endParaRPr lang="en-US" sz="44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50C43C-37F7-4A87-880E-749F8F1583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99" t="21515" r="9759" b="14519"/>
              <a:stretch/>
            </p:blipFill>
            <p:spPr>
              <a:xfrm>
                <a:off x="923003" y="3917552"/>
                <a:ext cx="1076356" cy="1040476"/>
              </a:xfrm>
              <a:prstGeom prst="round2DiagRect">
                <a:avLst>
                  <a:gd name="adj1" fmla="val 30509"/>
                  <a:gd name="adj2" fmla="val 0"/>
                </a:avLst>
              </a:prstGeom>
              <a:ln w="38100" cap="sq">
                <a:solidFill>
                  <a:srgbClr val="91720D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FB11C65-8BD6-48B2-A424-E6F4B06755C4}"/>
              </a:ext>
            </a:extLst>
          </p:cNvPr>
          <p:cNvSpPr txBox="1"/>
          <p:nvPr/>
        </p:nvSpPr>
        <p:spPr>
          <a:xfrm>
            <a:off x="12906469" y="11925737"/>
            <a:ext cx="28623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/>
              <p:nvPr/>
            </p:nvSpPr>
            <p:spPr>
              <a:xfrm>
                <a:off x="1068060" y="2851860"/>
                <a:ext cx="23156334" cy="1446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tam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𝑨𝑩𝑪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lần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lượt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là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𝑨𝑪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Khẳng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đây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sai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? </a:t>
                </a:r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060" y="2851860"/>
                <a:ext cx="23156334" cy="1446550"/>
              </a:xfrm>
              <a:prstGeom prst="rect">
                <a:avLst/>
              </a:prstGeom>
              <a:blipFill>
                <a:blip r:embed="rId8"/>
                <a:stretch>
                  <a:fillRect l="-1053" t="-9283" r="-974" b="-19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A83578B6-5D84-44C8-B0F6-A7172A06B791}"/>
                  </a:ext>
                </a:extLst>
              </p:cNvPr>
              <p:cNvSpPr txBox="1"/>
              <p:nvPr/>
            </p:nvSpPr>
            <p:spPr>
              <a:xfrm>
                <a:off x="3443633" y="8809729"/>
                <a:ext cx="11567870" cy="27935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ì 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𝑴𝑵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à đườ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ng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trung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ì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nh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ủ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tam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gi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á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𝑨𝑩𝑪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ê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𝑴𝑵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// 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𝑩𝑪</m:t>
                      </m:r>
                      <m:r>
                        <a:rPr lang="en-US" sz="4400" b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𝑴𝑵</m:t>
                      </m:r>
                      <m:r>
                        <a:rPr lang="en-US" sz="4400" b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𝑩𝑪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</m:oMath>
                  </m:oMathPara>
                </a14:m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Suy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ra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𝑩𝑪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𝟐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𝑴𝑵</m:t>
                          </m:r>
                        </m:e>
                      </m:acc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.</m:t>
                      </m:r>
                    </m:oMath>
                  </m:oMathPara>
                </a14:m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A83578B6-5D84-44C8-B0F6-A7172A06B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633" y="8809729"/>
                <a:ext cx="11567870" cy="2793522"/>
              </a:xfrm>
              <a:prstGeom prst="rect">
                <a:avLst/>
              </a:prstGeom>
              <a:blipFill>
                <a:blip r:embed="rId9"/>
                <a:stretch>
                  <a:fillRect t="-10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42">
            <a:extLst>
              <a:ext uri="{FF2B5EF4-FFF2-40B4-BE49-F238E27FC236}">
                <a16:creationId xmlns:a16="http://schemas.microsoft.com/office/drawing/2014/main" id="{81184145-D814-478A-B311-D59E81E9B63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0396" y="8281393"/>
            <a:ext cx="5334764" cy="441378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Rounded Rectangle 3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1044510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9" grpId="0"/>
      <p:bldP spid="30" grpId="0"/>
      <p:bldP spid="3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313519-0C89-483D-A08E-CF6067282148}"/>
              </a:ext>
            </a:extLst>
          </p:cNvPr>
          <p:cNvGrpSpPr/>
          <p:nvPr/>
        </p:nvGrpSpPr>
        <p:grpSpPr>
          <a:xfrm>
            <a:off x="219728" y="7369787"/>
            <a:ext cx="23862374" cy="5716250"/>
            <a:chOff x="48567" y="4381499"/>
            <a:chExt cx="23018772" cy="5716249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5B1AB244-3D78-416D-AEF1-35CC4562B7A3}"/>
                </a:ext>
              </a:extLst>
            </p:cNvPr>
            <p:cNvSpPr/>
            <p:nvPr/>
          </p:nvSpPr>
          <p:spPr>
            <a:xfrm>
              <a:off x="385312" y="4941556"/>
              <a:ext cx="22682027" cy="5156192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400" b="1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FC852D-338F-4593-BDAE-4432C24EAC82}"/>
                </a:ext>
              </a:extLst>
            </p:cNvPr>
            <p:cNvGrpSpPr/>
            <p:nvPr/>
          </p:nvGrpSpPr>
          <p:grpSpPr>
            <a:xfrm>
              <a:off x="48567" y="4381499"/>
              <a:ext cx="3991940" cy="1079474"/>
              <a:chOff x="410517" y="4648199"/>
              <a:chExt cx="3991940" cy="1079474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20085AD8-BD87-4A35-B6D4-9AE383128185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421084" y="3633167"/>
                <a:ext cx="966341" cy="2996405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4400" b="1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C0313-9358-457E-845F-D4B035AC31D3}"/>
                  </a:ext>
                </a:extLst>
              </p:cNvPr>
              <p:cNvSpPr txBox="1"/>
              <p:nvPr/>
            </p:nvSpPr>
            <p:spPr>
              <a:xfrm>
                <a:off x="1406054" y="4732063"/>
                <a:ext cx="2872839" cy="76944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400" b="1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B75B5B9-D442-4C6E-96A9-9A573FE06D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0"/>
                <a:ext cx="1058947" cy="1079473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A8B4DB7-EFF8-4AF8-B0FA-839D4C447E82}"/>
              </a:ext>
            </a:extLst>
          </p:cNvPr>
          <p:cNvGrpSpPr/>
          <p:nvPr/>
        </p:nvGrpSpPr>
        <p:grpSpPr>
          <a:xfrm>
            <a:off x="252247" y="4946891"/>
            <a:ext cx="23921162" cy="1737428"/>
            <a:chOff x="216464" y="2167592"/>
            <a:chExt cx="11802931" cy="868714"/>
          </a:xfrm>
          <a:solidFill>
            <a:srgbClr val="327E3B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/>
                <p:nvPr/>
              </p:nvSpPr>
              <p:spPr>
                <a:xfrm>
                  <a:off x="3538287" y="2167592"/>
                  <a:ext cx="2468235" cy="868714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e>
                            </m:acc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𝑨𝑪</m:t>
                                </m:r>
                              </m:e>
                            </m:acc>
                          </m:e>
                        </m:d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ad>
                              <m:radPr>
                                <m:degHide m:val="on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rad>
                          </m:num>
                          <m:den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8287" y="2167592"/>
                  <a:ext cx="2468235" cy="86871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78679C-83F1-4149-AB69-2BCAF6D951FA}"/>
                </a:ext>
              </a:extLst>
            </p:cNvPr>
            <p:cNvSpPr/>
            <p:nvPr/>
          </p:nvSpPr>
          <p:spPr>
            <a:xfrm>
              <a:off x="3090861" y="2344549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</a:t>
              </a:r>
              <a:endParaRPr lang="en-US" sz="4400" b="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/>
                <p:nvPr/>
              </p:nvSpPr>
              <p:spPr>
                <a:xfrm>
                  <a:off x="372661" y="2243792"/>
                  <a:ext cx="2665277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     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e>
                            </m:acc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𝑨𝑪</m:t>
                                </m:r>
                              </m:e>
                            </m:acc>
                          </m:e>
                        </m:d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𝒂</m:t>
                        </m:r>
                        <m:rad>
                          <m:radPr>
                            <m:degHide m:val="on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661" y="2243792"/>
                  <a:ext cx="2665277" cy="61726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8947F5-5540-4A85-BACE-6641A507F5A0}"/>
                </a:ext>
              </a:extLst>
            </p:cNvPr>
            <p:cNvSpPr/>
            <p:nvPr/>
          </p:nvSpPr>
          <p:spPr>
            <a:xfrm>
              <a:off x="216464" y="2273668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/>
                <p:nvPr/>
              </p:nvSpPr>
              <p:spPr>
                <a:xfrm>
                  <a:off x="6506871" y="2275536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e>
                            </m:acc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𝑨𝑪</m:t>
                                </m:r>
                              </m:e>
                            </m:acc>
                          </m:e>
                        </m:d>
                        <m:r>
                          <a:rPr lang="en-US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6871" y="2275536"/>
                  <a:ext cx="2468235" cy="61726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7BF74FF-3652-4371-9E0B-A97FA806BC48}"/>
                </a:ext>
              </a:extLst>
            </p:cNvPr>
            <p:cNvSpPr/>
            <p:nvPr/>
          </p:nvSpPr>
          <p:spPr>
            <a:xfrm>
              <a:off x="6254178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/>
                <p:nvPr/>
              </p:nvSpPr>
              <p:spPr>
                <a:xfrm>
                  <a:off x="9428702" y="2181880"/>
                  <a:ext cx="2590693" cy="723275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e>
                            </m:acc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𝑨𝑪</m:t>
                                </m:r>
                              </m:e>
                            </m:acc>
                          </m:e>
                        </m:d>
                        <m:r>
                          <a:rPr lang="en-US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  <m:rad>
                          <m:radPr>
                            <m:degHide m:val="on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  <m:r>
                          <a:rPr lang="en-US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8702" y="2181880"/>
                  <a:ext cx="2590693" cy="7232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B907C0F-6FC4-4852-8CFD-AD2FACA13C7F}"/>
                </a:ext>
              </a:extLst>
            </p:cNvPr>
            <p:cNvSpPr/>
            <p:nvPr/>
          </p:nvSpPr>
          <p:spPr>
            <a:xfrm>
              <a:off x="9033503" y="2316848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3AF6DD6E-C69C-4024-A5BF-FE21EA5DD223}"/>
              </a:ext>
            </a:extLst>
          </p:cNvPr>
          <p:cNvSpPr/>
          <p:nvPr/>
        </p:nvSpPr>
        <p:spPr>
          <a:xfrm>
            <a:off x="183042" y="5141118"/>
            <a:ext cx="1080000" cy="1060047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06450E-ACA8-42F7-B878-4360BA0CBA71}"/>
              </a:ext>
            </a:extLst>
          </p:cNvPr>
          <p:cNvGrpSpPr/>
          <p:nvPr/>
        </p:nvGrpSpPr>
        <p:grpSpPr>
          <a:xfrm>
            <a:off x="59835" y="1935874"/>
            <a:ext cx="23888416" cy="2572279"/>
            <a:chOff x="923003" y="3917552"/>
            <a:chExt cx="23888416" cy="2572278"/>
          </a:xfrm>
        </p:grpSpPr>
        <p:sp>
          <p:nvSpPr>
            <p:cNvPr id="19" name="Rounded Rectangle 41">
              <a:extLst>
                <a:ext uri="{FF2B5EF4-FFF2-40B4-BE49-F238E27FC236}">
                  <a16:creationId xmlns:a16="http://schemas.microsoft.com/office/drawing/2014/main" id="{CC866FB0-B137-49F3-A47E-0B1A18FC432E}"/>
                </a:ext>
              </a:extLst>
            </p:cNvPr>
            <p:cNvSpPr/>
            <p:nvPr/>
          </p:nvSpPr>
          <p:spPr>
            <a:xfrm>
              <a:off x="1216747" y="4597669"/>
              <a:ext cx="23594672" cy="1892161"/>
            </a:xfrm>
            <a:prstGeom prst="roundRect">
              <a:avLst>
                <a:gd name="adj" fmla="val 10158"/>
              </a:avLst>
            </a:prstGeom>
            <a:solidFill>
              <a:srgbClr val="FEEBB0"/>
            </a:solidFill>
            <a:ln w="12700">
              <a:solidFill>
                <a:srgbClr val="91720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                 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1E96746-B33C-4D41-836E-CA7E0074841E}"/>
                </a:ext>
              </a:extLst>
            </p:cNvPr>
            <p:cNvGrpSpPr/>
            <p:nvPr/>
          </p:nvGrpSpPr>
          <p:grpSpPr>
            <a:xfrm>
              <a:off x="923003" y="3917552"/>
              <a:ext cx="3942102" cy="1040476"/>
              <a:chOff x="923003" y="3917552"/>
              <a:chExt cx="3942102" cy="104047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719E236-B0D7-442E-8A08-3228625765BF}"/>
                  </a:ext>
                </a:extLst>
              </p:cNvPr>
              <p:cNvGrpSpPr/>
              <p:nvPr/>
            </p:nvGrpSpPr>
            <p:grpSpPr>
              <a:xfrm>
                <a:off x="1362045" y="4022855"/>
                <a:ext cx="3503060" cy="865576"/>
                <a:chOff x="2028795" y="4384805"/>
                <a:chExt cx="3503060" cy="865576"/>
              </a:xfrm>
            </p:grpSpPr>
            <p:sp>
              <p:nvSpPr>
                <p:cNvPr id="23" name="Freeform 20">
                  <a:extLst>
                    <a:ext uri="{FF2B5EF4-FFF2-40B4-BE49-F238E27FC236}">
                      <a16:creationId xmlns:a16="http://schemas.microsoft.com/office/drawing/2014/main" id="{B393AAC4-D254-453D-8479-B404D455FF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3364273" y="3082799"/>
                  <a:ext cx="832104" cy="3503060"/>
                </a:xfrm>
                <a:prstGeom prst="round2SameRect">
                  <a:avLst>
                    <a:gd name="adj1" fmla="val 19445"/>
                    <a:gd name="adj2" fmla="val 0"/>
                  </a:avLst>
                </a:prstGeom>
                <a:solidFill>
                  <a:srgbClr val="FFF9BC"/>
                </a:solidFill>
                <a:ln w="57150">
                  <a:solidFill>
                    <a:srgbClr val="91720D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641E29D-906E-4634-ADED-96B1E8DA8216}"/>
                    </a:ext>
                  </a:extLst>
                </p:cNvPr>
                <p:cNvSpPr txBox="1"/>
                <p:nvPr/>
              </p:nvSpPr>
              <p:spPr>
                <a:xfrm>
                  <a:off x="2542253" y="4384805"/>
                  <a:ext cx="2895398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vi-VN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CÂU</a:t>
                  </a:r>
                  <a:r>
                    <a:rPr lang="en-US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11</a:t>
                  </a:r>
                  <a:r>
                    <a:rPr lang="vi-VN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</a:t>
                  </a:r>
                  <a:endParaRPr lang="en-US" sz="44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50C43C-37F7-4A87-880E-749F8F1583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99" t="21515" r="9759" b="14519"/>
              <a:stretch/>
            </p:blipFill>
            <p:spPr>
              <a:xfrm>
                <a:off x="923003" y="3917552"/>
                <a:ext cx="1076356" cy="1040476"/>
              </a:xfrm>
              <a:prstGeom prst="round2DiagRect">
                <a:avLst>
                  <a:gd name="adj1" fmla="val 30509"/>
                  <a:gd name="adj2" fmla="val 0"/>
                </a:avLst>
              </a:prstGeom>
              <a:ln w="38100" cap="sq">
                <a:solidFill>
                  <a:srgbClr val="91720D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FB11C65-8BD6-48B2-A424-E6F4B06755C4}"/>
              </a:ext>
            </a:extLst>
          </p:cNvPr>
          <p:cNvSpPr txBox="1"/>
          <p:nvPr/>
        </p:nvSpPr>
        <p:spPr>
          <a:xfrm>
            <a:off x="12906469" y="11925737"/>
            <a:ext cx="28623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/>
              <p:nvPr/>
            </p:nvSpPr>
            <p:spPr>
              <a:xfrm>
                <a:off x="1068060" y="2851860"/>
                <a:ext cx="23156334" cy="910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tam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đều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cạnh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060" y="2851860"/>
                <a:ext cx="23156334" cy="910314"/>
              </a:xfrm>
              <a:prstGeom prst="rect">
                <a:avLst/>
              </a:prstGeom>
              <a:blipFill>
                <a:blip r:embed="rId8"/>
                <a:stretch>
                  <a:fillRect l="-1053" t="-5369" b="-248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A83578B6-5D84-44C8-B0F6-A7172A06B791}"/>
                  </a:ext>
                </a:extLst>
              </p:cNvPr>
              <p:cNvSpPr txBox="1"/>
              <p:nvPr/>
            </p:nvSpPr>
            <p:spPr>
              <a:xfrm>
                <a:off x="3443633" y="8809729"/>
                <a:ext cx="11567870" cy="19963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𝑨𝑯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|"/>
                        <m:endChr m:val="|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begChr m:val="|"/>
                        <m:endChr m:val="|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𝑨𝑯</m:t>
                            </m:r>
                          </m:e>
                        </m:acc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𝒂</m:t>
                        </m:r>
                        <m:rad>
                          <m:radPr>
                            <m:degHide m:val="on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𝒂</m:t>
                    </m:r>
                    <m:rad>
                      <m:radPr>
                        <m:degHide m:val="on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  <m:r>
                      <a:rPr lang="en-US" sz="44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A83578B6-5D84-44C8-B0F6-A7172A06B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633" y="8809729"/>
                <a:ext cx="11567870" cy="19963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11">
            <a:extLst>
              <a:ext uri="{FF2B5EF4-FFF2-40B4-BE49-F238E27FC236}">
                <a16:creationId xmlns:a16="http://schemas.microsoft.com/office/drawing/2014/main" id="{B689FA76-0383-497D-AA98-F1A77AB01C9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1116" y="8223092"/>
            <a:ext cx="4433107" cy="427421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Rounded Rectangle 3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6188144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9" grpId="0"/>
      <p:bldP spid="30" grpId="0"/>
      <p:bldP spid="3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313519-0C89-483D-A08E-CF6067282148}"/>
              </a:ext>
            </a:extLst>
          </p:cNvPr>
          <p:cNvGrpSpPr/>
          <p:nvPr/>
        </p:nvGrpSpPr>
        <p:grpSpPr>
          <a:xfrm>
            <a:off x="219728" y="7369787"/>
            <a:ext cx="23862374" cy="5716250"/>
            <a:chOff x="48567" y="4381499"/>
            <a:chExt cx="23018772" cy="5716249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5B1AB244-3D78-416D-AEF1-35CC4562B7A3}"/>
                </a:ext>
              </a:extLst>
            </p:cNvPr>
            <p:cNvSpPr/>
            <p:nvPr/>
          </p:nvSpPr>
          <p:spPr>
            <a:xfrm>
              <a:off x="385312" y="4941556"/>
              <a:ext cx="22682027" cy="5156192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400" b="1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FC852D-338F-4593-BDAE-4432C24EAC82}"/>
                </a:ext>
              </a:extLst>
            </p:cNvPr>
            <p:cNvGrpSpPr/>
            <p:nvPr/>
          </p:nvGrpSpPr>
          <p:grpSpPr>
            <a:xfrm>
              <a:off x="48567" y="4381499"/>
              <a:ext cx="3991940" cy="1079474"/>
              <a:chOff x="410517" y="4648199"/>
              <a:chExt cx="3991940" cy="1079474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20085AD8-BD87-4A35-B6D4-9AE383128185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421084" y="3633167"/>
                <a:ext cx="966341" cy="2996405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4400" b="1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C0313-9358-457E-845F-D4B035AC31D3}"/>
                  </a:ext>
                </a:extLst>
              </p:cNvPr>
              <p:cNvSpPr txBox="1"/>
              <p:nvPr/>
            </p:nvSpPr>
            <p:spPr>
              <a:xfrm>
                <a:off x="1406054" y="4732063"/>
                <a:ext cx="2872839" cy="76944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400" b="1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B75B5B9-D442-4C6E-96A9-9A573FE06D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0"/>
                <a:ext cx="1058947" cy="1079473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A8B4DB7-EFF8-4AF8-B0FA-839D4C447E82}"/>
              </a:ext>
            </a:extLst>
          </p:cNvPr>
          <p:cNvGrpSpPr/>
          <p:nvPr/>
        </p:nvGrpSpPr>
        <p:grpSpPr>
          <a:xfrm>
            <a:off x="353578" y="4946246"/>
            <a:ext cx="23870815" cy="1752600"/>
            <a:chOff x="241306" y="2164215"/>
            <a:chExt cx="11778089" cy="876300"/>
          </a:xfrm>
          <a:solidFill>
            <a:srgbClr val="327E3B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/>
                <p:nvPr/>
              </p:nvSpPr>
              <p:spPr>
                <a:xfrm>
                  <a:off x="3538287" y="2164215"/>
                  <a:ext cx="2580419" cy="876300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e>
                            </m:acc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𝑨𝑪</m:t>
                                </m:r>
                              </m:e>
                            </m:acc>
                          </m:e>
                        </m:d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ad>
                              <m:radPr>
                                <m:degHide m:val="on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rad>
                          </m:num>
                          <m:den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8287" y="2164215"/>
                  <a:ext cx="2580419" cy="8763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78679C-83F1-4149-AB69-2BCAF6D951FA}"/>
                </a:ext>
              </a:extLst>
            </p:cNvPr>
            <p:cNvSpPr/>
            <p:nvPr/>
          </p:nvSpPr>
          <p:spPr>
            <a:xfrm>
              <a:off x="3247742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/>
                <p:nvPr/>
              </p:nvSpPr>
              <p:spPr>
                <a:xfrm>
                  <a:off x="531851" y="2243792"/>
                  <a:ext cx="2580419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e>
                            </m:acc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𝑨𝑪</m:t>
                                </m:r>
                              </m:e>
                            </m:acc>
                          </m:e>
                        </m:d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𝒂</m:t>
                        </m:r>
                        <m:rad>
                          <m:radPr>
                            <m:degHide m:val="on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rad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851" y="2243792"/>
                  <a:ext cx="2580419" cy="61726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8947F5-5540-4A85-BACE-6641A507F5A0}"/>
                </a:ext>
              </a:extLst>
            </p:cNvPr>
            <p:cNvSpPr/>
            <p:nvPr/>
          </p:nvSpPr>
          <p:spPr>
            <a:xfrm>
              <a:off x="241306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/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e>
                            </m:acc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𝑨𝑪</m:t>
                                </m:r>
                              </m:e>
                            </m:acc>
                          </m:e>
                        </m:d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7BF74FF-3652-4371-9E0B-A97FA806BC48}"/>
                </a:ext>
              </a:extLst>
            </p:cNvPr>
            <p:cNvSpPr/>
            <p:nvPr/>
          </p:nvSpPr>
          <p:spPr>
            <a:xfrm>
              <a:off x="6254178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/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e>
                            </m:acc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𝑨𝑪</m:t>
                                </m:r>
                              </m:e>
                            </m:acc>
                          </m:e>
                        </m:d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B907C0F-6FC4-4852-8CFD-AD2FACA13C7F}"/>
                </a:ext>
              </a:extLst>
            </p:cNvPr>
            <p:cNvSpPr/>
            <p:nvPr/>
          </p:nvSpPr>
          <p:spPr>
            <a:xfrm>
              <a:off x="9260615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3AF6DD6E-C69C-4024-A5BF-FE21EA5DD223}"/>
              </a:ext>
            </a:extLst>
          </p:cNvPr>
          <p:cNvSpPr/>
          <p:nvPr/>
        </p:nvSpPr>
        <p:spPr>
          <a:xfrm>
            <a:off x="368003" y="5206149"/>
            <a:ext cx="1080000" cy="1060047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endParaRPr lang="en-US" sz="44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06450E-ACA8-42F7-B878-4360BA0CBA71}"/>
              </a:ext>
            </a:extLst>
          </p:cNvPr>
          <p:cNvGrpSpPr/>
          <p:nvPr/>
        </p:nvGrpSpPr>
        <p:grpSpPr>
          <a:xfrm>
            <a:off x="59835" y="1935874"/>
            <a:ext cx="23888416" cy="2572279"/>
            <a:chOff x="923003" y="3917552"/>
            <a:chExt cx="23888416" cy="2572278"/>
          </a:xfrm>
        </p:grpSpPr>
        <p:sp>
          <p:nvSpPr>
            <p:cNvPr id="19" name="Rounded Rectangle 41">
              <a:extLst>
                <a:ext uri="{FF2B5EF4-FFF2-40B4-BE49-F238E27FC236}">
                  <a16:creationId xmlns:a16="http://schemas.microsoft.com/office/drawing/2014/main" id="{CC866FB0-B137-49F3-A47E-0B1A18FC432E}"/>
                </a:ext>
              </a:extLst>
            </p:cNvPr>
            <p:cNvSpPr/>
            <p:nvPr/>
          </p:nvSpPr>
          <p:spPr>
            <a:xfrm>
              <a:off x="1216747" y="4597669"/>
              <a:ext cx="23594672" cy="1892161"/>
            </a:xfrm>
            <a:prstGeom prst="roundRect">
              <a:avLst>
                <a:gd name="adj" fmla="val 10158"/>
              </a:avLst>
            </a:prstGeom>
            <a:solidFill>
              <a:srgbClr val="FEEBB0"/>
            </a:solidFill>
            <a:ln w="12700">
              <a:solidFill>
                <a:srgbClr val="91720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                 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1E96746-B33C-4D41-836E-CA7E0074841E}"/>
                </a:ext>
              </a:extLst>
            </p:cNvPr>
            <p:cNvGrpSpPr/>
            <p:nvPr/>
          </p:nvGrpSpPr>
          <p:grpSpPr>
            <a:xfrm>
              <a:off x="923003" y="3917552"/>
              <a:ext cx="3942102" cy="1040476"/>
              <a:chOff x="923003" y="3917552"/>
              <a:chExt cx="3942102" cy="104047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719E236-B0D7-442E-8A08-3228625765BF}"/>
                  </a:ext>
                </a:extLst>
              </p:cNvPr>
              <p:cNvGrpSpPr/>
              <p:nvPr/>
            </p:nvGrpSpPr>
            <p:grpSpPr>
              <a:xfrm>
                <a:off x="1362045" y="4022855"/>
                <a:ext cx="3503060" cy="865576"/>
                <a:chOff x="2028795" y="4384805"/>
                <a:chExt cx="3503060" cy="865576"/>
              </a:xfrm>
            </p:grpSpPr>
            <p:sp>
              <p:nvSpPr>
                <p:cNvPr id="23" name="Freeform 20">
                  <a:extLst>
                    <a:ext uri="{FF2B5EF4-FFF2-40B4-BE49-F238E27FC236}">
                      <a16:creationId xmlns:a16="http://schemas.microsoft.com/office/drawing/2014/main" id="{B393AAC4-D254-453D-8479-B404D455FF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3364273" y="3082799"/>
                  <a:ext cx="832104" cy="3503060"/>
                </a:xfrm>
                <a:prstGeom prst="round2SameRect">
                  <a:avLst>
                    <a:gd name="adj1" fmla="val 19445"/>
                    <a:gd name="adj2" fmla="val 0"/>
                  </a:avLst>
                </a:prstGeom>
                <a:solidFill>
                  <a:srgbClr val="FFF9BC"/>
                </a:solidFill>
                <a:ln w="57150">
                  <a:solidFill>
                    <a:srgbClr val="91720D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641E29D-906E-4634-ADED-96B1E8DA8216}"/>
                    </a:ext>
                  </a:extLst>
                </p:cNvPr>
                <p:cNvSpPr txBox="1"/>
                <p:nvPr/>
              </p:nvSpPr>
              <p:spPr>
                <a:xfrm>
                  <a:off x="2542253" y="4384805"/>
                  <a:ext cx="2895398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vi-VN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CÂU</a:t>
                  </a:r>
                  <a:r>
                    <a:rPr lang="en-US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12</a:t>
                  </a:r>
                  <a:r>
                    <a:rPr lang="vi-VN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</a:t>
                  </a:r>
                  <a:endParaRPr lang="en-US" sz="44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50C43C-37F7-4A87-880E-749F8F1583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99" t="21515" r="9759" b="14519"/>
              <a:stretch/>
            </p:blipFill>
            <p:spPr>
              <a:xfrm>
                <a:off x="923003" y="3917552"/>
                <a:ext cx="1076356" cy="1040476"/>
              </a:xfrm>
              <a:prstGeom prst="round2DiagRect">
                <a:avLst>
                  <a:gd name="adj1" fmla="val 30509"/>
                  <a:gd name="adj2" fmla="val 0"/>
                </a:avLst>
              </a:prstGeom>
              <a:ln w="38100" cap="sq">
                <a:solidFill>
                  <a:srgbClr val="91720D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FB11C65-8BD6-48B2-A424-E6F4B06755C4}"/>
              </a:ext>
            </a:extLst>
          </p:cNvPr>
          <p:cNvSpPr txBox="1"/>
          <p:nvPr/>
        </p:nvSpPr>
        <p:spPr>
          <a:xfrm>
            <a:off x="12906469" y="11925737"/>
            <a:ext cx="28623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/>
              <p:nvPr/>
            </p:nvSpPr>
            <p:spPr>
              <a:xfrm>
                <a:off x="1068060" y="2851860"/>
                <a:ext cx="23156334" cy="910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tam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vuông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cân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060" y="2851860"/>
                <a:ext cx="23156334" cy="910314"/>
              </a:xfrm>
              <a:prstGeom prst="rect">
                <a:avLst/>
              </a:prstGeom>
              <a:blipFill>
                <a:blip r:embed="rId8"/>
                <a:stretch>
                  <a:fillRect l="-1053" t="-5369" b="-248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A83578B6-5D84-44C8-B0F6-A7172A06B791}"/>
                  </a:ext>
                </a:extLst>
              </p:cNvPr>
              <p:cNvSpPr txBox="1"/>
              <p:nvPr/>
            </p:nvSpPr>
            <p:spPr>
              <a:xfrm>
                <a:off x="4200971" y="9458292"/>
                <a:ext cx="11567870" cy="19979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𝑨𝑯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|"/>
                        <m:endChr m:val="|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begChr m:val="|"/>
                        <m:endChr m:val="|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𝑨𝑯</m:t>
                            </m:r>
                          </m:e>
                        </m:acc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𝒂</m:t>
                        </m:r>
                        <m:rad>
                          <m:radPr>
                            <m:degHide m:val="on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rad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𝒂</m:t>
                    </m:r>
                    <m:rad>
                      <m:radPr>
                        <m:degHide m:val="on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  <m:r>
                      <a:rPr lang="en-US" sz="44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A83578B6-5D84-44C8-B0F6-A7172A06B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971" y="9458292"/>
                <a:ext cx="11567870" cy="1997919"/>
              </a:xfrm>
              <a:prstGeom prst="rect">
                <a:avLst/>
              </a:prstGeom>
              <a:blipFill>
                <a:blip r:embed="rId9"/>
                <a:stretch>
                  <a:fillRect b="-5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12">
            <a:extLst>
              <a:ext uri="{FF2B5EF4-FFF2-40B4-BE49-F238E27FC236}">
                <a16:creationId xmlns:a16="http://schemas.microsoft.com/office/drawing/2014/main" id="{30C543A8-DB89-494D-BA0E-A3EF5B891B8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3136" y="8235506"/>
            <a:ext cx="4494848" cy="4272099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Rounded Rectangle 3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0602081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9" grpId="0"/>
      <p:bldP spid="30" grpId="0"/>
      <p:bldP spid="3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313519-0C89-483D-A08E-CF6067282148}"/>
              </a:ext>
            </a:extLst>
          </p:cNvPr>
          <p:cNvGrpSpPr/>
          <p:nvPr/>
        </p:nvGrpSpPr>
        <p:grpSpPr>
          <a:xfrm>
            <a:off x="219728" y="7369787"/>
            <a:ext cx="23862374" cy="5716250"/>
            <a:chOff x="48567" y="4381499"/>
            <a:chExt cx="23018772" cy="5716249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5B1AB244-3D78-416D-AEF1-35CC4562B7A3}"/>
                </a:ext>
              </a:extLst>
            </p:cNvPr>
            <p:cNvSpPr/>
            <p:nvPr/>
          </p:nvSpPr>
          <p:spPr>
            <a:xfrm>
              <a:off x="385312" y="4941556"/>
              <a:ext cx="22682027" cy="5156192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400" b="1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FC852D-338F-4593-BDAE-4432C24EAC82}"/>
                </a:ext>
              </a:extLst>
            </p:cNvPr>
            <p:cNvGrpSpPr/>
            <p:nvPr/>
          </p:nvGrpSpPr>
          <p:grpSpPr>
            <a:xfrm>
              <a:off x="48567" y="4381499"/>
              <a:ext cx="3991940" cy="1079474"/>
              <a:chOff x="410517" y="4648199"/>
              <a:chExt cx="3991940" cy="1079474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20085AD8-BD87-4A35-B6D4-9AE383128185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421084" y="3633167"/>
                <a:ext cx="966341" cy="2996405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4400" b="1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C0313-9358-457E-845F-D4B035AC31D3}"/>
                  </a:ext>
                </a:extLst>
              </p:cNvPr>
              <p:cNvSpPr txBox="1"/>
              <p:nvPr/>
            </p:nvSpPr>
            <p:spPr>
              <a:xfrm>
                <a:off x="1406054" y="4732063"/>
                <a:ext cx="2872839" cy="76944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400" b="1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B75B5B9-D442-4C6E-96A9-9A573FE06D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0"/>
                <a:ext cx="1058947" cy="1079473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A8B4DB7-EFF8-4AF8-B0FA-839D4C447E82}"/>
              </a:ext>
            </a:extLst>
          </p:cNvPr>
          <p:cNvGrpSpPr/>
          <p:nvPr/>
        </p:nvGrpSpPr>
        <p:grpSpPr>
          <a:xfrm>
            <a:off x="353578" y="5105400"/>
            <a:ext cx="23775028" cy="1234536"/>
            <a:chOff x="241306" y="2243792"/>
            <a:chExt cx="11730827" cy="617268"/>
          </a:xfrm>
          <a:solidFill>
            <a:srgbClr val="327E3B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/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e>
                            </m:acc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𝑨𝑪</m:t>
                                </m:r>
                              </m:e>
                            </m:acc>
                          </m:e>
                        </m:d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78679C-83F1-4149-AB69-2BCAF6D951FA}"/>
                </a:ext>
              </a:extLst>
            </p:cNvPr>
            <p:cNvSpPr/>
            <p:nvPr/>
          </p:nvSpPr>
          <p:spPr>
            <a:xfrm>
              <a:off x="3247742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/>
                <p:nvPr/>
              </p:nvSpPr>
              <p:spPr>
                <a:xfrm>
                  <a:off x="531851" y="2243792"/>
                  <a:ext cx="2542821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e>
                            </m:acc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𝑨𝑪</m:t>
                                </m:r>
                              </m:e>
                            </m:acc>
                          </m:e>
                        </m:d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𝒂</m:t>
                        </m:r>
                        <m:rad>
                          <m:radPr>
                            <m:degHide m:val="on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851" y="2243792"/>
                  <a:ext cx="2542821" cy="61726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8947F5-5540-4A85-BACE-6641A507F5A0}"/>
                </a:ext>
              </a:extLst>
            </p:cNvPr>
            <p:cNvSpPr/>
            <p:nvPr/>
          </p:nvSpPr>
          <p:spPr>
            <a:xfrm>
              <a:off x="241306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/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 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e>
                            </m:acc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𝑨𝑪</m:t>
                                </m:r>
                              </m:e>
                            </m:acc>
                          </m:e>
                        </m:d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num>
                          <m:den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7BF74FF-3652-4371-9E0B-A97FA806BC48}"/>
                </a:ext>
              </a:extLst>
            </p:cNvPr>
            <p:cNvSpPr/>
            <p:nvPr/>
          </p:nvSpPr>
          <p:spPr>
            <a:xfrm>
              <a:off x="6254178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/>
                <p:nvPr/>
              </p:nvSpPr>
              <p:spPr>
                <a:xfrm>
                  <a:off x="9503898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𝑨𝑩</m:t>
                              </m:r>
                            </m:e>
                          </m:acc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𝑨𝑪</m:t>
                              </m:r>
                            </m:e>
                          </m:acc>
                        </m:e>
                      </m:d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r>
                    <a:rPr lang="en-US" sz="4400" b="1" dirty="0">
                      <a:solidFill>
                        <a:schemeClr val="bg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    </a:t>
                  </a: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03898" y="2243792"/>
                  <a:ext cx="2468235" cy="61726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B907C0F-6FC4-4852-8CFD-AD2FACA13C7F}"/>
                </a:ext>
              </a:extLst>
            </p:cNvPr>
            <p:cNvSpPr/>
            <p:nvPr/>
          </p:nvSpPr>
          <p:spPr>
            <a:xfrm>
              <a:off x="9260615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3AF6DD6E-C69C-4024-A5BF-FE21EA5DD223}"/>
              </a:ext>
            </a:extLst>
          </p:cNvPr>
          <p:cNvSpPr/>
          <p:nvPr/>
        </p:nvSpPr>
        <p:spPr>
          <a:xfrm>
            <a:off x="6418685" y="5192644"/>
            <a:ext cx="1080000" cy="1060047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06450E-ACA8-42F7-B878-4360BA0CBA71}"/>
              </a:ext>
            </a:extLst>
          </p:cNvPr>
          <p:cNvGrpSpPr/>
          <p:nvPr/>
        </p:nvGrpSpPr>
        <p:grpSpPr>
          <a:xfrm>
            <a:off x="59835" y="1935874"/>
            <a:ext cx="23888416" cy="2572279"/>
            <a:chOff x="923003" y="3917552"/>
            <a:chExt cx="23888416" cy="2572278"/>
          </a:xfrm>
        </p:grpSpPr>
        <p:sp>
          <p:nvSpPr>
            <p:cNvPr id="19" name="Rounded Rectangle 41">
              <a:extLst>
                <a:ext uri="{FF2B5EF4-FFF2-40B4-BE49-F238E27FC236}">
                  <a16:creationId xmlns:a16="http://schemas.microsoft.com/office/drawing/2014/main" id="{CC866FB0-B137-49F3-A47E-0B1A18FC432E}"/>
                </a:ext>
              </a:extLst>
            </p:cNvPr>
            <p:cNvSpPr/>
            <p:nvPr/>
          </p:nvSpPr>
          <p:spPr>
            <a:xfrm>
              <a:off x="1216747" y="4597669"/>
              <a:ext cx="23594672" cy="1892161"/>
            </a:xfrm>
            <a:prstGeom prst="roundRect">
              <a:avLst>
                <a:gd name="adj" fmla="val 10158"/>
              </a:avLst>
            </a:prstGeom>
            <a:solidFill>
              <a:srgbClr val="FEEBB0"/>
            </a:solidFill>
            <a:ln w="12700">
              <a:solidFill>
                <a:srgbClr val="91720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                 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1E96746-B33C-4D41-836E-CA7E0074841E}"/>
                </a:ext>
              </a:extLst>
            </p:cNvPr>
            <p:cNvGrpSpPr/>
            <p:nvPr/>
          </p:nvGrpSpPr>
          <p:grpSpPr>
            <a:xfrm>
              <a:off x="923003" y="3917552"/>
              <a:ext cx="3942102" cy="1040476"/>
              <a:chOff x="923003" y="3917552"/>
              <a:chExt cx="3942102" cy="104047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719E236-B0D7-442E-8A08-3228625765BF}"/>
                  </a:ext>
                </a:extLst>
              </p:cNvPr>
              <p:cNvGrpSpPr/>
              <p:nvPr/>
            </p:nvGrpSpPr>
            <p:grpSpPr>
              <a:xfrm>
                <a:off x="1362045" y="4022855"/>
                <a:ext cx="3503060" cy="865576"/>
                <a:chOff x="2028795" y="4384805"/>
                <a:chExt cx="3503060" cy="865576"/>
              </a:xfrm>
            </p:grpSpPr>
            <p:sp>
              <p:nvSpPr>
                <p:cNvPr id="23" name="Freeform 20">
                  <a:extLst>
                    <a:ext uri="{FF2B5EF4-FFF2-40B4-BE49-F238E27FC236}">
                      <a16:creationId xmlns:a16="http://schemas.microsoft.com/office/drawing/2014/main" id="{B393AAC4-D254-453D-8479-B404D455FF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3364273" y="3082799"/>
                  <a:ext cx="832104" cy="3503060"/>
                </a:xfrm>
                <a:prstGeom prst="round2SameRect">
                  <a:avLst>
                    <a:gd name="adj1" fmla="val 19445"/>
                    <a:gd name="adj2" fmla="val 0"/>
                  </a:avLst>
                </a:prstGeom>
                <a:solidFill>
                  <a:srgbClr val="FFF9BC"/>
                </a:solidFill>
                <a:ln w="57150">
                  <a:solidFill>
                    <a:srgbClr val="91720D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641E29D-906E-4634-ADED-96B1E8DA8216}"/>
                    </a:ext>
                  </a:extLst>
                </p:cNvPr>
                <p:cNvSpPr txBox="1"/>
                <p:nvPr/>
              </p:nvSpPr>
              <p:spPr>
                <a:xfrm>
                  <a:off x="2542253" y="4384805"/>
                  <a:ext cx="2895398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vi-VN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CÂU</a:t>
                  </a:r>
                  <a:r>
                    <a:rPr lang="en-US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13</a:t>
                  </a:r>
                  <a:r>
                    <a:rPr lang="vi-VN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</a:t>
                  </a:r>
                  <a:endParaRPr lang="en-US" sz="44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50C43C-37F7-4A87-880E-749F8F1583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99" t="21515" r="9759" b="14519"/>
              <a:stretch/>
            </p:blipFill>
            <p:spPr>
              <a:xfrm>
                <a:off x="923003" y="3917552"/>
                <a:ext cx="1076356" cy="1040476"/>
              </a:xfrm>
              <a:prstGeom prst="round2DiagRect">
                <a:avLst>
                  <a:gd name="adj1" fmla="val 30509"/>
                  <a:gd name="adj2" fmla="val 0"/>
                </a:avLst>
              </a:prstGeom>
              <a:ln w="38100" cap="sq">
                <a:solidFill>
                  <a:srgbClr val="91720D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FB11C65-8BD6-48B2-A424-E6F4B06755C4}"/>
              </a:ext>
            </a:extLst>
          </p:cNvPr>
          <p:cNvSpPr txBox="1"/>
          <p:nvPr/>
        </p:nvSpPr>
        <p:spPr>
          <a:xfrm>
            <a:off x="12906469" y="11925737"/>
            <a:ext cx="28623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/>
              <p:nvPr/>
            </p:nvSpPr>
            <p:spPr>
              <a:xfrm>
                <a:off x="1068060" y="2851860"/>
                <a:ext cx="23156334" cy="910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Tam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𝑨𝑪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𝑩𝑨𝑪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𝟏𝟐𝟎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060" y="2851860"/>
                <a:ext cx="23156334" cy="910314"/>
              </a:xfrm>
              <a:prstGeom prst="rect">
                <a:avLst/>
              </a:prstGeom>
              <a:blipFill>
                <a:blip r:embed="rId8"/>
                <a:stretch>
                  <a:fillRect l="-1053" t="-5369" b="-248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A83578B6-5D84-44C8-B0F6-A7172A06B791}"/>
                  </a:ext>
                </a:extLst>
              </p:cNvPr>
              <p:cNvSpPr txBox="1"/>
              <p:nvPr/>
            </p:nvSpPr>
            <p:spPr>
              <a:xfrm>
                <a:off x="4200971" y="9458292"/>
                <a:ext cx="9959574" cy="21779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𝑨𝑩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𝑨𝑪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𝟐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𝑨𝑯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𝑨𝑩</m:t>
                              </m:r>
                            </m:e>
                          </m:acc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𝑨𝑪</m:t>
                              </m:r>
                            </m:e>
                          </m:acc>
                        </m:e>
                      </m:d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𝑨𝑯</m:t>
                              </m:r>
                            </m:e>
                          </m:acc>
                        </m:e>
                      </m:d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𝑨𝑩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.</m:t>
                      </m:r>
                      <m:func>
                        <m:func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𝒄𝒐𝒔</m:t>
                          </m:r>
                        </m:fName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fun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°=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</m:oMath>
                  </m:oMathPara>
                </a14:m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A83578B6-5D84-44C8-B0F6-A7172A06B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971" y="9458292"/>
                <a:ext cx="9959574" cy="21779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14">
            <a:extLst>
              <a:ext uri="{FF2B5EF4-FFF2-40B4-BE49-F238E27FC236}">
                <a16:creationId xmlns:a16="http://schemas.microsoft.com/office/drawing/2014/main" id="{7D474892-8BED-4FA6-9A28-EDF5F960335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7800" y="8449510"/>
            <a:ext cx="6206358" cy="424566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Rounded Rectangle 3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9977599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9" grpId="0"/>
      <p:bldP spid="30" grpId="0"/>
      <p:bldP spid="3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313519-0C89-483D-A08E-CF6067282148}"/>
              </a:ext>
            </a:extLst>
          </p:cNvPr>
          <p:cNvGrpSpPr/>
          <p:nvPr/>
        </p:nvGrpSpPr>
        <p:grpSpPr>
          <a:xfrm>
            <a:off x="219728" y="7369787"/>
            <a:ext cx="23862374" cy="5716250"/>
            <a:chOff x="48567" y="4381499"/>
            <a:chExt cx="23018772" cy="5716249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5B1AB244-3D78-416D-AEF1-35CC4562B7A3}"/>
                </a:ext>
              </a:extLst>
            </p:cNvPr>
            <p:cNvSpPr/>
            <p:nvPr/>
          </p:nvSpPr>
          <p:spPr>
            <a:xfrm>
              <a:off x="385312" y="4941556"/>
              <a:ext cx="22682027" cy="5156192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400" b="1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FC852D-338F-4593-BDAE-4432C24EAC82}"/>
                </a:ext>
              </a:extLst>
            </p:cNvPr>
            <p:cNvGrpSpPr/>
            <p:nvPr/>
          </p:nvGrpSpPr>
          <p:grpSpPr>
            <a:xfrm>
              <a:off x="48567" y="4381499"/>
              <a:ext cx="3991940" cy="1079474"/>
              <a:chOff x="410517" y="4648199"/>
              <a:chExt cx="3991940" cy="1079474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20085AD8-BD87-4A35-B6D4-9AE383128185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421084" y="3633167"/>
                <a:ext cx="966341" cy="2996405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4400" b="1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C0313-9358-457E-845F-D4B035AC31D3}"/>
                  </a:ext>
                </a:extLst>
              </p:cNvPr>
              <p:cNvSpPr txBox="1"/>
              <p:nvPr/>
            </p:nvSpPr>
            <p:spPr>
              <a:xfrm>
                <a:off x="1406054" y="4732063"/>
                <a:ext cx="2872839" cy="76944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400" b="1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B75B5B9-D442-4C6E-96A9-9A573FE06D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0"/>
                <a:ext cx="1058947" cy="1079473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A8B4DB7-EFF8-4AF8-B0FA-839D4C447E82}"/>
              </a:ext>
            </a:extLst>
          </p:cNvPr>
          <p:cNvGrpSpPr/>
          <p:nvPr/>
        </p:nvGrpSpPr>
        <p:grpSpPr>
          <a:xfrm>
            <a:off x="353578" y="4953000"/>
            <a:ext cx="23775028" cy="1600200"/>
            <a:chOff x="241306" y="2167592"/>
            <a:chExt cx="11730827" cy="800100"/>
          </a:xfrm>
          <a:solidFill>
            <a:srgbClr val="327E3B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/>
                <p:nvPr/>
              </p:nvSpPr>
              <p:spPr>
                <a:xfrm>
                  <a:off x="3538287" y="2208488"/>
                  <a:ext cx="2468235" cy="759204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𝑪𝑨</m:t>
                                </m:r>
                              </m:e>
                            </m:acc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𝑯𝑪</m:t>
                                </m:r>
                              </m:e>
                            </m:acc>
                          </m:e>
                        </m:d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num>
                          <m:den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8287" y="2208488"/>
                  <a:ext cx="2468235" cy="75920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78679C-83F1-4149-AB69-2BCAF6D951FA}"/>
                </a:ext>
              </a:extLst>
            </p:cNvPr>
            <p:cNvSpPr/>
            <p:nvPr/>
          </p:nvSpPr>
          <p:spPr>
            <a:xfrm>
              <a:off x="3247742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/>
                <p:nvPr/>
              </p:nvSpPr>
              <p:spPr>
                <a:xfrm>
                  <a:off x="531851" y="2205692"/>
                  <a:ext cx="2542821" cy="759204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𝑪𝑨</m:t>
                                </m:r>
                              </m:e>
                            </m:acc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𝑯𝑪</m:t>
                                </m:r>
                              </m:e>
                            </m:acc>
                          </m:e>
                        </m:d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num>
                          <m:den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851" y="2205692"/>
                  <a:ext cx="2542821" cy="75920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8947F5-5540-4A85-BACE-6641A507F5A0}"/>
                </a:ext>
              </a:extLst>
            </p:cNvPr>
            <p:cNvSpPr/>
            <p:nvPr/>
          </p:nvSpPr>
          <p:spPr>
            <a:xfrm>
              <a:off x="241306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/>
                <p:nvPr/>
              </p:nvSpPr>
              <p:spPr>
                <a:xfrm>
                  <a:off x="6435022" y="2167592"/>
                  <a:ext cx="2825593" cy="759204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𝑪𝑨</m:t>
                                </m:r>
                              </m:e>
                            </m:acc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𝑯𝑪</m:t>
                                </m:r>
                              </m:e>
                            </m:acc>
                          </m:e>
                        </m:d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ad>
                              <m:radPr>
                                <m:degHide m:val="on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rad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num>
                          <m:den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den>
                        </m:f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5022" y="2167592"/>
                  <a:ext cx="2825593" cy="75920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7BF74FF-3652-4371-9E0B-A97FA806BC48}"/>
                </a:ext>
              </a:extLst>
            </p:cNvPr>
            <p:cNvSpPr/>
            <p:nvPr/>
          </p:nvSpPr>
          <p:spPr>
            <a:xfrm>
              <a:off x="6079875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/>
                <p:nvPr/>
              </p:nvSpPr>
              <p:spPr>
                <a:xfrm>
                  <a:off x="9503898" y="2167592"/>
                  <a:ext cx="2468235" cy="759204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𝑪𝑨</m:t>
                              </m:r>
                            </m:e>
                          </m:acc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𝑯𝑪</m:t>
                              </m:r>
                            </m:e>
                          </m:acc>
                        </m:e>
                      </m:d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ad>
                            <m:radPr>
                              <m:degHide m:val="on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rad>
                        </m:num>
                        <m:den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4400" b="1" i="1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r>
                    <a:rPr lang="en-US" sz="4400" b="1" dirty="0"/>
                    <a:t> </a:t>
                  </a:r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03898" y="2167592"/>
                  <a:ext cx="2468235" cy="75920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B907C0F-6FC4-4852-8CFD-AD2FACA13C7F}"/>
                </a:ext>
              </a:extLst>
            </p:cNvPr>
            <p:cNvSpPr/>
            <p:nvPr/>
          </p:nvSpPr>
          <p:spPr>
            <a:xfrm>
              <a:off x="9260615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3AF6DD6E-C69C-4024-A5BF-FE21EA5DD223}"/>
              </a:ext>
            </a:extLst>
          </p:cNvPr>
          <p:cNvSpPr/>
          <p:nvPr/>
        </p:nvSpPr>
        <p:spPr>
          <a:xfrm>
            <a:off x="18647560" y="5280744"/>
            <a:ext cx="1080000" cy="1060047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06450E-ACA8-42F7-B878-4360BA0CBA71}"/>
              </a:ext>
            </a:extLst>
          </p:cNvPr>
          <p:cNvGrpSpPr/>
          <p:nvPr/>
        </p:nvGrpSpPr>
        <p:grpSpPr>
          <a:xfrm>
            <a:off x="59835" y="1935874"/>
            <a:ext cx="23888416" cy="2572279"/>
            <a:chOff x="923003" y="3917552"/>
            <a:chExt cx="23888416" cy="2572278"/>
          </a:xfrm>
        </p:grpSpPr>
        <p:sp>
          <p:nvSpPr>
            <p:cNvPr id="19" name="Rounded Rectangle 41">
              <a:extLst>
                <a:ext uri="{FF2B5EF4-FFF2-40B4-BE49-F238E27FC236}">
                  <a16:creationId xmlns:a16="http://schemas.microsoft.com/office/drawing/2014/main" id="{CC866FB0-B137-49F3-A47E-0B1A18FC432E}"/>
                </a:ext>
              </a:extLst>
            </p:cNvPr>
            <p:cNvSpPr/>
            <p:nvPr/>
          </p:nvSpPr>
          <p:spPr>
            <a:xfrm>
              <a:off x="1216747" y="4597669"/>
              <a:ext cx="23594672" cy="1892161"/>
            </a:xfrm>
            <a:prstGeom prst="roundRect">
              <a:avLst>
                <a:gd name="adj" fmla="val 10158"/>
              </a:avLst>
            </a:prstGeom>
            <a:solidFill>
              <a:srgbClr val="FEEBB0"/>
            </a:solidFill>
            <a:ln w="12700">
              <a:solidFill>
                <a:srgbClr val="91720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                 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1E96746-B33C-4D41-836E-CA7E0074841E}"/>
                </a:ext>
              </a:extLst>
            </p:cNvPr>
            <p:cNvGrpSpPr/>
            <p:nvPr/>
          </p:nvGrpSpPr>
          <p:grpSpPr>
            <a:xfrm>
              <a:off x="923003" y="3917552"/>
              <a:ext cx="3942102" cy="1040476"/>
              <a:chOff x="923003" y="3917552"/>
              <a:chExt cx="3942102" cy="104047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719E236-B0D7-442E-8A08-3228625765BF}"/>
                  </a:ext>
                </a:extLst>
              </p:cNvPr>
              <p:cNvGrpSpPr/>
              <p:nvPr/>
            </p:nvGrpSpPr>
            <p:grpSpPr>
              <a:xfrm>
                <a:off x="1362045" y="4022855"/>
                <a:ext cx="3503060" cy="865576"/>
                <a:chOff x="2028795" y="4384805"/>
                <a:chExt cx="3503060" cy="865576"/>
              </a:xfrm>
            </p:grpSpPr>
            <p:sp>
              <p:nvSpPr>
                <p:cNvPr id="23" name="Freeform 20">
                  <a:extLst>
                    <a:ext uri="{FF2B5EF4-FFF2-40B4-BE49-F238E27FC236}">
                      <a16:creationId xmlns:a16="http://schemas.microsoft.com/office/drawing/2014/main" id="{B393AAC4-D254-453D-8479-B404D455FF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3364273" y="3082799"/>
                  <a:ext cx="832104" cy="3503060"/>
                </a:xfrm>
                <a:prstGeom prst="round2SameRect">
                  <a:avLst>
                    <a:gd name="adj1" fmla="val 19445"/>
                    <a:gd name="adj2" fmla="val 0"/>
                  </a:avLst>
                </a:prstGeom>
                <a:solidFill>
                  <a:srgbClr val="FFF9BC"/>
                </a:solidFill>
                <a:ln w="57150">
                  <a:solidFill>
                    <a:srgbClr val="91720D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641E29D-906E-4634-ADED-96B1E8DA8216}"/>
                    </a:ext>
                  </a:extLst>
                </p:cNvPr>
                <p:cNvSpPr txBox="1"/>
                <p:nvPr/>
              </p:nvSpPr>
              <p:spPr>
                <a:xfrm>
                  <a:off x="2542253" y="4384805"/>
                  <a:ext cx="2895398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vi-VN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CÂU</a:t>
                  </a:r>
                  <a:r>
                    <a:rPr lang="en-US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14</a:t>
                  </a:r>
                  <a:r>
                    <a:rPr lang="vi-VN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</a:t>
                  </a:r>
                  <a:endParaRPr lang="en-US" sz="44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50C43C-37F7-4A87-880E-749F8F1583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99" t="21515" r="9759" b="14519"/>
              <a:stretch/>
            </p:blipFill>
            <p:spPr>
              <a:xfrm>
                <a:off x="923003" y="3917552"/>
                <a:ext cx="1076356" cy="1040476"/>
              </a:xfrm>
              <a:prstGeom prst="round2DiagRect">
                <a:avLst>
                  <a:gd name="adj1" fmla="val 30509"/>
                  <a:gd name="adj2" fmla="val 0"/>
                </a:avLst>
              </a:prstGeom>
              <a:ln w="38100" cap="sq">
                <a:solidFill>
                  <a:srgbClr val="91720D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FB11C65-8BD6-48B2-A424-E6F4B06755C4}"/>
              </a:ext>
            </a:extLst>
          </p:cNvPr>
          <p:cNvSpPr txBox="1"/>
          <p:nvPr/>
        </p:nvSpPr>
        <p:spPr>
          <a:xfrm>
            <a:off x="13646814" y="12302868"/>
            <a:ext cx="28623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/>
              <p:nvPr/>
            </p:nvSpPr>
            <p:spPr>
              <a:xfrm>
                <a:off x="1068060" y="2851860"/>
                <a:ext cx="23156334" cy="910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tam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đều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cạnh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là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𝑩𝑪</m:t>
                    </m:r>
                  </m:oMath>
                </a14:m>
                <a:r>
                  <a:rPr lang="fr-FR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𝑪𝑨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𝑯𝑪</m:t>
                            </m:r>
                          </m:e>
                        </m:acc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060" y="2851860"/>
                <a:ext cx="23156334" cy="910314"/>
              </a:xfrm>
              <a:prstGeom prst="rect">
                <a:avLst/>
              </a:prstGeom>
              <a:blipFill>
                <a:blip r:embed="rId8"/>
                <a:stretch>
                  <a:fillRect l="-1053" t="-5369" b="-248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A83578B6-5D84-44C8-B0F6-A7172A06B791}"/>
                  </a:ext>
                </a:extLst>
              </p:cNvPr>
              <p:cNvSpPr txBox="1"/>
              <p:nvPr/>
            </p:nvSpPr>
            <p:spPr>
              <a:xfrm>
                <a:off x="568815" y="8336128"/>
                <a:ext cx="17225626" cy="42366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G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ọ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𝑴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à 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trung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đ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ể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ủ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𝑨𝑯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</m:oMath>
                  </m:oMathPara>
                </a14:m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	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𝑨𝑯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ad>
                            <m:radPr>
                              <m:degHide m:val="on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4400" b="1" i="1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𝑪𝑯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4400" b="1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𝑪𝑴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4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4400" b="1" i="1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4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4400" b="1" i="1"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en-US" sz="4400" b="1" i="1"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4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4400" b="1" i="1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num>
                                    <m:den>
                                      <m:r>
                                        <a:rPr lang="en-US" sz="44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ad>
                            <m:radPr>
                              <m:degHide m:val="on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rad>
                        </m:num>
                        <m:den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</m:oMath>
                  </m:oMathPara>
                </a14:m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	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𝑪𝑨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𝑯𝑪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𝑪𝑨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𝑪𝑯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𝟐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𝑪𝑴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𝑪𝑨</m:t>
                              </m:r>
                            </m:e>
                          </m:acc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𝑯𝑪</m:t>
                              </m:r>
                            </m:e>
                          </m:acc>
                        </m:e>
                      </m:d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𝑪𝑴</m:t>
                              </m:r>
                            </m:e>
                          </m:acc>
                        </m:e>
                      </m:d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ad>
                            <m:radPr>
                              <m:degHide m:val="on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rad>
                        </m:num>
                        <m:den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ad>
                            <m:radPr>
                              <m:degHide m:val="on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rad>
                        </m:num>
                        <m:den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.</m:t>
                      </m:r>
                    </m:oMath>
                  </m:oMathPara>
                </a14:m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A83578B6-5D84-44C8-B0F6-A7172A06B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15" y="8336128"/>
                <a:ext cx="17225626" cy="42366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16">
            <a:extLst>
              <a:ext uri="{FF2B5EF4-FFF2-40B4-BE49-F238E27FC236}">
                <a16:creationId xmlns:a16="http://schemas.microsoft.com/office/drawing/2014/main" id="{B51F8373-8813-4D29-9079-9C073261122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4441" y="7979919"/>
            <a:ext cx="5002406" cy="4816216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Rounded Rectangle 3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6133241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9" grpId="0"/>
      <p:bldP spid="30" grpId="0"/>
      <p:bldP spid="3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313519-0C89-483D-A08E-CF6067282148}"/>
              </a:ext>
            </a:extLst>
          </p:cNvPr>
          <p:cNvGrpSpPr/>
          <p:nvPr/>
        </p:nvGrpSpPr>
        <p:grpSpPr>
          <a:xfrm>
            <a:off x="266232" y="7376065"/>
            <a:ext cx="23862374" cy="5716250"/>
            <a:chOff x="48567" y="4381499"/>
            <a:chExt cx="23018772" cy="5716249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5B1AB244-3D78-416D-AEF1-35CC4562B7A3}"/>
                </a:ext>
              </a:extLst>
            </p:cNvPr>
            <p:cNvSpPr/>
            <p:nvPr/>
          </p:nvSpPr>
          <p:spPr>
            <a:xfrm>
              <a:off x="385312" y="4941556"/>
              <a:ext cx="22682027" cy="5156192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400" b="1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FC852D-338F-4593-BDAE-4432C24EAC82}"/>
                </a:ext>
              </a:extLst>
            </p:cNvPr>
            <p:cNvGrpSpPr/>
            <p:nvPr/>
          </p:nvGrpSpPr>
          <p:grpSpPr>
            <a:xfrm>
              <a:off x="48567" y="4381499"/>
              <a:ext cx="3991940" cy="1079474"/>
              <a:chOff x="410517" y="4648199"/>
              <a:chExt cx="3991940" cy="1079474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20085AD8-BD87-4A35-B6D4-9AE383128185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421084" y="3633167"/>
                <a:ext cx="966341" cy="2996405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4400" b="1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C0313-9358-457E-845F-D4B035AC31D3}"/>
                  </a:ext>
                </a:extLst>
              </p:cNvPr>
              <p:cNvSpPr txBox="1"/>
              <p:nvPr/>
            </p:nvSpPr>
            <p:spPr>
              <a:xfrm>
                <a:off x="1406054" y="4732063"/>
                <a:ext cx="2872839" cy="76944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400" b="1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B75B5B9-D442-4C6E-96A9-9A573FE06D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0"/>
                <a:ext cx="1058947" cy="1079473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A8B4DB7-EFF8-4AF8-B0FA-839D4C447E82}"/>
              </a:ext>
            </a:extLst>
          </p:cNvPr>
          <p:cNvGrpSpPr/>
          <p:nvPr/>
        </p:nvGrpSpPr>
        <p:grpSpPr>
          <a:xfrm>
            <a:off x="353578" y="5105400"/>
            <a:ext cx="23775028" cy="1234536"/>
            <a:chOff x="241306" y="2243792"/>
            <a:chExt cx="11730827" cy="617268"/>
          </a:xfrm>
          <a:solidFill>
            <a:srgbClr val="327E3B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/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𝟏𝟎𝟎</m:t>
                        </m:r>
                        <m:rad>
                          <m:radPr>
                            <m:degHide m:val="on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78679C-83F1-4149-AB69-2BCAF6D951FA}"/>
                </a:ext>
              </a:extLst>
            </p:cNvPr>
            <p:cNvSpPr/>
            <p:nvPr/>
          </p:nvSpPr>
          <p:spPr>
            <a:xfrm>
              <a:off x="3247742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/>
                <p:nvPr/>
              </p:nvSpPr>
              <p:spPr>
                <a:xfrm>
                  <a:off x="531851" y="2243792"/>
                  <a:ext cx="2542821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𝟏𝟎𝟎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851" y="2243792"/>
                  <a:ext cx="2542821" cy="61726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8947F5-5540-4A85-BACE-6641A507F5A0}"/>
                </a:ext>
              </a:extLst>
            </p:cNvPr>
            <p:cNvSpPr/>
            <p:nvPr/>
          </p:nvSpPr>
          <p:spPr>
            <a:xfrm>
              <a:off x="241306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/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𝟓𝟎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7BF74FF-3652-4371-9E0B-A97FA806BC48}"/>
                </a:ext>
              </a:extLst>
            </p:cNvPr>
            <p:cNvSpPr/>
            <p:nvPr/>
          </p:nvSpPr>
          <p:spPr>
            <a:xfrm>
              <a:off x="6254178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/>
                <p:nvPr/>
              </p:nvSpPr>
              <p:spPr>
                <a:xfrm>
                  <a:off x="9503898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𝟓𝟎</m:t>
                        </m:r>
                        <m:rad>
                          <m:radPr>
                            <m:degHide m:val="on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03898" y="2243792"/>
                  <a:ext cx="2468235" cy="61726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B907C0F-6FC4-4852-8CFD-AD2FACA13C7F}"/>
                </a:ext>
              </a:extLst>
            </p:cNvPr>
            <p:cNvSpPr/>
            <p:nvPr/>
          </p:nvSpPr>
          <p:spPr>
            <a:xfrm>
              <a:off x="9260615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</a:t>
              </a:r>
              <a:endParaRPr lang="en-US" sz="44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3AF6DD6E-C69C-4024-A5BF-FE21EA5DD223}"/>
              </a:ext>
            </a:extLst>
          </p:cNvPr>
          <p:cNvSpPr/>
          <p:nvPr/>
        </p:nvSpPr>
        <p:spPr>
          <a:xfrm>
            <a:off x="390680" y="5192644"/>
            <a:ext cx="1080000" cy="1060047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06450E-ACA8-42F7-B878-4360BA0CBA71}"/>
              </a:ext>
            </a:extLst>
          </p:cNvPr>
          <p:cNvGrpSpPr/>
          <p:nvPr/>
        </p:nvGrpSpPr>
        <p:grpSpPr>
          <a:xfrm>
            <a:off x="59835" y="1935874"/>
            <a:ext cx="23888416" cy="2572279"/>
            <a:chOff x="923003" y="3917552"/>
            <a:chExt cx="23888416" cy="2572278"/>
          </a:xfrm>
        </p:grpSpPr>
        <p:sp>
          <p:nvSpPr>
            <p:cNvPr id="19" name="Rounded Rectangle 41">
              <a:extLst>
                <a:ext uri="{FF2B5EF4-FFF2-40B4-BE49-F238E27FC236}">
                  <a16:creationId xmlns:a16="http://schemas.microsoft.com/office/drawing/2014/main" id="{CC866FB0-B137-49F3-A47E-0B1A18FC432E}"/>
                </a:ext>
              </a:extLst>
            </p:cNvPr>
            <p:cNvSpPr/>
            <p:nvPr/>
          </p:nvSpPr>
          <p:spPr>
            <a:xfrm>
              <a:off x="1216747" y="4597669"/>
              <a:ext cx="23594672" cy="1892161"/>
            </a:xfrm>
            <a:prstGeom prst="roundRect">
              <a:avLst>
                <a:gd name="adj" fmla="val 10158"/>
              </a:avLst>
            </a:prstGeom>
            <a:solidFill>
              <a:srgbClr val="FEEBB0"/>
            </a:solidFill>
            <a:ln w="12700">
              <a:solidFill>
                <a:srgbClr val="91720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                 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1E96746-B33C-4D41-836E-CA7E0074841E}"/>
                </a:ext>
              </a:extLst>
            </p:cNvPr>
            <p:cNvGrpSpPr/>
            <p:nvPr/>
          </p:nvGrpSpPr>
          <p:grpSpPr>
            <a:xfrm>
              <a:off x="923003" y="3917552"/>
              <a:ext cx="3942102" cy="1040476"/>
              <a:chOff x="923003" y="3917552"/>
              <a:chExt cx="3942102" cy="104047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719E236-B0D7-442E-8A08-3228625765BF}"/>
                  </a:ext>
                </a:extLst>
              </p:cNvPr>
              <p:cNvGrpSpPr/>
              <p:nvPr/>
            </p:nvGrpSpPr>
            <p:grpSpPr>
              <a:xfrm>
                <a:off x="1362045" y="4022855"/>
                <a:ext cx="3503060" cy="865576"/>
                <a:chOff x="2028795" y="4384805"/>
                <a:chExt cx="3503060" cy="865576"/>
              </a:xfrm>
            </p:grpSpPr>
            <p:sp>
              <p:nvSpPr>
                <p:cNvPr id="23" name="Freeform 20">
                  <a:extLst>
                    <a:ext uri="{FF2B5EF4-FFF2-40B4-BE49-F238E27FC236}">
                      <a16:creationId xmlns:a16="http://schemas.microsoft.com/office/drawing/2014/main" id="{B393AAC4-D254-453D-8479-B404D455FF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3364273" y="3082799"/>
                  <a:ext cx="832104" cy="3503060"/>
                </a:xfrm>
                <a:prstGeom prst="round2SameRect">
                  <a:avLst>
                    <a:gd name="adj1" fmla="val 19445"/>
                    <a:gd name="adj2" fmla="val 0"/>
                  </a:avLst>
                </a:prstGeom>
                <a:solidFill>
                  <a:srgbClr val="FFF9BC"/>
                </a:solidFill>
                <a:ln w="57150">
                  <a:solidFill>
                    <a:srgbClr val="91720D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400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641E29D-906E-4634-ADED-96B1E8DA8216}"/>
                    </a:ext>
                  </a:extLst>
                </p:cNvPr>
                <p:cNvSpPr txBox="1"/>
                <p:nvPr/>
              </p:nvSpPr>
              <p:spPr>
                <a:xfrm>
                  <a:off x="2542253" y="4384805"/>
                  <a:ext cx="2895398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vi-VN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CÂU</a:t>
                  </a:r>
                  <a:r>
                    <a:rPr lang="en-US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15</a:t>
                  </a:r>
                  <a:r>
                    <a:rPr lang="vi-VN" sz="44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</a:t>
                  </a:r>
                  <a:endParaRPr lang="en-US" sz="44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50C43C-37F7-4A87-880E-749F8F1583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99" t="21515" r="9759" b="14519"/>
              <a:stretch/>
            </p:blipFill>
            <p:spPr>
              <a:xfrm>
                <a:off x="923003" y="3917552"/>
                <a:ext cx="1076356" cy="1040476"/>
              </a:xfrm>
              <a:prstGeom prst="round2DiagRect">
                <a:avLst>
                  <a:gd name="adj1" fmla="val 30509"/>
                  <a:gd name="adj2" fmla="val 0"/>
                </a:avLst>
              </a:prstGeom>
              <a:ln w="38100" cap="sq">
                <a:solidFill>
                  <a:srgbClr val="91720D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FB11C65-8BD6-48B2-A424-E6F4B06755C4}"/>
              </a:ext>
            </a:extLst>
          </p:cNvPr>
          <p:cNvSpPr txBox="1"/>
          <p:nvPr/>
        </p:nvSpPr>
        <p:spPr>
          <a:xfrm>
            <a:off x="12906469" y="11925737"/>
            <a:ext cx="28623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/>
              <p:nvPr/>
            </p:nvSpPr>
            <p:spPr>
              <a:xfrm>
                <a:off x="1068060" y="2851860"/>
                <a:ext cx="23156334" cy="16109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lực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đặt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vuông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Cường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lực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lần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lượt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𝟖𝟎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𝟔𝟎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Cường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tổng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lực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lực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060" y="2851860"/>
                <a:ext cx="23156334" cy="1610954"/>
              </a:xfrm>
              <a:prstGeom prst="rect">
                <a:avLst/>
              </a:prstGeom>
              <a:blipFill>
                <a:blip r:embed="rId8"/>
                <a:stretch>
                  <a:fillRect l="-1053" t="-3409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A83578B6-5D84-44C8-B0F6-A7172A06B791}"/>
                  </a:ext>
                </a:extLst>
              </p:cNvPr>
              <p:cNvSpPr txBox="1"/>
              <p:nvPr/>
            </p:nvSpPr>
            <p:spPr>
              <a:xfrm>
                <a:off x="4200970" y="9458292"/>
                <a:ext cx="11738391" cy="1811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𝑨𝑩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𝑨𝑪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𝟐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𝑨𝑴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𝑨𝑴</m:t>
                              </m:r>
                            </m:e>
                          </m:acc>
                        </m:e>
                      </m:d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𝑩𝑪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𝟖</m:t>
                          </m:r>
                          <m:sSup>
                            <m:sSupPr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𝟔</m:t>
                          </m:r>
                          <m:sSup>
                            <m:sSupPr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𝟏𝟎𝟎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4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N</m:t>
                      </m:r>
                    </m:oMath>
                  </m:oMathPara>
                </a14:m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A83578B6-5D84-44C8-B0F6-A7172A06B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970" y="9458292"/>
                <a:ext cx="11738391" cy="181190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20">
            <a:extLst>
              <a:ext uri="{FF2B5EF4-FFF2-40B4-BE49-F238E27FC236}">
                <a16:creationId xmlns:a16="http://schemas.microsoft.com/office/drawing/2014/main" id="{F09D95E7-681C-4977-AF4C-799814F275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2702" y="8017089"/>
            <a:ext cx="4436060" cy="477592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Rounded Rectangle 3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5557944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9" grpId="0"/>
      <p:bldP spid="30" grpId="0"/>
      <p:bldP spid="3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7&quot;/&gt;&lt;/object&gt;&lt;object type=&quot;3&quot; unique_id=&quot;10004&quot;&gt;&lt;property id=&quot;20148&quot; value=&quot;5&quot;/&gt;&lt;property id=&quot;20300&quot; value=&quot;Slide 2&quot;/&gt;&lt;property id=&quot;20307&quot; value=&quot;258&quot;/&gt;&lt;/object&gt;&lt;object type=&quot;3&quot; unique_id=&quot;10005&quot;&gt;&lt;property id=&quot;20148&quot; value=&quot;5&quot;/&gt;&lt;property id=&quot;20300&quot; value=&quot;Slide 3&quot;/&gt;&lt;property id=&quot;20307&quot; value=&quot;259&quot;/&gt;&lt;/object&gt;&lt;object type=&quot;3&quot; unique_id=&quot;10006&quot;&gt;&lt;property id=&quot;20148&quot; value=&quot;5&quot;/&gt;&lt;property id=&quot;20300&quot; value=&quot;Slide 4&quot;/&gt;&lt;property id=&quot;20307&quot; value=&quot;260&quot;/&gt;&lt;/object&gt;&lt;object type=&quot;3&quot; unique_id=&quot;10007&quot;&gt;&lt;property id=&quot;20148&quot; value=&quot;5&quot;/&gt;&lt;property id=&quot;20300&quot; value=&quot;Slide 5&quot;/&gt;&lt;property id=&quot;20307&quot; value=&quot;262&quot;/&gt;&lt;/object&gt;&lt;object type=&quot;3&quot; unique_id=&quot;10008&quot;&gt;&lt;property id=&quot;20148&quot; value=&quot;5&quot;/&gt;&lt;property id=&quot;20300&quot; value=&quot;Slide 6&quot;/&gt;&lt;property id=&quot;20307&quot; value=&quot;263&quot;/&gt;&lt;/object&gt;&lt;object type=&quot;3&quot; unique_id=&quot;10009&quot;&gt;&lt;property id=&quot;20148&quot; value=&quot;5&quot;/&gt;&lt;property id=&quot;20300&quot; value=&quot;Slide 7&quot;/&gt;&lt;property id=&quot;20307&quot; value=&quot;264&quot;/&gt;&lt;/object&gt;&lt;object type=&quot;3&quot; unique_id=&quot;10010&quot;&gt;&lt;property id=&quot;20148&quot; value=&quot;5&quot;/&gt;&lt;property id=&quot;20300&quot; value=&quot;Slide 8&quot;/&gt;&lt;property id=&quot;20307&quot; value=&quot;265&quot;/&gt;&lt;/object&gt;&lt;object type=&quot;3&quot; unique_id=&quot;10011&quot;&gt;&lt;property id=&quot;20148&quot; value=&quot;5&quot;/&gt;&lt;property id=&quot;20300&quot; value=&quot;Slide 9&quot;/&gt;&lt;property id=&quot;20307&quot; value=&quot;266&quot;/&gt;&lt;/object&gt;&lt;object type=&quot;3&quot; unique_id=&quot;10012&quot;&gt;&lt;property id=&quot;20148&quot; value=&quot;5&quot;/&gt;&lt;property id=&quot;20300&quot; value=&quot;Slide 10&quot;/&gt;&lt;property id=&quot;20307&quot; value=&quot;267&quot;/&gt;&lt;/object&gt;&lt;object type=&quot;3&quot; unique_id=&quot;10013&quot;&gt;&lt;property id=&quot;20148&quot; value=&quot;5&quot;/&gt;&lt;property id=&quot;20300&quot; value=&quot;Slide 11&quot;/&gt;&lt;property id=&quot;20307&quot; value=&quot;269&quot;/&gt;&lt;/object&gt;&lt;object type=&quot;3&quot; unique_id=&quot;10014&quot;&gt;&lt;property id=&quot;20148&quot; value=&quot;5&quot;/&gt;&lt;property id=&quot;20300&quot; value=&quot;Slide 12&quot;/&gt;&lt;property id=&quot;20307&quot; value=&quot;270&quot;/&gt;&lt;/object&gt;&lt;object type=&quot;3&quot; unique_id=&quot;10015&quot;&gt;&lt;property id=&quot;20148&quot; value=&quot;5&quot;/&gt;&lt;property id=&quot;20300&quot; value=&quot;Slide 13&quot;/&gt;&lt;property id=&quot;20307&quot; value=&quot;274&quot;/&gt;&lt;/object&gt;&lt;object type=&quot;3&quot; unique_id=&quot;10016&quot;&gt;&lt;property id=&quot;20148&quot; value=&quot;5&quot;/&gt;&lt;property id=&quot;20300&quot; value=&quot;Slide 14&quot;/&gt;&lt;property id=&quot;20307&quot; value=&quot;275&quot;/&gt;&lt;/object&gt;&lt;object type=&quot;3&quot; unique_id=&quot;10017&quot;&gt;&lt;property id=&quot;20148&quot; value=&quot;5&quot;/&gt;&lt;property id=&quot;20300&quot; value=&quot;Slide 15&quot;/&gt;&lt;property id=&quot;20307&quot; value=&quot;276&quot;/&gt;&lt;/object&gt;&lt;object type=&quot;3&quot; unique_id=&quot;10018&quot;&gt;&lt;property id=&quot;20148&quot; value=&quot;5&quot;/&gt;&lt;property id=&quot;20300&quot; value=&quot;Slide 16&quot;/&gt;&lt;property id=&quot;20307&quot; value=&quot;277&quot;/&gt;&lt;/object&gt;&lt;object type=&quot;3&quot; unique_id=&quot;10019&quot;&gt;&lt;property id=&quot;20148&quot; value=&quot;5&quot;/&gt;&lt;property id=&quot;20300&quot; value=&quot;Slide 17&quot;/&gt;&lt;property id=&quot;20307&quot; value=&quot;271&quot;/&gt;&lt;/object&gt;&lt;object type=&quot;3&quot; unique_id=&quot;10020&quot;&gt;&lt;property id=&quot;20148&quot; value=&quot;5&quot;/&gt;&lt;property id=&quot;20300&quot; value=&quot;Slide 18&quot;/&gt;&lt;property id=&quot;20307&quot; value=&quot;278&quot;/&gt;&lt;/object&gt;&lt;object type=&quot;3&quot; unique_id=&quot;10021&quot;&gt;&lt;property id=&quot;20148&quot; value=&quot;5&quot;/&gt;&lt;property id=&quot;20300&quot; value=&quot;Slide 19&quot;/&gt;&lt;property id=&quot;20307&quot; value=&quot;279&quot;/&gt;&lt;/object&gt;&lt;object type=&quot;3&quot; unique_id=&quot;10022&quot;&gt;&lt;property id=&quot;20148&quot; value=&quot;5&quot;/&gt;&lt;property id=&quot;20300&quot; value=&quot;Slide 20&quot;/&gt;&lt;property id=&quot;20307&quot; value=&quot;272&quot;/&gt;&lt;/object&gt;&lt;object type=&quot;3&quot; unique_id=&quot;10023&quot;&gt;&lt;property id=&quot;20148&quot; value=&quot;5&quot;/&gt;&lt;property id=&quot;20300&quot; value=&quot;Slide 21&quot;/&gt;&lt;property id=&quot;20307&quot; value=&quot;273&quot;/&gt;&lt;/object&gt;&lt;object type=&quot;3&quot; unique_id=&quot;10024&quot;&gt;&lt;property id=&quot;20148&quot; value=&quot;5&quot;/&gt;&lt;property id=&quot;20300&quot; value=&quot;Slide 22&quot;/&gt;&lt;property id=&quot;20307&quot; value=&quot;268&quot;/&gt;&lt;/object&gt;&lt;object type=&quot;3&quot; unique_id=&quot;10025&quot;&gt;&lt;property id=&quot;20148&quot; value=&quot;5&quot;/&gt;&lt;property id=&quot;20300&quot; value=&quot;Slide 23&quot;/&gt;&lt;property id=&quot;20307&quot; value=&quot;280&quot;/&gt;&lt;/object&gt;&lt;object type=&quot;3&quot; unique_id=&quot;10026&quot;&gt;&lt;property id=&quot;20148&quot; value=&quot;5&quot;/&gt;&lt;property id=&quot;20300&quot; value=&quot;Slide 24&quot;/&gt;&lt;property id=&quot;20307&quot; value=&quot;281&quot;/&gt;&lt;/object&gt;&lt;object type=&quot;3&quot; unique_id=&quot;10027&quot;&gt;&lt;property id=&quot;20148&quot; value=&quot;5&quot;/&gt;&lt;property id=&quot;20300&quot; value=&quot;Slide 25&quot;/&gt;&lt;property id=&quot;20307&quot; value=&quot;282&quot;/&gt;&lt;/object&gt;&lt;/object&gt;&lt;object type=&quot;8&quot; unique_id=&quot;1005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3882</TotalTime>
  <Words>1664</Words>
  <Application>Microsoft Office PowerPoint</Application>
  <PresentationFormat>Custom</PresentationFormat>
  <Paragraphs>672</Paragraphs>
  <Slides>51</Slides>
  <Notes>35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6" baseType="lpstr">
      <vt:lpstr>Yu Gothic UI Semilight</vt:lpstr>
      <vt:lpstr>Arial</vt:lpstr>
      <vt:lpstr>Bahnschrift SemiBold SemiConden</vt:lpstr>
      <vt:lpstr>Baumans</vt:lpstr>
      <vt:lpstr>Calibri</vt:lpstr>
      <vt:lpstr>Calibri Light</vt:lpstr>
      <vt:lpstr>Cambria Math</vt:lpstr>
      <vt:lpstr>Cascadia Mono</vt:lpstr>
      <vt:lpstr>Symbol</vt:lpstr>
      <vt:lpstr>Tahoma</vt:lpstr>
      <vt:lpstr>Times New Roman</vt:lpstr>
      <vt:lpstr>Tomaho</vt:lpstr>
      <vt:lpstr>Office Theme</vt:lpstr>
      <vt:lpstr>1_Office Theme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9Slide.vn</dc:subject>
  <dc:creator>BINH</dc:creator>
  <dc:description>9Slide.vn</dc:description>
  <cp:lastModifiedBy>Admin</cp:lastModifiedBy>
  <cp:revision>375</cp:revision>
  <dcterms:created xsi:type="dcterms:W3CDTF">2013-08-31T11:42:51Z</dcterms:created>
  <dcterms:modified xsi:type="dcterms:W3CDTF">2022-08-29T08:29:33Z</dcterms:modified>
  <cp:category>9Slide.vn</cp:category>
</cp:coreProperties>
</file>