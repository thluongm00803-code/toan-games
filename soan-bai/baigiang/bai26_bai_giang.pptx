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 id="2147483754" r:id="rId2"/>
  </p:sldMasterIdLst>
  <p:notesMasterIdLst>
    <p:notesMasterId r:id="rId14"/>
  </p:notesMasterIdLst>
  <p:sldIdLst>
    <p:sldId id="301" r:id="rId3"/>
    <p:sldId id="315" r:id="rId4"/>
    <p:sldId id="317" r:id="rId5"/>
    <p:sldId id="318" r:id="rId6"/>
    <p:sldId id="319" r:id="rId7"/>
    <p:sldId id="324" r:id="rId8"/>
    <p:sldId id="325" r:id="rId9"/>
    <p:sldId id="326" r:id="rId10"/>
    <p:sldId id="328" r:id="rId11"/>
    <p:sldId id="329" r:id="rId12"/>
    <p:sldId id="330" r:id="rId13"/>
  </p:sldIdLst>
  <p:sldSz cx="24384000" cy="13716000"/>
  <p:notesSz cx="6858000" cy="9144000"/>
  <p:custDataLst>
    <p:tags r:id="rId15"/>
  </p:custDataLst>
  <p:defaultTextStyle>
    <a:defPPr>
      <a:defRPr lang="en-US"/>
    </a:defPPr>
    <a:lvl1pPr marL="0" algn="l" defTabSz="2177278" rtl="0" eaLnBrk="1" latinLnBrk="0" hangingPunct="1">
      <a:defRPr sz="4300" kern="1200">
        <a:solidFill>
          <a:schemeClr val="tx1"/>
        </a:solidFill>
        <a:latin typeface="+mn-lt"/>
        <a:ea typeface="+mn-ea"/>
        <a:cs typeface="+mn-cs"/>
      </a:defRPr>
    </a:lvl1pPr>
    <a:lvl2pPr marL="1088639" algn="l" defTabSz="2177278" rtl="0" eaLnBrk="1" latinLnBrk="0" hangingPunct="1">
      <a:defRPr sz="4300" kern="1200">
        <a:solidFill>
          <a:schemeClr val="tx1"/>
        </a:solidFill>
        <a:latin typeface="+mn-lt"/>
        <a:ea typeface="+mn-ea"/>
        <a:cs typeface="+mn-cs"/>
      </a:defRPr>
    </a:lvl2pPr>
    <a:lvl3pPr marL="2177278" algn="l" defTabSz="2177278" rtl="0" eaLnBrk="1" latinLnBrk="0" hangingPunct="1">
      <a:defRPr sz="4300" kern="1200">
        <a:solidFill>
          <a:schemeClr val="tx1"/>
        </a:solidFill>
        <a:latin typeface="+mn-lt"/>
        <a:ea typeface="+mn-ea"/>
        <a:cs typeface="+mn-cs"/>
      </a:defRPr>
    </a:lvl3pPr>
    <a:lvl4pPr marL="3265917" algn="l" defTabSz="2177278" rtl="0" eaLnBrk="1" latinLnBrk="0" hangingPunct="1">
      <a:defRPr sz="4300" kern="1200">
        <a:solidFill>
          <a:schemeClr val="tx1"/>
        </a:solidFill>
        <a:latin typeface="+mn-lt"/>
        <a:ea typeface="+mn-ea"/>
        <a:cs typeface="+mn-cs"/>
      </a:defRPr>
    </a:lvl4pPr>
    <a:lvl5pPr marL="4354556" algn="l" defTabSz="2177278" rtl="0" eaLnBrk="1" latinLnBrk="0" hangingPunct="1">
      <a:defRPr sz="4300" kern="1200">
        <a:solidFill>
          <a:schemeClr val="tx1"/>
        </a:solidFill>
        <a:latin typeface="+mn-lt"/>
        <a:ea typeface="+mn-ea"/>
        <a:cs typeface="+mn-cs"/>
      </a:defRPr>
    </a:lvl5pPr>
    <a:lvl6pPr marL="5443195" algn="l" defTabSz="2177278" rtl="0" eaLnBrk="1" latinLnBrk="0" hangingPunct="1">
      <a:defRPr sz="4300" kern="1200">
        <a:solidFill>
          <a:schemeClr val="tx1"/>
        </a:solidFill>
        <a:latin typeface="+mn-lt"/>
        <a:ea typeface="+mn-ea"/>
        <a:cs typeface="+mn-cs"/>
      </a:defRPr>
    </a:lvl6pPr>
    <a:lvl7pPr marL="6531834" algn="l" defTabSz="2177278" rtl="0" eaLnBrk="1" latinLnBrk="0" hangingPunct="1">
      <a:defRPr sz="4300" kern="1200">
        <a:solidFill>
          <a:schemeClr val="tx1"/>
        </a:solidFill>
        <a:latin typeface="+mn-lt"/>
        <a:ea typeface="+mn-ea"/>
        <a:cs typeface="+mn-cs"/>
      </a:defRPr>
    </a:lvl7pPr>
    <a:lvl8pPr marL="7620472" algn="l" defTabSz="2177278" rtl="0" eaLnBrk="1" latinLnBrk="0" hangingPunct="1">
      <a:defRPr sz="4300" kern="1200">
        <a:solidFill>
          <a:schemeClr val="tx1"/>
        </a:solidFill>
        <a:latin typeface="+mn-lt"/>
        <a:ea typeface="+mn-ea"/>
        <a:cs typeface="+mn-cs"/>
      </a:defRPr>
    </a:lvl8pPr>
    <a:lvl9pPr marL="8709111" algn="l" defTabSz="2177278" rtl="0" eaLnBrk="1" latinLnBrk="0" hangingPunct="1">
      <a:defRPr sz="43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F7FF"/>
    <a:srgbClr val="D6F7FE"/>
    <a:srgbClr val="EEF7E9"/>
    <a:srgbClr val="0000FF"/>
    <a:srgbClr val="135F82"/>
    <a:srgbClr val="FFFFFF"/>
    <a:srgbClr val="008000"/>
    <a:srgbClr val="242452"/>
    <a:srgbClr val="270F6B"/>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6698" autoAdjust="0"/>
    <p:restoredTop sz="94139" autoAdjust="0"/>
  </p:normalViewPr>
  <p:slideViewPr>
    <p:cSldViewPr>
      <p:cViewPr varScale="1">
        <p:scale>
          <a:sx n="31" d="100"/>
          <a:sy n="31" d="100"/>
        </p:scale>
        <p:origin x="240" y="294"/>
      </p:cViewPr>
      <p:guideLst>
        <p:guide orient="horz" pos="4320"/>
        <p:guide pos="7680"/>
      </p:guideLst>
    </p:cSldViewPr>
  </p:slideViewPr>
  <p:notesTextViewPr>
    <p:cViewPr>
      <p:scale>
        <a:sx n="100" d="100"/>
        <a:sy n="100" d="100"/>
      </p:scale>
      <p:origin x="0" y="0"/>
    </p:cViewPr>
  </p:notesTextViewPr>
  <p:notesViewPr>
    <p:cSldViewPr>
      <p:cViewPr varScale="1">
        <p:scale>
          <a:sx n="56" d="100"/>
          <a:sy n="56" d="100"/>
        </p:scale>
        <p:origin x="-2886"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notesMaster" Target="notesMasters/notesMaster1.xml"/><Relationship Id="rId15" Type="http://schemas.openxmlformats.org/officeDocument/2006/relationships/tags" Target="tags/tag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A3BB293-0719-4B19-A181-EE36FD0623AD}" type="datetimeFigureOut">
              <a:rPr lang="en-US" smtClean="0"/>
              <a:pPr/>
              <a:t>8/30/2022</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2EA8B73-FCCD-4D4C-BC4E-0CE5120A1B5B}" type="slidenum">
              <a:rPr lang="en-US" smtClean="0"/>
              <a:pPr/>
              <a:t>‹#›</a:t>
            </a:fld>
            <a:endParaRPr lang="en-US"/>
          </a:p>
        </p:txBody>
      </p:sp>
    </p:spTree>
    <p:extLst>
      <p:ext uri="{BB962C8B-B14F-4D97-AF65-F5344CB8AC3E}">
        <p14:creationId xmlns:p14="http://schemas.microsoft.com/office/powerpoint/2010/main" val="3059963718"/>
      </p:ext>
    </p:extLst>
  </p:cSld>
  <p:clrMap bg1="lt1" tx1="dk1" bg2="lt2" tx2="dk2" accent1="accent1" accent2="accent2" accent3="accent3" accent4="accent4" accent5="accent5" accent6="accent6" hlink="hlink" folHlink="folHlink"/>
  <p:notesStyle>
    <a:lvl1pPr marL="0" algn="l" defTabSz="2177278" rtl="0" eaLnBrk="1" latinLnBrk="0" hangingPunct="1">
      <a:defRPr sz="2900" kern="1200">
        <a:solidFill>
          <a:schemeClr val="tx1"/>
        </a:solidFill>
        <a:latin typeface="+mn-lt"/>
        <a:ea typeface="+mn-ea"/>
        <a:cs typeface="+mn-cs"/>
      </a:defRPr>
    </a:lvl1pPr>
    <a:lvl2pPr marL="1088639" algn="l" defTabSz="2177278" rtl="0" eaLnBrk="1" latinLnBrk="0" hangingPunct="1">
      <a:defRPr sz="2900" kern="1200">
        <a:solidFill>
          <a:schemeClr val="tx1"/>
        </a:solidFill>
        <a:latin typeface="+mn-lt"/>
        <a:ea typeface="+mn-ea"/>
        <a:cs typeface="+mn-cs"/>
      </a:defRPr>
    </a:lvl2pPr>
    <a:lvl3pPr marL="2177278" algn="l" defTabSz="2177278" rtl="0" eaLnBrk="1" latinLnBrk="0" hangingPunct="1">
      <a:defRPr sz="2900" kern="1200">
        <a:solidFill>
          <a:schemeClr val="tx1"/>
        </a:solidFill>
        <a:latin typeface="+mn-lt"/>
        <a:ea typeface="+mn-ea"/>
        <a:cs typeface="+mn-cs"/>
      </a:defRPr>
    </a:lvl3pPr>
    <a:lvl4pPr marL="3265917" algn="l" defTabSz="2177278" rtl="0" eaLnBrk="1" latinLnBrk="0" hangingPunct="1">
      <a:defRPr sz="2900" kern="1200">
        <a:solidFill>
          <a:schemeClr val="tx1"/>
        </a:solidFill>
        <a:latin typeface="+mn-lt"/>
        <a:ea typeface="+mn-ea"/>
        <a:cs typeface="+mn-cs"/>
      </a:defRPr>
    </a:lvl4pPr>
    <a:lvl5pPr marL="4354556" algn="l" defTabSz="2177278" rtl="0" eaLnBrk="1" latinLnBrk="0" hangingPunct="1">
      <a:defRPr sz="2900" kern="1200">
        <a:solidFill>
          <a:schemeClr val="tx1"/>
        </a:solidFill>
        <a:latin typeface="+mn-lt"/>
        <a:ea typeface="+mn-ea"/>
        <a:cs typeface="+mn-cs"/>
      </a:defRPr>
    </a:lvl5pPr>
    <a:lvl6pPr marL="5443195" algn="l" defTabSz="2177278" rtl="0" eaLnBrk="1" latinLnBrk="0" hangingPunct="1">
      <a:defRPr sz="2900" kern="1200">
        <a:solidFill>
          <a:schemeClr val="tx1"/>
        </a:solidFill>
        <a:latin typeface="+mn-lt"/>
        <a:ea typeface="+mn-ea"/>
        <a:cs typeface="+mn-cs"/>
      </a:defRPr>
    </a:lvl6pPr>
    <a:lvl7pPr marL="6531834" algn="l" defTabSz="2177278" rtl="0" eaLnBrk="1" latinLnBrk="0" hangingPunct="1">
      <a:defRPr sz="2900" kern="1200">
        <a:solidFill>
          <a:schemeClr val="tx1"/>
        </a:solidFill>
        <a:latin typeface="+mn-lt"/>
        <a:ea typeface="+mn-ea"/>
        <a:cs typeface="+mn-cs"/>
      </a:defRPr>
    </a:lvl7pPr>
    <a:lvl8pPr marL="7620472" algn="l" defTabSz="2177278" rtl="0" eaLnBrk="1" latinLnBrk="0" hangingPunct="1">
      <a:defRPr sz="2900" kern="1200">
        <a:solidFill>
          <a:schemeClr val="tx1"/>
        </a:solidFill>
        <a:latin typeface="+mn-lt"/>
        <a:ea typeface="+mn-ea"/>
        <a:cs typeface="+mn-cs"/>
      </a:defRPr>
    </a:lvl8pPr>
    <a:lvl9pPr marL="8709111" algn="l" defTabSz="2177278" rtl="0" eaLnBrk="1" latinLnBrk="0" hangingPunct="1">
      <a:defRPr sz="2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a:t>
            </a:fld>
            <a:endParaRPr lang="en-US"/>
          </a:p>
        </p:txBody>
      </p:sp>
    </p:spTree>
    <p:extLst>
      <p:ext uri="{BB962C8B-B14F-4D97-AF65-F5344CB8AC3E}">
        <p14:creationId xmlns:p14="http://schemas.microsoft.com/office/powerpoint/2010/main" val="34185649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a:t>
            </a:fld>
            <a:endParaRPr lang="en-US"/>
          </a:p>
        </p:txBody>
      </p:sp>
    </p:spTree>
    <p:extLst>
      <p:ext uri="{BB962C8B-B14F-4D97-AF65-F5344CB8AC3E}">
        <p14:creationId xmlns:p14="http://schemas.microsoft.com/office/powerpoint/2010/main" val="34970113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3</a:t>
            </a:fld>
            <a:endParaRPr lang="en-US"/>
          </a:p>
        </p:txBody>
      </p:sp>
    </p:spTree>
    <p:extLst>
      <p:ext uri="{BB962C8B-B14F-4D97-AF65-F5344CB8AC3E}">
        <p14:creationId xmlns:p14="http://schemas.microsoft.com/office/powerpoint/2010/main" val="3080966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4</a:t>
            </a:fld>
            <a:endParaRPr lang="en-US"/>
          </a:p>
        </p:txBody>
      </p:sp>
    </p:spTree>
    <p:extLst>
      <p:ext uri="{BB962C8B-B14F-4D97-AF65-F5344CB8AC3E}">
        <p14:creationId xmlns:p14="http://schemas.microsoft.com/office/powerpoint/2010/main" val="5968439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5</a:t>
            </a:fld>
            <a:endParaRPr lang="en-US"/>
          </a:p>
        </p:txBody>
      </p:sp>
    </p:spTree>
    <p:extLst>
      <p:ext uri="{BB962C8B-B14F-4D97-AF65-F5344CB8AC3E}">
        <p14:creationId xmlns:p14="http://schemas.microsoft.com/office/powerpoint/2010/main" val="2949937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6</a:t>
            </a:fld>
            <a:endParaRPr lang="en-US"/>
          </a:p>
        </p:txBody>
      </p:sp>
    </p:spTree>
    <p:extLst>
      <p:ext uri="{BB962C8B-B14F-4D97-AF65-F5344CB8AC3E}">
        <p14:creationId xmlns:p14="http://schemas.microsoft.com/office/powerpoint/2010/main" val="24112186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7</a:t>
            </a:fld>
            <a:endParaRPr lang="en-US"/>
          </a:p>
        </p:txBody>
      </p:sp>
    </p:spTree>
    <p:extLst>
      <p:ext uri="{BB962C8B-B14F-4D97-AF65-F5344CB8AC3E}">
        <p14:creationId xmlns:p14="http://schemas.microsoft.com/office/powerpoint/2010/main" val="20569889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8</a:t>
            </a:fld>
            <a:endParaRPr lang="en-US"/>
          </a:p>
        </p:txBody>
      </p:sp>
    </p:spTree>
    <p:extLst>
      <p:ext uri="{BB962C8B-B14F-4D97-AF65-F5344CB8AC3E}">
        <p14:creationId xmlns:p14="http://schemas.microsoft.com/office/powerpoint/2010/main" val="30321067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9</a:t>
            </a:fld>
            <a:endParaRPr lang="en-US"/>
          </a:p>
        </p:txBody>
      </p:sp>
    </p:spTree>
    <p:extLst>
      <p:ext uri="{BB962C8B-B14F-4D97-AF65-F5344CB8AC3E}">
        <p14:creationId xmlns:p14="http://schemas.microsoft.com/office/powerpoint/2010/main" val="7275285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10</a:t>
            </a:fld>
            <a:endParaRPr lang="en-US"/>
          </a:p>
        </p:txBody>
      </p:sp>
    </p:spTree>
    <p:extLst>
      <p:ext uri="{BB962C8B-B14F-4D97-AF65-F5344CB8AC3E}">
        <p14:creationId xmlns:p14="http://schemas.microsoft.com/office/powerpoint/2010/main" val="20804353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11</a:t>
            </a:fld>
            <a:endParaRPr lang="en-US"/>
          </a:p>
        </p:txBody>
      </p:sp>
    </p:spTree>
    <p:extLst>
      <p:ext uri="{BB962C8B-B14F-4D97-AF65-F5344CB8AC3E}">
        <p14:creationId xmlns:p14="http://schemas.microsoft.com/office/powerpoint/2010/main" val="9264688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699727" y="1781954"/>
            <a:ext cx="21031200" cy="2651126"/>
          </a:xfrm>
          <a:prstGeom prst="rect">
            <a:avLst/>
          </a:prstGeom>
        </p:spPr>
        <p:txBody>
          <a:bodyPr/>
          <a:lstStyle>
            <a:lvl1pPr algn="l">
              <a:defRPr sz="5400">
                <a:latin typeface="Tomaho"/>
              </a:defRPr>
            </a:lvl1pPr>
          </a:lstStyle>
          <a:p>
            <a:r>
              <a:rPr lang="en-US"/>
              <a:t>Click to edit Master title style</a:t>
            </a:r>
          </a:p>
        </p:txBody>
      </p:sp>
      <p:sp>
        <p:nvSpPr>
          <p:cNvPr id="3" name="Content Placeholder 2"/>
          <p:cNvSpPr>
            <a:spLocks noGrp="1"/>
          </p:cNvSpPr>
          <p:nvPr>
            <p:ph sz="half" idx="1"/>
          </p:nvPr>
        </p:nvSpPr>
        <p:spPr>
          <a:xfrm>
            <a:off x="1699727" y="4702953"/>
            <a:ext cx="10363200" cy="8702676"/>
          </a:xfrm>
          <a:prstGeom prst="rect">
            <a:avLst/>
          </a:prstGeom>
        </p:spPr>
        <p:txBody>
          <a:bodyPr/>
          <a:lstStyle>
            <a:lvl1pPr algn="l">
              <a:defRPr sz="4800">
                <a:latin typeface="Tomaho"/>
              </a:defRPr>
            </a:lvl1pPr>
            <a:lvl2pPr algn="l">
              <a:defRPr sz="4800">
                <a:latin typeface="Tomaho"/>
              </a:defRPr>
            </a:lvl2pPr>
            <a:lvl3pPr algn="l">
              <a:defRPr sz="4800">
                <a:latin typeface="Tomaho"/>
              </a:defRPr>
            </a:lvl3pPr>
            <a:lvl4pPr algn="l">
              <a:defRPr sz="4800">
                <a:latin typeface="Tomaho"/>
              </a:defRPr>
            </a:lvl4pPr>
            <a:lvl5pPr algn="l">
              <a:defRPr sz="4800">
                <a:latin typeface="Tomaho"/>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2367727" y="4702953"/>
            <a:ext cx="10363200" cy="8702676"/>
          </a:xfrm>
          <a:prstGeom prst="rect">
            <a:avLst/>
          </a:prstGeom>
        </p:spPr>
        <p:txBody>
          <a:bodyPr/>
          <a:lstStyle>
            <a:lvl1pPr algn="l">
              <a:defRPr sz="4800">
                <a:latin typeface="Tomaho"/>
              </a:defRPr>
            </a:lvl1pPr>
            <a:lvl2pPr algn="l">
              <a:defRPr sz="4800">
                <a:latin typeface="Tomaho"/>
              </a:defRPr>
            </a:lvl2pPr>
            <a:lvl3pPr algn="l">
              <a:defRPr sz="4800">
                <a:latin typeface="Tomaho"/>
              </a:defRPr>
            </a:lvl3pPr>
            <a:lvl4pPr algn="l">
              <a:defRPr sz="4800">
                <a:latin typeface="Tomaho"/>
              </a:defRPr>
            </a:lvl4pPr>
            <a:lvl5pPr algn="l">
              <a:defRPr sz="4800">
                <a:latin typeface="Tomaho"/>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96220733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up)">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up)">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wipe(up)">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wipe(up)">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wipe(up)">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4">
                                            <p:txEl>
                                              <p:pRg st="0" end="0"/>
                                            </p:txEl>
                                          </p:spTgt>
                                        </p:tgtEl>
                                        <p:attrNameLst>
                                          <p:attrName>style.visibility</p:attrName>
                                        </p:attrNameLst>
                                      </p:cBhvr>
                                      <p:to>
                                        <p:strVal val="visible"/>
                                      </p:to>
                                    </p:set>
                                    <p:animEffect transition="in" filter="wipe(up)">
                                      <p:cBhvr>
                                        <p:cTn id="37" dur="500"/>
                                        <p:tgtEl>
                                          <p:spTgt spid="4">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4">
                                            <p:txEl>
                                              <p:pRg st="1" end="1"/>
                                            </p:txEl>
                                          </p:spTgt>
                                        </p:tgtEl>
                                        <p:attrNameLst>
                                          <p:attrName>style.visibility</p:attrName>
                                        </p:attrNameLst>
                                      </p:cBhvr>
                                      <p:to>
                                        <p:strVal val="visible"/>
                                      </p:to>
                                    </p:set>
                                    <p:animEffect transition="in" filter="wipe(up)">
                                      <p:cBhvr>
                                        <p:cTn id="42" dur="500"/>
                                        <p:tgtEl>
                                          <p:spTgt spid="4">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4">
                                            <p:txEl>
                                              <p:pRg st="2" end="2"/>
                                            </p:txEl>
                                          </p:spTgt>
                                        </p:tgtEl>
                                        <p:attrNameLst>
                                          <p:attrName>style.visibility</p:attrName>
                                        </p:attrNameLst>
                                      </p:cBhvr>
                                      <p:to>
                                        <p:strVal val="visible"/>
                                      </p:to>
                                    </p:set>
                                    <p:animEffect transition="in" filter="wipe(up)">
                                      <p:cBhvr>
                                        <p:cTn id="47" dur="500"/>
                                        <p:tgtEl>
                                          <p:spTgt spid="4">
                                            <p:txEl>
                                              <p:pRg st="2" end="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4">
                                            <p:txEl>
                                              <p:pRg st="3" end="3"/>
                                            </p:txEl>
                                          </p:spTgt>
                                        </p:tgtEl>
                                        <p:attrNameLst>
                                          <p:attrName>style.visibility</p:attrName>
                                        </p:attrNameLst>
                                      </p:cBhvr>
                                      <p:to>
                                        <p:strVal val="visible"/>
                                      </p:to>
                                    </p:set>
                                    <p:animEffect transition="in" filter="wipe(up)">
                                      <p:cBhvr>
                                        <p:cTn id="52" dur="500"/>
                                        <p:tgtEl>
                                          <p:spTgt spid="4">
                                            <p:txEl>
                                              <p:pRg st="3" end="3"/>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4">
                                            <p:txEl>
                                              <p:pRg st="4" end="4"/>
                                            </p:txEl>
                                          </p:spTgt>
                                        </p:tgtEl>
                                        <p:attrNameLst>
                                          <p:attrName>style.visibility</p:attrName>
                                        </p:attrNameLst>
                                      </p:cBhvr>
                                      <p:to>
                                        <p:strVal val="visible"/>
                                      </p:to>
                                    </p:set>
                                    <p:animEffect transition="in" filter="wipe(up)">
                                      <p:cBhvr>
                                        <p:cTn id="57"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22" presetClass="entr" presetSubtype="1"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up)">
                      <p:cBhvr>
                        <p:cTn dur="500"/>
                        <p:tgtEl>
                          <p:spTgt spid="3"/>
                        </p:tgtEl>
                      </p:cBhvr>
                    </p:animEffect>
                  </p:childTnLst>
                </p:cTn>
              </p:par>
            </p:tnLst>
          </p:tmpl>
          <p:tmpl lvl="2">
            <p:tnLst>
              <p:par>
                <p:cTn presetID="22" presetClass="entr" presetSubtype="1"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up)">
                      <p:cBhvr>
                        <p:cTn dur="500"/>
                        <p:tgtEl>
                          <p:spTgt spid="3"/>
                        </p:tgtEl>
                      </p:cBhvr>
                    </p:animEffect>
                  </p:childTnLst>
                </p:cTn>
              </p:par>
            </p:tnLst>
          </p:tmpl>
          <p:tmpl lvl="3">
            <p:tnLst>
              <p:par>
                <p:cTn presetID="22" presetClass="entr" presetSubtype="1"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up)">
                      <p:cBhvr>
                        <p:cTn dur="500"/>
                        <p:tgtEl>
                          <p:spTgt spid="3"/>
                        </p:tgtEl>
                      </p:cBhvr>
                    </p:animEffect>
                  </p:childTnLst>
                </p:cTn>
              </p:par>
            </p:tnLst>
          </p:tmpl>
          <p:tmpl lvl="4">
            <p:tnLst>
              <p:par>
                <p:cTn presetID="22" presetClass="entr" presetSubtype="1"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up)">
                      <p:cBhvr>
                        <p:cTn dur="500"/>
                        <p:tgtEl>
                          <p:spTgt spid="3"/>
                        </p:tgtEl>
                      </p:cBhvr>
                    </p:animEffect>
                  </p:childTnLst>
                </p:cTn>
              </p:par>
            </p:tnLst>
          </p:tmpl>
          <p:tmpl lvl="5">
            <p:tnLst>
              <p:par>
                <p:cTn presetID="22" presetClass="entr" presetSubtype="1"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up)">
                      <p:cBhvr>
                        <p:cTn dur="500"/>
                        <p:tgtEl>
                          <p:spTgt spid="3"/>
                        </p:tgtEl>
                      </p:cBhvr>
                    </p:animEffect>
                  </p:childTnLst>
                </p:cTn>
              </p:par>
            </p:tnLst>
          </p:tmpl>
        </p:tmplLst>
      </p:bldP>
      <p:bldP spid="4" grpId="0" build="p">
        <p:tmplLst>
          <p:tmpl lvl="1">
            <p:tnLst>
              <p:par>
                <p:cTn presetID="22" presetClass="entr" presetSubtype="1"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wipe(up)">
                      <p:cBhvr>
                        <p:cTn dur="500"/>
                        <p:tgtEl>
                          <p:spTgt spid="4"/>
                        </p:tgtEl>
                      </p:cBhvr>
                    </p:animEffect>
                  </p:childTnLst>
                </p:cTn>
              </p:par>
            </p:tnLst>
          </p:tmpl>
          <p:tmpl lvl="2">
            <p:tnLst>
              <p:par>
                <p:cTn presetID="22" presetClass="entr" presetSubtype="1"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wipe(up)">
                      <p:cBhvr>
                        <p:cTn dur="500"/>
                        <p:tgtEl>
                          <p:spTgt spid="4"/>
                        </p:tgtEl>
                      </p:cBhvr>
                    </p:animEffect>
                  </p:childTnLst>
                </p:cTn>
              </p:par>
            </p:tnLst>
          </p:tmpl>
          <p:tmpl lvl="3">
            <p:tnLst>
              <p:par>
                <p:cTn presetID="22" presetClass="entr" presetSubtype="1"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wipe(up)">
                      <p:cBhvr>
                        <p:cTn dur="500"/>
                        <p:tgtEl>
                          <p:spTgt spid="4"/>
                        </p:tgtEl>
                      </p:cBhvr>
                    </p:animEffect>
                  </p:childTnLst>
                </p:cTn>
              </p:par>
            </p:tnLst>
          </p:tmpl>
          <p:tmpl lvl="4">
            <p:tnLst>
              <p:par>
                <p:cTn presetID="22" presetClass="entr" presetSubtype="1"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wipe(up)">
                      <p:cBhvr>
                        <p:cTn dur="500"/>
                        <p:tgtEl>
                          <p:spTgt spid="4"/>
                        </p:tgtEl>
                      </p:cBhvr>
                    </p:animEffect>
                  </p:childTnLst>
                </p:cTn>
              </p:par>
            </p:tnLst>
          </p:tmpl>
          <p:tmpl lvl="5">
            <p:tnLst>
              <p:par>
                <p:cTn presetID="22" presetClass="entr" presetSubtype="1"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wipe(up)">
                      <p:cBhvr>
                        <p:cTn dur="500"/>
                        <p:tgtEl>
                          <p:spTgt spid="4"/>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79576" y="730251"/>
            <a:ext cx="21031200" cy="2651126"/>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1679577" y="3362326"/>
            <a:ext cx="10315574" cy="1647824"/>
          </a:xfrm>
          <a:prstGeom prst="rect">
            <a:avLst/>
          </a:prstGeo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Edit Master text styles</a:t>
            </a:r>
          </a:p>
        </p:txBody>
      </p:sp>
      <p:sp>
        <p:nvSpPr>
          <p:cNvPr id="4" name="Content Placeholder 3"/>
          <p:cNvSpPr>
            <a:spLocks noGrp="1"/>
          </p:cNvSpPr>
          <p:nvPr>
            <p:ph sz="half" idx="2"/>
          </p:nvPr>
        </p:nvSpPr>
        <p:spPr>
          <a:xfrm>
            <a:off x="1679577" y="5010150"/>
            <a:ext cx="10315574" cy="73691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2344400" y="3362326"/>
            <a:ext cx="10366376" cy="1647824"/>
          </a:xfrm>
          <a:prstGeom prst="rect">
            <a:avLst/>
          </a:prstGeo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Edit Master text styles</a:t>
            </a:r>
          </a:p>
        </p:txBody>
      </p:sp>
      <p:sp>
        <p:nvSpPr>
          <p:cNvPr id="6" name="Content Placeholder 5"/>
          <p:cNvSpPr>
            <a:spLocks noGrp="1"/>
          </p:cNvSpPr>
          <p:nvPr>
            <p:ph sz="quarter" idx="4"/>
          </p:nvPr>
        </p:nvSpPr>
        <p:spPr>
          <a:xfrm>
            <a:off x="12344400" y="5010150"/>
            <a:ext cx="10366376" cy="73691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8" name="Footer Placeholder 7"/>
          <p:cNvSpPr>
            <a:spLocks noGrp="1"/>
          </p:cNvSpPr>
          <p:nvPr>
            <p:ph type="ftr" sz="quarter" idx="11"/>
          </p:nvPr>
        </p:nvSpPr>
        <p:spPr>
          <a:xfrm>
            <a:off x="8077200" y="12712701"/>
            <a:ext cx="8229600" cy="730250"/>
          </a:xfrm>
          <a:prstGeom prst="rect">
            <a:avLst/>
          </a:prstGeom>
        </p:spPr>
        <p:txBody>
          <a:bodyPr/>
          <a:lstStyle/>
          <a:p>
            <a:endParaRPr lang="en-US"/>
          </a:p>
        </p:txBody>
      </p:sp>
      <p:sp>
        <p:nvSpPr>
          <p:cNvPr id="9" name="Slide Number Placeholder 8"/>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02750806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245575104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63700" y="3419477"/>
            <a:ext cx="21031200" cy="5705474"/>
          </a:xfrm>
          <a:prstGeom prst="rect">
            <a:avLst/>
          </a:prstGeom>
        </p:spPr>
        <p:txBody>
          <a:bodyPr anchor="b"/>
          <a:lstStyle>
            <a:lvl1pPr>
              <a:defRPr sz="12000"/>
            </a:lvl1pPr>
          </a:lstStyle>
          <a:p>
            <a:r>
              <a:rPr lang="en-US"/>
              <a:t>Click to edit Master title style</a:t>
            </a:r>
          </a:p>
        </p:txBody>
      </p:sp>
      <p:sp>
        <p:nvSpPr>
          <p:cNvPr id="3" name="Text Placeholder 2"/>
          <p:cNvSpPr>
            <a:spLocks noGrp="1"/>
          </p:cNvSpPr>
          <p:nvPr>
            <p:ph type="body" idx="1"/>
          </p:nvPr>
        </p:nvSpPr>
        <p:spPr>
          <a:xfrm>
            <a:off x="1663700" y="9178927"/>
            <a:ext cx="21031200" cy="3000374"/>
          </a:xfrm>
          <a:prstGeom prst="rect">
            <a:avLst/>
          </a:prstGeom>
        </p:spPr>
        <p:txBody>
          <a:bodyPr/>
          <a:lstStyle>
            <a:lvl1pPr marL="0" indent="0">
              <a:buNone/>
              <a:defRPr sz="4800">
                <a:solidFill>
                  <a:schemeClr val="tx1">
                    <a:tint val="75000"/>
                  </a:schemeClr>
                </a:solidFill>
              </a:defRPr>
            </a:lvl1pPr>
            <a:lvl2pPr marL="914400" indent="0">
              <a:buNone/>
              <a:defRPr sz="4000">
                <a:solidFill>
                  <a:schemeClr val="tx1">
                    <a:tint val="75000"/>
                  </a:schemeClr>
                </a:solidFill>
              </a:defRPr>
            </a:lvl2pPr>
            <a:lvl3pPr marL="1828800" indent="0">
              <a:buNone/>
              <a:defRPr sz="3600">
                <a:solidFill>
                  <a:schemeClr val="tx1">
                    <a:tint val="75000"/>
                  </a:schemeClr>
                </a:solidFill>
              </a:defRPr>
            </a:lvl3pPr>
            <a:lvl4pPr marL="2743200" indent="0">
              <a:buNone/>
              <a:defRPr sz="3200">
                <a:solidFill>
                  <a:schemeClr val="tx1">
                    <a:tint val="75000"/>
                  </a:schemeClr>
                </a:solidFill>
              </a:defRPr>
            </a:lvl4pPr>
            <a:lvl5pPr marL="3657600" indent="0">
              <a:buNone/>
              <a:defRPr sz="3200">
                <a:solidFill>
                  <a:schemeClr val="tx1">
                    <a:tint val="75000"/>
                  </a:schemeClr>
                </a:solidFill>
              </a:defRPr>
            </a:lvl5pPr>
            <a:lvl6pPr marL="4572000" indent="0">
              <a:buNone/>
              <a:defRPr sz="3200">
                <a:solidFill>
                  <a:schemeClr val="tx1">
                    <a:tint val="75000"/>
                  </a:schemeClr>
                </a:solidFill>
              </a:defRPr>
            </a:lvl6pPr>
            <a:lvl7pPr marL="5486400" indent="0">
              <a:buNone/>
              <a:defRPr sz="3200">
                <a:solidFill>
                  <a:schemeClr val="tx1">
                    <a:tint val="75000"/>
                  </a:schemeClr>
                </a:solidFill>
              </a:defRPr>
            </a:lvl7pPr>
            <a:lvl8pPr marL="6400800" indent="0">
              <a:buNone/>
              <a:defRPr sz="3200">
                <a:solidFill>
                  <a:schemeClr val="tx1">
                    <a:tint val="75000"/>
                  </a:schemeClr>
                </a:solidFill>
              </a:defRPr>
            </a:lvl8pPr>
            <a:lvl9pPr marL="7315200" indent="0">
              <a:buNone/>
              <a:defRPr sz="3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182193819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4" name="Footer Placeholder 3"/>
          <p:cNvSpPr>
            <a:spLocks noGrp="1"/>
          </p:cNvSpPr>
          <p:nvPr>
            <p:ph type="ftr" sz="quarter" idx="11"/>
          </p:nvPr>
        </p:nvSpPr>
        <p:spPr>
          <a:xfrm>
            <a:off x="8077200" y="12712701"/>
            <a:ext cx="8229600" cy="730250"/>
          </a:xfrm>
          <a:prstGeom prst="rect">
            <a:avLst/>
          </a:prstGeom>
        </p:spPr>
        <p:txBody>
          <a:bodyPr/>
          <a:lstStyle/>
          <a:p>
            <a:endParaRPr lang="en-US"/>
          </a:p>
        </p:txBody>
      </p:sp>
      <p:sp>
        <p:nvSpPr>
          <p:cNvPr id="5" name="Slide Number Placeholder 4"/>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47124193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3" name="Footer Placeholder 2"/>
          <p:cNvSpPr>
            <a:spLocks noGrp="1"/>
          </p:cNvSpPr>
          <p:nvPr>
            <p:ph type="ftr" sz="quarter" idx="11"/>
          </p:nvPr>
        </p:nvSpPr>
        <p:spPr>
          <a:xfrm>
            <a:off x="8077200" y="12712701"/>
            <a:ext cx="8229600" cy="730250"/>
          </a:xfrm>
          <a:prstGeom prst="rect">
            <a:avLst/>
          </a:prstGeom>
        </p:spPr>
        <p:txBody>
          <a:bodyPr/>
          <a:lstStyle/>
          <a:p>
            <a:endParaRPr lang="en-US"/>
          </a:p>
        </p:txBody>
      </p:sp>
      <p:sp>
        <p:nvSpPr>
          <p:cNvPr id="4" name="Slide Number Placeholder 3"/>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6245898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7" y="914400"/>
            <a:ext cx="7864474" cy="3200400"/>
          </a:xfrm>
          <a:prstGeom prst="rect">
            <a:avLst/>
          </a:prstGeom>
        </p:spPr>
        <p:txBody>
          <a:bodyPr anchor="b"/>
          <a:lstStyle>
            <a:lvl1pPr>
              <a:defRPr sz="6400"/>
            </a:lvl1pPr>
          </a:lstStyle>
          <a:p>
            <a:r>
              <a:rPr lang="en-US"/>
              <a:t>Click to edit Master title style</a:t>
            </a:r>
          </a:p>
        </p:txBody>
      </p:sp>
      <p:sp>
        <p:nvSpPr>
          <p:cNvPr id="3" name="Content Placeholder 2"/>
          <p:cNvSpPr>
            <a:spLocks noGrp="1"/>
          </p:cNvSpPr>
          <p:nvPr>
            <p:ph idx="1"/>
          </p:nvPr>
        </p:nvSpPr>
        <p:spPr>
          <a:xfrm>
            <a:off x="10366376" y="1974851"/>
            <a:ext cx="12344400" cy="9747250"/>
          </a:xfrm>
          <a:prstGeom prst="rect">
            <a:avLst/>
          </a:prstGeo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679577" y="4114800"/>
            <a:ext cx="7864474" cy="7623176"/>
          </a:xfrm>
          <a:prstGeom prst="rect">
            <a:avLst/>
          </a:prstGeo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Edit Master text styles</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400765581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7" y="914400"/>
            <a:ext cx="7864474" cy="3200400"/>
          </a:xfrm>
          <a:prstGeom prst="rect">
            <a:avLst/>
          </a:prstGeom>
        </p:spPr>
        <p:txBody>
          <a:bodyPr anchor="b"/>
          <a:lstStyle>
            <a:lvl1pPr>
              <a:defRPr sz="6400"/>
            </a:lvl1pPr>
          </a:lstStyle>
          <a:p>
            <a:r>
              <a:rPr lang="en-US"/>
              <a:t>Click to edit Master title style</a:t>
            </a:r>
          </a:p>
        </p:txBody>
      </p:sp>
      <p:sp>
        <p:nvSpPr>
          <p:cNvPr id="3" name="Picture Placeholder 2"/>
          <p:cNvSpPr>
            <a:spLocks noGrp="1"/>
          </p:cNvSpPr>
          <p:nvPr>
            <p:ph type="pic" idx="1"/>
          </p:nvPr>
        </p:nvSpPr>
        <p:spPr>
          <a:xfrm>
            <a:off x="10366376" y="1974851"/>
            <a:ext cx="12344400" cy="9747250"/>
          </a:xfrm>
          <a:prstGeom prst="rect">
            <a:avLst/>
          </a:prstGeom>
        </p:spPr>
        <p:txBody>
          <a:bodyPr/>
          <a:lstStyle>
            <a:lvl1pPr marL="0" indent="0">
              <a:buNone/>
              <a:defRPr sz="6400"/>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endParaRPr lang="en-US"/>
          </a:p>
        </p:txBody>
      </p:sp>
      <p:sp>
        <p:nvSpPr>
          <p:cNvPr id="4" name="Text Placeholder 3"/>
          <p:cNvSpPr>
            <a:spLocks noGrp="1"/>
          </p:cNvSpPr>
          <p:nvPr>
            <p:ph type="body" sz="half" idx="2"/>
          </p:nvPr>
        </p:nvSpPr>
        <p:spPr>
          <a:xfrm>
            <a:off x="1679577" y="4114800"/>
            <a:ext cx="7864474" cy="7623176"/>
          </a:xfrm>
          <a:prstGeom prst="rect">
            <a:avLst/>
          </a:prstGeo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Edit Master text styles</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8209836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1676400" y="3651250"/>
            <a:ext cx="21031200" cy="8702676"/>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2108855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7449800" y="730250"/>
            <a:ext cx="5257800" cy="11623676"/>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1676400" y="730250"/>
            <a:ext cx="15468600" cy="11623676"/>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18083307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568361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69597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048000" y="2244726"/>
            <a:ext cx="18288000" cy="4775200"/>
          </a:xfrm>
          <a:prstGeom prst="rect">
            <a:avLst/>
          </a:prstGeom>
        </p:spPr>
        <p:txBody>
          <a:bodyPr anchor="b"/>
          <a:lstStyle>
            <a:lvl1pPr algn="ctr">
              <a:defRPr sz="12000"/>
            </a:lvl1pPr>
          </a:lstStyle>
          <a:p>
            <a:r>
              <a:rPr lang="en-US"/>
              <a:t>Click to edit Master title style</a:t>
            </a:r>
          </a:p>
        </p:txBody>
      </p:sp>
      <p:sp>
        <p:nvSpPr>
          <p:cNvPr id="3" name="Subtitle 2"/>
          <p:cNvSpPr>
            <a:spLocks noGrp="1"/>
          </p:cNvSpPr>
          <p:nvPr>
            <p:ph type="subTitle" idx="1"/>
          </p:nvPr>
        </p:nvSpPr>
        <p:spPr>
          <a:xfrm>
            <a:off x="3048000" y="7204076"/>
            <a:ext cx="18288000" cy="3311524"/>
          </a:xfrm>
          <a:prstGeom prst="rect">
            <a:avLst/>
          </a:prstGeom>
        </p:spPr>
        <p:txBody>
          <a:bodyPr/>
          <a:lstStyle>
            <a:lvl1pPr marL="0" indent="0" algn="ctr">
              <a:buNone/>
              <a:defRPr sz="4800"/>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Click to edit Master subtitle style</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20317877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1676400" y="3651250"/>
            <a:ext cx="21031200" cy="87026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78961529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63700" y="3419477"/>
            <a:ext cx="21031200" cy="5705474"/>
          </a:xfrm>
          <a:prstGeom prst="rect">
            <a:avLst/>
          </a:prstGeom>
        </p:spPr>
        <p:txBody>
          <a:bodyPr anchor="b"/>
          <a:lstStyle>
            <a:lvl1pPr>
              <a:defRPr sz="12000"/>
            </a:lvl1pPr>
          </a:lstStyle>
          <a:p>
            <a:r>
              <a:rPr lang="en-US"/>
              <a:t>Click to edit Master title style</a:t>
            </a:r>
          </a:p>
        </p:txBody>
      </p:sp>
      <p:sp>
        <p:nvSpPr>
          <p:cNvPr id="3" name="Text Placeholder 2"/>
          <p:cNvSpPr>
            <a:spLocks noGrp="1"/>
          </p:cNvSpPr>
          <p:nvPr>
            <p:ph type="body" idx="1"/>
          </p:nvPr>
        </p:nvSpPr>
        <p:spPr>
          <a:xfrm>
            <a:off x="1663700" y="9178927"/>
            <a:ext cx="21031200" cy="3000374"/>
          </a:xfrm>
          <a:prstGeom prst="rect">
            <a:avLst/>
          </a:prstGeom>
        </p:spPr>
        <p:txBody>
          <a:bodyPr/>
          <a:lstStyle>
            <a:lvl1pPr marL="0" indent="0">
              <a:buNone/>
              <a:defRPr sz="4800">
                <a:solidFill>
                  <a:schemeClr val="tx1">
                    <a:tint val="75000"/>
                  </a:schemeClr>
                </a:solidFill>
              </a:defRPr>
            </a:lvl1pPr>
            <a:lvl2pPr marL="914400" indent="0">
              <a:buNone/>
              <a:defRPr sz="4000">
                <a:solidFill>
                  <a:schemeClr val="tx1">
                    <a:tint val="75000"/>
                  </a:schemeClr>
                </a:solidFill>
              </a:defRPr>
            </a:lvl2pPr>
            <a:lvl3pPr marL="1828800" indent="0">
              <a:buNone/>
              <a:defRPr sz="3600">
                <a:solidFill>
                  <a:schemeClr val="tx1">
                    <a:tint val="75000"/>
                  </a:schemeClr>
                </a:solidFill>
              </a:defRPr>
            </a:lvl3pPr>
            <a:lvl4pPr marL="2743200" indent="0">
              <a:buNone/>
              <a:defRPr sz="3200">
                <a:solidFill>
                  <a:schemeClr val="tx1">
                    <a:tint val="75000"/>
                  </a:schemeClr>
                </a:solidFill>
              </a:defRPr>
            </a:lvl4pPr>
            <a:lvl5pPr marL="3657600" indent="0">
              <a:buNone/>
              <a:defRPr sz="3200">
                <a:solidFill>
                  <a:schemeClr val="tx1">
                    <a:tint val="75000"/>
                  </a:schemeClr>
                </a:solidFill>
              </a:defRPr>
            </a:lvl5pPr>
            <a:lvl6pPr marL="4572000" indent="0">
              <a:buNone/>
              <a:defRPr sz="3200">
                <a:solidFill>
                  <a:schemeClr val="tx1">
                    <a:tint val="75000"/>
                  </a:schemeClr>
                </a:solidFill>
              </a:defRPr>
            </a:lvl6pPr>
            <a:lvl7pPr marL="5486400" indent="0">
              <a:buNone/>
              <a:defRPr sz="3200">
                <a:solidFill>
                  <a:schemeClr val="tx1">
                    <a:tint val="75000"/>
                  </a:schemeClr>
                </a:solidFill>
              </a:defRPr>
            </a:lvl7pPr>
            <a:lvl8pPr marL="6400800" indent="0">
              <a:buNone/>
              <a:defRPr sz="3200">
                <a:solidFill>
                  <a:schemeClr val="tx1">
                    <a:tint val="75000"/>
                  </a:schemeClr>
                </a:solidFill>
              </a:defRPr>
            </a:lvl8pPr>
            <a:lvl9pPr marL="7315200" indent="0">
              <a:buNone/>
              <a:defRPr sz="3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23815944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1676400" y="3651250"/>
            <a:ext cx="10363200" cy="87026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2344400" y="3651250"/>
            <a:ext cx="10363200" cy="87026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156368330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79576" y="730251"/>
            <a:ext cx="21031200" cy="2651126"/>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1679577" y="3362326"/>
            <a:ext cx="10315574" cy="1647824"/>
          </a:xfrm>
          <a:prstGeom prst="rect">
            <a:avLst/>
          </a:prstGeo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Edit Master text styles</a:t>
            </a:r>
          </a:p>
        </p:txBody>
      </p:sp>
      <p:sp>
        <p:nvSpPr>
          <p:cNvPr id="4" name="Content Placeholder 3"/>
          <p:cNvSpPr>
            <a:spLocks noGrp="1"/>
          </p:cNvSpPr>
          <p:nvPr>
            <p:ph sz="half" idx="2"/>
          </p:nvPr>
        </p:nvSpPr>
        <p:spPr>
          <a:xfrm>
            <a:off x="1679577" y="5010150"/>
            <a:ext cx="10315574" cy="73691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2344400" y="3362326"/>
            <a:ext cx="10366376" cy="1647824"/>
          </a:xfrm>
          <a:prstGeom prst="rect">
            <a:avLst/>
          </a:prstGeo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Edit Master text styles</a:t>
            </a:r>
          </a:p>
        </p:txBody>
      </p:sp>
      <p:sp>
        <p:nvSpPr>
          <p:cNvPr id="6" name="Content Placeholder 5"/>
          <p:cNvSpPr>
            <a:spLocks noGrp="1"/>
          </p:cNvSpPr>
          <p:nvPr>
            <p:ph sz="quarter" idx="4"/>
          </p:nvPr>
        </p:nvSpPr>
        <p:spPr>
          <a:xfrm>
            <a:off x="12344400" y="5010150"/>
            <a:ext cx="10366376" cy="73691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8" name="Footer Placeholder 7"/>
          <p:cNvSpPr>
            <a:spLocks noGrp="1"/>
          </p:cNvSpPr>
          <p:nvPr>
            <p:ph type="ftr" sz="quarter" idx="11"/>
          </p:nvPr>
        </p:nvSpPr>
        <p:spPr>
          <a:xfrm>
            <a:off x="8077200" y="12712701"/>
            <a:ext cx="8229600" cy="730250"/>
          </a:xfrm>
          <a:prstGeom prst="rect">
            <a:avLst/>
          </a:prstGeom>
        </p:spPr>
        <p:txBody>
          <a:bodyPr/>
          <a:lstStyle/>
          <a:p>
            <a:endParaRPr lang="en-US"/>
          </a:p>
        </p:txBody>
      </p:sp>
      <p:sp>
        <p:nvSpPr>
          <p:cNvPr id="9" name="Slide Number Placeholder 8"/>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127777825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4" name="Footer Placeholder 3"/>
          <p:cNvSpPr>
            <a:spLocks noGrp="1"/>
          </p:cNvSpPr>
          <p:nvPr>
            <p:ph type="ftr" sz="quarter" idx="11"/>
          </p:nvPr>
        </p:nvSpPr>
        <p:spPr>
          <a:xfrm>
            <a:off x="8077200" y="12712701"/>
            <a:ext cx="8229600" cy="730250"/>
          </a:xfrm>
          <a:prstGeom prst="rect">
            <a:avLst/>
          </a:prstGeom>
        </p:spPr>
        <p:txBody>
          <a:bodyPr/>
          <a:lstStyle/>
          <a:p>
            <a:endParaRPr lang="en-US"/>
          </a:p>
        </p:txBody>
      </p:sp>
      <p:sp>
        <p:nvSpPr>
          <p:cNvPr id="5" name="Slide Number Placeholder 4"/>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201951054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3" name="Footer Placeholder 2"/>
          <p:cNvSpPr>
            <a:spLocks noGrp="1"/>
          </p:cNvSpPr>
          <p:nvPr>
            <p:ph type="ftr" sz="quarter" idx="11"/>
          </p:nvPr>
        </p:nvSpPr>
        <p:spPr>
          <a:xfrm>
            <a:off x="8077200" y="12712701"/>
            <a:ext cx="8229600" cy="730250"/>
          </a:xfrm>
          <a:prstGeom prst="rect">
            <a:avLst/>
          </a:prstGeom>
        </p:spPr>
        <p:txBody>
          <a:bodyPr/>
          <a:lstStyle/>
          <a:p>
            <a:endParaRPr lang="en-US"/>
          </a:p>
        </p:txBody>
      </p:sp>
      <p:sp>
        <p:nvSpPr>
          <p:cNvPr id="4" name="Slide Number Placeholder 3"/>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30124628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7" y="914400"/>
            <a:ext cx="7864474" cy="3200400"/>
          </a:xfrm>
          <a:prstGeom prst="rect">
            <a:avLst/>
          </a:prstGeom>
        </p:spPr>
        <p:txBody>
          <a:bodyPr anchor="b"/>
          <a:lstStyle>
            <a:lvl1pPr>
              <a:defRPr sz="6400"/>
            </a:lvl1pPr>
          </a:lstStyle>
          <a:p>
            <a:r>
              <a:rPr lang="en-US"/>
              <a:t>Click to edit Master title style</a:t>
            </a:r>
          </a:p>
        </p:txBody>
      </p:sp>
      <p:sp>
        <p:nvSpPr>
          <p:cNvPr id="3" name="Content Placeholder 2"/>
          <p:cNvSpPr>
            <a:spLocks noGrp="1"/>
          </p:cNvSpPr>
          <p:nvPr>
            <p:ph idx="1"/>
          </p:nvPr>
        </p:nvSpPr>
        <p:spPr>
          <a:xfrm>
            <a:off x="10366376" y="1974851"/>
            <a:ext cx="12344400" cy="9747250"/>
          </a:xfrm>
          <a:prstGeom prst="rect">
            <a:avLst/>
          </a:prstGeo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679577" y="4114800"/>
            <a:ext cx="7864474" cy="7623176"/>
          </a:xfrm>
          <a:prstGeom prst="rect">
            <a:avLst/>
          </a:prstGeo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Edit Master text styles</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54048112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7" y="914400"/>
            <a:ext cx="7864474" cy="3200400"/>
          </a:xfrm>
          <a:prstGeom prst="rect">
            <a:avLst/>
          </a:prstGeom>
        </p:spPr>
        <p:txBody>
          <a:bodyPr anchor="b"/>
          <a:lstStyle>
            <a:lvl1pPr>
              <a:defRPr sz="6400"/>
            </a:lvl1pPr>
          </a:lstStyle>
          <a:p>
            <a:r>
              <a:rPr lang="en-US"/>
              <a:t>Click to edit Master title style</a:t>
            </a:r>
          </a:p>
        </p:txBody>
      </p:sp>
      <p:sp>
        <p:nvSpPr>
          <p:cNvPr id="3" name="Picture Placeholder 2"/>
          <p:cNvSpPr>
            <a:spLocks noGrp="1"/>
          </p:cNvSpPr>
          <p:nvPr>
            <p:ph type="pic" idx="1"/>
          </p:nvPr>
        </p:nvSpPr>
        <p:spPr>
          <a:xfrm>
            <a:off x="10366376" y="1974851"/>
            <a:ext cx="12344400" cy="9747250"/>
          </a:xfrm>
          <a:prstGeom prst="rect">
            <a:avLst/>
          </a:prstGeom>
        </p:spPr>
        <p:txBody>
          <a:bodyPr/>
          <a:lstStyle>
            <a:lvl1pPr marL="0" indent="0">
              <a:buNone/>
              <a:defRPr sz="6400"/>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endParaRPr lang="en-US"/>
          </a:p>
        </p:txBody>
      </p:sp>
      <p:sp>
        <p:nvSpPr>
          <p:cNvPr id="4" name="Text Placeholder 3"/>
          <p:cNvSpPr>
            <a:spLocks noGrp="1"/>
          </p:cNvSpPr>
          <p:nvPr>
            <p:ph type="body" sz="half" idx="2"/>
          </p:nvPr>
        </p:nvSpPr>
        <p:spPr>
          <a:xfrm>
            <a:off x="1679577" y="4114800"/>
            <a:ext cx="7864474" cy="7623176"/>
          </a:xfrm>
          <a:prstGeom prst="rect">
            <a:avLst/>
          </a:prstGeo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Edit Master text styles</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132370736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1676400" y="3651250"/>
            <a:ext cx="21031200" cy="8702676"/>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21399306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7449800" y="730250"/>
            <a:ext cx="5257800" cy="11623676"/>
          </a:xfrm>
          <a:prstGeom prst="rect">
            <a:avLst/>
          </a:prstGeom>
        </p:spPr>
        <p:txBody>
          <a:bodyPr vert="eaVert"/>
          <a:lstStyle/>
          <a:p>
            <a:r>
              <a:rPr lang="en-US"/>
              <a:t>Click to edit Master title style</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18404850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219200" y="12712706"/>
            <a:ext cx="5689601" cy="730250"/>
          </a:xfrm>
          <a:prstGeom prst="rect">
            <a:avLst/>
          </a:prstGeom>
        </p:spPr>
        <p:txBody>
          <a:bodyPr lIns="91426" tIns="45713" rIns="91426" bIns="45713"/>
          <a:lstStyle/>
          <a:p>
            <a:fld id="{D15044BE-B3F3-4258-B55D-9238C2EBFDF1}" type="datetimeFigureOut">
              <a:rPr lang="en-US" smtClean="0"/>
              <a:pPr/>
              <a:t>8/30/2022</a:t>
            </a:fld>
            <a:endParaRPr lang="en-US"/>
          </a:p>
        </p:txBody>
      </p:sp>
      <p:sp>
        <p:nvSpPr>
          <p:cNvPr id="5" name="Footer Placeholder 4"/>
          <p:cNvSpPr>
            <a:spLocks noGrp="1"/>
          </p:cNvSpPr>
          <p:nvPr>
            <p:ph type="ftr" sz="quarter" idx="11"/>
          </p:nvPr>
        </p:nvSpPr>
        <p:spPr>
          <a:xfrm>
            <a:off x="8331205" y="12712706"/>
            <a:ext cx="7721601" cy="730250"/>
          </a:xfrm>
          <a:prstGeom prst="rect">
            <a:avLst/>
          </a:prstGeom>
        </p:spPr>
        <p:txBody>
          <a:bodyPr lIns="91426" tIns="45713" rIns="91426" bIns="45713"/>
          <a:lstStyle/>
          <a:p>
            <a:endParaRPr lang="en-US"/>
          </a:p>
        </p:txBody>
      </p:sp>
      <p:sp>
        <p:nvSpPr>
          <p:cNvPr id="6" name="Slide Number Placeholder 5"/>
          <p:cNvSpPr>
            <a:spLocks noGrp="1"/>
          </p:cNvSpPr>
          <p:nvPr>
            <p:ph type="sldNum" sz="quarter" idx="12"/>
          </p:nvPr>
        </p:nvSpPr>
        <p:spPr>
          <a:xfrm>
            <a:off x="17475204" y="12712706"/>
            <a:ext cx="5689601" cy="730250"/>
          </a:xfrm>
          <a:prstGeom prst="rect">
            <a:avLst/>
          </a:prstGeom>
        </p:spPr>
        <p:txBody>
          <a:bodyPr lIns="91426" tIns="45713" rIns="91426" bIns="45713"/>
          <a:lstStyle/>
          <a:p>
            <a:fld id="{E56A0A80-8336-46B1-B89F-89FB7E7362A5}" type="slidenum">
              <a:rPr lang="en-US" smtClean="0"/>
              <a:pPr/>
              <a:t>‹#›</a:t>
            </a:fld>
            <a:endParaRPr lang="en-US"/>
          </a:p>
        </p:txBody>
      </p:sp>
    </p:spTree>
    <p:extLst>
      <p:ext uri="{BB962C8B-B14F-4D97-AF65-F5344CB8AC3E}">
        <p14:creationId xmlns:p14="http://schemas.microsoft.com/office/powerpoint/2010/main" val="294886206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219202" y="12712702"/>
            <a:ext cx="5689600" cy="730250"/>
          </a:xfrm>
          <a:prstGeom prst="rect">
            <a:avLst/>
          </a:prstGeom>
        </p:spPr>
        <p:txBody>
          <a:bodyPr/>
          <a:lstStyle/>
          <a:p>
            <a:fld id="{D15044BE-B3F3-4258-B55D-9238C2EBFDF1}" type="datetimeFigureOut">
              <a:rPr lang="en-US" smtClean="0"/>
              <a:pPr/>
              <a:t>8/30/2022</a:t>
            </a:fld>
            <a:endParaRPr lang="en-US"/>
          </a:p>
        </p:txBody>
      </p:sp>
      <p:sp>
        <p:nvSpPr>
          <p:cNvPr id="5" name="Footer Placeholder 4"/>
          <p:cNvSpPr>
            <a:spLocks noGrp="1"/>
          </p:cNvSpPr>
          <p:nvPr>
            <p:ph type="ftr" sz="quarter" idx="11"/>
          </p:nvPr>
        </p:nvSpPr>
        <p:spPr>
          <a:xfrm>
            <a:off x="8331200" y="12712702"/>
            <a:ext cx="7721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475201" y="12712702"/>
            <a:ext cx="5689600" cy="730250"/>
          </a:xfrm>
          <a:prstGeom prst="rect">
            <a:avLst/>
          </a:prstGeom>
        </p:spPr>
        <p:txBody>
          <a:bodyPr/>
          <a:lstStyle/>
          <a:p>
            <a:fld id="{E56A0A80-8336-46B1-B89F-89FB7E7362A5}" type="slidenum">
              <a:rPr lang="en-US" smtClean="0"/>
              <a:pPr/>
              <a:t>‹#›</a:t>
            </a:fld>
            <a:endParaRPr lang="en-US"/>
          </a:p>
        </p:txBody>
      </p:sp>
    </p:spTree>
    <p:extLst>
      <p:ext uri="{BB962C8B-B14F-4D97-AF65-F5344CB8AC3E}">
        <p14:creationId xmlns:p14="http://schemas.microsoft.com/office/powerpoint/2010/main" val="342316447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219201" y="12712701"/>
            <a:ext cx="5689600" cy="730250"/>
          </a:xfrm>
          <a:prstGeom prst="rect">
            <a:avLst/>
          </a:prstGeom>
        </p:spPr>
        <p:txBody>
          <a:bodyPr/>
          <a:lstStyle/>
          <a:p>
            <a:fld id="{D15044BE-B3F3-4258-B55D-9238C2EBFDF1}" type="datetimeFigureOut">
              <a:rPr lang="en-US" smtClean="0"/>
              <a:pPr/>
              <a:t>8/30/2022</a:t>
            </a:fld>
            <a:endParaRPr lang="en-US"/>
          </a:p>
        </p:txBody>
      </p:sp>
      <p:sp>
        <p:nvSpPr>
          <p:cNvPr id="5" name="Footer Placeholder 4"/>
          <p:cNvSpPr>
            <a:spLocks noGrp="1"/>
          </p:cNvSpPr>
          <p:nvPr>
            <p:ph type="ftr" sz="quarter" idx="11"/>
          </p:nvPr>
        </p:nvSpPr>
        <p:spPr>
          <a:xfrm>
            <a:off x="8331200" y="12712701"/>
            <a:ext cx="7721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475200" y="12712701"/>
            <a:ext cx="5689600" cy="730250"/>
          </a:xfrm>
          <a:prstGeom prst="rect">
            <a:avLst/>
          </a:prstGeom>
        </p:spPr>
        <p:txBody>
          <a:bodyPr/>
          <a:lstStyle/>
          <a:p>
            <a:fld id="{E56A0A80-8336-46B1-B89F-89FB7E7362A5}" type="slidenum">
              <a:rPr lang="en-US" smtClean="0"/>
              <a:pPr/>
              <a:t>‹#›</a:t>
            </a:fld>
            <a:endParaRPr lang="en-US"/>
          </a:p>
        </p:txBody>
      </p:sp>
    </p:spTree>
    <p:extLst>
      <p:ext uri="{BB962C8B-B14F-4D97-AF65-F5344CB8AC3E}">
        <p14:creationId xmlns:p14="http://schemas.microsoft.com/office/powerpoint/2010/main" val="44376608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219201" y="12712701"/>
            <a:ext cx="5689600" cy="730250"/>
          </a:xfrm>
          <a:prstGeom prst="rect">
            <a:avLst/>
          </a:prstGeom>
        </p:spPr>
        <p:txBody>
          <a:bodyPr/>
          <a:lstStyle/>
          <a:p>
            <a:fld id="{D15044BE-B3F3-4258-B55D-9238C2EBFDF1}" type="datetimeFigureOut">
              <a:rPr lang="en-US" smtClean="0"/>
              <a:pPr/>
              <a:t>8/30/2022</a:t>
            </a:fld>
            <a:endParaRPr lang="en-US"/>
          </a:p>
        </p:txBody>
      </p:sp>
      <p:sp>
        <p:nvSpPr>
          <p:cNvPr id="5" name="Footer Placeholder 4"/>
          <p:cNvSpPr>
            <a:spLocks noGrp="1"/>
          </p:cNvSpPr>
          <p:nvPr>
            <p:ph type="ftr" sz="quarter" idx="11"/>
          </p:nvPr>
        </p:nvSpPr>
        <p:spPr>
          <a:xfrm>
            <a:off x="8331200" y="12712701"/>
            <a:ext cx="7721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475200" y="12712701"/>
            <a:ext cx="5689600" cy="730250"/>
          </a:xfrm>
          <a:prstGeom prst="rect">
            <a:avLst/>
          </a:prstGeom>
        </p:spPr>
        <p:txBody>
          <a:bodyPr/>
          <a:lstStyle/>
          <a:p>
            <a:fld id="{E56A0A80-8336-46B1-B89F-89FB7E7362A5}" type="slidenum">
              <a:rPr lang="en-US" smtClean="0"/>
              <a:pPr/>
              <a:t>‹#›</a:t>
            </a:fld>
            <a:endParaRPr lang="en-US"/>
          </a:p>
        </p:txBody>
      </p:sp>
    </p:spTree>
    <p:extLst>
      <p:ext uri="{BB962C8B-B14F-4D97-AF65-F5344CB8AC3E}">
        <p14:creationId xmlns:p14="http://schemas.microsoft.com/office/powerpoint/2010/main" val="182981351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gif"/></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slideLayout" Target="../slideLayouts/slideLayout25.xml"/><Relationship Id="rId14" Type="http://schemas.openxmlformats.org/officeDocument/2006/relationships/slideLayout" Target="../slideLayouts/slideLayout26.xml"/><Relationship Id="rId15" Type="http://schemas.openxmlformats.org/officeDocument/2006/relationships/slideLayout" Target="../slideLayouts/slideLayout27.xml"/><Relationship Id="rId16" Type="http://schemas.openxmlformats.org/officeDocument/2006/relationships/theme" Target="../theme/theme2.xml"/><Relationship Id="rId17" Type="http://schemas.openxmlformats.org/officeDocument/2006/relationships/image" Target="../media/image1.gi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3140210"/>
      </p:ext>
    </p:extLst>
  </p:cSld>
  <p:clrMap bg1="lt1" tx1="dk1" bg2="lt2" tx2="dk2" accent1="accent1" accent2="accent2" accent3="accent3" accent4="accent4" accent5="accent5" accent6="accent6" hlink="hlink" folHlink="folHlink"/>
  <p:sldLayoutIdLst>
    <p:sldLayoutId id="2147483742" r:id="rId1"/>
    <p:sldLayoutId id="2147483743" r:id="rId2"/>
    <p:sldLayoutId id="2147483740" r:id="rId3"/>
    <p:sldLayoutId id="2147483741" r:id="rId4"/>
    <p:sldLayoutId id="2147483744" r:id="rId5"/>
    <p:sldLayoutId id="2147483745" r:id="rId6"/>
    <p:sldLayoutId id="2147483746" r:id="rId7"/>
    <p:sldLayoutId id="2147483747" r:id="rId8"/>
    <p:sldLayoutId id="2147483748" r:id="rId9"/>
    <p:sldLayoutId id="2147483749" r:id="rId10"/>
    <p:sldLayoutId id="2147483750" r:id="rId11"/>
    <p:sldLayoutId id="2147483782" r:id="rId12"/>
  </p:sldLayoutIdLst>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1094257"/>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 id="2147483766" r:id="rId12"/>
    <p:sldLayoutId id="2147483767" r:id="rId13"/>
    <p:sldLayoutId id="2147483768" r:id="rId14"/>
    <p:sldLayoutId id="2147483769" r:id="rId15"/>
  </p:sldLayoutIdLst>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2.emf"/><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15.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2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Rectangle 115"/>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3" name="Group 2">
            <a:extLst>
              <a:ext uri="{FF2B5EF4-FFF2-40B4-BE49-F238E27FC236}">
                <a16:creationId xmlns:a16="http://schemas.microsoft.com/office/drawing/2014/main" id="{708C62C3-3138-4092-86C2-85A1567C6E78}"/>
              </a:ext>
            </a:extLst>
          </p:cNvPr>
          <p:cNvGrpSpPr/>
          <p:nvPr/>
        </p:nvGrpSpPr>
        <p:grpSpPr>
          <a:xfrm>
            <a:off x="851973" y="1699326"/>
            <a:ext cx="22680054" cy="11529786"/>
            <a:chOff x="1232973" y="1632479"/>
            <a:chExt cx="22680054" cy="11529786"/>
          </a:xfrm>
        </p:grpSpPr>
        <p:grpSp>
          <p:nvGrpSpPr>
            <p:cNvPr id="2" name="Group 1">
              <a:extLst>
                <a:ext uri="{FF2B5EF4-FFF2-40B4-BE49-F238E27FC236}">
                  <a16:creationId xmlns:a16="http://schemas.microsoft.com/office/drawing/2014/main" id="{E17C9077-2F0E-4830-9CBB-2CF87E745444}"/>
                </a:ext>
              </a:extLst>
            </p:cNvPr>
            <p:cNvGrpSpPr/>
            <p:nvPr/>
          </p:nvGrpSpPr>
          <p:grpSpPr>
            <a:xfrm>
              <a:off x="1232973" y="1632479"/>
              <a:ext cx="22680054" cy="11529786"/>
              <a:chOff x="1232973" y="1632479"/>
              <a:chExt cx="22680054" cy="11529786"/>
            </a:xfrm>
          </p:grpSpPr>
          <p:grpSp>
            <p:nvGrpSpPr>
              <p:cNvPr id="69" name="Group 68"/>
              <p:cNvGrpSpPr/>
              <p:nvPr/>
            </p:nvGrpSpPr>
            <p:grpSpPr>
              <a:xfrm>
                <a:off x="1232973" y="1632479"/>
                <a:ext cx="22680054" cy="11529786"/>
                <a:chOff x="-3881855" y="3283582"/>
                <a:chExt cx="22680054" cy="11529786"/>
              </a:xfrm>
            </p:grpSpPr>
            <p:sp>
              <p:nvSpPr>
                <p:cNvPr id="70" name="Right Triangle 69"/>
                <p:cNvSpPr/>
                <p:nvPr/>
              </p:nvSpPr>
              <p:spPr>
                <a:xfrm flipH="1">
                  <a:off x="8958821" y="3486542"/>
                  <a:ext cx="193377" cy="212342"/>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1" name="Group 70"/>
                <p:cNvGrpSpPr/>
                <p:nvPr/>
              </p:nvGrpSpPr>
              <p:grpSpPr>
                <a:xfrm>
                  <a:off x="-3881855" y="3283582"/>
                  <a:ext cx="22680054" cy="11529786"/>
                  <a:chOff x="-3881855" y="3283582"/>
                  <a:chExt cx="22680054" cy="11529786"/>
                </a:xfrm>
              </p:grpSpPr>
              <p:sp>
                <p:nvSpPr>
                  <p:cNvPr id="72" name="Rounded Rectangle 71"/>
                  <p:cNvSpPr/>
                  <p:nvPr/>
                </p:nvSpPr>
                <p:spPr>
                  <a:xfrm>
                    <a:off x="-3881855" y="3283582"/>
                    <a:ext cx="22680054" cy="11529786"/>
                  </a:xfrm>
                  <a:prstGeom prst="roundRect">
                    <a:avLst>
                      <a:gd name="adj" fmla="val 2127"/>
                    </a:avLst>
                  </a:prstGeom>
                  <a:solidFill>
                    <a:schemeClr val="bg1"/>
                  </a:solidFill>
                  <a:ln w="28575">
                    <a:solidFill>
                      <a:srgbClr val="0999C8"/>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algn="ctr"/>
                    <a:endParaRPr lang="en-US" sz="4600" dirty="0">
                      <a:latin typeface="Tahoma" pitchFamily="34" charset="0"/>
                      <a:ea typeface="Tahoma" pitchFamily="34" charset="0"/>
                      <a:cs typeface="Tahoma" pitchFamily="34" charset="0"/>
                    </a:endParaRPr>
                  </a:p>
                </p:txBody>
              </p:sp>
              <p:sp>
                <p:nvSpPr>
                  <p:cNvPr id="73" name="TextBox 72"/>
                  <p:cNvSpPr txBox="1"/>
                  <p:nvPr/>
                </p:nvSpPr>
                <p:spPr>
                  <a:xfrm>
                    <a:off x="5759299" y="3448230"/>
                    <a:ext cx="3890809" cy="923330"/>
                  </a:xfrm>
                  <a:prstGeom prst="rect">
                    <a:avLst/>
                  </a:prstGeom>
                  <a:noFill/>
                </p:spPr>
                <p:txBody>
                  <a:bodyPr wrap="none" rtlCol="0">
                    <a:spAutoFit/>
                  </a:bodyPr>
                  <a:lstStyle/>
                  <a:p>
                    <a:pPr algn="ctr" fontAlgn="auto">
                      <a:spcBef>
                        <a:spcPct val="50000"/>
                      </a:spcBef>
                      <a:spcAft>
                        <a:spcPts val="0"/>
                      </a:spcAft>
                      <a:defRPr/>
                    </a:pPr>
                    <a:r>
                      <a:rPr lang="en-US" sz="5400" b="1" cap="all" dirty="0">
                        <a:ln w="0"/>
                        <a:solidFill>
                          <a:schemeClr val="bg1"/>
                        </a:solidFill>
                        <a:effectLst>
                          <a:reflection blurRad="12700" stA="50000" endPos="50000" dist="5000" dir="5400000" sy="-100000" rotWithShape="0"/>
                        </a:effectLst>
                        <a:latin typeface="Tahoma" pitchFamily="34" charset="0"/>
                        <a:ea typeface="Tahoma" pitchFamily="34" charset="0"/>
                        <a:cs typeface="Tahoma" pitchFamily="34" charset="0"/>
                      </a:rPr>
                      <a:t>CHƯƠNG I</a:t>
                    </a:r>
                  </a:p>
                </p:txBody>
              </p:sp>
            </p:grpSp>
          </p:grpSp>
          <p:sp>
            <p:nvSpPr>
              <p:cNvPr id="74" name="Right Triangle 73"/>
              <p:cNvSpPr/>
              <p:nvPr/>
            </p:nvSpPr>
            <p:spPr>
              <a:xfrm flipH="1">
                <a:off x="3124199" y="1793819"/>
                <a:ext cx="193377" cy="212342"/>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ound Same Side Corner Rectangle 95"/>
              <p:cNvSpPr/>
              <p:nvPr/>
            </p:nvSpPr>
            <p:spPr>
              <a:xfrm flipV="1">
                <a:off x="3317576" y="1795947"/>
                <a:ext cx="18018423" cy="1181261"/>
              </a:xfrm>
              <a:prstGeom prst="round2SameRect">
                <a:avLst>
                  <a:gd name="adj1" fmla="val 6458"/>
                  <a:gd name="adj2" fmla="val 0"/>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TextBox 97"/>
              <p:cNvSpPr txBox="1"/>
              <p:nvPr/>
            </p:nvSpPr>
            <p:spPr>
              <a:xfrm>
                <a:off x="3419336" y="1881221"/>
                <a:ext cx="18069345" cy="830997"/>
              </a:xfrm>
              <a:prstGeom prst="rect">
                <a:avLst/>
              </a:prstGeom>
              <a:noFill/>
            </p:spPr>
            <p:txBody>
              <a:bodyPr wrap="square" rtlCol="0">
                <a:spAutoFit/>
              </a:bodyPr>
              <a:lstStyle/>
              <a:p>
                <a:r>
                  <a:rPr lang="vi-VN" sz="4800" b="1" dirty="0">
                    <a:solidFill>
                      <a:srgbClr val="C00000"/>
                    </a:solidFill>
                    <a:latin typeface="+mj-lt"/>
                  </a:rPr>
                  <a:t>CHƯƠNG I</a:t>
                </a:r>
                <a:r>
                  <a:rPr lang="en-US" sz="4800" b="1" dirty="0">
                    <a:solidFill>
                      <a:srgbClr val="C00000"/>
                    </a:solidFill>
                    <a:latin typeface="Times New Roman" panose="02020603050405020304" pitchFamily="18" charset="0"/>
                    <a:ea typeface="Tahoma" panose="020B0604030504040204" pitchFamily="34" charset="0"/>
                    <a:cs typeface="Times New Roman" panose="02020603050405020304" pitchFamily="18" charset="0"/>
                  </a:rPr>
                  <a:t>X</a:t>
                </a:r>
                <a:r>
                  <a:rPr lang="vi-VN" sz="4800" b="1" dirty="0">
                    <a:solidFill>
                      <a:srgbClr val="C00000"/>
                    </a:solidFill>
                    <a:latin typeface="Times New Roman" panose="02020603050405020304" pitchFamily="18" charset="0"/>
                    <a:cs typeface="Times New Roman" panose="02020603050405020304" pitchFamily="18" charset="0"/>
                  </a:rPr>
                  <a:t>. </a:t>
                </a:r>
                <a:r>
                  <a:rPr lang="en-US" sz="4800" b="1" dirty="0">
                    <a:solidFill>
                      <a:srgbClr val="C00000"/>
                    </a:solidFill>
                    <a:latin typeface="Times New Roman" panose="02020603050405020304" pitchFamily="18" charset="0"/>
                    <a:cs typeface="Times New Roman" panose="02020603050405020304" pitchFamily="18" charset="0"/>
                  </a:rPr>
                  <a:t>TÍNH XÁC SUẤT THEO ĐỊNH NGHĨA CỔ ĐIỂN</a:t>
                </a:r>
                <a:endParaRPr lang="vi-VN" sz="4800" b="1" dirty="0">
                  <a:solidFill>
                    <a:srgbClr val="C00000"/>
                  </a:solidFill>
                  <a:latin typeface="Times New Roman" panose="02020603050405020304" pitchFamily="18" charset="0"/>
                  <a:cs typeface="Times New Roman" panose="02020603050405020304" pitchFamily="18" charset="0"/>
                </a:endParaRPr>
              </a:p>
            </p:txBody>
          </p:sp>
          <p:pic>
            <p:nvPicPr>
              <p:cNvPr id="104" name="Picture 5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71230" y="2975075"/>
                <a:ext cx="1495424" cy="1495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Rectangle 16"/>
              <p:cNvSpPr/>
              <p:nvPr/>
            </p:nvSpPr>
            <p:spPr>
              <a:xfrm>
                <a:off x="7467544" y="4114018"/>
                <a:ext cx="13632086" cy="8332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10" tIns="45705" rIns="91410" bIns="45705" rtlCol="0" anchor="ctr"/>
              <a:lstStyle/>
              <a:p>
                <a:pPr algn="ctr"/>
                <a:endParaRPr lang="en-US">
                  <a:latin typeface="Tahoma" panose="020B0604030504040204" pitchFamily="34" charset="0"/>
                  <a:ea typeface="Tahoma" panose="020B0604030504040204" pitchFamily="34" charset="0"/>
                  <a:cs typeface="Tahoma" panose="020B0604030504040204" pitchFamily="34" charset="0"/>
                </a:endParaRPr>
              </a:p>
            </p:txBody>
          </p:sp>
          <p:grpSp>
            <p:nvGrpSpPr>
              <p:cNvPr id="56" name="Group 60"/>
              <p:cNvGrpSpPr/>
              <p:nvPr/>
            </p:nvGrpSpPr>
            <p:grpSpPr>
              <a:xfrm>
                <a:off x="1530581" y="8287626"/>
                <a:ext cx="9174160" cy="815610"/>
                <a:chOff x="7542460" y="10109899"/>
                <a:chExt cx="9175224" cy="815702"/>
              </a:xfrm>
            </p:grpSpPr>
            <p:sp>
              <p:nvSpPr>
                <p:cNvPr id="57" name="Rectangle 56"/>
                <p:cNvSpPr/>
                <p:nvPr/>
              </p:nvSpPr>
              <p:spPr>
                <a:xfrm>
                  <a:off x="8861738" y="10109899"/>
                  <a:ext cx="7855946" cy="815702"/>
                </a:xfrm>
                <a:prstGeom prst="rect">
                  <a:avLst/>
                </a:prstGeom>
              </p:spPr>
              <p:txBody>
                <a:bodyPr wrap="none">
                  <a:spAutoFit/>
                </a:bodyPr>
                <a:lstStyle/>
                <a:p>
                  <a:pPr>
                    <a:lnSpc>
                      <a:spcPct val="100000"/>
                    </a:lnSpc>
                    <a:spcBef>
                      <a:spcPct val="0"/>
                    </a:spcBef>
                    <a:buFontTx/>
                    <a:buNone/>
                    <a:defRPr/>
                  </a:pPr>
                  <a:r>
                    <a:rPr lang="en-US" sz="4700" b="1" dirty="0">
                      <a:solidFill>
                        <a:srgbClr val="242452"/>
                      </a:solidFill>
                      <a:latin typeface="Tahoma" panose="020B0604030504040204" pitchFamily="34" charset="0"/>
                      <a:ea typeface="Tahoma" panose="020B0604030504040204" pitchFamily="34" charset="0"/>
                      <a:cs typeface="Tahoma" panose="020B0604030504040204" pitchFamily="34" charset="0"/>
                    </a:rPr>
                    <a:t>NGUYÊN LÝ XÁC SUẤT BÉ</a:t>
                  </a:r>
                </a:p>
              </p:txBody>
            </p:sp>
            <p:grpSp>
              <p:nvGrpSpPr>
                <p:cNvPr id="60" name="Group 28"/>
                <p:cNvGrpSpPr/>
                <p:nvPr/>
              </p:nvGrpSpPr>
              <p:grpSpPr>
                <a:xfrm>
                  <a:off x="7542460" y="10150382"/>
                  <a:ext cx="1383017" cy="731520"/>
                  <a:chOff x="7541780" y="10607582"/>
                  <a:chExt cx="1371600" cy="731520"/>
                </a:xfrm>
              </p:grpSpPr>
              <p:sp>
                <p:nvSpPr>
                  <p:cNvPr id="61" name="Round Same Side Corner Rectangle 60"/>
                  <p:cNvSpPr/>
                  <p:nvPr/>
                </p:nvSpPr>
                <p:spPr>
                  <a:xfrm rot="5400000">
                    <a:off x="7861820" y="10287542"/>
                    <a:ext cx="731520" cy="13716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62" name="TextBox 61"/>
                  <p:cNvSpPr txBox="1"/>
                  <p:nvPr/>
                </p:nvSpPr>
                <p:spPr>
                  <a:xfrm>
                    <a:off x="8066434" y="10619358"/>
                    <a:ext cx="507514" cy="707968"/>
                  </a:xfrm>
                  <a:prstGeom prst="rect">
                    <a:avLst/>
                  </a:prstGeom>
                  <a:noFill/>
                </p:spPr>
                <p:txBody>
                  <a:bodyPr wrap="non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3</a:t>
                    </a:r>
                  </a:p>
                </p:txBody>
              </p:sp>
            </p:grpSp>
          </p:grpSp>
          <p:sp>
            <p:nvSpPr>
              <p:cNvPr id="75" name="Rectangle 74"/>
              <p:cNvSpPr/>
              <p:nvPr/>
            </p:nvSpPr>
            <p:spPr>
              <a:xfrm>
                <a:off x="2837872" y="10109935"/>
                <a:ext cx="2520242" cy="815608"/>
              </a:xfrm>
              <a:prstGeom prst="rect">
                <a:avLst/>
              </a:prstGeom>
            </p:spPr>
            <p:txBody>
              <a:bodyPr wrap="none">
                <a:spAutoFit/>
              </a:bodyPr>
              <a:lstStyle/>
              <a:p>
                <a:pPr>
                  <a:lnSpc>
                    <a:spcPct val="100000"/>
                  </a:lnSpc>
                  <a:spcBef>
                    <a:spcPct val="0"/>
                  </a:spcBef>
                  <a:buNone/>
                  <a:defRPr/>
                </a:pPr>
                <a:r>
                  <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rPr>
                  <a:t>BÀI TẬP</a:t>
                </a:r>
              </a:p>
            </p:txBody>
          </p:sp>
          <p:sp>
            <p:nvSpPr>
              <p:cNvPr id="87" name="TextBox 86"/>
              <p:cNvSpPr txBox="1"/>
              <p:nvPr/>
            </p:nvSpPr>
            <p:spPr>
              <a:xfrm>
                <a:off x="1951038" y="11270137"/>
                <a:ext cx="511679" cy="707886"/>
              </a:xfrm>
              <a:prstGeom prst="rect">
                <a:avLst/>
              </a:prstGeom>
              <a:noFill/>
            </p:spPr>
            <p:txBody>
              <a:bodyPr wrap="none" rtlCol="0">
                <a:spAutoFit/>
              </a:bodyPr>
              <a:lstStyle/>
              <a:p>
                <a:pPr algn="ctr"/>
                <a:r>
                  <a:rPr lang="en-US" sz="4000" b="1">
                    <a:solidFill>
                      <a:prstClr val="white"/>
                    </a:solidFill>
                    <a:latin typeface="Tahoma" panose="020B0604030504040204" pitchFamily="34" charset="0"/>
                    <a:ea typeface="Tahoma" panose="020B0604030504040204" pitchFamily="34" charset="0"/>
                    <a:cs typeface="Tahoma" panose="020B0604030504040204" pitchFamily="34" charset="0"/>
                  </a:rPr>
                  <a:t>4</a:t>
                </a: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sp>
          <p:nvSpPr>
            <p:cNvPr id="103" name="Google Shape;122;p14">
              <a:extLst>
                <a:ext uri="{FF2B5EF4-FFF2-40B4-BE49-F238E27FC236}">
                  <a16:creationId xmlns:a16="http://schemas.microsoft.com/office/drawing/2014/main" id="{FAF7E6E7-D68E-4774-9801-54F6529B128E}"/>
                </a:ext>
              </a:extLst>
            </p:cNvPr>
            <p:cNvSpPr/>
            <p:nvPr/>
          </p:nvSpPr>
          <p:spPr>
            <a:xfrm>
              <a:off x="3165290" y="3009806"/>
              <a:ext cx="4418523" cy="882637"/>
            </a:xfrm>
            <a:prstGeom prst="rect">
              <a:avLst/>
            </a:prstGeom>
            <a:noFill/>
            <a:ln>
              <a:noFill/>
            </a:ln>
            <a:effectLst>
              <a:outerShdw blurRad="152400" dist="317500" dir="5400000" sx="90000" sy="-19000" rotWithShape="0">
                <a:srgbClr val="000000">
                  <a:alpha val="14901"/>
                </a:srgbClr>
              </a:outerShdw>
            </a:effectLst>
          </p:spPr>
          <p:txBody>
            <a:bodyPr spcFirstLastPara="1" wrap="square" lIns="91425" tIns="45700" rIns="91425" bIns="45700" anchor="t" anchorCtr="0">
              <a:noAutofit/>
              <a:scene3d>
                <a:camera prst="orthographicFront"/>
                <a:lightRig rig="threePt" dir="t"/>
              </a:scene3d>
              <a:sp3d prstMaterial="metal"/>
            </a:bodyPr>
            <a:lstStyle/>
            <a:p>
              <a:pPr marL="0" marR="0" lvl="0" indent="0" algn="ctr" rtl="0">
                <a:spcBef>
                  <a:spcPts val="0"/>
                </a:spcBef>
                <a:spcAft>
                  <a:spcPts val="0"/>
                </a:spcAft>
                <a:buNone/>
              </a:pPr>
              <a:r>
                <a:rPr lang="en-US" sz="6000" dirty="0">
                  <a:solidFill>
                    <a:srgbClr val="FF0000"/>
                  </a:solidFill>
                  <a:effectLst>
                    <a:glow rad="76200">
                      <a:srgbClr val="FFFF00">
                        <a:alpha val="47000"/>
                      </a:srgbClr>
                    </a:glow>
                    <a:outerShdw blurRad="50800" dist="38100" dir="18900000" algn="bl" rotWithShape="0">
                      <a:srgbClr val="0000CC">
                        <a:alpha val="40000"/>
                      </a:srgbClr>
                    </a:outerShdw>
                  </a:effectLst>
                  <a:latin typeface="Bahnschrift SemiBold SemiConden" panose="020B0502040204020203" pitchFamily="34" charset="0"/>
                  <a:sym typeface="Baumans"/>
                </a:rPr>
                <a:t>TOÁN ĐẠI SỐ  </a:t>
              </a:r>
              <a:endParaRPr sz="6000" dirty="0">
                <a:solidFill>
                  <a:srgbClr val="FF0000"/>
                </a:solidFill>
                <a:effectLst>
                  <a:glow rad="76200">
                    <a:srgbClr val="FFFF00">
                      <a:alpha val="47000"/>
                    </a:srgbClr>
                  </a:glow>
                  <a:outerShdw blurRad="50800" dist="38100" dir="18900000" algn="bl" rotWithShape="0">
                    <a:srgbClr val="0000CC">
                      <a:alpha val="40000"/>
                    </a:srgbClr>
                  </a:outerShdw>
                </a:effectLst>
                <a:latin typeface="Bahnschrift SemiBold SemiConden" panose="020B0502040204020203" pitchFamily="34" charset="0"/>
              </a:endParaRPr>
            </a:p>
          </p:txBody>
        </p:sp>
        <p:grpSp>
          <p:nvGrpSpPr>
            <p:cNvPr id="105" name="Group 104">
              <a:extLst>
                <a:ext uri="{FF2B5EF4-FFF2-40B4-BE49-F238E27FC236}">
                  <a16:creationId xmlns:a16="http://schemas.microsoft.com/office/drawing/2014/main" id="{7EC462C3-097E-478F-9154-33220765427C}"/>
                </a:ext>
              </a:extLst>
            </p:cNvPr>
            <p:cNvGrpSpPr/>
            <p:nvPr/>
          </p:nvGrpSpPr>
          <p:grpSpPr>
            <a:xfrm>
              <a:off x="4483541" y="3923773"/>
              <a:ext cx="1316269" cy="1323399"/>
              <a:chOff x="4944517" y="2945802"/>
              <a:chExt cx="1316269" cy="1323399"/>
            </a:xfrm>
          </p:grpSpPr>
          <p:grpSp>
            <p:nvGrpSpPr>
              <p:cNvPr id="106" name="Group 105">
                <a:extLst>
                  <a:ext uri="{FF2B5EF4-FFF2-40B4-BE49-F238E27FC236}">
                    <a16:creationId xmlns:a16="http://schemas.microsoft.com/office/drawing/2014/main" id="{392A2278-170A-49E8-B48D-301797CCDF5E}"/>
                  </a:ext>
                </a:extLst>
              </p:cNvPr>
              <p:cNvGrpSpPr/>
              <p:nvPr/>
            </p:nvGrpSpPr>
            <p:grpSpPr>
              <a:xfrm>
                <a:off x="5015148" y="2971696"/>
                <a:ext cx="1175009" cy="1143519"/>
                <a:chOff x="5015148" y="2971695"/>
                <a:chExt cx="1175009" cy="1143520"/>
              </a:xfrm>
            </p:grpSpPr>
            <p:sp>
              <p:nvSpPr>
                <p:cNvPr id="108" name="Oval 107">
                  <a:extLst>
                    <a:ext uri="{FF2B5EF4-FFF2-40B4-BE49-F238E27FC236}">
                      <a16:creationId xmlns:a16="http://schemas.microsoft.com/office/drawing/2014/main" id="{4E1041DC-D475-450B-91E9-794165D6DE77}"/>
                    </a:ext>
                  </a:extLst>
                </p:cNvPr>
                <p:cNvSpPr/>
                <p:nvPr/>
              </p:nvSpPr>
              <p:spPr>
                <a:xfrm>
                  <a:off x="5015148" y="2971695"/>
                  <a:ext cx="1175009" cy="1143520"/>
                </a:xfrm>
                <a:prstGeom prst="ellipse">
                  <a:avLst/>
                </a:prstGeom>
                <a:solidFill>
                  <a:srgbClr val="FFFF00"/>
                </a:solidFill>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1BBB2B80-ECD5-421E-A4F7-BBA59D5C9CDF}"/>
                    </a:ext>
                  </a:extLst>
                </p:cNvPr>
                <p:cNvSpPr/>
                <p:nvPr/>
              </p:nvSpPr>
              <p:spPr>
                <a:xfrm>
                  <a:off x="5015148" y="2993775"/>
                  <a:ext cx="1091111" cy="1121440"/>
                </a:xfrm>
                <a:prstGeom prst="ellipse">
                  <a:avLst/>
                </a:prstGeom>
                <a:solidFill>
                  <a:srgbClr val="3333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7" name="Google Shape;123;p14">
                <a:extLst>
                  <a:ext uri="{FF2B5EF4-FFF2-40B4-BE49-F238E27FC236}">
                    <a16:creationId xmlns:a16="http://schemas.microsoft.com/office/drawing/2014/main" id="{F38EB064-8955-4FC1-9AF5-C49985002268}"/>
                  </a:ext>
                </a:extLst>
              </p:cNvPr>
              <p:cNvSpPr txBox="1"/>
              <p:nvPr/>
            </p:nvSpPr>
            <p:spPr>
              <a:xfrm>
                <a:off x="4944517" y="2945802"/>
                <a:ext cx="1316269" cy="1323399"/>
              </a:xfrm>
              <a:prstGeom prst="rect">
                <a:avLst/>
              </a:prstGeom>
              <a:noFill/>
              <a:ln>
                <a:noFill/>
              </a:ln>
              <a:effectLst>
                <a:innerShdw blurRad="63500" dist="50800">
                  <a:prstClr val="black">
                    <a:alpha val="50000"/>
                  </a:prstClr>
                </a:innerShdw>
              </a:effectLst>
            </p:spPr>
            <p:txBody>
              <a:bodyPr spcFirstLastPara="1" wrap="square" lIns="91425" tIns="45700" rIns="91425" bIns="45700" anchor="t" anchorCtr="0">
                <a:spAutoFit/>
              </a:bodyPr>
              <a:lstStyle/>
              <a:p>
                <a:pPr marL="0" marR="0" lvl="0" indent="0" algn="ctr" rtl="0">
                  <a:spcBef>
                    <a:spcPts val="0"/>
                  </a:spcBef>
                  <a:spcAft>
                    <a:spcPts val="0"/>
                  </a:spcAft>
                  <a:buNone/>
                </a:pPr>
                <a:r>
                  <a:rPr lang="en-US" sz="8000" dirty="0">
                    <a:solidFill>
                      <a:schemeClr val="bg1"/>
                    </a:solidFill>
                    <a:latin typeface="Yu Gothic UI Semilight" panose="020B0400000000000000" pitchFamily="34" charset="-128"/>
                    <a:ea typeface="Yu Gothic UI Semilight" panose="020B0400000000000000" pitchFamily="34" charset="-128"/>
                  </a:rPr>
                  <a:t>➉</a:t>
                </a:r>
                <a:endParaRPr sz="8000" dirty="0">
                  <a:solidFill>
                    <a:schemeClr val="bg1"/>
                  </a:solidFill>
                </a:endParaRPr>
              </a:p>
            </p:txBody>
          </p:sp>
        </p:grpSp>
      </p:grpSp>
      <p:grpSp>
        <p:nvGrpSpPr>
          <p:cNvPr id="112" name="Group 111">
            <a:extLst>
              <a:ext uri="{FF2B5EF4-FFF2-40B4-BE49-F238E27FC236}">
                <a16:creationId xmlns:a16="http://schemas.microsoft.com/office/drawing/2014/main" id="{1F6311BF-A4CF-4E55-85D0-0A86514BB33B}"/>
              </a:ext>
            </a:extLst>
          </p:cNvPr>
          <p:cNvGrpSpPr/>
          <p:nvPr/>
        </p:nvGrpSpPr>
        <p:grpSpPr>
          <a:xfrm>
            <a:off x="7012596" y="3260763"/>
            <a:ext cx="16519431" cy="1664992"/>
            <a:chOff x="71819" y="108752"/>
            <a:chExt cx="6464597" cy="872484"/>
          </a:xfrm>
        </p:grpSpPr>
        <p:pic>
          <p:nvPicPr>
            <p:cNvPr id="113" name="Picture 112">
              <a:extLst>
                <a:ext uri="{FF2B5EF4-FFF2-40B4-BE49-F238E27FC236}">
                  <a16:creationId xmlns:a16="http://schemas.microsoft.com/office/drawing/2014/main" id="{E248C2BE-8566-4C92-B9DC-0F7EBDD761BF}"/>
                </a:ext>
              </a:extLst>
            </p:cNvPr>
            <p:cNvPicPr>
              <a:picLocks noChangeAspect="1"/>
            </p:cNvPicPr>
            <p:nvPr/>
          </p:nvPicPr>
          <p:blipFill>
            <a:blip r:embed="rId4"/>
            <a:stretch>
              <a:fillRect/>
            </a:stretch>
          </p:blipFill>
          <p:spPr>
            <a:xfrm>
              <a:off x="71819" y="148683"/>
              <a:ext cx="6464597" cy="824094"/>
            </a:xfrm>
            <a:prstGeom prst="rect">
              <a:avLst/>
            </a:prstGeom>
          </p:spPr>
        </p:pic>
        <p:sp>
          <p:nvSpPr>
            <p:cNvPr id="114" name="TextBox 321">
              <a:extLst>
                <a:ext uri="{FF2B5EF4-FFF2-40B4-BE49-F238E27FC236}">
                  <a16:creationId xmlns:a16="http://schemas.microsoft.com/office/drawing/2014/main" id="{39A246B9-3D0B-4A2B-A2B0-AD412E909BB4}"/>
                </a:ext>
              </a:extLst>
            </p:cNvPr>
            <p:cNvSpPr txBox="1"/>
            <p:nvPr/>
          </p:nvSpPr>
          <p:spPr>
            <a:xfrm>
              <a:off x="1309832" y="234369"/>
              <a:ext cx="4239341" cy="595896"/>
            </a:xfrm>
            <a:prstGeom prst="rect">
              <a:avLst/>
            </a:prstGeom>
            <a:noFill/>
          </p:spPr>
          <p:txBody>
            <a:bodyPr wrap="square" rtlCol="0">
              <a:noAutofit/>
            </a:bodyPr>
            <a:lstStyle/>
            <a:p>
              <a:pPr marL="0" marR="0" algn="ctr">
                <a:lnSpc>
                  <a:spcPct val="106000"/>
                </a:lnSpc>
                <a:spcBef>
                  <a:spcPts val="0"/>
                </a:spcBef>
                <a:spcAft>
                  <a:spcPts val="800"/>
                </a:spcAft>
              </a:pPr>
              <a:r>
                <a:rPr lang="en-US" sz="3800" b="1" kern="1200" dirty="0">
                  <a:solidFill>
                    <a:srgbClr val="FCFFEF"/>
                  </a:solidFill>
                  <a:effectLst/>
                  <a:latin typeface="Tahoma" panose="020B0604030504040204" pitchFamily="34" charset="0"/>
                  <a:ea typeface="Tahoma" panose="020B0604030504040204" pitchFamily="34" charset="0"/>
                  <a:cs typeface="Tahoma" panose="020B0604030504040204" pitchFamily="34" charset="0"/>
                </a:rPr>
                <a:t>BIẾN CỐ VÀ ĐỊNH NGHĨA CỔ ĐIỂN </a:t>
              </a:r>
            </a:p>
            <a:p>
              <a:pPr marL="0" marR="0" algn="ctr">
                <a:lnSpc>
                  <a:spcPct val="106000"/>
                </a:lnSpc>
                <a:spcBef>
                  <a:spcPts val="0"/>
                </a:spcBef>
                <a:spcAft>
                  <a:spcPts val="800"/>
                </a:spcAft>
              </a:pPr>
              <a:r>
                <a:rPr lang="en-US" sz="3800" b="1" kern="1200" dirty="0">
                  <a:solidFill>
                    <a:srgbClr val="FCFFEF"/>
                  </a:solidFill>
                  <a:effectLst/>
                  <a:latin typeface="Tahoma" panose="020B0604030504040204" pitchFamily="34" charset="0"/>
                  <a:ea typeface="Tahoma" panose="020B0604030504040204" pitchFamily="34" charset="0"/>
                  <a:cs typeface="Tahoma" panose="020B0604030504040204" pitchFamily="34" charset="0"/>
                </a:rPr>
                <a:t>CỦA XÁC SUẤT</a:t>
              </a:r>
              <a:endParaRPr lang="en-US" sz="3800" dirty="0">
                <a:effectLst/>
                <a:latin typeface="Tahoma" panose="020B0604030504040204" pitchFamily="34" charset="0"/>
                <a:ea typeface="Tahoma" panose="020B0604030504040204" pitchFamily="34" charset="0"/>
                <a:cs typeface="Tahoma" panose="020B0604030504040204" pitchFamily="34" charset="0"/>
              </a:endParaRPr>
            </a:p>
          </p:txBody>
        </p:sp>
        <p:sp>
          <p:nvSpPr>
            <p:cNvPr id="115" name="TextBox 321">
              <a:extLst>
                <a:ext uri="{FF2B5EF4-FFF2-40B4-BE49-F238E27FC236}">
                  <a16:creationId xmlns:a16="http://schemas.microsoft.com/office/drawing/2014/main" id="{EFE5FD9A-8DAE-41E9-BE5B-4B8636094028}"/>
                </a:ext>
              </a:extLst>
            </p:cNvPr>
            <p:cNvSpPr txBox="1"/>
            <p:nvPr/>
          </p:nvSpPr>
          <p:spPr>
            <a:xfrm>
              <a:off x="366091" y="108752"/>
              <a:ext cx="715323" cy="872484"/>
            </a:xfrm>
            <a:prstGeom prst="rect">
              <a:avLst/>
            </a:prstGeom>
            <a:noFill/>
          </p:spPr>
          <p:txBody>
            <a:bodyPr wrap="square" rtlCol="0">
              <a:noAutofit/>
            </a:bodyPr>
            <a:lstStyle/>
            <a:p>
              <a:pPr marL="0" marR="0" algn="ctr">
                <a:lnSpc>
                  <a:spcPct val="106000"/>
                </a:lnSpc>
                <a:spcBef>
                  <a:spcPts val="0"/>
                </a:spcBef>
                <a:spcAft>
                  <a:spcPts val="800"/>
                </a:spcAft>
              </a:pPr>
              <a:r>
                <a:rPr lang="en-US" sz="6000" b="1" kern="1200" dirty="0">
                  <a:solidFill>
                    <a:srgbClr val="FFFFFF"/>
                  </a:solidFill>
                  <a:effectLst/>
                  <a:latin typeface="Calibri" panose="020F0502020204030204" pitchFamily="34" charset="0"/>
                  <a:ea typeface="Cascadia Mono" panose="020B0609020000020004" pitchFamily="49" charset="0"/>
                  <a:cs typeface="Times New Roman" panose="02020603050405020304" pitchFamily="18" charset="0"/>
                </a:rPr>
                <a:t>26</a:t>
              </a:r>
              <a:endParaRPr lang="en-US" sz="6000" dirty="0">
                <a:effectLst/>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117" name="Rounded Rectangle 116"/>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IX   ·   BÀI 26</a:t>
            </a:r>
          </a:p>
        </p:txBody>
      </p:sp>
      <p:sp>
        <p:nvSpPr>
          <p:cNvPr id="121" name="TextBox 120"/>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21842548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228600" y="1879600"/>
            <a:ext cx="23774400" cy="3225800"/>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b="1" dirty="0"/>
              <a:t>                        Hai </a:t>
            </a:r>
            <a:r>
              <a:rPr lang="en-US" b="1" dirty="0" err="1"/>
              <a:t>túi</a:t>
            </a:r>
            <a:r>
              <a:rPr lang="en-US" b="1" dirty="0"/>
              <a:t> I </a:t>
            </a:r>
            <a:r>
              <a:rPr lang="en-US" b="1" dirty="0" err="1"/>
              <a:t>và</a:t>
            </a:r>
            <a:r>
              <a:rPr lang="en-US" b="1" dirty="0"/>
              <a:t> II </a:t>
            </a:r>
            <a:r>
              <a:rPr lang="en-US" b="1" dirty="0" err="1"/>
              <a:t>chứa</a:t>
            </a:r>
            <a:r>
              <a:rPr lang="en-US" b="1" dirty="0"/>
              <a:t> </a:t>
            </a:r>
            <a:r>
              <a:rPr lang="en-US" b="1" dirty="0" err="1"/>
              <a:t>các</a:t>
            </a:r>
            <a:r>
              <a:rPr lang="en-US" b="1" dirty="0"/>
              <a:t> </a:t>
            </a:r>
            <a:r>
              <a:rPr lang="en-US" b="1" dirty="0" err="1"/>
              <a:t>tấm</a:t>
            </a:r>
            <a:r>
              <a:rPr lang="en-US" b="1" dirty="0"/>
              <a:t> </a:t>
            </a:r>
            <a:r>
              <a:rPr lang="en-US" b="1" dirty="0" err="1"/>
              <a:t>thẻ</a:t>
            </a:r>
            <a:r>
              <a:rPr lang="en-US" b="1" dirty="0"/>
              <a:t> </a:t>
            </a:r>
            <a:r>
              <a:rPr lang="en-US" b="1" dirty="0" err="1"/>
              <a:t>được</a:t>
            </a:r>
            <a:r>
              <a:rPr lang="en-US" b="1" dirty="0"/>
              <a:t> </a:t>
            </a:r>
            <a:r>
              <a:rPr lang="en-US" b="1" dirty="0" err="1"/>
              <a:t>đánh</a:t>
            </a:r>
            <a:r>
              <a:rPr lang="en-US" b="1" dirty="0"/>
              <a:t> </a:t>
            </a:r>
            <a:r>
              <a:rPr lang="en-US" b="1" dirty="0" err="1"/>
              <a:t>số</a:t>
            </a:r>
            <a:r>
              <a:rPr lang="en-US" b="1" dirty="0"/>
              <a:t>. </a:t>
            </a:r>
          </a:p>
          <a:p>
            <a:r>
              <a:rPr lang="en-US" b="1" dirty="0" err="1"/>
              <a:t>Túi</a:t>
            </a:r>
            <a:r>
              <a:rPr lang="en-US" b="1" dirty="0"/>
              <a:t> I: {1; 2; 3; 4; 5}, </a:t>
            </a:r>
            <a:r>
              <a:rPr lang="en-US" b="1" dirty="0" err="1"/>
              <a:t>túi</a:t>
            </a:r>
            <a:r>
              <a:rPr lang="en-US" b="1" dirty="0"/>
              <a:t> II: {1; 2; 3; 4}. </a:t>
            </a:r>
            <a:r>
              <a:rPr lang="en-US" b="1" dirty="0" err="1"/>
              <a:t>Rút</a:t>
            </a:r>
            <a:r>
              <a:rPr lang="en-US" b="1" dirty="0"/>
              <a:t> </a:t>
            </a:r>
            <a:r>
              <a:rPr lang="en-US" b="1" dirty="0" err="1"/>
              <a:t>ngẫu</a:t>
            </a:r>
            <a:r>
              <a:rPr lang="en-US" b="1" dirty="0"/>
              <a:t> </a:t>
            </a:r>
            <a:r>
              <a:rPr lang="en-US" b="1" dirty="0" err="1"/>
              <a:t>nhiên</a:t>
            </a:r>
            <a:r>
              <a:rPr lang="en-US" b="1" dirty="0"/>
              <a:t> </a:t>
            </a:r>
          </a:p>
          <a:p>
            <a:r>
              <a:rPr lang="en-US" b="1" dirty="0" err="1"/>
              <a:t>một</a:t>
            </a:r>
            <a:r>
              <a:rPr lang="en-US" b="1" dirty="0"/>
              <a:t> </a:t>
            </a:r>
            <a:r>
              <a:rPr lang="en-US" b="1" dirty="0" err="1"/>
              <a:t>tấm</a:t>
            </a:r>
            <a:r>
              <a:rPr lang="en-US" b="1" dirty="0"/>
              <a:t> </a:t>
            </a:r>
            <a:r>
              <a:rPr lang="en-US" b="1" dirty="0" err="1"/>
              <a:t>thẻ</a:t>
            </a:r>
            <a:r>
              <a:rPr lang="en-US" b="1" dirty="0"/>
              <a:t> </a:t>
            </a:r>
            <a:r>
              <a:rPr lang="en-US" b="1" dirty="0" err="1"/>
              <a:t>từ</a:t>
            </a:r>
            <a:r>
              <a:rPr lang="en-US" b="1" dirty="0"/>
              <a:t> </a:t>
            </a:r>
            <a:r>
              <a:rPr lang="en-US" b="1" dirty="0" err="1"/>
              <a:t>mỗi</a:t>
            </a:r>
            <a:r>
              <a:rPr lang="en-US" b="1" dirty="0"/>
              <a:t> </a:t>
            </a:r>
            <a:r>
              <a:rPr lang="en-US" b="1" dirty="0" err="1"/>
              <a:t>túi</a:t>
            </a:r>
            <a:r>
              <a:rPr lang="en-US" b="1" dirty="0"/>
              <a:t> I </a:t>
            </a:r>
            <a:r>
              <a:rPr lang="en-US" b="1" dirty="0" err="1"/>
              <a:t>và</a:t>
            </a:r>
            <a:r>
              <a:rPr lang="en-US" b="1" dirty="0"/>
              <a:t> II. </a:t>
            </a:r>
            <a:r>
              <a:rPr lang="en-US" b="1" dirty="0" err="1"/>
              <a:t>Tính</a:t>
            </a:r>
            <a:r>
              <a:rPr lang="en-US" b="1" dirty="0"/>
              <a:t> </a:t>
            </a:r>
            <a:r>
              <a:rPr lang="en-US" b="1" dirty="0" err="1"/>
              <a:t>xác</a:t>
            </a:r>
            <a:r>
              <a:rPr lang="en-US" b="1" dirty="0"/>
              <a:t> </a:t>
            </a:r>
            <a:r>
              <a:rPr lang="en-US" b="1" dirty="0" err="1"/>
              <a:t>suất</a:t>
            </a:r>
            <a:r>
              <a:rPr lang="en-US" b="1" dirty="0"/>
              <a:t> </a:t>
            </a:r>
            <a:r>
              <a:rPr lang="en-US" b="1" dirty="0" err="1"/>
              <a:t>để</a:t>
            </a:r>
            <a:r>
              <a:rPr lang="en-US" b="1" dirty="0"/>
              <a:t> </a:t>
            </a:r>
            <a:r>
              <a:rPr lang="en-US" b="1" dirty="0" err="1"/>
              <a:t>tổng</a:t>
            </a:r>
            <a:r>
              <a:rPr lang="en-US" b="1" dirty="0"/>
              <a:t> </a:t>
            </a:r>
          </a:p>
          <a:p>
            <a:r>
              <a:rPr lang="en-US" b="1" dirty="0" err="1"/>
              <a:t>hai</a:t>
            </a:r>
            <a:r>
              <a:rPr lang="en-US" b="1" dirty="0"/>
              <a:t> </a:t>
            </a:r>
            <a:r>
              <a:rPr lang="en-US" b="1" dirty="0" err="1"/>
              <a:t>số</a:t>
            </a:r>
            <a:r>
              <a:rPr lang="en-US" b="1" dirty="0"/>
              <a:t> </a:t>
            </a:r>
            <a:r>
              <a:rPr lang="en-US" b="1" dirty="0" err="1"/>
              <a:t>trên</a:t>
            </a:r>
            <a:r>
              <a:rPr lang="en-US" b="1" dirty="0"/>
              <a:t> </a:t>
            </a:r>
            <a:r>
              <a:rPr lang="en-US" b="1" dirty="0" err="1"/>
              <a:t>hai</a:t>
            </a:r>
            <a:r>
              <a:rPr lang="en-US" b="1" dirty="0"/>
              <a:t> </a:t>
            </a:r>
            <a:r>
              <a:rPr lang="en-US" b="1" dirty="0" err="1"/>
              <a:t>tấm</a:t>
            </a:r>
            <a:r>
              <a:rPr lang="en-US" b="1" dirty="0"/>
              <a:t> </a:t>
            </a:r>
            <a:r>
              <a:rPr lang="en-US" b="1" dirty="0" err="1"/>
              <a:t>thẻ</a:t>
            </a:r>
            <a:r>
              <a:rPr lang="en-US" b="1" dirty="0"/>
              <a:t> </a:t>
            </a:r>
            <a:r>
              <a:rPr lang="en-US" b="1" dirty="0" err="1"/>
              <a:t>lớn</a:t>
            </a:r>
            <a:r>
              <a:rPr lang="en-US" b="1" dirty="0"/>
              <a:t> </a:t>
            </a:r>
            <a:r>
              <a:rPr lang="en-US" b="1" dirty="0" err="1"/>
              <a:t>hơn</a:t>
            </a:r>
            <a:r>
              <a:rPr lang="en-US" b="1" dirty="0"/>
              <a:t> 6.</a:t>
            </a:r>
          </a:p>
          <a:p>
            <a:endParaRPr lang="en-US" b="1" dirty="0"/>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228600" y="5257800"/>
                <a:ext cx="11630891" cy="8245476"/>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b="1" dirty="0" err="1">
                    <a:solidFill>
                      <a:srgbClr val="FF0000"/>
                    </a:solidFill>
                  </a:rPr>
                  <a:t>Lời</a:t>
                </a:r>
                <a:r>
                  <a:rPr lang="en-US" b="1" dirty="0">
                    <a:solidFill>
                      <a:srgbClr val="FF0000"/>
                    </a:solidFill>
                  </a:rPr>
                  <a:t> </a:t>
                </a:r>
                <a:r>
                  <a:rPr lang="en-US" b="1" dirty="0" err="1">
                    <a:solidFill>
                      <a:srgbClr val="FF0000"/>
                    </a:solidFill>
                  </a:rPr>
                  <a:t>giải</a:t>
                </a:r>
                <a:endParaRPr lang="en-US" dirty="0">
                  <a:solidFill>
                    <a:srgbClr val="FF0000"/>
                  </a:solidFill>
                </a:endParaRPr>
              </a:p>
              <a:p>
                <a:r>
                  <a:rPr lang="en-US" sz="4400" b="1" dirty="0" err="1"/>
                  <a:t>Mô</a:t>
                </a:r>
                <a:r>
                  <a:rPr lang="en-US" sz="4400" b="1" dirty="0"/>
                  <a:t> </a:t>
                </a:r>
                <a:r>
                  <a:rPr lang="en-US" sz="4400" b="1" dirty="0" err="1"/>
                  <a:t>tả</a:t>
                </a:r>
                <a:r>
                  <a:rPr lang="en-US" sz="4400" b="1" dirty="0"/>
                  <a:t> </a:t>
                </a:r>
                <a:r>
                  <a:rPr lang="en-US" sz="4400" b="1" dirty="0" err="1"/>
                  <a:t>không</a:t>
                </a:r>
                <a:r>
                  <a:rPr lang="en-US" sz="4400" b="1" dirty="0"/>
                  <a:t> </a:t>
                </a:r>
                <a:r>
                  <a:rPr lang="en-US" sz="4400" b="1" dirty="0" err="1"/>
                  <a:t>gian</a:t>
                </a:r>
                <a:r>
                  <a:rPr lang="en-US" sz="4400" b="1" dirty="0"/>
                  <a:t> </a:t>
                </a:r>
                <a:r>
                  <a:rPr lang="en-US" sz="4400" b="1" dirty="0" err="1"/>
                  <a:t>mẫu</a:t>
                </a:r>
                <a:r>
                  <a:rPr lang="en-US" sz="4400" b="1" dirty="0"/>
                  <a:t> </a:t>
                </a:r>
                <a14:m>
                  <m:oMath xmlns:m="http://schemas.openxmlformats.org/officeDocument/2006/math">
                    <m:r>
                      <a:rPr lang="en-US" sz="4400" b="1" i="1">
                        <a:latin typeface="Cambria Math" panose="02040503050406030204" pitchFamily="18" charset="0"/>
                      </a:rPr>
                      <m:t>𝜴</m:t>
                    </m:r>
                  </m:oMath>
                </a14:m>
                <a:r>
                  <a:rPr lang="en-US" sz="4400" b="1" dirty="0"/>
                  <a:t> </a:t>
                </a:r>
                <a:r>
                  <a:rPr lang="en-US" sz="4400" b="1" dirty="0" err="1"/>
                  <a:t>bằng</a:t>
                </a:r>
                <a:r>
                  <a:rPr lang="en-US" sz="4400" b="1" dirty="0"/>
                  <a:t> </a:t>
                </a:r>
                <a:r>
                  <a:rPr lang="en-US" sz="4400" b="1" dirty="0" err="1"/>
                  <a:t>cách</a:t>
                </a:r>
                <a:r>
                  <a:rPr lang="en-US" sz="4400" b="1" dirty="0"/>
                  <a:t> </a:t>
                </a:r>
                <a:r>
                  <a:rPr lang="en-US" sz="4400" b="1" dirty="0" err="1"/>
                  <a:t>lập</a:t>
                </a:r>
                <a:r>
                  <a:rPr lang="en-US" sz="4400" b="1" dirty="0"/>
                  <a:t> </a:t>
                </a:r>
                <a:r>
                  <a:rPr lang="en-US" sz="4400" b="1" dirty="0" err="1"/>
                  <a:t>bảng</a:t>
                </a:r>
                <a:r>
                  <a:rPr lang="en-US" sz="4400" b="1" dirty="0"/>
                  <a:t> </a:t>
                </a:r>
                <a:r>
                  <a:rPr lang="en-US" sz="4400" b="1" dirty="0" err="1"/>
                  <a:t>như</a:t>
                </a:r>
                <a:r>
                  <a:rPr lang="en-US" sz="4400" b="1" dirty="0"/>
                  <a:t> </a:t>
                </a:r>
                <a:r>
                  <a:rPr lang="en-US" sz="4400" b="1" dirty="0" err="1"/>
                  <a:t>sau</a:t>
                </a:r>
                <a:r>
                  <a:rPr lang="en-US" sz="4400" b="1" dirty="0"/>
                  <a:t>.</a:t>
                </a:r>
              </a:p>
              <a:p>
                <a:pPr lvl="4"/>
                <a:endParaRPr lang="en-US" dirty="0"/>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228600" y="5257800"/>
                <a:ext cx="11630891" cy="8245476"/>
              </a:xfrm>
              <a:prstGeom prst="rect">
                <a:avLst/>
              </a:prstGeom>
              <a:blipFill>
                <a:blip r:embed="rId3"/>
                <a:stretch>
                  <a:fillRect l="-2357" t="-2437"/>
                </a:stretch>
              </a:blipFill>
              <a:ln>
                <a:solidFill>
                  <a:srgbClr val="00B0F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2011892" y="5257800"/>
                <a:ext cx="11963400" cy="8161340"/>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nSpc>
                    <a:spcPct val="100000"/>
                  </a:lnSpc>
                  <a:spcAft>
                    <a:spcPts val="800"/>
                  </a:spcAft>
                  <a:buNone/>
                </a:pPr>
                <a:r>
                  <a:rPr lang="en-US" b="1" dirty="0">
                    <a:solidFill>
                      <a:srgbClr val="000000"/>
                    </a:solidFill>
                    <a:latin typeface="Tahoma" panose="020B0604030504040204" pitchFamily="34" charset="0"/>
                    <a:ea typeface="Tahoma" panose="020B0604030504040204" pitchFamily="34" charset="0"/>
                    <a:cs typeface="Tahoma" panose="020B0604030504040204" pitchFamily="34" charset="0"/>
                  </a:rPr>
                  <a:t>vậy </a:t>
                </a:r>
                <a14:m>
                  <m:oMath xmlns:m="http://schemas.openxmlformats.org/officeDocument/2006/math">
                    <m:r>
                      <a:rPr lang="en-US" b="1" i="1">
                        <a:solidFill>
                          <a:srgbClr val="000000"/>
                        </a:solidFill>
                        <a:latin typeface="Cambria Math" panose="02040503050406030204" pitchFamily="18" charset="0"/>
                        <a:ea typeface="SimSun" panose="02010600030101010101" pitchFamily="2" charset="-122"/>
                        <a:cs typeface="Times New Roman" panose="02020603050405020304" pitchFamily="18" charset="0"/>
                      </a:rPr>
                      <m:t>𝒏</m:t>
                    </m:r>
                    <m:d>
                      <m:dPr>
                        <m:ctrlPr>
                          <a:rPr lang="en-US" b="1" i="1">
                            <a:solidFill>
                              <a:srgbClr val="000000"/>
                            </a:solidFill>
                            <a:latin typeface="Cambria Math" panose="02040503050406030204" pitchFamily="18" charset="0"/>
                            <a:ea typeface="SimSun" panose="02010600030101010101" pitchFamily="2" charset="-122"/>
                            <a:cs typeface="Times New Roman" panose="02020603050405020304" pitchFamily="18" charset="0"/>
                          </a:rPr>
                        </m:ctrlPr>
                      </m:dPr>
                      <m:e>
                        <m:r>
                          <a:rPr lang="en-US" b="1" i="1">
                            <a:solidFill>
                              <a:srgbClr val="000000"/>
                            </a:solidFill>
                            <a:latin typeface="Cambria Math" panose="02040503050406030204" pitchFamily="18" charset="0"/>
                            <a:ea typeface="SimSun" panose="02010600030101010101" pitchFamily="2" charset="-122"/>
                            <a:cs typeface="Times New Roman" panose="02020603050405020304" pitchFamily="18" charset="0"/>
                          </a:rPr>
                          <m:t>𝜴</m:t>
                        </m:r>
                      </m:e>
                    </m:d>
                    <m:r>
                      <a:rPr lang="en-US" b="1" i="1">
                        <a:solidFill>
                          <a:srgbClr val="000000"/>
                        </a:solidFill>
                        <a:latin typeface="Cambria Math" panose="02040503050406030204" pitchFamily="18" charset="0"/>
                        <a:ea typeface="SimSun" panose="02010600030101010101" pitchFamily="2" charset="-122"/>
                        <a:cs typeface="Times New Roman" panose="02020603050405020304" pitchFamily="18" charset="0"/>
                      </a:rPr>
                      <m:t>=</m:t>
                    </m:r>
                    <m:r>
                      <a:rPr lang="en-US" b="1" i="1">
                        <a:solidFill>
                          <a:srgbClr val="000000"/>
                        </a:solidFill>
                        <a:latin typeface="Cambria Math" panose="02040503050406030204" pitchFamily="18" charset="0"/>
                        <a:ea typeface="SimSun" panose="02010600030101010101" pitchFamily="2" charset="-122"/>
                        <a:cs typeface="Times New Roman" panose="02020603050405020304" pitchFamily="18" charset="0"/>
                      </a:rPr>
                      <m:t>𝟐𝟎</m:t>
                    </m:r>
                  </m:oMath>
                </a14:m>
                <a:r>
                  <a:rPr lang="en-US" b="1" dirty="0">
                    <a:solidFill>
                      <a:srgbClr val="000000"/>
                    </a:solidFill>
                    <a:latin typeface="Tahoma" panose="020B0604030504040204" pitchFamily="34" charset="0"/>
                    <a:ea typeface="Tahoma" panose="020B0604030504040204" pitchFamily="34" charset="0"/>
                    <a:cs typeface="Tahoma" panose="020B0604030504040204" pitchFamily="34" charset="0"/>
                  </a:rPr>
                  <a:t>.</a:t>
                </a:r>
                <a:endParaRPr lang="en-US" b="1" dirty="0">
                  <a:latin typeface="Tahoma" panose="020B0604030504040204" pitchFamily="34" charset="0"/>
                  <a:ea typeface="Tahoma" panose="020B0604030504040204" pitchFamily="34" charset="0"/>
                  <a:cs typeface="Tahoma" panose="020B0604030504040204" pitchFamily="34" charset="0"/>
                </a:endParaRPr>
              </a:p>
              <a:p>
                <a:pPr>
                  <a:lnSpc>
                    <a:spcPct val="100000"/>
                  </a:lnSpc>
                  <a:spcAft>
                    <a:spcPts val="800"/>
                  </a:spcAft>
                </a:pPr>
                <a:r>
                  <a:rPr lang="en-US" sz="4200" b="1" dirty="0" err="1">
                    <a:solidFill>
                      <a:srgbClr val="000000"/>
                    </a:solidFill>
                    <a:latin typeface="Tahoma" panose="020B0604030504040204" pitchFamily="34" charset="0"/>
                    <a:ea typeface="Tahoma" panose="020B0604030504040204" pitchFamily="34" charset="0"/>
                    <a:cs typeface="Tahoma" panose="020B0604030504040204" pitchFamily="34" charset="0"/>
                  </a:rPr>
                  <a:t>Biến</a:t>
                </a:r>
                <a:r>
                  <a:rPr lang="en-US" sz="4200" b="1" dirty="0">
                    <a:solidFill>
                      <a:srgbClr val="000000"/>
                    </a:solidFill>
                    <a:latin typeface="Tahoma" panose="020B0604030504040204" pitchFamily="34" charset="0"/>
                    <a:ea typeface="Tahoma" panose="020B0604030504040204" pitchFamily="34" charset="0"/>
                    <a:cs typeface="Tahoma" panose="020B0604030504040204" pitchFamily="34" charset="0"/>
                  </a:rPr>
                  <a:t> </a:t>
                </a:r>
                <a:r>
                  <a:rPr lang="en-US" sz="4200" b="1" dirty="0" err="1">
                    <a:solidFill>
                      <a:srgbClr val="000000"/>
                    </a:solidFill>
                    <a:latin typeface="Tahoma" panose="020B0604030504040204" pitchFamily="34" charset="0"/>
                    <a:ea typeface="Tahoma" panose="020B0604030504040204" pitchFamily="34" charset="0"/>
                    <a:cs typeface="Tahoma" panose="020B0604030504040204" pitchFamily="34" charset="0"/>
                  </a:rPr>
                  <a:t>cố</a:t>
                </a:r>
                <a:r>
                  <a:rPr lang="en-US" sz="4200" b="1" dirty="0">
                    <a:solidFill>
                      <a:srgbClr val="000000"/>
                    </a:solidFill>
                    <a:latin typeface="Tahoma" panose="020B0604030504040204" pitchFamily="34" charset="0"/>
                    <a:ea typeface="Tahoma" panose="020B0604030504040204" pitchFamily="34" charset="0"/>
                    <a:cs typeface="Tahoma" panose="020B0604030504040204" pitchFamily="34" charset="0"/>
                  </a:rPr>
                  <a:t> </a:t>
                </a:r>
                <a:r>
                  <a:rPr lang="en-US" sz="4200" b="1" i="1" dirty="0">
                    <a:solidFill>
                      <a:srgbClr val="000000"/>
                    </a:solidFill>
                    <a:latin typeface="Tahoma" panose="020B0604030504040204" pitchFamily="34" charset="0"/>
                    <a:ea typeface="Tahoma" panose="020B0604030504040204" pitchFamily="34" charset="0"/>
                    <a:cs typeface="Tahoma" panose="020B0604030504040204" pitchFamily="34" charset="0"/>
                  </a:rPr>
                  <a:t>E:</a:t>
                </a:r>
                <a:r>
                  <a:rPr lang="en-US" sz="4200" b="1" dirty="0">
                    <a:solidFill>
                      <a:srgbClr val="000000"/>
                    </a:solidFill>
                    <a:latin typeface="Tahoma" panose="020B0604030504040204" pitchFamily="34" charset="0"/>
                    <a:ea typeface="Tahoma" panose="020B0604030504040204" pitchFamily="34" charset="0"/>
                    <a:cs typeface="Tahoma" panose="020B0604030504040204" pitchFamily="34" charset="0"/>
                  </a:rPr>
                  <a:t> “</a:t>
                </a:r>
                <a:r>
                  <a:rPr lang="en-US" sz="4200" b="1" dirty="0" err="1">
                    <a:solidFill>
                      <a:srgbClr val="000000"/>
                    </a:solidFill>
                    <a:latin typeface="Tahoma" panose="020B0604030504040204" pitchFamily="34" charset="0"/>
                    <a:ea typeface="Tahoma" panose="020B0604030504040204" pitchFamily="34" charset="0"/>
                    <a:cs typeface="Tahoma" panose="020B0604030504040204" pitchFamily="34" charset="0"/>
                  </a:rPr>
                  <a:t>Tổng</a:t>
                </a:r>
                <a:r>
                  <a:rPr lang="en-US" sz="4200" b="1" dirty="0">
                    <a:solidFill>
                      <a:srgbClr val="000000"/>
                    </a:solidFill>
                    <a:latin typeface="Tahoma" panose="020B0604030504040204" pitchFamily="34" charset="0"/>
                    <a:ea typeface="Tahoma" panose="020B0604030504040204" pitchFamily="34" charset="0"/>
                    <a:cs typeface="Tahoma" panose="020B0604030504040204" pitchFamily="34" charset="0"/>
                  </a:rPr>
                  <a:t> </a:t>
                </a:r>
                <a:r>
                  <a:rPr lang="en-US" sz="4200" b="1" dirty="0" err="1">
                    <a:solidFill>
                      <a:srgbClr val="000000"/>
                    </a:solidFill>
                    <a:latin typeface="Tahoma" panose="020B0604030504040204" pitchFamily="34" charset="0"/>
                    <a:ea typeface="Tahoma" panose="020B0604030504040204" pitchFamily="34" charset="0"/>
                    <a:cs typeface="Tahoma" panose="020B0604030504040204" pitchFamily="34" charset="0"/>
                  </a:rPr>
                  <a:t>hai</a:t>
                </a:r>
                <a:r>
                  <a:rPr lang="en-US" sz="4200" b="1" dirty="0">
                    <a:solidFill>
                      <a:srgbClr val="000000"/>
                    </a:solidFill>
                    <a:latin typeface="Tahoma" panose="020B0604030504040204" pitchFamily="34" charset="0"/>
                    <a:ea typeface="Tahoma" panose="020B0604030504040204" pitchFamily="34" charset="0"/>
                    <a:cs typeface="Tahoma" panose="020B0604030504040204" pitchFamily="34" charset="0"/>
                  </a:rPr>
                  <a:t> </a:t>
                </a:r>
                <a:r>
                  <a:rPr lang="en-US" sz="4200" b="1" dirty="0" err="1">
                    <a:solidFill>
                      <a:srgbClr val="000000"/>
                    </a:solidFill>
                    <a:latin typeface="Tahoma" panose="020B0604030504040204" pitchFamily="34" charset="0"/>
                    <a:ea typeface="Tahoma" panose="020B0604030504040204" pitchFamily="34" charset="0"/>
                    <a:cs typeface="Tahoma" panose="020B0604030504040204" pitchFamily="34" charset="0"/>
                  </a:rPr>
                  <a:t>số</a:t>
                </a:r>
                <a:r>
                  <a:rPr lang="en-US" sz="4200" b="1" dirty="0">
                    <a:solidFill>
                      <a:srgbClr val="000000"/>
                    </a:solidFill>
                    <a:latin typeface="Tahoma" panose="020B0604030504040204" pitchFamily="34" charset="0"/>
                    <a:ea typeface="Tahoma" panose="020B0604030504040204" pitchFamily="34" charset="0"/>
                    <a:cs typeface="Tahoma" panose="020B0604030504040204" pitchFamily="34" charset="0"/>
                  </a:rPr>
                  <a:t> </a:t>
                </a:r>
                <a:r>
                  <a:rPr lang="en-US" sz="4200" b="1" dirty="0" err="1">
                    <a:solidFill>
                      <a:srgbClr val="000000"/>
                    </a:solidFill>
                    <a:latin typeface="Tahoma" panose="020B0604030504040204" pitchFamily="34" charset="0"/>
                    <a:ea typeface="Tahoma" panose="020B0604030504040204" pitchFamily="34" charset="0"/>
                    <a:cs typeface="Tahoma" panose="020B0604030504040204" pitchFamily="34" charset="0"/>
                  </a:rPr>
                  <a:t>trên</a:t>
                </a:r>
                <a:r>
                  <a:rPr lang="en-US" sz="4200" b="1" dirty="0">
                    <a:solidFill>
                      <a:srgbClr val="000000"/>
                    </a:solidFill>
                    <a:latin typeface="Tahoma" panose="020B0604030504040204" pitchFamily="34" charset="0"/>
                    <a:ea typeface="Tahoma" panose="020B0604030504040204" pitchFamily="34" charset="0"/>
                    <a:cs typeface="Tahoma" panose="020B0604030504040204" pitchFamily="34" charset="0"/>
                  </a:rPr>
                  <a:t> </a:t>
                </a:r>
                <a:r>
                  <a:rPr lang="en-US" sz="4200" b="1" dirty="0" err="1">
                    <a:solidFill>
                      <a:srgbClr val="000000"/>
                    </a:solidFill>
                    <a:latin typeface="Tahoma" panose="020B0604030504040204" pitchFamily="34" charset="0"/>
                    <a:ea typeface="Tahoma" panose="020B0604030504040204" pitchFamily="34" charset="0"/>
                    <a:cs typeface="Tahoma" panose="020B0604030504040204" pitchFamily="34" charset="0"/>
                  </a:rPr>
                  <a:t>hai</a:t>
                </a:r>
                <a:r>
                  <a:rPr lang="en-US" sz="4200" b="1" dirty="0">
                    <a:solidFill>
                      <a:srgbClr val="000000"/>
                    </a:solidFill>
                    <a:latin typeface="Tahoma" panose="020B0604030504040204" pitchFamily="34" charset="0"/>
                    <a:ea typeface="Tahoma" panose="020B0604030504040204" pitchFamily="34" charset="0"/>
                    <a:cs typeface="Tahoma" panose="020B0604030504040204" pitchFamily="34" charset="0"/>
                  </a:rPr>
                  <a:t> </a:t>
                </a:r>
                <a:r>
                  <a:rPr lang="en-US" sz="4200" b="1" dirty="0" err="1">
                    <a:solidFill>
                      <a:srgbClr val="000000"/>
                    </a:solidFill>
                    <a:latin typeface="Tahoma" panose="020B0604030504040204" pitchFamily="34" charset="0"/>
                    <a:ea typeface="Tahoma" panose="020B0604030504040204" pitchFamily="34" charset="0"/>
                    <a:cs typeface="Tahoma" panose="020B0604030504040204" pitchFamily="34" charset="0"/>
                  </a:rPr>
                  <a:t>tấm</a:t>
                </a:r>
                <a:r>
                  <a:rPr lang="en-US" sz="4200" b="1" dirty="0">
                    <a:solidFill>
                      <a:srgbClr val="000000"/>
                    </a:solidFill>
                    <a:latin typeface="Tahoma" panose="020B0604030504040204" pitchFamily="34" charset="0"/>
                    <a:ea typeface="Tahoma" panose="020B0604030504040204" pitchFamily="34" charset="0"/>
                    <a:cs typeface="Tahoma" panose="020B0604030504040204" pitchFamily="34" charset="0"/>
                  </a:rPr>
                  <a:t> </a:t>
                </a:r>
                <a:r>
                  <a:rPr lang="en-US" sz="4200" b="1" dirty="0" err="1">
                    <a:solidFill>
                      <a:srgbClr val="000000"/>
                    </a:solidFill>
                    <a:latin typeface="Tahoma" panose="020B0604030504040204" pitchFamily="34" charset="0"/>
                    <a:ea typeface="Tahoma" panose="020B0604030504040204" pitchFamily="34" charset="0"/>
                    <a:cs typeface="Tahoma" panose="020B0604030504040204" pitchFamily="34" charset="0"/>
                  </a:rPr>
                  <a:t>thẻ</a:t>
                </a:r>
                <a:r>
                  <a:rPr lang="en-US" sz="4200" b="1" dirty="0">
                    <a:solidFill>
                      <a:srgbClr val="000000"/>
                    </a:solidFill>
                    <a:latin typeface="Tahoma" panose="020B0604030504040204" pitchFamily="34" charset="0"/>
                    <a:ea typeface="Tahoma" panose="020B0604030504040204" pitchFamily="34" charset="0"/>
                    <a:cs typeface="Tahoma" panose="020B0604030504040204" pitchFamily="34" charset="0"/>
                  </a:rPr>
                  <a:t> </a:t>
                </a:r>
                <a:r>
                  <a:rPr lang="en-US" sz="4200" b="1" dirty="0" err="1">
                    <a:solidFill>
                      <a:srgbClr val="000000"/>
                    </a:solidFill>
                    <a:latin typeface="Tahoma" panose="020B0604030504040204" pitchFamily="34" charset="0"/>
                    <a:ea typeface="Tahoma" panose="020B0604030504040204" pitchFamily="34" charset="0"/>
                    <a:cs typeface="Tahoma" panose="020B0604030504040204" pitchFamily="34" charset="0"/>
                  </a:rPr>
                  <a:t>lớn</a:t>
                </a:r>
                <a:r>
                  <a:rPr lang="en-US" sz="4200" b="1" dirty="0">
                    <a:solidFill>
                      <a:srgbClr val="000000"/>
                    </a:solidFill>
                    <a:latin typeface="Tahoma" panose="020B0604030504040204" pitchFamily="34" charset="0"/>
                    <a:ea typeface="Tahoma" panose="020B0604030504040204" pitchFamily="34" charset="0"/>
                    <a:cs typeface="Tahoma" panose="020B0604030504040204" pitchFamily="34" charset="0"/>
                  </a:rPr>
                  <a:t> </a:t>
                </a:r>
                <a:r>
                  <a:rPr lang="en-US" sz="4200" b="1" dirty="0" err="1">
                    <a:solidFill>
                      <a:srgbClr val="000000"/>
                    </a:solidFill>
                    <a:latin typeface="Tahoma" panose="020B0604030504040204" pitchFamily="34" charset="0"/>
                    <a:ea typeface="Tahoma" panose="020B0604030504040204" pitchFamily="34" charset="0"/>
                    <a:cs typeface="Tahoma" panose="020B0604030504040204" pitchFamily="34" charset="0"/>
                  </a:rPr>
                  <a:t>hơn</a:t>
                </a:r>
                <a:r>
                  <a:rPr lang="en-US" sz="4200" b="1" dirty="0">
                    <a:solidFill>
                      <a:srgbClr val="000000"/>
                    </a:solidFill>
                    <a:latin typeface="Tahoma" panose="020B0604030504040204" pitchFamily="34" charset="0"/>
                    <a:ea typeface="Tahoma" panose="020B0604030504040204" pitchFamily="34" charset="0"/>
                    <a:cs typeface="Tahoma" panose="020B0604030504040204" pitchFamily="34" charset="0"/>
                  </a:rPr>
                  <a:t> 6” </a:t>
                </a:r>
                <a:r>
                  <a:rPr lang="en-US" sz="4200" b="1" dirty="0" err="1">
                    <a:solidFill>
                      <a:srgbClr val="383738"/>
                    </a:solidFill>
                    <a:latin typeface="Tahoma" panose="020B0604030504040204" pitchFamily="34" charset="0"/>
                    <a:ea typeface="Tahoma" panose="020B0604030504040204" pitchFamily="34" charset="0"/>
                    <a:cs typeface="Tahoma" panose="020B0604030504040204" pitchFamily="34" charset="0"/>
                  </a:rPr>
                  <a:t>xảy</a:t>
                </a:r>
                <a:r>
                  <a:rPr lang="en-US" sz="4200" b="1" dirty="0">
                    <a:solidFill>
                      <a:srgbClr val="383738"/>
                    </a:solidFill>
                    <a:latin typeface="Tahoma" panose="020B0604030504040204" pitchFamily="34" charset="0"/>
                    <a:ea typeface="Tahoma" panose="020B0604030504040204" pitchFamily="34" charset="0"/>
                    <a:cs typeface="Tahoma" panose="020B0604030504040204" pitchFamily="34" charset="0"/>
                  </a:rPr>
                  <a:t> </a:t>
                </a:r>
                <a:r>
                  <a:rPr lang="en-US" sz="4200" b="1" dirty="0" err="1">
                    <a:solidFill>
                      <a:srgbClr val="383738"/>
                    </a:solidFill>
                    <a:latin typeface="Tahoma" panose="020B0604030504040204" pitchFamily="34" charset="0"/>
                    <a:ea typeface="Tahoma" panose="020B0604030504040204" pitchFamily="34" charset="0"/>
                    <a:cs typeface="Tahoma" panose="020B0604030504040204" pitchFamily="34" charset="0"/>
                  </a:rPr>
                  <a:t>ra</a:t>
                </a:r>
                <a:r>
                  <a:rPr lang="en-US" sz="4200" b="1" dirty="0">
                    <a:solidFill>
                      <a:srgbClr val="383738"/>
                    </a:solidFill>
                    <a:latin typeface="Tahoma" panose="020B0604030504040204" pitchFamily="34" charset="0"/>
                    <a:ea typeface="Tahoma" panose="020B0604030504040204" pitchFamily="34" charset="0"/>
                    <a:cs typeface="Tahoma" panose="020B0604030504040204" pitchFamily="34" charset="0"/>
                  </a:rPr>
                  <a:t> </a:t>
                </a:r>
                <a:r>
                  <a:rPr lang="en-US" sz="4200" b="1" dirty="0" err="1">
                    <a:solidFill>
                      <a:srgbClr val="000000"/>
                    </a:solidFill>
                    <a:latin typeface="Tahoma" panose="020B0604030504040204" pitchFamily="34" charset="0"/>
                    <a:ea typeface="Tahoma" panose="020B0604030504040204" pitchFamily="34" charset="0"/>
                    <a:cs typeface="Tahoma" panose="020B0604030504040204" pitchFamily="34" charset="0"/>
                  </a:rPr>
                  <a:t>khi</a:t>
                </a:r>
                <a:r>
                  <a:rPr lang="en-US" sz="4200" b="1" dirty="0">
                    <a:solidFill>
                      <a:srgbClr val="000000"/>
                    </a:solidFill>
                    <a:latin typeface="Tahoma" panose="020B0604030504040204" pitchFamily="34" charset="0"/>
                    <a:ea typeface="Tahoma" panose="020B0604030504040204" pitchFamily="34" charset="0"/>
                    <a:cs typeface="Tahoma" panose="020B0604030504040204" pitchFamily="34" charset="0"/>
                  </a:rPr>
                  <a:t> </a:t>
                </a:r>
                <a:r>
                  <a:rPr lang="en-US" sz="4200" b="1" dirty="0" err="1">
                    <a:solidFill>
                      <a:srgbClr val="000000"/>
                    </a:solidFill>
                    <a:latin typeface="Tahoma" panose="020B0604030504040204" pitchFamily="34" charset="0"/>
                    <a:ea typeface="Tahoma" panose="020B0604030504040204" pitchFamily="34" charset="0"/>
                    <a:cs typeface="Tahoma" panose="020B0604030504040204" pitchFamily="34" charset="0"/>
                  </a:rPr>
                  <a:t>tổng</a:t>
                </a:r>
                <a:r>
                  <a:rPr lang="en-US" sz="4200" b="1" dirty="0">
                    <a:solidFill>
                      <a:srgbClr val="000000"/>
                    </a:solidFill>
                    <a:latin typeface="Tahoma" panose="020B0604030504040204" pitchFamily="34" charset="0"/>
                    <a:ea typeface="Tahoma" panose="020B0604030504040204" pitchFamily="34" charset="0"/>
                    <a:cs typeface="Tahoma" panose="020B0604030504040204" pitchFamily="34" charset="0"/>
                  </a:rPr>
                  <a:t> </a:t>
                </a:r>
                <a:r>
                  <a:rPr lang="en-US" sz="4200" b="1" dirty="0" err="1">
                    <a:solidFill>
                      <a:srgbClr val="000000"/>
                    </a:solidFill>
                    <a:latin typeface="Tahoma" panose="020B0604030504040204" pitchFamily="34" charset="0"/>
                    <a:ea typeface="Tahoma" panose="020B0604030504040204" pitchFamily="34" charset="0"/>
                    <a:cs typeface="Tahoma" panose="020B0604030504040204" pitchFamily="34" charset="0"/>
                  </a:rPr>
                  <a:t>là</a:t>
                </a:r>
                <a:r>
                  <a:rPr lang="en-US" sz="4200" b="1" dirty="0">
                    <a:solidFill>
                      <a:srgbClr val="000000"/>
                    </a:solidFill>
                    <a:latin typeface="Tahoma" panose="020B0604030504040204" pitchFamily="34" charset="0"/>
                    <a:ea typeface="Tahoma" panose="020B0604030504040204" pitchFamily="34" charset="0"/>
                    <a:cs typeface="Tahoma" panose="020B0604030504040204" pitchFamily="34" charset="0"/>
                  </a:rPr>
                  <a:t> </a:t>
                </a:r>
                <a:r>
                  <a:rPr lang="en-US" sz="4200" b="1" dirty="0" err="1">
                    <a:solidFill>
                      <a:srgbClr val="000000"/>
                    </a:solidFill>
                    <a:latin typeface="Tahoma" panose="020B0604030504040204" pitchFamily="34" charset="0"/>
                    <a:ea typeface="Tahoma" panose="020B0604030504040204" pitchFamily="34" charset="0"/>
                    <a:cs typeface="Tahoma" panose="020B0604030504040204" pitchFamily="34" charset="0"/>
                  </a:rPr>
                  <a:t>một</a:t>
                </a:r>
                <a:r>
                  <a:rPr lang="en-US" sz="4200" b="1" dirty="0">
                    <a:solidFill>
                      <a:srgbClr val="000000"/>
                    </a:solidFill>
                    <a:latin typeface="Tahoma" panose="020B0604030504040204" pitchFamily="34" charset="0"/>
                    <a:ea typeface="Tahoma" panose="020B0604030504040204" pitchFamily="34" charset="0"/>
                    <a:cs typeface="Tahoma" panose="020B0604030504040204" pitchFamily="34" charset="0"/>
                  </a:rPr>
                  <a:t> </a:t>
                </a:r>
                <a:r>
                  <a:rPr lang="en-US" sz="4200" b="1" dirty="0" err="1">
                    <a:solidFill>
                      <a:srgbClr val="000000"/>
                    </a:solidFill>
                    <a:latin typeface="Tahoma" panose="020B0604030504040204" pitchFamily="34" charset="0"/>
                    <a:ea typeface="Tahoma" panose="020B0604030504040204" pitchFamily="34" charset="0"/>
                    <a:cs typeface="Tahoma" panose="020B0604030504040204" pitchFamily="34" charset="0"/>
                  </a:rPr>
                  <a:t>trong</a:t>
                </a:r>
                <a:r>
                  <a:rPr lang="en-US" sz="4200" b="1" dirty="0">
                    <a:solidFill>
                      <a:srgbClr val="000000"/>
                    </a:solidFill>
                    <a:latin typeface="Tahoma" panose="020B0604030504040204" pitchFamily="34" charset="0"/>
                    <a:ea typeface="Tahoma" panose="020B0604030504040204" pitchFamily="34" charset="0"/>
                    <a:cs typeface="Tahoma" panose="020B0604030504040204" pitchFamily="34" charset="0"/>
                  </a:rPr>
                  <a:t> </a:t>
                </a:r>
                <a:r>
                  <a:rPr lang="en-US" sz="4200" b="1" dirty="0" err="1">
                    <a:solidFill>
                      <a:srgbClr val="000000"/>
                    </a:solidFill>
                    <a:latin typeface="Tahoma" panose="020B0604030504040204" pitchFamily="34" charset="0"/>
                    <a:ea typeface="Tahoma" panose="020B0604030504040204" pitchFamily="34" charset="0"/>
                    <a:cs typeface="Tahoma" panose="020B0604030504040204" pitchFamily="34" charset="0"/>
                  </a:rPr>
                  <a:t>ba</a:t>
                </a:r>
                <a:r>
                  <a:rPr lang="en-US" sz="4200" b="1" dirty="0">
                    <a:solidFill>
                      <a:srgbClr val="000000"/>
                    </a:solidFill>
                    <a:latin typeface="Tahoma" panose="020B0604030504040204" pitchFamily="34" charset="0"/>
                    <a:ea typeface="Tahoma" panose="020B0604030504040204" pitchFamily="34" charset="0"/>
                    <a:cs typeface="Tahoma" panose="020B0604030504040204" pitchFamily="34" charset="0"/>
                  </a:rPr>
                  <a:t> </a:t>
                </a:r>
                <a:r>
                  <a:rPr lang="en-US" sz="4200" b="1" dirty="0" err="1">
                    <a:solidFill>
                      <a:srgbClr val="000000"/>
                    </a:solidFill>
                    <a:latin typeface="Tahoma" panose="020B0604030504040204" pitchFamily="34" charset="0"/>
                    <a:ea typeface="Tahoma" panose="020B0604030504040204" pitchFamily="34" charset="0"/>
                    <a:cs typeface="Tahoma" panose="020B0604030504040204" pitchFamily="34" charset="0"/>
                  </a:rPr>
                  <a:t>trường</a:t>
                </a:r>
                <a:r>
                  <a:rPr lang="en-US" sz="4200" b="1" dirty="0">
                    <a:solidFill>
                      <a:srgbClr val="000000"/>
                    </a:solidFill>
                    <a:latin typeface="Tahoma" panose="020B0604030504040204" pitchFamily="34" charset="0"/>
                    <a:ea typeface="Tahoma" panose="020B0604030504040204" pitchFamily="34" charset="0"/>
                    <a:cs typeface="Tahoma" panose="020B0604030504040204" pitchFamily="34" charset="0"/>
                  </a:rPr>
                  <a:t> </a:t>
                </a:r>
                <a:r>
                  <a:rPr lang="en-US" sz="4200" b="1" dirty="0" err="1">
                    <a:solidFill>
                      <a:srgbClr val="000000"/>
                    </a:solidFill>
                    <a:latin typeface="Tahoma" panose="020B0604030504040204" pitchFamily="34" charset="0"/>
                    <a:ea typeface="Tahoma" panose="020B0604030504040204" pitchFamily="34" charset="0"/>
                    <a:cs typeface="Tahoma" panose="020B0604030504040204" pitchFamily="34" charset="0"/>
                  </a:rPr>
                  <a:t>hợp</a:t>
                </a:r>
                <a:r>
                  <a:rPr lang="en-US" sz="4200" b="1" dirty="0">
                    <a:solidFill>
                      <a:srgbClr val="000000"/>
                    </a:solidFill>
                    <a:latin typeface="Tahoma" panose="020B0604030504040204" pitchFamily="34" charset="0"/>
                    <a:ea typeface="Tahoma" panose="020B0604030504040204" pitchFamily="34" charset="0"/>
                    <a:cs typeface="Tahoma" panose="020B0604030504040204" pitchFamily="34" charset="0"/>
                  </a:rPr>
                  <a:t>:</a:t>
                </a:r>
                <a:endParaRPr lang="en-US" sz="4200" b="1" dirty="0">
                  <a:latin typeface="Tahoma" panose="020B0604030504040204" pitchFamily="34" charset="0"/>
                  <a:ea typeface="Tahoma" panose="020B0604030504040204" pitchFamily="34" charset="0"/>
                  <a:cs typeface="Tahoma" panose="020B0604030504040204" pitchFamily="34" charset="0"/>
                </a:endParaRPr>
              </a:p>
              <a:p>
                <a:pPr lvl="4"/>
                <a:endParaRPr lang="en-US" dirty="0"/>
              </a:p>
            </p:txBody>
          </p:sp>
        </mc:Choice>
        <mc:Fallback xmlns="">
          <p:sp>
            <p:nvSpPr>
              <p:cNvPr id="7" name="Content Placeholder 2">
                <a:extLst>
                  <a:ext uri="{FF2B5EF4-FFF2-40B4-BE49-F238E27FC236}">
                    <a16:creationId xmlns:a16="http://schemas.microsoft.com/office/drawing/2014/main" id="{08B49A2E-2A9D-46FD-AE9C-29462A33F0E6}"/>
                  </a:ext>
                </a:extLst>
              </p:cNvPr>
              <p:cNvSpPr txBox="1">
                <a:spLocks noRot="1" noChangeAspect="1" noMove="1" noResize="1" noEditPoints="1" noAdjustHandles="1" noChangeArrowheads="1" noChangeShapeType="1" noTextEdit="1"/>
              </p:cNvSpPr>
              <p:nvPr/>
            </p:nvSpPr>
            <p:spPr>
              <a:xfrm>
                <a:off x="12011892" y="5257800"/>
                <a:ext cx="11963400" cy="8161340"/>
              </a:xfrm>
              <a:prstGeom prst="rect">
                <a:avLst/>
              </a:prstGeom>
              <a:blipFill>
                <a:blip r:embed="rId4"/>
                <a:stretch>
                  <a:fillRect l="-2239" t="-1716" r="-1069"/>
                </a:stretch>
              </a:blipFill>
              <a:ln>
                <a:solidFill>
                  <a:srgbClr val="00B0F0"/>
                </a:solidFill>
              </a:ln>
            </p:spPr>
            <p:txBody>
              <a:bodyPr/>
              <a:lstStyle/>
              <a:p>
                <a:r>
                  <a:rPr lang="en-US">
                    <a:noFill/>
                  </a:rPr>
                  <a:t> </a:t>
                </a:r>
              </a:p>
            </p:txBody>
          </p:sp>
        </mc:Fallback>
      </mc:AlternateContent>
      <p:grpSp>
        <p:nvGrpSpPr>
          <p:cNvPr id="8" name="Group 7">
            <a:extLst>
              <a:ext uri="{FF2B5EF4-FFF2-40B4-BE49-F238E27FC236}">
                <a16:creationId xmlns:a16="http://schemas.microsoft.com/office/drawing/2014/main" id="{01C5D90F-174C-437C-FCEB-754D81BA33B3}"/>
              </a:ext>
            </a:extLst>
          </p:cNvPr>
          <p:cNvGrpSpPr/>
          <p:nvPr/>
        </p:nvGrpSpPr>
        <p:grpSpPr>
          <a:xfrm>
            <a:off x="838200" y="1862493"/>
            <a:ext cx="3200400" cy="689429"/>
            <a:chOff x="22440" y="1030"/>
            <a:chExt cx="951488" cy="280196"/>
          </a:xfrm>
        </p:grpSpPr>
        <p:grpSp>
          <p:nvGrpSpPr>
            <p:cNvPr id="9" name="Group 8">
              <a:extLst>
                <a:ext uri="{FF2B5EF4-FFF2-40B4-BE49-F238E27FC236}">
                  <a16:creationId xmlns:a16="http://schemas.microsoft.com/office/drawing/2014/main" id="{3F7B4DDF-60AC-E1E3-01C2-8450092F3F08}"/>
                </a:ext>
              </a:extLst>
            </p:cNvPr>
            <p:cNvGrpSpPr/>
            <p:nvPr/>
          </p:nvGrpSpPr>
          <p:grpSpPr>
            <a:xfrm>
              <a:off x="22440" y="59287"/>
              <a:ext cx="850471" cy="159855"/>
              <a:chOff x="31572" y="60276"/>
              <a:chExt cx="1196628" cy="197828"/>
            </a:xfrm>
          </p:grpSpPr>
          <p:sp>
            <p:nvSpPr>
              <p:cNvPr id="11" name="Arrow: Pentagon 10">
                <a:extLst>
                  <a:ext uri="{FF2B5EF4-FFF2-40B4-BE49-F238E27FC236}">
                    <a16:creationId xmlns:a16="http://schemas.microsoft.com/office/drawing/2014/main" id="{D14EE5F1-4460-4A92-12BF-FE10177783F2}"/>
                  </a:ext>
                </a:extLst>
              </p:cNvPr>
              <p:cNvSpPr/>
              <p:nvPr/>
            </p:nvSpPr>
            <p:spPr>
              <a:xfrm>
                <a:off x="204585" y="62042"/>
                <a:ext cx="1023615" cy="196062"/>
              </a:xfrm>
              <a:prstGeom prst="homePlate">
                <a:avLst/>
              </a:prstGeom>
              <a:solidFill>
                <a:srgbClr val="FCFFEF"/>
              </a:solidFill>
              <a:ln w="12700" cap="flat" cmpd="sng" algn="ctr">
                <a:solidFill>
                  <a:srgbClr val="ED7D31">
                    <a:lumMod val="20000"/>
                    <a:lumOff val="80000"/>
                  </a:srgbClr>
                </a:solidFill>
                <a:prstDash val="solid"/>
                <a:miter lim="800000"/>
              </a:ln>
              <a:effectLst/>
            </p:spPr>
            <p:txBody>
              <a:bodyPr rtlCol="0" anchor="ctr"/>
              <a:lstStyle/>
              <a:p>
                <a:pPr marL="0" marR="0" lvl="0" indent="0" defTabSz="914400" eaLnBrk="1" fontAlgn="auto" latinLnBrk="0" hangingPunct="1">
                  <a:lnSpc>
                    <a:spcPct val="106000"/>
                  </a:lnSpc>
                  <a:spcBef>
                    <a:spcPts val="0"/>
                  </a:spcBef>
                  <a:spcAft>
                    <a:spcPts val="800"/>
                  </a:spcAft>
                  <a:buClrTx/>
                  <a:buSzTx/>
                  <a:buFontTx/>
                  <a:buNone/>
                  <a:tabLst/>
                  <a:defRPr/>
                </a:pPr>
                <a:r>
                  <a:rPr kumimoji="0" lang="en-US" sz="1000" b="1" i="0" u="none" strike="noStrike" kern="1200" cap="none" spc="0" normalizeH="0" baseline="0" noProof="0">
                    <a:ln>
                      <a:noFill/>
                    </a:ln>
                    <a:solidFill>
                      <a:srgbClr val="0000CC"/>
                    </a:solidFill>
                    <a:effectLst/>
                    <a:uLnTx/>
                    <a:uFillTx/>
                    <a:latin typeface="Calibri"/>
                    <a:ea typeface="Calibri" panose="020F0502020204030204" pitchFamily="34" charset="0"/>
                    <a:cs typeface="Times New Roman" panose="02020603050405020304" pitchFamily="18" charset="0"/>
                  </a:rPr>
                  <a:t> </a:t>
                </a:r>
                <a:endParaRPr kumimoji="0" lang="en-US" sz="1200" b="0" i="0" u="none" strike="noStrike" kern="0" cap="none" spc="0" normalizeH="0" baseline="0" noProof="0">
                  <a:ln>
                    <a:noFill/>
                  </a:ln>
                  <a:solidFill>
                    <a:sysClr val="window" lastClr="FFFFFF"/>
                  </a:solidFill>
                  <a:effectLst/>
                  <a:uLnTx/>
                  <a:uFillTx/>
                  <a:latin typeface="Times New Roman" panose="02020603050405020304" pitchFamily="18" charset="0"/>
                  <a:ea typeface="Calibri" panose="020F0502020204030204" pitchFamily="34" charset="0"/>
                  <a:cs typeface="Times New Roman" panose="02020603050405020304" pitchFamily="18" charset="0"/>
                </a:endParaRPr>
              </a:p>
            </p:txBody>
          </p:sp>
          <p:sp>
            <p:nvSpPr>
              <p:cNvPr id="12" name="Arrow: Chevron 11">
                <a:extLst>
                  <a:ext uri="{FF2B5EF4-FFF2-40B4-BE49-F238E27FC236}">
                    <a16:creationId xmlns:a16="http://schemas.microsoft.com/office/drawing/2014/main" id="{D100518E-ACC4-623A-EDA5-BD6F1D608D56}"/>
                  </a:ext>
                </a:extLst>
              </p:cNvPr>
              <p:cNvSpPr/>
              <p:nvPr/>
            </p:nvSpPr>
            <p:spPr>
              <a:xfrm>
                <a:off x="31572" y="60341"/>
                <a:ext cx="162630" cy="196062"/>
              </a:xfrm>
              <a:prstGeom prst="chevron">
                <a:avLst/>
              </a:prstGeom>
              <a:solidFill>
                <a:srgbClr val="4472C4"/>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3" name="Arrow: Chevron 12">
                <a:extLst>
                  <a:ext uri="{FF2B5EF4-FFF2-40B4-BE49-F238E27FC236}">
                    <a16:creationId xmlns:a16="http://schemas.microsoft.com/office/drawing/2014/main" id="{5AF4A35C-DB6E-CE87-069E-E076E74444AF}"/>
                  </a:ext>
                </a:extLst>
              </p:cNvPr>
              <p:cNvSpPr/>
              <p:nvPr/>
            </p:nvSpPr>
            <p:spPr>
              <a:xfrm>
                <a:off x="116273" y="60276"/>
                <a:ext cx="176766" cy="196062"/>
              </a:xfrm>
              <a:prstGeom prst="chevron">
                <a:avLst/>
              </a:prstGeom>
              <a:solidFill>
                <a:srgbClr val="FFC000"/>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grpSp>
        <p:sp>
          <p:nvSpPr>
            <p:cNvPr id="10" name="TextBox 56">
              <a:extLst>
                <a:ext uri="{FF2B5EF4-FFF2-40B4-BE49-F238E27FC236}">
                  <a16:creationId xmlns:a16="http://schemas.microsoft.com/office/drawing/2014/main" id="{1EA2A959-AAF0-B7A3-8AC7-BD412B2E44CE}"/>
                </a:ext>
              </a:extLst>
            </p:cNvPr>
            <p:cNvSpPr txBox="1"/>
            <p:nvPr/>
          </p:nvSpPr>
          <p:spPr>
            <a:xfrm>
              <a:off x="243027" y="1030"/>
              <a:ext cx="730901" cy="280196"/>
            </a:xfrm>
            <a:prstGeom prst="rect">
              <a:avLst/>
            </a:prstGeom>
            <a:noFill/>
          </p:spPr>
          <p:txBody>
            <a:bodyPr wrap="square">
              <a:noAutofit/>
            </a:bodyPr>
            <a:lstStyle/>
            <a:p>
              <a:pPr marL="0" marR="0" lvl="0" indent="0" defTabSz="914400" eaLnBrk="1" fontAlgn="auto" latinLnBrk="0" hangingPunct="1">
                <a:lnSpc>
                  <a:spcPct val="107000"/>
                </a:lnSpc>
                <a:spcBef>
                  <a:spcPts val="0"/>
                </a:spcBef>
                <a:spcAft>
                  <a:spcPts val="800"/>
                </a:spcAft>
                <a:buClrTx/>
                <a:buSzTx/>
                <a:buFontTx/>
                <a:buNone/>
                <a:tabLst/>
                <a:defRPr/>
              </a:pPr>
              <a:r>
                <a:rPr kumimoji="0" lang="en-US" sz="4100" b="1" i="0" u="none" strike="noStrike" kern="1200" cap="none" spc="0" normalizeH="0" baseline="0" noProof="0" dirty="0" err="1">
                  <a:ln>
                    <a:noFill/>
                  </a:ln>
                  <a:solidFill>
                    <a:srgbClr val="0000CC"/>
                  </a:solidFill>
                  <a:effectLst/>
                  <a:uLnTx/>
                  <a:uFillTx/>
                  <a:latin typeface="Tahoma" panose="020B0604030504040204" pitchFamily="34" charset="0"/>
                  <a:ea typeface="Tahoma" panose="020B0604030504040204" pitchFamily="34" charset="0"/>
                  <a:cs typeface="Tahoma" panose="020B0604030504040204" pitchFamily="34" charset="0"/>
                </a:rPr>
                <a:t>Ví</a:t>
              </a:r>
              <a:r>
                <a:rPr kumimoji="0" lang="en-US" sz="4100" b="1" i="0" u="none" strike="noStrike" kern="1200" cap="none" spc="0" normalizeH="0" baseline="0" noProof="0" dirty="0">
                  <a:ln>
                    <a:noFill/>
                  </a:ln>
                  <a:solidFill>
                    <a:srgbClr val="0000CC"/>
                  </a:solidFill>
                  <a:effectLst/>
                  <a:uLnTx/>
                  <a:uFillTx/>
                  <a:latin typeface="Tahoma" panose="020B0604030504040204" pitchFamily="34" charset="0"/>
                  <a:ea typeface="Tahoma" panose="020B0604030504040204" pitchFamily="34" charset="0"/>
                  <a:cs typeface="Tahoma" panose="020B0604030504040204" pitchFamily="34" charset="0"/>
                </a:rPr>
                <a:t> </a:t>
              </a:r>
              <a:r>
                <a:rPr kumimoji="0" lang="en-US" sz="4100" b="1" i="0" u="none" strike="noStrike" kern="1200" cap="none" spc="0" normalizeH="0" baseline="0" noProof="0" dirty="0" err="1">
                  <a:ln>
                    <a:noFill/>
                  </a:ln>
                  <a:solidFill>
                    <a:srgbClr val="0000CC"/>
                  </a:solidFill>
                  <a:effectLst/>
                  <a:uLnTx/>
                  <a:uFillTx/>
                  <a:latin typeface="Tahoma" panose="020B0604030504040204" pitchFamily="34" charset="0"/>
                  <a:ea typeface="Tahoma" panose="020B0604030504040204" pitchFamily="34" charset="0"/>
                  <a:cs typeface="Tahoma" panose="020B0604030504040204" pitchFamily="34" charset="0"/>
                </a:rPr>
                <a:t>dụ</a:t>
              </a:r>
              <a:r>
                <a:rPr kumimoji="0" lang="en-US" sz="4100" b="1" i="0" u="none" strike="noStrike" kern="1200" cap="none" spc="0" normalizeH="0" baseline="0" noProof="0" dirty="0">
                  <a:ln>
                    <a:noFill/>
                  </a:ln>
                  <a:solidFill>
                    <a:srgbClr val="0000CC"/>
                  </a:solidFill>
                  <a:effectLst/>
                  <a:uLnTx/>
                  <a:uFillTx/>
                  <a:latin typeface="Tahoma" panose="020B0604030504040204" pitchFamily="34" charset="0"/>
                  <a:ea typeface="Tahoma" panose="020B0604030504040204" pitchFamily="34" charset="0"/>
                  <a:cs typeface="Tahoma" panose="020B0604030504040204" pitchFamily="34" charset="0"/>
                </a:rPr>
                <a:t> 5.</a:t>
              </a:r>
              <a:r>
                <a:rPr kumimoji="0" lang="en-US" sz="4100" b="0" i="0" u="none" strike="noStrike" kern="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en-US" sz="4100" b="0" i="0" u="none" strike="noStrike" kern="0" cap="none" spc="0" normalizeH="0" baseline="0" noProof="0" dirty="0">
                <a:ln>
                  <a:noFill/>
                </a:ln>
                <a:solidFill>
                  <a:sysClr val="windowText" lastClr="000000"/>
                </a:solidFill>
                <a:effectLst/>
                <a:uLnTx/>
                <a:uFillTx/>
                <a:latin typeface="Tahoma" panose="020B0604030504040204" pitchFamily="34" charset="0"/>
                <a:ea typeface="Tahoma" panose="020B0604030504040204" pitchFamily="34" charset="0"/>
                <a:cs typeface="Tahoma" panose="020B0604030504040204" pitchFamily="34" charset="0"/>
              </a:endParaRPr>
            </a:p>
            <a:p>
              <a:pPr marL="0" marR="0" lvl="0" indent="0" defTabSz="914400" eaLnBrk="1" fontAlgn="auto" latinLnBrk="0" hangingPunct="1">
                <a:lnSpc>
                  <a:spcPct val="107000"/>
                </a:lnSpc>
                <a:spcBef>
                  <a:spcPts val="0"/>
                </a:spcBef>
                <a:spcAft>
                  <a:spcPts val="800"/>
                </a:spcAft>
                <a:buClrTx/>
                <a:buSzTx/>
                <a:buFontTx/>
                <a:buNone/>
                <a:tabLst/>
                <a:defRPr/>
              </a:pPr>
              <a:r>
                <a:rPr kumimoji="0" lang="en-US" sz="4100" b="1" i="0" u="none" strike="noStrike" kern="1200" cap="none" spc="0" normalizeH="0" baseline="0" noProof="0" dirty="0">
                  <a:ln>
                    <a:noFill/>
                  </a:ln>
                  <a:solidFill>
                    <a:srgbClr val="0000CC"/>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en-US" sz="4100" b="0" i="0" u="none" strike="noStrike" kern="0" cap="none" spc="0" normalizeH="0" baseline="0" noProof="0" dirty="0">
                <a:ln>
                  <a:noFill/>
                </a:ln>
                <a:solidFill>
                  <a:sysClr val="windowText" lastClr="000000"/>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pic>
        <p:nvPicPr>
          <p:cNvPr id="14" name="Picture 13">
            <a:extLst>
              <a:ext uri="{FF2B5EF4-FFF2-40B4-BE49-F238E27FC236}">
                <a16:creationId xmlns:a16="http://schemas.microsoft.com/office/drawing/2014/main" id="{FFEAA54A-EE0E-5D67-97BF-C26EC2410097}"/>
              </a:ext>
            </a:extLst>
          </p:cNvPr>
          <p:cNvPicPr>
            <a:picLocks noChangeAspect="1"/>
          </p:cNvPicPr>
          <p:nvPr/>
        </p:nvPicPr>
        <p:blipFill>
          <a:blip r:embed="rId5"/>
          <a:stretch>
            <a:fillRect/>
          </a:stretch>
        </p:blipFill>
        <p:spPr>
          <a:xfrm>
            <a:off x="17068800" y="2005835"/>
            <a:ext cx="6705600" cy="3013841"/>
          </a:xfrm>
          <a:prstGeom prst="rect">
            <a:avLst/>
          </a:prstGeom>
        </p:spPr>
      </p:pic>
      <p:pic>
        <p:nvPicPr>
          <p:cNvPr id="6" name="Picture 5">
            <a:extLst>
              <a:ext uri="{FF2B5EF4-FFF2-40B4-BE49-F238E27FC236}">
                <a16:creationId xmlns:a16="http://schemas.microsoft.com/office/drawing/2014/main" id="{C8D373BF-FDFB-8912-1096-6DBAE25542F1}"/>
              </a:ext>
            </a:extLst>
          </p:cNvPr>
          <p:cNvPicPr>
            <a:picLocks noChangeAspect="1"/>
          </p:cNvPicPr>
          <p:nvPr/>
        </p:nvPicPr>
        <p:blipFill>
          <a:blip r:embed="rId6"/>
          <a:stretch>
            <a:fillRect/>
          </a:stretch>
        </p:blipFill>
        <p:spPr>
          <a:xfrm>
            <a:off x="792251" y="7358628"/>
            <a:ext cx="10836098" cy="4968419"/>
          </a:xfrm>
          <a:prstGeom prst="rect">
            <a:avLst/>
          </a:prstGeom>
        </p:spPr>
      </p:pic>
      <p:sp>
        <p:nvSpPr>
          <p:cNvPr id="18" name="TextBox 17">
            <a:extLst>
              <a:ext uri="{FF2B5EF4-FFF2-40B4-BE49-F238E27FC236}">
                <a16:creationId xmlns:a16="http://schemas.microsoft.com/office/drawing/2014/main" id="{ED1BDA4C-0F44-70A2-78D8-0831C2C095B2}"/>
              </a:ext>
            </a:extLst>
          </p:cNvPr>
          <p:cNvSpPr txBox="1"/>
          <p:nvPr/>
        </p:nvSpPr>
        <p:spPr>
          <a:xfrm>
            <a:off x="408709" y="12327047"/>
            <a:ext cx="12241762" cy="969946"/>
          </a:xfrm>
          <a:prstGeom prst="rect">
            <a:avLst/>
          </a:prstGeom>
          <a:noFill/>
        </p:spPr>
        <p:txBody>
          <a:bodyPr wrap="square">
            <a:spAutoFit/>
          </a:bodyPr>
          <a:lstStyle/>
          <a:p>
            <a:pPr>
              <a:lnSpc>
                <a:spcPct val="150000"/>
              </a:lnSpc>
              <a:spcAft>
                <a:spcPts val="800"/>
              </a:spcAft>
            </a:pPr>
            <a:r>
              <a:rPr lang="en-US" sz="4400" b="1" dirty="0" err="1">
                <a:solidFill>
                  <a:srgbClr val="000000"/>
                </a:solidFill>
                <a:effectLst/>
                <a:latin typeface="Tahoma" panose="020B0604030504040204" pitchFamily="34" charset="0"/>
                <a:ea typeface="Tahoma" panose="020B0604030504040204" pitchFamily="34" charset="0"/>
                <a:cs typeface="Tahoma" panose="020B0604030504040204" pitchFamily="34" charset="0"/>
              </a:rPr>
              <a:t>Mỗi</a:t>
            </a:r>
            <a:r>
              <a:rPr lang="en-US" sz="4400" b="1" dirty="0">
                <a:solidFill>
                  <a:srgbClr val="000000"/>
                </a:solidFill>
                <a:effectLst/>
                <a:latin typeface="Tahoma" panose="020B0604030504040204" pitchFamily="34" charset="0"/>
                <a:ea typeface="Tahoma" panose="020B0604030504040204" pitchFamily="34" charset="0"/>
                <a:cs typeface="Tahoma" panose="020B0604030504040204" pitchFamily="34" charset="0"/>
              </a:rPr>
              <a:t> ô </a:t>
            </a:r>
            <a:r>
              <a:rPr lang="en-US" sz="4400" b="1" dirty="0" err="1">
                <a:solidFill>
                  <a:srgbClr val="000000"/>
                </a:solidFill>
                <a:effectLst/>
                <a:latin typeface="Tahoma" panose="020B0604030504040204" pitchFamily="34" charset="0"/>
                <a:ea typeface="Tahoma" panose="020B0604030504040204" pitchFamily="34" charset="0"/>
                <a:cs typeface="Tahoma" panose="020B0604030504040204" pitchFamily="34" charset="0"/>
              </a:rPr>
              <a:t>là</a:t>
            </a:r>
            <a:r>
              <a:rPr lang="en-US" sz="4400" b="1" dirty="0">
                <a:solidFill>
                  <a:srgbClr val="000000"/>
                </a:solidFill>
                <a:effectLst/>
                <a:latin typeface="Tahoma" panose="020B0604030504040204" pitchFamily="34" charset="0"/>
                <a:ea typeface="Tahoma" panose="020B0604030504040204" pitchFamily="34" charset="0"/>
                <a:cs typeface="Tahoma" panose="020B0604030504040204" pitchFamily="34" charset="0"/>
              </a:rPr>
              <a:t> </a:t>
            </a:r>
            <a:r>
              <a:rPr lang="en-US" sz="4400" b="1" dirty="0" err="1">
                <a:solidFill>
                  <a:srgbClr val="000000"/>
                </a:solidFill>
                <a:effectLst/>
                <a:latin typeface="Tahoma" panose="020B0604030504040204" pitchFamily="34" charset="0"/>
                <a:ea typeface="Tahoma" panose="020B0604030504040204" pitchFamily="34" charset="0"/>
                <a:cs typeface="Tahoma" panose="020B0604030504040204" pitchFamily="34" charset="0"/>
              </a:rPr>
              <a:t>một</a:t>
            </a:r>
            <a:r>
              <a:rPr lang="en-US" sz="4400" b="1" dirty="0">
                <a:solidFill>
                  <a:srgbClr val="000000"/>
                </a:solidFill>
                <a:effectLst/>
                <a:latin typeface="Tahoma" panose="020B0604030504040204" pitchFamily="34" charset="0"/>
                <a:ea typeface="Tahoma" panose="020B0604030504040204" pitchFamily="34" charset="0"/>
                <a:cs typeface="Tahoma" panose="020B0604030504040204" pitchFamily="34" charset="0"/>
              </a:rPr>
              <a:t> </a:t>
            </a:r>
            <a:r>
              <a:rPr lang="en-US" sz="4400" b="1" dirty="0" err="1">
                <a:solidFill>
                  <a:srgbClr val="000000"/>
                </a:solidFill>
                <a:effectLst/>
                <a:latin typeface="Tahoma" panose="020B0604030504040204" pitchFamily="34" charset="0"/>
                <a:ea typeface="Tahoma" panose="020B0604030504040204" pitchFamily="34" charset="0"/>
                <a:cs typeface="Tahoma" panose="020B0604030504040204" pitchFamily="34" charset="0"/>
              </a:rPr>
              <a:t>kết</a:t>
            </a:r>
            <a:r>
              <a:rPr lang="en-US" sz="4400" b="1" dirty="0">
                <a:solidFill>
                  <a:srgbClr val="000000"/>
                </a:solidFill>
                <a:effectLst/>
                <a:latin typeface="Tahoma" panose="020B0604030504040204" pitchFamily="34" charset="0"/>
                <a:ea typeface="Tahoma" panose="020B0604030504040204" pitchFamily="34" charset="0"/>
                <a:cs typeface="Tahoma" panose="020B0604030504040204" pitchFamily="34" charset="0"/>
              </a:rPr>
              <a:t> </a:t>
            </a:r>
            <a:r>
              <a:rPr lang="en-US" sz="4400" b="1" dirty="0" err="1">
                <a:solidFill>
                  <a:srgbClr val="000000"/>
                </a:solidFill>
                <a:effectLst/>
                <a:latin typeface="Tahoma" panose="020B0604030504040204" pitchFamily="34" charset="0"/>
                <a:ea typeface="Tahoma" panose="020B0604030504040204" pitchFamily="34" charset="0"/>
                <a:cs typeface="Tahoma" panose="020B0604030504040204" pitchFamily="34" charset="0"/>
              </a:rPr>
              <a:t>quả</a:t>
            </a:r>
            <a:r>
              <a:rPr lang="en-US" sz="4400" b="1" dirty="0">
                <a:solidFill>
                  <a:srgbClr val="000000"/>
                </a:solidFill>
                <a:effectLst/>
                <a:latin typeface="Tahoma" panose="020B0604030504040204" pitchFamily="34" charset="0"/>
                <a:ea typeface="Tahoma" panose="020B0604030504040204" pitchFamily="34" charset="0"/>
                <a:cs typeface="Tahoma" panose="020B0604030504040204" pitchFamily="34" charset="0"/>
              </a:rPr>
              <a:t> </a:t>
            </a:r>
            <a:r>
              <a:rPr lang="en-US" sz="4400" b="1" dirty="0" err="1">
                <a:solidFill>
                  <a:srgbClr val="000000"/>
                </a:solidFill>
                <a:effectLst/>
                <a:latin typeface="Tahoma" panose="020B0604030504040204" pitchFamily="34" charset="0"/>
                <a:ea typeface="Tahoma" panose="020B0604030504040204" pitchFamily="34" charset="0"/>
                <a:cs typeface="Tahoma" panose="020B0604030504040204" pitchFamily="34" charset="0"/>
              </a:rPr>
              <a:t>có</a:t>
            </a:r>
            <a:r>
              <a:rPr lang="en-US" sz="4400" b="1" dirty="0">
                <a:solidFill>
                  <a:srgbClr val="000000"/>
                </a:solidFill>
                <a:effectLst/>
                <a:latin typeface="Tahoma" panose="020B0604030504040204" pitchFamily="34" charset="0"/>
                <a:ea typeface="Tahoma" panose="020B0604030504040204" pitchFamily="34" charset="0"/>
                <a:cs typeface="Tahoma" panose="020B0604030504040204" pitchFamily="34" charset="0"/>
              </a:rPr>
              <a:t> </a:t>
            </a:r>
            <a:r>
              <a:rPr lang="en-US" sz="4400" b="1" dirty="0" err="1">
                <a:solidFill>
                  <a:srgbClr val="000000"/>
                </a:solidFill>
                <a:effectLst/>
                <a:latin typeface="Tahoma" panose="020B0604030504040204" pitchFamily="34" charset="0"/>
                <a:ea typeface="Tahoma" panose="020B0604030504040204" pitchFamily="34" charset="0"/>
                <a:cs typeface="Tahoma" panose="020B0604030504040204" pitchFamily="34" charset="0"/>
              </a:rPr>
              <a:t>thể</a:t>
            </a:r>
            <a:r>
              <a:rPr lang="en-US" sz="4400" b="1" dirty="0">
                <a:solidFill>
                  <a:srgbClr val="000000"/>
                </a:solidFill>
                <a:effectLst/>
                <a:latin typeface="Tahoma" panose="020B0604030504040204" pitchFamily="34" charset="0"/>
                <a:ea typeface="Tahoma" panose="020B0604030504040204" pitchFamily="34" charset="0"/>
                <a:cs typeface="Tahoma" panose="020B0604030504040204" pitchFamily="34" charset="0"/>
              </a:rPr>
              <a:t>. Có 20 ô, </a:t>
            </a:r>
            <a:endParaRPr lang="en-US" sz="4400" b="1" dirty="0">
              <a:effectLst/>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29CB66B5-2915-8BB7-6838-F024E508F0CD}"/>
                  </a:ext>
                </a:extLst>
              </p:cNvPr>
              <p:cNvSpPr txBox="1"/>
              <p:nvPr/>
            </p:nvSpPr>
            <p:spPr>
              <a:xfrm>
                <a:off x="12039600" y="8458200"/>
                <a:ext cx="12241762" cy="4582088"/>
              </a:xfrm>
              <a:prstGeom prst="rect">
                <a:avLst/>
              </a:prstGeom>
              <a:noFill/>
            </p:spPr>
            <p:txBody>
              <a:bodyPr wrap="square">
                <a:spAutoFit/>
              </a:bodyPr>
              <a:lstStyle/>
              <a:p>
                <a:pPr>
                  <a:spcAft>
                    <a:spcPts val="800"/>
                  </a:spcAft>
                </a:pPr>
                <a:r>
                  <a:rPr lang="en-US" sz="3700" b="1" dirty="0" err="1">
                    <a:solidFill>
                      <a:srgbClr val="000000"/>
                    </a:solidFill>
                    <a:effectLst/>
                    <a:latin typeface="Tahoma" panose="020B0604030504040204" pitchFamily="34" charset="0"/>
                    <a:ea typeface="Tahoma" panose="020B0604030504040204" pitchFamily="34" charset="0"/>
                    <a:cs typeface="Tahoma" panose="020B0604030504040204" pitchFamily="34" charset="0"/>
                  </a:rPr>
                  <a:t>Tổng</a:t>
                </a:r>
                <a:r>
                  <a:rPr lang="en-US" sz="3700" b="1" dirty="0">
                    <a:solidFill>
                      <a:srgbClr val="000000"/>
                    </a:solidFill>
                    <a:effectLst/>
                    <a:latin typeface="Tahoma" panose="020B0604030504040204" pitchFamily="34" charset="0"/>
                    <a:ea typeface="Tahoma" panose="020B0604030504040204" pitchFamily="34" charset="0"/>
                    <a:cs typeface="Tahoma" panose="020B0604030504040204" pitchFamily="34" charset="0"/>
                  </a:rPr>
                  <a:t> </a:t>
                </a:r>
                <a:r>
                  <a:rPr lang="en-US" sz="3700" b="1" dirty="0" err="1">
                    <a:solidFill>
                      <a:srgbClr val="000000"/>
                    </a:solidFill>
                    <a:effectLst/>
                    <a:latin typeface="Tahoma" panose="020B0604030504040204" pitchFamily="34" charset="0"/>
                    <a:ea typeface="Tahoma" panose="020B0604030504040204" pitchFamily="34" charset="0"/>
                    <a:cs typeface="Tahoma" panose="020B0604030504040204" pitchFamily="34" charset="0"/>
                  </a:rPr>
                  <a:t>bằng</a:t>
                </a:r>
                <a:r>
                  <a:rPr lang="en-US" sz="3700" b="1" dirty="0">
                    <a:solidFill>
                      <a:srgbClr val="000000"/>
                    </a:solidFill>
                    <a:effectLst/>
                    <a:latin typeface="Tahoma" panose="020B0604030504040204" pitchFamily="34" charset="0"/>
                    <a:ea typeface="Tahoma" panose="020B0604030504040204" pitchFamily="34" charset="0"/>
                    <a:cs typeface="Tahoma" panose="020B0604030504040204" pitchFamily="34" charset="0"/>
                  </a:rPr>
                  <a:t> 7 </a:t>
                </a:r>
                <a:r>
                  <a:rPr lang="en-US" sz="3700" b="1" dirty="0" err="1">
                    <a:solidFill>
                      <a:srgbClr val="000000"/>
                    </a:solidFill>
                    <a:effectLst/>
                    <a:latin typeface="Tahoma" panose="020B0604030504040204" pitchFamily="34" charset="0"/>
                    <a:ea typeface="Tahoma" panose="020B0604030504040204" pitchFamily="34" charset="0"/>
                    <a:cs typeface="Tahoma" panose="020B0604030504040204" pitchFamily="34" charset="0"/>
                  </a:rPr>
                  <a:t>gồm</a:t>
                </a:r>
                <a:r>
                  <a:rPr lang="en-US" sz="3700" b="1" dirty="0">
                    <a:solidFill>
                      <a:srgbClr val="000000"/>
                    </a:solidFill>
                    <a:effectLst/>
                    <a:latin typeface="Tahoma" panose="020B0604030504040204" pitchFamily="34" charset="0"/>
                    <a:ea typeface="Tahoma" panose="020B0604030504040204" pitchFamily="34" charset="0"/>
                    <a:cs typeface="Tahoma" panose="020B0604030504040204" pitchFamily="34" charset="0"/>
                  </a:rPr>
                  <a:t> </a:t>
                </a:r>
                <a:r>
                  <a:rPr lang="en-US" sz="3700" b="1" dirty="0" err="1">
                    <a:solidFill>
                      <a:srgbClr val="000000"/>
                    </a:solidFill>
                    <a:effectLst/>
                    <a:latin typeface="Tahoma" panose="020B0604030504040204" pitchFamily="34" charset="0"/>
                    <a:ea typeface="Tahoma" panose="020B0604030504040204" pitchFamily="34" charset="0"/>
                    <a:cs typeface="Tahoma" panose="020B0604030504040204" pitchFamily="34" charset="0"/>
                  </a:rPr>
                  <a:t>các</a:t>
                </a:r>
                <a:r>
                  <a:rPr lang="en-US" sz="3700" b="1" dirty="0">
                    <a:solidFill>
                      <a:srgbClr val="000000"/>
                    </a:solidFill>
                    <a:effectLst/>
                    <a:latin typeface="Tahoma" panose="020B0604030504040204" pitchFamily="34" charset="0"/>
                    <a:ea typeface="Tahoma" panose="020B0604030504040204" pitchFamily="34" charset="0"/>
                    <a:cs typeface="Tahoma" panose="020B0604030504040204" pitchFamily="34" charset="0"/>
                  </a:rPr>
                  <a:t> </a:t>
                </a:r>
                <a:r>
                  <a:rPr lang="en-US" sz="3700" b="1" dirty="0" err="1">
                    <a:solidFill>
                      <a:srgbClr val="383738"/>
                    </a:solidFill>
                    <a:effectLst/>
                    <a:latin typeface="Tahoma" panose="020B0604030504040204" pitchFamily="34" charset="0"/>
                    <a:ea typeface="Tahoma" panose="020B0604030504040204" pitchFamily="34" charset="0"/>
                    <a:cs typeface="Tahoma" panose="020B0604030504040204" pitchFamily="34" charset="0"/>
                  </a:rPr>
                  <a:t>kết</a:t>
                </a:r>
                <a:r>
                  <a:rPr lang="en-US" sz="3700" b="1" dirty="0">
                    <a:solidFill>
                      <a:srgbClr val="383738"/>
                    </a:solidFill>
                    <a:effectLst/>
                    <a:latin typeface="Tahoma" panose="020B0604030504040204" pitchFamily="34" charset="0"/>
                    <a:ea typeface="Tahoma" panose="020B0604030504040204" pitchFamily="34" charset="0"/>
                    <a:cs typeface="Tahoma" panose="020B0604030504040204" pitchFamily="34" charset="0"/>
                  </a:rPr>
                  <a:t> </a:t>
                </a:r>
                <a:r>
                  <a:rPr lang="en-US" sz="3700" b="1" dirty="0" err="1">
                    <a:solidFill>
                      <a:srgbClr val="383738"/>
                    </a:solidFill>
                    <a:effectLst/>
                    <a:latin typeface="Tahoma" panose="020B0604030504040204" pitchFamily="34" charset="0"/>
                    <a:ea typeface="Tahoma" panose="020B0604030504040204" pitchFamily="34" charset="0"/>
                    <a:cs typeface="Tahoma" panose="020B0604030504040204" pitchFamily="34" charset="0"/>
                  </a:rPr>
                  <a:t>quả</a:t>
                </a:r>
                <a:r>
                  <a:rPr lang="en-US" sz="3700" b="1" dirty="0">
                    <a:solidFill>
                      <a:srgbClr val="383738"/>
                    </a:solidFill>
                    <a:effectLst/>
                    <a:latin typeface="Tahoma" panose="020B0604030504040204" pitchFamily="34" charset="0"/>
                    <a:ea typeface="Tahoma" panose="020B0604030504040204" pitchFamily="34" charset="0"/>
                    <a:cs typeface="Tahoma" panose="020B0604030504040204" pitchFamily="34" charset="0"/>
                  </a:rPr>
                  <a:t>: (3, 4): (4, 3);</a:t>
                </a:r>
                <a:r>
                  <a:rPr lang="en-US" sz="3700" b="1" dirty="0">
                    <a:solidFill>
                      <a:srgbClr val="000000"/>
                    </a:solidFill>
                    <a:effectLst/>
                    <a:latin typeface="Tahoma" panose="020B0604030504040204" pitchFamily="34" charset="0"/>
                    <a:ea typeface="Tahoma" panose="020B0604030504040204" pitchFamily="34" charset="0"/>
                    <a:cs typeface="Tahoma" panose="020B0604030504040204" pitchFamily="34" charset="0"/>
                  </a:rPr>
                  <a:t>(5, </a:t>
                </a:r>
                <a:r>
                  <a:rPr lang="en-US" sz="3700" b="1" dirty="0">
                    <a:solidFill>
                      <a:srgbClr val="383738"/>
                    </a:solidFill>
                    <a:effectLst/>
                    <a:latin typeface="Tahoma" panose="020B0604030504040204" pitchFamily="34" charset="0"/>
                    <a:ea typeface="Tahoma" panose="020B0604030504040204" pitchFamily="34" charset="0"/>
                    <a:cs typeface="Tahoma" panose="020B0604030504040204" pitchFamily="34" charset="0"/>
                  </a:rPr>
                  <a:t>2).</a:t>
                </a:r>
                <a:endParaRPr lang="en-US" sz="3700" b="1" dirty="0">
                  <a:effectLst/>
                  <a:latin typeface="Tahoma" panose="020B0604030504040204" pitchFamily="34" charset="0"/>
                  <a:ea typeface="Tahoma" panose="020B0604030504040204" pitchFamily="34" charset="0"/>
                  <a:cs typeface="Tahoma" panose="020B0604030504040204" pitchFamily="34" charset="0"/>
                </a:endParaRPr>
              </a:p>
              <a:p>
                <a:pPr>
                  <a:spcAft>
                    <a:spcPts val="800"/>
                  </a:spcAft>
                </a:pPr>
                <a:r>
                  <a:rPr lang="en-US" sz="4000" b="1" dirty="0" err="1">
                    <a:solidFill>
                      <a:srgbClr val="000000"/>
                    </a:solidFill>
                    <a:effectLst/>
                    <a:latin typeface="Tahoma" panose="020B0604030504040204" pitchFamily="34" charset="0"/>
                    <a:ea typeface="Tahoma" panose="020B0604030504040204" pitchFamily="34" charset="0"/>
                    <a:cs typeface="Tahoma" panose="020B0604030504040204" pitchFamily="34" charset="0"/>
                  </a:rPr>
                  <a:t>Tổng</a:t>
                </a:r>
                <a:r>
                  <a:rPr lang="en-US" sz="4000" b="1" dirty="0">
                    <a:solidFill>
                      <a:srgbClr val="000000"/>
                    </a:solidFill>
                    <a:effectLst/>
                    <a:latin typeface="Tahoma" panose="020B0604030504040204" pitchFamily="34" charset="0"/>
                    <a:ea typeface="Tahoma" panose="020B0604030504040204" pitchFamily="34" charset="0"/>
                    <a:cs typeface="Tahoma" panose="020B0604030504040204" pitchFamily="34" charset="0"/>
                  </a:rPr>
                  <a:t> </a:t>
                </a:r>
                <a:r>
                  <a:rPr lang="en-US" sz="4000" b="1" dirty="0" err="1">
                    <a:solidFill>
                      <a:srgbClr val="000000"/>
                    </a:solidFill>
                    <a:effectLst/>
                    <a:latin typeface="Tahoma" panose="020B0604030504040204" pitchFamily="34" charset="0"/>
                    <a:ea typeface="Tahoma" panose="020B0604030504040204" pitchFamily="34" charset="0"/>
                    <a:cs typeface="Tahoma" panose="020B0604030504040204" pitchFamily="34" charset="0"/>
                  </a:rPr>
                  <a:t>bằng</a:t>
                </a:r>
                <a:r>
                  <a:rPr lang="en-US" sz="4000" b="1" dirty="0">
                    <a:solidFill>
                      <a:srgbClr val="000000"/>
                    </a:solidFill>
                    <a:effectLst/>
                    <a:latin typeface="Tahoma" panose="020B0604030504040204" pitchFamily="34" charset="0"/>
                    <a:ea typeface="Tahoma" panose="020B0604030504040204" pitchFamily="34" charset="0"/>
                    <a:cs typeface="Tahoma" panose="020B0604030504040204" pitchFamily="34" charset="0"/>
                  </a:rPr>
                  <a:t> 8 </a:t>
                </a:r>
                <a:r>
                  <a:rPr lang="en-US" sz="4000" b="1" dirty="0" err="1">
                    <a:solidFill>
                      <a:srgbClr val="000000"/>
                    </a:solidFill>
                    <a:effectLst/>
                    <a:latin typeface="Tahoma" panose="020B0604030504040204" pitchFamily="34" charset="0"/>
                    <a:ea typeface="Tahoma" panose="020B0604030504040204" pitchFamily="34" charset="0"/>
                    <a:cs typeface="Tahoma" panose="020B0604030504040204" pitchFamily="34" charset="0"/>
                  </a:rPr>
                  <a:t>gồm</a:t>
                </a:r>
                <a:r>
                  <a:rPr lang="en-US" sz="4000" b="1" dirty="0">
                    <a:solidFill>
                      <a:srgbClr val="000000"/>
                    </a:solidFill>
                    <a:effectLst/>
                    <a:latin typeface="Tahoma" panose="020B0604030504040204" pitchFamily="34" charset="0"/>
                    <a:ea typeface="Tahoma" panose="020B0604030504040204" pitchFamily="34" charset="0"/>
                    <a:cs typeface="Tahoma" panose="020B0604030504040204" pitchFamily="34" charset="0"/>
                  </a:rPr>
                  <a:t> </a:t>
                </a:r>
                <a:r>
                  <a:rPr lang="en-US" sz="4000" b="1" dirty="0" err="1">
                    <a:solidFill>
                      <a:srgbClr val="000000"/>
                    </a:solidFill>
                    <a:effectLst/>
                    <a:latin typeface="Tahoma" panose="020B0604030504040204" pitchFamily="34" charset="0"/>
                    <a:ea typeface="Tahoma" panose="020B0604030504040204" pitchFamily="34" charset="0"/>
                    <a:cs typeface="Tahoma" panose="020B0604030504040204" pitchFamily="34" charset="0"/>
                  </a:rPr>
                  <a:t>các</a:t>
                </a:r>
                <a:r>
                  <a:rPr lang="en-US" sz="4000" b="1" dirty="0">
                    <a:solidFill>
                      <a:srgbClr val="000000"/>
                    </a:solidFill>
                    <a:effectLst/>
                    <a:latin typeface="Tahoma" panose="020B0604030504040204" pitchFamily="34" charset="0"/>
                    <a:ea typeface="Tahoma" panose="020B0604030504040204" pitchFamily="34" charset="0"/>
                    <a:cs typeface="Tahoma" panose="020B0604030504040204" pitchFamily="34" charset="0"/>
                  </a:rPr>
                  <a:t> </a:t>
                </a:r>
                <a:r>
                  <a:rPr lang="en-US" sz="4000" b="1" dirty="0" err="1">
                    <a:solidFill>
                      <a:srgbClr val="383738"/>
                    </a:solidFill>
                    <a:effectLst/>
                    <a:latin typeface="Tahoma" panose="020B0604030504040204" pitchFamily="34" charset="0"/>
                    <a:ea typeface="Tahoma" panose="020B0604030504040204" pitchFamily="34" charset="0"/>
                    <a:cs typeface="Tahoma" panose="020B0604030504040204" pitchFamily="34" charset="0"/>
                  </a:rPr>
                  <a:t>kết</a:t>
                </a:r>
                <a:r>
                  <a:rPr lang="en-US" sz="4000" b="1" dirty="0">
                    <a:solidFill>
                      <a:srgbClr val="383738"/>
                    </a:solidFill>
                    <a:effectLst/>
                    <a:latin typeface="Tahoma" panose="020B0604030504040204" pitchFamily="34" charset="0"/>
                    <a:ea typeface="Tahoma" panose="020B0604030504040204" pitchFamily="34" charset="0"/>
                    <a:cs typeface="Tahoma" panose="020B0604030504040204" pitchFamily="34" charset="0"/>
                  </a:rPr>
                  <a:t> </a:t>
                </a:r>
                <a:r>
                  <a:rPr lang="en-US" sz="4000" b="1" dirty="0" err="1">
                    <a:solidFill>
                      <a:srgbClr val="383738"/>
                    </a:solidFill>
                    <a:effectLst/>
                    <a:latin typeface="Tahoma" panose="020B0604030504040204" pitchFamily="34" charset="0"/>
                    <a:ea typeface="Tahoma" panose="020B0604030504040204" pitchFamily="34" charset="0"/>
                    <a:cs typeface="Tahoma" panose="020B0604030504040204" pitchFamily="34" charset="0"/>
                  </a:rPr>
                  <a:t>quả</a:t>
                </a:r>
                <a:r>
                  <a:rPr lang="en-US" sz="4000" b="1" dirty="0">
                    <a:solidFill>
                      <a:srgbClr val="383738"/>
                    </a:solidFill>
                    <a:effectLst/>
                    <a:latin typeface="Tahoma" panose="020B0604030504040204" pitchFamily="34" charset="0"/>
                    <a:ea typeface="Tahoma" panose="020B0604030504040204" pitchFamily="34" charset="0"/>
                    <a:cs typeface="Tahoma" panose="020B0604030504040204" pitchFamily="34" charset="0"/>
                  </a:rPr>
                  <a:t>: (4, 4): (5, 3).</a:t>
                </a:r>
                <a:endParaRPr lang="en-US" sz="4000" b="1" dirty="0">
                  <a:effectLst/>
                  <a:latin typeface="Tahoma" panose="020B0604030504040204" pitchFamily="34" charset="0"/>
                  <a:ea typeface="Tahoma" panose="020B0604030504040204" pitchFamily="34" charset="0"/>
                  <a:cs typeface="Tahoma" panose="020B0604030504040204" pitchFamily="34" charset="0"/>
                </a:endParaRPr>
              </a:p>
              <a:p>
                <a:pPr>
                  <a:spcAft>
                    <a:spcPts val="800"/>
                  </a:spcAft>
                </a:pPr>
                <a:r>
                  <a:rPr lang="en-US" sz="4000" b="1" dirty="0" err="1">
                    <a:solidFill>
                      <a:srgbClr val="000000"/>
                    </a:solidFill>
                    <a:effectLst/>
                    <a:latin typeface="Tahoma" panose="020B0604030504040204" pitchFamily="34" charset="0"/>
                    <a:ea typeface="Tahoma" panose="020B0604030504040204" pitchFamily="34" charset="0"/>
                    <a:cs typeface="Tahoma" panose="020B0604030504040204" pitchFamily="34" charset="0"/>
                  </a:rPr>
                  <a:t>Tổng</a:t>
                </a:r>
                <a:r>
                  <a:rPr lang="en-US" sz="4000" b="1" dirty="0">
                    <a:solidFill>
                      <a:srgbClr val="000000"/>
                    </a:solidFill>
                    <a:effectLst/>
                    <a:latin typeface="Tahoma" panose="020B0604030504040204" pitchFamily="34" charset="0"/>
                    <a:ea typeface="Tahoma" panose="020B0604030504040204" pitchFamily="34" charset="0"/>
                    <a:cs typeface="Tahoma" panose="020B0604030504040204" pitchFamily="34" charset="0"/>
                  </a:rPr>
                  <a:t> </a:t>
                </a:r>
                <a:r>
                  <a:rPr lang="en-US" sz="4000" b="1" dirty="0" err="1">
                    <a:solidFill>
                      <a:srgbClr val="000000"/>
                    </a:solidFill>
                    <a:effectLst/>
                    <a:latin typeface="Tahoma" panose="020B0604030504040204" pitchFamily="34" charset="0"/>
                    <a:ea typeface="Tahoma" panose="020B0604030504040204" pitchFamily="34" charset="0"/>
                    <a:cs typeface="Tahoma" panose="020B0604030504040204" pitchFamily="34" charset="0"/>
                  </a:rPr>
                  <a:t>bằng</a:t>
                </a:r>
                <a:r>
                  <a:rPr lang="en-US" sz="4000" b="1" dirty="0">
                    <a:solidFill>
                      <a:srgbClr val="000000"/>
                    </a:solidFill>
                    <a:effectLst/>
                    <a:latin typeface="Tahoma" panose="020B0604030504040204" pitchFamily="34" charset="0"/>
                    <a:ea typeface="Tahoma" panose="020B0604030504040204" pitchFamily="34" charset="0"/>
                    <a:cs typeface="Tahoma" panose="020B0604030504040204" pitchFamily="34" charset="0"/>
                  </a:rPr>
                  <a:t> 9 </a:t>
                </a:r>
                <a:r>
                  <a:rPr lang="en-US" sz="4000" b="1" dirty="0" err="1">
                    <a:solidFill>
                      <a:srgbClr val="000000"/>
                    </a:solidFill>
                    <a:effectLst/>
                    <a:latin typeface="Tahoma" panose="020B0604030504040204" pitchFamily="34" charset="0"/>
                    <a:ea typeface="Tahoma" panose="020B0604030504040204" pitchFamily="34" charset="0"/>
                    <a:cs typeface="Tahoma" panose="020B0604030504040204" pitchFamily="34" charset="0"/>
                  </a:rPr>
                  <a:t>có</a:t>
                </a:r>
                <a:r>
                  <a:rPr lang="en-US" sz="4000" b="1" dirty="0">
                    <a:solidFill>
                      <a:srgbClr val="000000"/>
                    </a:solidFill>
                    <a:effectLst/>
                    <a:latin typeface="Tahoma" panose="020B0604030504040204" pitchFamily="34" charset="0"/>
                    <a:ea typeface="Tahoma" panose="020B0604030504040204" pitchFamily="34" charset="0"/>
                    <a:cs typeface="Tahoma" panose="020B0604030504040204" pitchFamily="34" charset="0"/>
                  </a:rPr>
                  <a:t> </a:t>
                </a:r>
                <a:r>
                  <a:rPr lang="en-US" sz="4000" b="1" dirty="0" err="1">
                    <a:solidFill>
                      <a:srgbClr val="000000"/>
                    </a:solidFill>
                    <a:effectLst/>
                    <a:latin typeface="Tahoma" panose="020B0604030504040204" pitchFamily="34" charset="0"/>
                    <a:ea typeface="Tahoma" panose="020B0604030504040204" pitchFamily="34" charset="0"/>
                    <a:cs typeface="Tahoma" panose="020B0604030504040204" pitchFamily="34" charset="0"/>
                  </a:rPr>
                  <a:t>một</a:t>
                </a:r>
                <a:r>
                  <a:rPr lang="en-US" sz="4000" b="1" dirty="0">
                    <a:solidFill>
                      <a:srgbClr val="000000"/>
                    </a:solidFill>
                    <a:effectLst/>
                    <a:latin typeface="Tahoma" panose="020B0604030504040204" pitchFamily="34" charset="0"/>
                    <a:ea typeface="Tahoma" panose="020B0604030504040204" pitchFamily="34" charset="0"/>
                    <a:cs typeface="Tahoma" panose="020B0604030504040204" pitchFamily="34" charset="0"/>
                  </a:rPr>
                  <a:t> </a:t>
                </a:r>
                <a:r>
                  <a:rPr lang="en-US" sz="4000" b="1" dirty="0" err="1">
                    <a:solidFill>
                      <a:srgbClr val="383738"/>
                    </a:solidFill>
                    <a:effectLst/>
                    <a:latin typeface="Tahoma" panose="020B0604030504040204" pitchFamily="34" charset="0"/>
                    <a:ea typeface="Tahoma" panose="020B0604030504040204" pitchFamily="34" charset="0"/>
                    <a:cs typeface="Tahoma" panose="020B0604030504040204" pitchFamily="34" charset="0"/>
                  </a:rPr>
                  <a:t>kết</a:t>
                </a:r>
                <a:r>
                  <a:rPr lang="en-US" sz="4000" b="1" dirty="0">
                    <a:solidFill>
                      <a:srgbClr val="383738"/>
                    </a:solidFill>
                    <a:effectLst/>
                    <a:latin typeface="Tahoma" panose="020B0604030504040204" pitchFamily="34" charset="0"/>
                    <a:ea typeface="Tahoma" panose="020B0604030504040204" pitchFamily="34" charset="0"/>
                    <a:cs typeface="Tahoma" panose="020B0604030504040204" pitchFamily="34" charset="0"/>
                  </a:rPr>
                  <a:t> </a:t>
                </a:r>
                <a:r>
                  <a:rPr lang="en-US" sz="4000" b="1" dirty="0" err="1">
                    <a:solidFill>
                      <a:srgbClr val="383738"/>
                    </a:solidFill>
                    <a:effectLst/>
                    <a:latin typeface="Tahoma" panose="020B0604030504040204" pitchFamily="34" charset="0"/>
                    <a:ea typeface="Tahoma" panose="020B0604030504040204" pitchFamily="34" charset="0"/>
                    <a:cs typeface="Tahoma" panose="020B0604030504040204" pitchFamily="34" charset="0"/>
                  </a:rPr>
                  <a:t>quả</a:t>
                </a:r>
                <a:r>
                  <a:rPr lang="en-US" sz="4000" b="1" dirty="0">
                    <a:solidFill>
                      <a:srgbClr val="383738"/>
                    </a:solidFill>
                    <a:effectLst/>
                    <a:latin typeface="Tahoma" panose="020B0604030504040204" pitchFamily="34" charset="0"/>
                    <a:ea typeface="Tahoma" panose="020B0604030504040204" pitchFamily="34" charset="0"/>
                    <a:cs typeface="Tahoma" panose="020B0604030504040204" pitchFamily="34" charset="0"/>
                  </a:rPr>
                  <a:t>: (5, 4).</a:t>
                </a:r>
                <a:endParaRPr lang="en-US" sz="4000" b="1" dirty="0">
                  <a:effectLst/>
                  <a:latin typeface="Tahoma" panose="020B0604030504040204" pitchFamily="34" charset="0"/>
                  <a:ea typeface="Tahoma" panose="020B0604030504040204" pitchFamily="34" charset="0"/>
                  <a:cs typeface="Tahoma" panose="020B0604030504040204" pitchFamily="34" charset="0"/>
                </a:endParaRPr>
              </a:p>
              <a:p>
                <a:pPr>
                  <a:spcAft>
                    <a:spcPts val="800"/>
                  </a:spcAft>
                </a:pPr>
                <a:r>
                  <a:rPr lang="en-US" sz="4000" b="1" dirty="0" err="1">
                    <a:solidFill>
                      <a:srgbClr val="000000"/>
                    </a:solidFill>
                    <a:effectLst/>
                    <a:latin typeface="Tahoma" panose="020B0604030504040204" pitchFamily="34" charset="0"/>
                    <a:ea typeface="Tahoma" panose="020B0604030504040204" pitchFamily="34" charset="0"/>
                    <a:cs typeface="Tahoma" panose="020B0604030504040204" pitchFamily="34" charset="0"/>
                  </a:rPr>
                  <a:t>Vậy</a:t>
                </a:r>
                <a:r>
                  <a:rPr lang="en-US" sz="4000" b="1" dirty="0">
                    <a:solidFill>
                      <a:srgbClr val="000000"/>
                    </a:solidFill>
                    <a:effectLst/>
                    <a:latin typeface="Tahoma" panose="020B0604030504040204" pitchFamily="34" charset="0"/>
                    <a:ea typeface="Tahoma" panose="020B0604030504040204" pitchFamily="34" charset="0"/>
                    <a:cs typeface="Tahoma" panose="020B0604030504040204" pitchFamily="34" charset="0"/>
                  </a:rPr>
                  <a:t> </a:t>
                </a:r>
                <a:r>
                  <a:rPr lang="en-US" sz="4000" b="1" dirty="0" err="1">
                    <a:solidFill>
                      <a:srgbClr val="000000"/>
                    </a:solidFill>
                    <a:effectLst/>
                    <a:latin typeface="Tahoma" panose="020B0604030504040204" pitchFamily="34" charset="0"/>
                    <a:ea typeface="Tahoma" panose="020B0604030504040204" pitchFamily="34" charset="0"/>
                    <a:cs typeface="Tahoma" panose="020B0604030504040204" pitchFamily="34" charset="0"/>
                  </a:rPr>
                  <a:t>biến</a:t>
                </a:r>
                <a:r>
                  <a:rPr lang="en-US" sz="4000" b="1" dirty="0">
                    <a:solidFill>
                      <a:srgbClr val="000000"/>
                    </a:solidFill>
                    <a:effectLst/>
                    <a:latin typeface="Tahoma" panose="020B0604030504040204" pitchFamily="34" charset="0"/>
                    <a:ea typeface="Tahoma" panose="020B0604030504040204" pitchFamily="34" charset="0"/>
                    <a:cs typeface="Tahoma" panose="020B0604030504040204" pitchFamily="34" charset="0"/>
                  </a:rPr>
                  <a:t> </a:t>
                </a:r>
                <a:r>
                  <a:rPr lang="en-US" sz="4000" b="1" dirty="0" err="1">
                    <a:solidFill>
                      <a:srgbClr val="000000"/>
                    </a:solidFill>
                    <a:effectLst/>
                    <a:latin typeface="Tahoma" panose="020B0604030504040204" pitchFamily="34" charset="0"/>
                    <a:ea typeface="Tahoma" panose="020B0604030504040204" pitchFamily="34" charset="0"/>
                    <a:cs typeface="Tahoma" panose="020B0604030504040204" pitchFamily="34" charset="0"/>
                  </a:rPr>
                  <a:t>cố</a:t>
                </a:r>
                <a:r>
                  <a:rPr lang="en-US" sz="4000" b="1" dirty="0">
                    <a:solidFill>
                      <a:srgbClr val="000000"/>
                    </a:solidFill>
                    <a:effectLst/>
                    <a:latin typeface="Tahoma" panose="020B0604030504040204" pitchFamily="34" charset="0"/>
                    <a:ea typeface="Tahoma" panose="020B0604030504040204" pitchFamily="34" charset="0"/>
                    <a:cs typeface="Tahoma" panose="020B0604030504040204" pitchFamily="34" charset="0"/>
                  </a:rPr>
                  <a:t> E= {(3,4): </a:t>
                </a:r>
                <a:r>
                  <a:rPr lang="en-US" sz="4000" b="1" dirty="0">
                    <a:solidFill>
                      <a:srgbClr val="383738"/>
                    </a:solidFill>
                    <a:effectLst/>
                    <a:latin typeface="Tahoma" panose="020B0604030504040204" pitchFamily="34" charset="0"/>
                    <a:ea typeface="Tahoma" panose="020B0604030504040204" pitchFamily="34" charset="0"/>
                    <a:cs typeface="Tahoma" panose="020B0604030504040204" pitchFamily="34" charset="0"/>
                  </a:rPr>
                  <a:t>(4,3); (5,2); (4,4): (5,3): (5,4)}. </a:t>
                </a:r>
                <a:r>
                  <a:rPr lang="en-US" sz="4000" b="1" dirty="0" err="1">
                    <a:solidFill>
                      <a:srgbClr val="383738"/>
                    </a:solidFill>
                    <a:effectLst/>
                    <a:latin typeface="Tahoma" panose="020B0604030504040204" pitchFamily="34" charset="0"/>
                    <a:ea typeface="Tahoma" panose="020B0604030504040204" pitchFamily="34" charset="0"/>
                    <a:cs typeface="Tahoma" panose="020B0604030504040204" pitchFamily="34" charset="0"/>
                  </a:rPr>
                  <a:t>Từ</a:t>
                </a:r>
                <a:r>
                  <a:rPr lang="en-US" sz="4000" b="1" dirty="0">
                    <a:solidFill>
                      <a:srgbClr val="383738"/>
                    </a:solidFill>
                    <a:effectLst/>
                    <a:latin typeface="Tahoma" panose="020B0604030504040204" pitchFamily="34" charset="0"/>
                    <a:ea typeface="Tahoma" panose="020B0604030504040204" pitchFamily="34" charset="0"/>
                    <a:cs typeface="Tahoma" panose="020B0604030504040204" pitchFamily="34" charset="0"/>
                  </a:rPr>
                  <a:t> </a:t>
                </a:r>
                <a:r>
                  <a:rPr lang="en-US" sz="4000" b="1" dirty="0" err="1">
                    <a:solidFill>
                      <a:srgbClr val="383738"/>
                    </a:solidFill>
                    <a:effectLst/>
                    <a:latin typeface="Tahoma" panose="020B0604030504040204" pitchFamily="34" charset="0"/>
                    <a:ea typeface="Tahoma" panose="020B0604030504040204" pitchFamily="34" charset="0"/>
                    <a:cs typeface="Tahoma" panose="020B0604030504040204" pitchFamily="34" charset="0"/>
                  </a:rPr>
                  <a:t>đó</a:t>
                </a:r>
                <a:r>
                  <a:rPr lang="en-US" sz="4000" b="1" dirty="0">
                    <a:solidFill>
                      <a:srgbClr val="383738"/>
                    </a:solidFill>
                    <a:effectLst/>
                    <a:latin typeface="Tahoma" panose="020B0604030504040204" pitchFamily="34" charset="0"/>
                    <a:ea typeface="Tahoma" panose="020B0604030504040204" pitchFamily="34" charset="0"/>
                    <a:cs typeface="Tahoma" panose="020B0604030504040204" pitchFamily="34" charset="0"/>
                  </a:rPr>
                  <a:t> n(E) = 6 </a:t>
                </a:r>
                <a:r>
                  <a:rPr lang="en-US" sz="4000" b="1" dirty="0" err="1">
                    <a:solidFill>
                      <a:srgbClr val="383738"/>
                    </a:solidFill>
                    <a:effectLst/>
                    <a:latin typeface="Tahoma" panose="020B0604030504040204" pitchFamily="34" charset="0"/>
                    <a:ea typeface="Tahoma" panose="020B0604030504040204" pitchFamily="34" charset="0"/>
                    <a:cs typeface="Tahoma" panose="020B0604030504040204" pitchFamily="34" charset="0"/>
                  </a:rPr>
                  <a:t>và</a:t>
                </a:r>
                <a:endParaRPr lang="en-US" sz="4000" b="1" dirty="0">
                  <a:effectLst/>
                  <a:latin typeface="Tahoma" panose="020B0604030504040204" pitchFamily="34" charset="0"/>
                  <a:ea typeface="Tahoma" panose="020B0604030504040204" pitchFamily="34" charset="0"/>
                  <a:cs typeface="Tahoma" panose="020B0604030504040204" pitchFamily="34" charset="0"/>
                </a:endParaRPr>
              </a:p>
              <a:p>
                <a:pPr>
                  <a:spcAft>
                    <a:spcPts val="800"/>
                  </a:spcAft>
                </a:pPr>
                <a:r>
                  <a:rPr lang="en-US" sz="4000" b="1" dirty="0">
                    <a:solidFill>
                      <a:srgbClr val="383738"/>
                    </a:solidFill>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smtClean="0">
                        <a:solidFill>
                          <a:srgbClr val="383738"/>
                        </a:solidFill>
                        <a:effectLst/>
                        <a:latin typeface="Cambria Math" panose="02040503050406030204" pitchFamily="18" charset="0"/>
                        <a:ea typeface="SimSun" panose="02010600030101010101" pitchFamily="2" charset="-122"/>
                        <a:cs typeface="Times New Roman" panose="02020603050405020304" pitchFamily="18" charset="0"/>
                      </a:rPr>
                      <m:t>𝑷</m:t>
                    </m:r>
                    <m:d>
                      <m:dPr>
                        <m:ctrlPr>
                          <a:rPr lang="en-US" sz="4400" b="1" i="1">
                            <a:solidFill>
                              <a:srgbClr val="383738"/>
                            </a:solidFill>
                            <a:effectLst/>
                            <a:latin typeface="Cambria Math" panose="02040503050406030204" pitchFamily="18" charset="0"/>
                            <a:ea typeface="SimSun" panose="02010600030101010101" pitchFamily="2" charset="-122"/>
                            <a:cs typeface="Times New Roman" panose="02020603050405020304" pitchFamily="18" charset="0"/>
                          </a:rPr>
                        </m:ctrlPr>
                      </m:dPr>
                      <m:e>
                        <m:r>
                          <a:rPr lang="en-US" sz="4400" b="1" i="1" smtClean="0">
                            <a:solidFill>
                              <a:srgbClr val="383738"/>
                            </a:solidFill>
                            <a:effectLst/>
                            <a:latin typeface="Cambria Math" panose="02040503050406030204" pitchFamily="18" charset="0"/>
                            <a:ea typeface="SimSun" panose="02010600030101010101" pitchFamily="2" charset="-122"/>
                            <a:cs typeface="Times New Roman" panose="02020603050405020304" pitchFamily="18" charset="0"/>
                          </a:rPr>
                          <m:t>𝑬</m:t>
                        </m:r>
                      </m:e>
                    </m:d>
                    <m:r>
                      <a:rPr lang="en-US" sz="4400" b="1" i="1" smtClean="0">
                        <a:solidFill>
                          <a:srgbClr val="383738"/>
                        </a:solidFill>
                        <a:effectLst/>
                        <a:latin typeface="Cambria Math" panose="02040503050406030204" pitchFamily="18" charset="0"/>
                        <a:ea typeface="SimSun" panose="02010600030101010101" pitchFamily="2" charset="-122"/>
                        <a:cs typeface="Times New Roman" panose="02020603050405020304" pitchFamily="18" charset="0"/>
                      </a:rPr>
                      <m:t>=</m:t>
                    </m:r>
                    <m:f>
                      <m:fPr>
                        <m:ctrlPr>
                          <a:rPr lang="en-US" sz="4400" b="1" i="1">
                            <a:solidFill>
                              <a:srgbClr val="383738"/>
                            </a:solidFill>
                            <a:effectLst/>
                            <a:latin typeface="Cambria Math" panose="02040503050406030204" pitchFamily="18" charset="0"/>
                            <a:ea typeface="SimSun" panose="02010600030101010101" pitchFamily="2" charset="-122"/>
                            <a:cs typeface="Times New Roman" panose="02020603050405020304" pitchFamily="18" charset="0"/>
                          </a:rPr>
                        </m:ctrlPr>
                      </m:fPr>
                      <m:num>
                        <m:r>
                          <a:rPr lang="en-US" sz="4400" b="1" i="1" smtClean="0">
                            <a:solidFill>
                              <a:srgbClr val="383738"/>
                            </a:solidFill>
                            <a:effectLst/>
                            <a:latin typeface="Cambria Math" panose="02040503050406030204" pitchFamily="18" charset="0"/>
                            <a:ea typeface="SimSun" panose="02010600030101010101" pitchFamily="2" charset="-122"/>
                            <a:cs typeface="Times New Roman" panose="02020603050405020304" pitchFamily="18" charset="0"/>
                          </a:rPr>
                          <m:t>𝒏</m:t>
                        </m:r>
                        <m:d>
                          <m:dPr>
                            <m:ctrlPr>
                              <a:rPr lang="en-US" sz="4400" b="1" i="1">
                                <a:solidFill>
                                  <a:srgbClr val="383738"/>
                                </a:solidFill>
                                <a:effectLst/>
                                <a:latin typeface="Cambria Math" panose="02040503050406030204" pitchFamily="18" charset="0"/>
                                <a:ea typeface="SimSun" panose="02010600030101010101" pitchFamily="2" charset="-122"/>
                                <a:cs typeface="Times New Roman" panose="02020603050405020304" pitchFamily="18" charset="0"/>
                              </a:rPr>
                            </m:ctrlPr>
                          </m:dPr>
                          <m:e>
                            <m:r>
                              <a:rPr lang="en-US" sz="4400" b="1" i="1" smtClean="0">
                                <a:solidFill>
                                  <a:srgbClr val="383738"/>
                                </a:solidFill>
                                <a:effectLst/>
                                <a:latin typeface="Cambria Math" panose="02040503050406030204" pitchFamily="18" charset="0"/>
                                <a:ea typeface="SimSun" panose="02010600030101010101" pitchFamily="2" charset="-122"/>
                                <a:cs typeface="Times New Roman" panose="02020603050405020304" pitchFamily="18" charset="0"/>
                              </a:rPr>
                              <m:t>𝑬</m:t>
                            </m:r>
                          </m:e>
                        </m:d>
                      </m:num>
                      <m:den>
                        <m:r>
                          <a:rPr lang="en-US" sz="4400" b="1" i="1" smtClean="0">
                            <a:solidFill>
                              <a:srgbClr val="383738"/>
                            </a:solidFill>
                            <a:effectLst/>
                            <a:latin typeface="Cambria Math" panose="02040503050406030204" pitchFamily="18" charset="0"/>
                            <a:ea typeface="SimSun" panose="02010600030101010101" pitchFamily="2" charset="-122"/>
                            <a:cs typeface="Times New Roman" panose="02020603050405020304" pitchFamily="18" charset="0"/>
                          </a:rPr>
                          <m:t>𝒏</m:t>
                        </m:r>
                        <m:d>
                          <m:dPr>
                            <m:ctrlPr>
                              <a:rPr lang="en-US" sz="4400" b="1" i="1">
                                <a:solidFill>
                                  <a:srgbClr val="383738"/>
                                </a:solidFill>
                                <a:effectLst/>
                                <a:latin typeface="Cambria Math" panose="02040503050406030204" pitchFamily="18" charset="0"/>
                                <a:ea typeface="SimSun" panose="02010600030101010101" pitchFamily="2" charset="-122"/>
                                <a:cs typeface="Times New Roman" panose="02020603050405020304" pitchFamily="18" charset="0"/>
                              </a:rPr>
                            </m:ctrlPr>
                          </m:dPr>
                          <m:e>
                            <m:r>
                              <a:rPr lang="en-US" sz="4400" b="1" i="1" smtClean="0">
                                <a:solidFill>
                                  <a:srgbClr val="383738"/>
                                </a:solidFill>
                                <a:effectLst/>
                                <a:latin typeface="Cambria Math" panose="02040503050406030204" pitchFamily="18" charset="0"/>
                                <a:ea typeface="SimSun" panose="02010600030101010101" pitchFamily="2" charset="-122"/>
                                <a:cs typeface="Times New Roman" panose="02020603050405020304" pitchFamily="18" charset="0"/>
                              </a:rPr>
                              <m:t>𝜴</m:t>
                            </m:r>
                          </m:e>
                        </m:d>
                      </m:den>
                    </m:f>
                    <m:r>
                      <a:rPr lang="en-US" sz="4400" b="1" i="1" smtClean="0">
                        <a:solidFill>
                          <a:srgbClr val="383738"/>
                        </a:solidFill>
                        <a:effectLst/>
                        <a:latin typeface="Cambria Math" panose="02040503050406030204" pitchFamily="18" charset="0"/>
                        <a:ea typeface="SimSun" panose="02010600030101010101" pitchFamily="2" charset="-122"/>
                        <a:cs typeface="Times New Roman" panose="02020603050405020304" pitchFamily="18" charset="0"/>
                      </a:rPr>
                      <m:t>=</m:t>
                    </m:r>
                    <m:f>
                      <m:fPr>
                        <m:ctrlPr>
                          <a:rPr lang="en-US" sz="4400" b="1" i="1">
                            <a:solidFill>
                              <a:srgbClr val="383738"/>
                            </a:solidFill>
                            <a:effectLst/>
                            <a:latin typeface="Cambria Math" panose="02040503050406030204" pitchFamily="18" charset="0"/>
                            <a:ea typeface="SimSun" panose="02010600030101010101" pitchFamily="2" charset="-122"/>
                            <a:cs typeface="Times New Roman" panose="02020603050405020304" pitchFamily="18" charset="0"/>
                          </a:rPr>
                        </m:ctrlPr>
                      </m:fPr>
                      <m:num>
                        <m:r>
                          <a:rPr lang="en-US" sz="4400" b="1" i="1" smtClean="0">
                            <a:solidFill>
                              <a:srgbClr val="383738"/>
                            </a:solidFill>
                            <a:effectLst/>
                            <a:latin typeface="Cambria Math" panose="02040503050406030204" pitchFamily="18" charset="0"/>
                            <a:ea typeface="SimSun" panose="02010600030101010101" pitchFamily="2" charset="-122"/>
                            <a:cs typeface="Times New Roman" panose="02020603050405020304" pitchFamily="18" charset="0"/>
                          </a:rPr>
                          <m:t>𝟔</m:t>
                        </m:r>
                      </m:num>
                      <m:den>
                        <m:r>
                          <a:rPr lang="en-US" sz="4400" b="1" i="1" smtClean="0">
                            <a:solidFill>
                              <a:srgbClr val="383738"/>
                            </a:solidFill>
                            <a:effectLst/>
                            <a:latin typeface="Cambria Math" panose="02040503050406030204" pitchFamily="18" charset="0"/>
                            <a:ea typeface="SimSun" panose="02010600030101010101" pitchFamily="2" charset="-122"/>
                            <a:cs typeface="Times New Roman" panose="02020603050405020304" pitchFamily="18" charset="0"/>
                          </a:rPr>
                          <m:t>𝟐𝟎</m:t>
                        </m:r>
                      </m:den>
                    </m:f>
                    <m:r>
                      <a:rPr lang="en-US" sz="4400" b="1" i="1" smtClean="0">
                        <a:solidFill>
                          <a:srgbClr val="383738"/>
                        </a:solidFill>
                        <a:effectLst/>
                        <a:latin typeface="Cambria Math" panose="02040503050406030204" pitchFamily="18" charset="0"/>
                        <a:ea typeface="SimSun" panose="02010600030101010101" pitchFamily="2" charset="-122"/>
                        <a:cs typeface="Times New Roman" panose="02020603050405020304" pitchFamily="18" charset="0"/>
                      </a:rPr>
                      <m:t>=</m:t>
                    </m:r>
                    <m:f>
                      <m:fPr>
                        <m:ctrlPr>
                          <a:rPr lang="en-US" sz="4400" b="1" i="1">
                            <a:solidFill>
                              <a:srgbClr val="383738"/>
                            </a:solidFill>
                            <a:effectLst/>
                            <a:latin typeface="Cambria Math" panose="02040503050406030204" pitchFamily="18" charset="0"/>
                            <a:ea typeface="SimSun" panose="02010600030101010101" pitchFamily="2" charset="-122"/>
                            <a:cs typeface="Times New Roman" panose="02020603050405020304" pitchFamily="18" charset="0"/>
                          </a:rPr>
                        </m:ctrlPr>
                      </m:fPr>
                      <m:num>
                        <m:r>
                          <a:rPr lang="en-US" sz="4400" b="1" i="1" smtClean="0">
                            <a:solidFill>
                              <a:srgbClr val="383738"/>
                            </a:solidFill>
                            <a:effectLst/>
                            <a:latin typeface="Cambria Math" panose="02040503050406030204" pitchFamily="18" charset="0"/>
                            <a:ea typeface="SimSun" panose="02010600030101010101" pitchFamily="2" charset="-122"/>
                            <a:cs typeface="Times New Roman" panose="02020603050405020304" pitchFamily="18" charset="0"/>
                          </a:rPr>
                          <m:t>𝟑</m:t>
                        </m:r>
                      </m:num>
                      <m:den>
                        <m:r>
                          <a:rPr lang="en-US" sz="4400" b="1" i="1" smtClean="0">
                            <a:solidFill>
                              <a:srgbClr val="383738"/>
                            </a:solidFill>
                            <a:effectLst/>
                            <a:latin typeface="Cambria Math" panose="02040503050406030204" pitchFamily="18" charset="0"/>
                            <a:ea typeface="SimSun" panose="02010600030101010101" pitchFamily="2" charset="-122"/>
                            <a:cs typeface="Times New Roman" panose="02020603050405020304" pitchFamily="18" charset="0"/>
                          </a:rPr>
                          <m:t>𝟏𝟎</m:t>
                        </m:r>
                      </m:den>
                    </m:f>
                    <m:r>
                      <a:rPr lang="en-US" sz="4400" b="1" i="1" smtClean="0">
                        <a:solidFill>
                          <a:srgbClr val="383738"/>
                        </a:solidFill>
                        <a:effectLst/>
                        <a:latin typeface="Cambria Math" panose="02040503050406030204" pitchFamily="18" charset="0"/>
                        <a:ea typeface="SimSun" panose="02010600030101010101" pitchFamily="2" charset="-122"/>
                        <a:cs typeface="Times New Roman" panose="02020603050405020304" pitchFamily="18" charset="0"/>
                      </a:rPr>
                      <m:t>=</m:t>
                    </m:r>
                    <m:r>
                      <a:rPr lang="en-US" sz="4400" b="1" i="1" smtClean="0">
                        <a:solidFill>
                          <a:srgbClr val="383738"/>
                        </a:solidFill>
                        <a:effectLst/>
                        <a:latin typeface="Cambria Math" panose="02040503050406030204" pitchFamily="18" charset="0"/>
                        <a:ea typeface="SimSun" panose="02010600030101010101" pitchFamily="2" charset="-122"/>
                        <a:cs typeface="Times New Roman" panose="02020603050405020304" pitchFamily="18" charset="0"/>
                      </a:rPr>
                      <m:t>𝟎</m:t>
                    </m:r>
                    <m:r>
                      <a:rPr lang="en-US" sz="4400" b="1" i="1" smtClean="0">
                        <a:solidFill>
                          <a:srgbClr val="383738"/>
                        </a:solidFill>
                        <a:effectLst/>
                        <a:latin typeface="Cambria Math" panose="02040503050406030204" pitchFamily="18" charset="0"/>
                        <a:ea typeface="SimSun" panose="02010600030101010101" pitchFamily="2" charset="-122"/>
                        <a:cs typeface="Times New Roman" panose="02020603050405020304" pitchFamily="18" charset="0"/>
                      </a:rPr>
                      <m:t>,</m:t>
                    </m:r>
                    <m:r>
                      <a:rPr lang="en-US" sz="4400" b="1" i="1" smtClean="0">
                        <a:solidFill>
                          <a:srgbClr val="383738"/>
                        </a:solidFill>
                        <a:effectLst/>
                        <a:latin typeface="Cambria Math" panose="02040503050406030204" pitchFamily="18" charset="0"/>
                        <a:ea typeface="SimSun" panose="02010600030101010101" pitchFamily="2" charset="-122"/>
                        <a:cs typeface="Times New Roman" panose="02020603050405020304" pitchFamily="18" charset="0"/>
                      </a:rPr>
                      <m:t>𝟑</m:t>
                    </m:r>
                  </m:oMath>
                </a14:m>
                <a:r>
                  <a:rPr lang="en-US" sz="4000" b="1" dirty="0">
                    <a:solidFill>
                      <a:srgbClr val="000000"/>
                    </a:solidFill>
                    <a:effectLst/>
                    <a:latin typeface="Tahoma" panose="020B0604030504040204" pitchFamily="34" charset="0"/>
                    <a:ea typeface="Tahoma" panose="020B0604030504040204" pitchFamily="34" charset="0"/>
                    <a:cs typeface="Tahoma" panose="020B0604030504040204" pitchFamily="34" charset="0"/>
                  </a:rPr>
                  <a:t>.</a:t>
                </a:r>
                <a:endParaRPr lang="en-US" sz="4000" b="1" dirty="0">
                  <a:effectLst/>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0" name="TextBox 19">
                <a:extLst>
                  <a:ext uri="{FF2B5EF4-FFF2-40B4-BE49-F238E27FC236}">
                    <a16:creationId xmlns:a16="http://schemas.microsoft.com/office/drawing/2014/main" id="{29CB66B5-2915-8BB7-6838-F024E508F0CD}"/>
                  </a:ext>
                </a:extLst>
              </p:cNvPr>
              <p:cNvSpPr txBox="1">
                <a:spLocks noRot="1" noChangeAspect="1" noMove="1" noResize="1" noEditPoints="1" noAdjustHandles="1" noChangeArrowheads="1" noChangeShapeType="1" noTextEdit="1"/>
              </p:cNvSpPr>
              <p:nvPr/>
            </p:nvSpPr>
            <p:spPr>
              <a:xfrm>
                <a:off x="12039600" y="8458200"/>
                <a:ext cx="12241762" cy="4582088"/>
              </a:xfrm>
              <a:prstGeom prst="rect">
                <a:avLst/>
              </a:prstGeom>
              <a:blipFill>
                <a:blip r:embed="rId7"/>
                <a:stretch>
                  <a:fillRect l="-1743" t="-1997"/>
                </a:stretch>
              </a:blipFill>
            </p:spPr>
            <p:txBody>
              <a:bodyPr/>
              <a:lstStyle/>
              <a:p>
                <a:r>
                  <a:rPr lang="en-US">
                    <a:noFill/>
                  </a:rPr>
                  <a:t> </a:t>
                </a:r>
              </a:p>
            </p:txBody>
          </p:sp>
        </mc:Fallback>
      </mc:AlternateContent>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IX   ·   BÀI 26</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78169890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up)">
                                      <p:cBhvr>
                                        <p:cTn id="7" dur="1000"/>
                                        <p:tgtEl>
                                          <p:spTgt spid="9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7">
                                            <p:txEl>
                                              <p:pRg st="0" end="0"/>
                                            </p:txEl>
                                          </p:spTgt>
                                        </p:tgtEl>
                                        <p:attrNameLst>
                                          <p:attrName>style.visibility</p:attrName>
                                        </p:attrNameLst>
                                      </p:cBhvr>
                                      <p:to>
                                        <p:strVal val="visible"/>
                                      </p:to>
                                    </p:set>
                                    <p:animEffect transition="in" filter="wipe(left)">
                                      <p:cBhvr>
                                        <p:cTn id="17" dur="500"/>
                                        <p:tgtEl>
                                          <p:spTgt spid="97">
                                            <p:txEl>
                                              <p:pRg st="0" end="0"/>
                                            </p:txEl>
                                          </p:spTgt>
                                        </p:tgtEl>
                                      </p:cBhvr>
                                    </p:animEffect>
                                  </p:childTnLst>
                                </p:cTn>
                              </p:par>
                              <p:par>
                                <p:cTn id="18" presetID="22" presetClass="entr" presetSubtype="8" fill="hold" nodeType="withEffect">
                                  <p:stCondLst>
                                    <p:cond delay="0"/>
                                  </p:stCondLst>
                                  <p:childTnLst>
                                    <p:set>
                                      <p:cBhvr>
                                        <p:cTn id="19" dur="1" fill="hold">
                                          <p:stCondLst>
                                            <p:cond delay="0"/>
                                          </p:stCondLst>
                                        </p:cTn>
                                        <p:tgtEl>
                                          <p:spTgt spid="97">
                                            <p:txEl>
                                              <p:pRg st="1" end="1"/>
                                            </p:txEl>
                                          </p:spTgt>
                                        </p:tgtEl>
                                        <p:attrNameLst>
                                          <p:attrName>style.visibility</p:attrName>
                                        </p:attrNameLst>
                                      </p:cBhvr>
                                      <p:to>
                                        <p:strVal val="visible"/>
                                      </p:to>
                                    </p:set>
                                    <p:animEffect transition="in" filter="wipe(left)">
                                      <p:cBhvr>
                                        <p:cTn id="20" dur="500"/>
                                        <p:tgtEl>
                                          <p:spTgt spid="97">
                                            <p:txEl>
                                              <p:pRg st="1" end="1"/>
                                            </p:txEl>
                                          </p:spTgt>
                                        </p:tgtEl>
                                      </p:cBhvr>
                                    </p:animEffect>
                                  </p:childTnLst>
                                </p:cTn>
                              </p:par>
                              <p:par>
                                <p:cTn id="21" presetID="22" presetClass="entr" presetSubtype="8" fill="hold" nodeType="withEffect">
                                  <p:stCondLst>
                                    <p:cond delay="0"/>
                                  </p:stCondLst>
                                  <p:childTnLst>
                                    <p:set>
                                      <p:cBhvr>
                                        <p:cTn id="22" dur="1" fill="hold">
                                          <p:stCondLst>
                                            <p:cond delay="0"/>
                                          </p:stCondLst>
                                        </p:cTn>
                                        <p:tgtEl>
                                          <p:spTgt spid="97">
                                            <p:txEl>
                                              <p:pRg st="2" end="2"/>
                                            </p:txEl>
                                          </p:spTgt>
                                        </p:tgtEl>
                                        <p:attrNameLst>
                                          <p:attrName>style.visibility</p:attrName>
                                        </p:attrNameLst>
                                      </p:cBhvr>
                                      <p:to>
                                        <p:strVal val="visible"/>
                                      </p:to>
                                    </p:set>
                                    <p:animEffect transition="in" filter="wipe(left)">
                                      <p:cBhvr>
                                        <p:cTn id="23" dur="500"/>
                                        <p:tgtEl>
                                          <p:spTgt spid="97">
                                            <p:txEl>
                                              <p:pRg st="2" end="2"/>
                                            </p:txEl>
                                          </p:spTgt>
                                        </p:tgtEl>
                                      </p:cBhvr>
                                    </p:animEffect>
                                  </p:childTnLst>
                                </p:cTn>
                              </p:par>
                              <p:par>
                                <p:cTn id="24" presetID="22" presetClass="entr" presetSubtype="8" fill="hold" nodeType="withEffect">
                                  <p:stCondLst>
                                    <p:cond delay="0"/>
                                  </p:stCondLst>
                                  <p:childTnLst>
                                    <p:set>
                                      <p:cBhvr>
                                        <p:cTn id="25" dur="1" fill="hold">
                                          <p:stCondLst>
                                            <p:cond delay="0"/>
                                          </p:stCondLst>
                                        </p:cTn>
                                        <p:tgtEl>
                                          <p:spTgt spid="97">
                                            <p:txEl>
                                              <p:pRg st="3" end="3"/>
                                            </p:txEl>
                                          </p:spTgt>
                                        </p:tgtEl>
                                        <p:attrNameLst>
                                          <p:attrName>style.visibility</p:attrName>
                                        </p:attrNameLst>
                                      </p:cBhvr>
                                      <p:to>
                                        <p:strVal val="visible"/>
                                      </p:to>
                                    </p:set>
                                    <p:animEffect transition="in" filter="wipe(left)">
                                      <p:cBhvr>
                                        <p:cTn id="26" dur="500"/>
                                        <p:tgtEl>
                                          <p:spTgt spid="97">
                                            <p:txEl>
                                              <p:pRg st="3" end="3"/>
                                            </p:txEl>
                                          </p:spTgt>
                                        </p:tgtEl>
                                      </p:cBhvr>
                                    </p:animEffect>
                                  </p:childTnLst>
                                </p:cTn>
                              </p:par>
                              <p:par>
                                <p:cTn id="27" presetID="22" presetClass="entr" presetSubtype="4" fill="hold"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wipe(down)">
                                      <p:cBhvr>
                                        <p:cTn id="29" dur="500"/>
                                        <p:tgtEl>
                                          <p:spTgt spid="14"/>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99"/>
                                        </p:tgtEl>
                                        <p:attrNameLst>
                                          <p:attrName>style.visibility</p:attrName>
                                        </p:attrNameLst>
                                      </p:cBhvr>
                                      <p:to>
                                        <p:strVal val="visible"/>
                                      </p:to>
                                    </p:set>
                                    <p:animEffect transition="in" filter="wipe(up)">
                                      <p:cBhvr>
                                        <p:cTn id="34" dur="500"/>
                                        <p:tgtEl>
                                          <p:spTgt spid="99"/>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nodeType="clickEffect">
                                  <p:stCondLst>
                                    <p:cond delay="0"/>
                                  </p:stCondLst>
                                  <p:childTnLst>
                                    <p:set>
                                      <p:cBhvr>
                                        <p:cTn id="38" dur="1" fill="hold">
                                          <p:stCondLst>
                                            <p:cond delay="0"/>
                                          </p:stCondLst>
                                        </p:cTn>
                                        <p:tgtEl>
                                          <p:spTgt spid="99">
                                            <p:txEl>
                                              <p:pRg st="0" end="0"/>
                                            </p:txEl>
                                          </p:spTgt>
                                        </p:tgtEl>
                                        <p:attrNameLst>
                                          <p:attrName>style.visibility</p:attrName>
                                        </p:attrNameLst>
                                      </p:cBhvr>
                                      <p:to>
                                        <p:strVal val="visible"/>
                                      </p:to>
                                    </p:set>
                                    <p:animEffect transition="in" filter="wipe(up)">
                                      <p:cBhvr>
                                        <p:cTn id="39" dur="500"/>
                                        <p:tgtEl>
                                          <p:spTgt spid="99">
                                            <p:txEl>
                                              <p:pRg st="0" end="0"/>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nodeType="clickEffect">
                                  <p:stCondLst>
                                    <p:cond delay="0"/>
                                  </p:stCondLst>
                                  <p:childTnLst>
                                    <p:set>
                                      <p:cBhvr>
                                        <p:cTn id="43" dur="1" fill="hold">
                                          <p:stCondLst>
                                            <p:cond delay="0"/>
                                          </p:stCondLst>
                                        </p:cTn>
                                        <p:tgtEl>
                                          <p:spTgt spid="99">
                                            <p:txEl>
                                              <p:pRg st="1" end="1"/>
                                            </p:txEl>
                                          </p:spTgt>
                                        </p:tgtEl>
                                        <p:attrNameLst>
                                          <p:attrName>style.visibility</p:attrName>
                                        </p:attrNameLst>
                                      </p:cBhvr>
                                      <p:to>
                                        <p:strVal val="visible"/>
                                      </p:to>
                                    </p:set>
                                    <p:animEffect transition="in" filter="wipe(up)">
                                      <p:cBhvr>
                                        <p:cTn id="44" dur="500"/>
                                        <p:tgtEl>
                                          <p:spTgt spid="99">
                                            <p:txEl>
                                              <p:pRg st="1" end="1"/>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6"/>
                                        </p:tgtEl>
                                        <p:attrNameLst>
                                          <p:attrName>style.visibility</p:attrName>
                                        </p:attrNameLst>
                                      </p:cBhvr>
                                      <p:to>
                                        <p:strVal val="visible"/>
                                      </p:to>
                                    </p:set>
                                    <p:animEffect transition="in" filter="wipe(left)">
                                      <p:cBhvr>
                                        <p:cTn id="49" dur="500"/>
                                        <p:tgtEl>
                                          <p:spTgt spid="6"/>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18">
                                            <p:txEl>
                                              <p:pRg st="0" end="0"/>
                                            </p:txEl>
                                          </p:spTgt>
                                        </p:tgtEl>
                                        <p:attrNameLst>
                                          <p:attrName>style.visibility</p:attrName>
                                        </p:attrNameLst>
                                      </p:cBhvr>
                                      <p:to>
                                        <p:strVal val="visible"/>
                                      </p:to>
                                    </p:set>
                                    <p:animEffect transition="in" filter="wipe(left)">
                                      <p:cBhvr>
                                        <p:cTn id="54" dur="500"/>
                                        <p:tgtEl>
                                          <p:spTgt spid="18">
                                            <p:txEl>
                                              <p:pRg st="0" end="0"/>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1" fill="hold" grpId="0" nodeType="clickEffect">
                                  <p:stCondLst>
                                    <p:cond delay="0"/>
                                  </p:stCondLst>
                                  <p:childTnLst>
                                    <p:set>
                                      <p:cBhvr>
                                        <p:cTn id="58" dur="1" fill="hold">
                                          <p:stCondLst>
                                            <p:cond delay="0"/>
                                          </p:stCondLst>
                                        </p:cTn>
                                        <p:tgtEl>
                                          <p:spTgt spid="7"/>
                                        </p:tgtEl>
                                        <p:attrNameLst>
                                          <p:attrName>style.visibility</p:attrName>
                                        </p:attrNameLst>
                                      </p:cBhvr>
                                      <p:to>
                                        <p:strVal val="visible"/>
                                      </p:to>
                                    </p:set>
                                    <p:animEffect transition="in" filter="wipe(up)">
                                      <p:cBhvr>
                                        <p:cTn id="59" dur="500"/>
                                        <p:tgtEl>
                                          <p:spTgt spid="7"/>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1" fill="hold" nodeType="clickEffect">
                                  <p:stCondLst>
                                    <p:cond delay="0"/>
                                  </p:stCondLst>
                                  <p:childTnLst>
                                    <p:set>
                                      <p:cBhvr>
                                        <p:cTn id="63" dur="1" fill="hold">
                                          <p:stCondLst>
                                            <p:cond delay="0"/>
                                          </p:stCondLst>
                                        </p:cTn>
                                        <p:tgtEl>
                                          <p:spTgt spid="7">
                                            <p:txEl>
                                              <p:pRg st="0" end="0"/>
                                            </p:txEl>
                                          </p:spTgt>
                                        </p:tgtEl>
                                        <p:attrNameLst>
                                          <p:attrName>style.visibility</p:attrName>
                                        </p:attrNameLst>
                                      </p:cBhvr>
                                      <p:to>
                                        <p:strVal val="visible"/>
                                      </p:to>
                                    </p:set>
                                    <p:animEffect transition="in" filter="wipe(up)">
                                      <p:cBhvr>
                                        <p:cTn id="64" dur="500"/>
                                        <p:tgtEl>
                                          <p:spTgt spid="7">
                                            <p:txEl>
                                              <p:pRg st="0" end="0"/>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1" fill="hold" nodeType="clickEffect">
                                  <p:stCondLst>
                                    <p:cond delay="0"/>
                                  </p:stCondLst>
                                  <p:childTnLst>
                                    <p:set>
                                      <p:cBhvr>
                                        <p:cTn id="68" dur="1" fill="hold">
                                          <p:stCondLst>
                                            <p:cond delay="0"/>
                                          </p:stCondLst>
                                        </p:cTn>
                                        <p:tgtEl>
                                          <p:spTgt spid="7">
                                            <p:txEl>
                                              <p:pRg st="1" end="1"/>
                                            </p:txEl>
                                          </p:spTgt>
                                        </p:tgtEl>
                                        <p:attrNameLst>
                                          <p:attrName>style.visibility</p:attrName>
                                        </p:attrNameLst>
                                      </p:cBhvr>
                                      <p:to>
                                        <p:strVal val="visible"/>
                                      </p:to>
                                    </p:set>
                                    <p:animEffect transition="in" filter="wipe(up)">
                                      <p:cBhvr>
                                        <p:cTn id="69" dur="500"/>
                                        <p:tgtEl>
                                          <p:spTgt spid="7">
                                            <p:txEl>
                                              <p:pRg st="1" end="1"/>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nodeType="clickEffect">
                                  <p:stCondLst>
                                    <p:cond delay="0"/>
                                  </p:stCondLst>
                                  <p:childTnLst>
                                    <p:set>
                                      <p:cBhvr>
                                        <p:cTn id="73" dur="1" fill="hold">
                                          <p:stCondLst>
                                            <p:cond delay="0"/>
                                          </p:stCondLst>
                                        </p:cTn>
                                        <p:tgtEl>
                                          <p:spTgt spid="20">
                                            <p:txEl>
                                              <p:pRg st="0" end="0"/>
                                            </p:txEl>
                                          </p:spTgt>
                                        </p:tgtEl>
                                        <p:attrNameLst>
                                          <p:attrName>style.visibility</p:attrName>
                                        </p:attrNameLst>
                                      </p:cBhvr>
                                      <p:to>
                                        <p:strVal val="visible"/>
                                      </p:to>
                                    </p:set>
                                    <p:animEffect transition="in" filter="wipe(left)">
                                      <p:cBhvr>
                                        <p:cTn id="74" dur="500"/>
                                        <p:tgtEl>
                                          <p:spTgt spid="20">
                                            <p:txEl>
                                              <p:pRg st="0" end="0"/>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nodeType="clickEffect">
                                  <p:stCondLst>
                                    <p:cond delay="0"/>
                                  </p:stCondLst>
                                  <p:childTnLst>
                                    <p:set>
                                      <p:cBhvr>
                                        <p:cTn id="78" dur="1" fill="hold">
                                          <p:stCondLst>
                                            <p:cond delay="0"/>
                                          </p:stCondLst>
                                        </p:cTn>
                                        <p:tgtEl>
                                          <p:spTgt spid="20">
                                            <p:txEl>
                                              <p:pRg st="1" end="1"/>
                                            </p:txEl>
                                          </p:spTgt>
                                        </p:tgtEl>
                                        <p:attrNameLst>
                                          <p:attrName>style.visibility</p:attrName>
                                        </p:attrNameLst>
                                      </p:cBhvr>
                                      <p:to>
                                        <p:strVal val="visible"/>
                                      </p:to>
                                    </p:set>
                                    <p:animEffect transition="in" filter="wipe(left)">
                                      <p:cBhvr>
                                        <p:cTn id="79" dur="500"/>
                                        <p:tgtEl>
                                          <p:spTgt spid="20">
                                            <p:txEl>
                                              <p:pRg st="1" end="1"/>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nodeType="clickEffect">
                                  <p:stCondLst>
                                    <p:cond delay="0"/>
                                  </p:stCondLst>
                                  <p:childTnLst>
                                    <p:set>
                                      <p:cBhvr>
                                        <p:cTn id="83" dur="1" fill="hold">
                                          <p:stCondLst>
                                            <p:cond delay="0"/>
                                          </p:stCondLst>
                                        </p:cTn>
                                        <p:tgtEl>
                                          <p:spTgt spid="20">
                                            <p:txEl>
                                              <p:pRg st="2" end="2"/>
                                            </p:txEl>
                                          </p:spTgt>
                                        </p:tgtEl>
                                        <p:attrNameLst>
                                          <p:attrName>style.visibility</p:attrName>
                                        </p:attrNameLst>
                                      </p:cBhvr>
                                      <p:to>
                                        <p:strVal val="visible"/>
                                      </p:to>
                                    </p:set>
                                    <p:animEffect transition="in" filter="wipe(left)">
                                      <p:cBhvr>
                                        <p:cTn id="84" dur="500"/>
                                        <p:tgtEl>
                                          <p:spTgt spid="20">
                                            <p:txEl>
                                              <p:pRg st="2" end="2"/>
                                            </p:txEl>
                                          </p:spTgt>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nodeType="clickEffect">
                                  <p:stCondLst>
                                    <p:cond delay="0"/>
                                  </p:stCondLst>
                                  <p:childTnLst>
                                    <p:set>
                                      <p:cBhvr>
                                        <p:cTn id="88" dur="1" fill="hold">
                                          <p:stCondLst>
                                            <p:cond delay="0"/>
                                          </p:stCondLst>
                                        </p:cTn>
                                        <p:tgtEl>
                                          <p:spTgt spid="20">
                                            <p:txEl>
                                              <p:pRg st="3" end="3"/>
                                            </p:txEl>
                                          </p:spTgt>
                                        </p:tgtEl>
                                        <p:attrNameLst>
                                          <p:attrName>style.visibility</p:attrName>
                                        </p:attrNameLst>
                                      </p:cBhvr>
                                      <p:to>
                                        <p:strVal val="visible"/>
                                      </p:to>
                                    </p:set>
                                    <p:animEffect transition="in" filter="wipe(left)">
                                      <p:cBhvr>
                                        <p:cTn id="89" dur="500"/>
                                        <p:tgtEl>
                                          <p:spTgt spid="20">
                                            <p:txEl>
                                              <p:pRg st="3" end="3"/>
                                            </p:txEl>
                                          </p:spTgt>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8" fill="hold" nodeType="clickEffect">
                                  <p:stCondLst>
                                    <p:cond delay="0"/>
                                  </p:stCondLst>
                                  <p:childTnLst>
                                    <p:set>
                                      <p:cBhvr>
                                        <p:cTn id="93" dur="1" fill="hold">
                                          <p:stCondLst>
                                            <p:cond delay="0"/>
                                          </p:stCondLst>
                                        </p:cTn>
                                        <p:tgtEl>
                                          <p:spTgt spid="20">
                                            <p:txEl>
                                              <p:pRg st="4" end="4"/>
                                            </p:txEl>
                                          </p:spTgt>
                                        </p:tgtEl>
                                        <p:attrNameLst>
                                          <p:attrName>style.visibility</p:attrName>
                                        </p:attrNameLst>
                                      </p:cBhvr>
                                      <p:to>
                                        <p:strVal val="visible"/>
                                      </p:to>
                                    </p:set>
                                    <p:animEffect transition="in" filter="wipe(left)">
                                      <p:cBhvr>
                                        <p:cTn id="94" dur="500"/>
                                        <p:tgtEl>
                                          <p:spTgt spid="2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99" grpId="0" animBg="1"/>
      <p:bldP spid="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381000" y="1879601"/>
            <a:ext cx="23622000" cy="1930400"/>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pPr algn="r"/>
            <a:r>
              <a:rPr lang="vi-VN" b="1" dirty="0">
                <a:solidFill>
                  <a:srgbClr val="FF0000"/>
                </a:solidFill>
                <a:latin typeface="+mj-lt"/>
              </a:rPr>
              <a:t>Chú ý. </a:t>
            </a:r>
            <a:r>
              <a:rPr lang="vi-VN" b="1" dirty="0">
                <a:latin typeface="+mj-lt"/>
              </a:rPr>
              <a:t>Trong những phép thử đơn giản, ta đếm số phần tử của tập   và số phần tử của biến cố E bằng cách liệt kê ra tất cả các phần tử của hai tập hợp này.</a:t>
            </a:r>
            <a:endParaRPr lang="en-US" b="1" dirty="0">
              <a:latin typeface="+mj-lt"/>
            </a:endParaRPr>
          </a:p>
        </p:txBody>
      </p:sp>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381000" y="3810001"/>
            <a:ext cx="12344400" cy="9693275"/>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b="1" dirty="0" err="1">
                <a:solidFill>
                  <a:srgbClr val="FF0000"/>
                </a:solidFill>
                <a:latin typeface="Times New Roman" panose="02020603050405020304" pitchFamily="18" charset="0"/>
                <a:cs typeface="Times New Roman" panose="02020603050405020304" pitchFamily="18" charset="0"/>
              </a:rPr>
              <a:t>Luyện</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tập</a:t>
            </a:r>
            <a:r>
              <a:rPr lang="en-US" b="1" dirty="0">
                <a:solidFill>
                  <a:srgbClr val="FF0000"/>
                </a:solidFill>
                <a:latin typeface="Times New Roman" panose="02020603050405020304" pitchFamily="18" charset="0"/>
                <a:cs typeface="Times New Roman" panose="02020603050405020304" pitchFamily="18" charset="0"/>
              </a:rPr>
              <a:t> 3 3. </a:t>
            </a:r>
            <a:r>
              <a:rPr lang="en-US" b="1" dirty="0" err="1">
                <a:latin typeface="Times New Roman" panose="02020603050405020304" pitchFamily="18" charset="0"/>
                <a:cs typeface="Times New Roman" panose="02020603050405020304" pitchFamily="18" charset="0"/>
              </a:rPr>
              <a:t>Gieo</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đồng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thời</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hai</a:t>
            </a:r>
            <a:r>
              <a:rPr lang="en-US" b="1" dirty="0">
                <a:latin typeface="Times New Roman" panose="02020603050405020304" pitchFamily="18" charset="0"/>
                <a:cs typeface="Times New Roman" panose="02020603050405020304" pitchFamily="18" charset="0"/>
              </a:rPr>
              <a:t> con </a:t>
            </a:r>
            <a:r>
              <a:rPr lang="en-US" b="1" dirty="0" err="1">
                <a:latin typeface="Times New Roman" panose="02020603050405020304" pitchFamily="18" charset="0"/>
                <a:cs typeface="Times New Roman" panose="02020603050405020304" pitchFamily="18" charset="0"/>
              </a:rPr>
              <a:t>súc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sắc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cân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đối</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Tính</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xác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suất</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để</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tồng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số</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chấm</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xuất</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hiện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trên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hai</a:t>
            </a:r>
            <a:r>
              <a:rPr lang="en-US" b="1" dirty="0">
                <a:latin typeface="Times New Roman" panose="02020603050405020304" pitchFamily="18" charset="0"/>
                <a:cs typeface="Times New Roman" panose="02020603050405020304" pitchFamily="18" charset="0"/>
              </a:rPr>
              <a:t> con </a:t>
            </a:r>
            <a:r>
              <a:rPr lang="en-US" b="1" dirty="0" err="1">
                <a:latin typeface="Times New Roman" panose="02020603050405020304" pitchFamily="18" charset="0"/>
                <a:cs typeface="Times New Roman" panose="02020603050405020304" pitchFamily="18" charset="0"/>
              </a:rPr>
              <a:t>súc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sắc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bằng</a:t>
            </a:r>
            <a:r>
              <a:rPr lang="en-US" b="1" dirty="0">
                <a:latin typeface="Times New Roman" panose="02020603050405020304" pitchFamily="18" charset="0"/>
                <a:cs typeface="Times New Roman" panose="02020603050405020304" pitchFamily="18" charset="0"/>
              </a:rPr>
              <a:t> 4 </a:t>
            </a:r>
            <a:r>
              <a:rPr lang="en-US" b="1" dirty="0" err="1">
                <a:latin typeface="Times New Roman" panose="02020603050405020304" pitchFamily="18" charset="0"/>
                <a:cs typeface="Times New Roman" panose="02020603050405020304" pitchFamily="18" charset="0"/>
              </a:rPr>
              <a:t>hoặc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bằng</a:t>
            </a:r>
            <a:r>
              <a:rPr lang="en-US" b="1" dirty="0">
                <a:latin typeface="Times New Roman" panose="02020603050405020304" pitchFamily="18" charset="0"/>
                <a:cs typeface="Times New Roman" panose="02020603050405020304" pitchFamily="18" charset="0"/>
              </a:rPr>
              <a:t> 6.</a:t>
            </a:r>
            <a:r>
              <a:rPr lang="en-US" b="1" u="sng" dirty="0">
                <a:solidFill>
                  <a:srgbClr val="FF0000"/>
                </a:solidFill>
                <a:latin typeface="Times New Roman" panose="02020603050405020304" pitchFamily="18" charset="0"/>
                <a:cs typeface="Times New Roman" panose="02020603050405020304" pitchFamily="18" charset="0"/>
              </a:rPr>
              <a:t> </a:t>
            </a:r>
            <a:r>
              <a:rPr lang="en-US" b="1" u="sng" dirty="0" err="1">
                <a:solidFill>
                  <a:srgbClr val="FF0000"/>
                </a:solidFill>
                <a:latin typeface="Times New Roman" panose="02020603050405020304" pitchFamily="18" charset="0"/>
                <a:cs typeface="Times New Roman" panose="02020603050405020304" pitchFamily="18" charset="0"/>
              </a:rPr>
              <a:t>Lời</a:t>
            </a:r>
            <a:r>
              <a:rPr lang="en-US" b="1" u="sng" dirty="0">
                <a:solidFill>
                  <a:srgbClr val="FF0000"/>
                </a:solidFill>
                <a:latin typeface="Times New Roman" panose="02020603050405020304" pitchFamily="18" charset="0"/>
                <a:cs typeface="Times New Roman" panose="02020603050405020304" pitchFamily="18" charset="0"/>
              </a:rPr>
              <a:t> </a:t>
            </a:r>
            <a:r>
              <a:rPr lang="en-US" b="1" u="sng" dirty="0" err="1">
                <a:solidFill>
                  <a:srgbClr val="FF0000"/>
                </a:solidFill>
                <a:latin typeface="Times New Roman" panose="02020603050405020304" pitchFamily="18" charset="0"/>
                <a:cs typeface="Times New Roman" panose="02020603050405020304" pitchFamily="18" charset="0"/>
              </a:rPr>
              <a:t>giải</a:t>
            </a:r>
            <a:endParaRPr lang="en-US" u="sng" dirty="0">
              <a:solidFill>
                <a:srgbClr val="FF0000"/>
              </a:solidFill>
              <a:latin typeface="Times New Roman" panose="02020603050405020304" pitchFamily="18" charset="0"/>
              <a:cs typeface="Times New Roman" panose="02020603050405020304" pitchFamily="18" charset="0"/>
            </a:endParaRPr>
          </a:p>
          <a:p>
            <a:r>
              <a:rPr lang="en-US" b="1" dirty="0" err="1">
                <a:latin typeface="Times New Roman" panose="02020603050405020304" pitchFamily="18" charset="0"/>
                <a:cs typeface="Times New Roman" panose="02020603050405020304" pitchFamily="18" charset="0"/>
              </a:rPr>
              <a:t>Số</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phần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tử</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của</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không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gian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mẫu</a:t>
            </a:r>
            <a:r>
              <a:rPr lang="en-US" b="1" dirty="0">
                <a:latin typeface="Times New Roman" panose="02020603050405020304" pitchFamily="18" charset="0"/>
                <a:cs typeface="Times New Roman" panose="02020603050405020304" pitchFamily="18" charset="0"/>
              </a:rPr>
              <a:t>: n(</a:t>
            </a:r>
            <a:r>
              <a:rPr lang="el-GR" b="1" dirty="0">
                <a:latin typeface="Times New Roman" panose="02020603050405020304" pitchFamily="18" charset="0"/>
                <a:cs typeface="Times New Roman" panose="02020603050405020304" pitchFamily="18" charset="0"/>
              </a:rPr>
              <a:t>Ω)=6.6=36.</a:t>
            </a:r>
          </a:p>
          <a:p>
            <a:r>
              <a:rPr lang="en-US" b="1" dirty="0" err="1">
                <a:latin typeface="Times New Roman" panose="02020603050405020304" pitchFamily="18" charset="0"/>
                <a:cs typeface="Times New Roman" panose="02020603050405020304" pitchFamily="18" charset="0"/>
              </a:rPr>
              <a:t>Gọi</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biến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cố</a:t>
            </a:r>
            <a:r>
              <a:rPr lang="en-US" b="1" dirty="0">
                <a:latin typeface="Times New Roman" panose="02020603050405020304" pitchFamily="18" charset="0"/>
                <a:cs typeface="Times New Roman" panose="02020603050405020304" pitchFamily="18" charset="0"/>
              </a:rPr>
              <a:t> A: “</a:t>
            </a:r>
            <a:r>
              <a:rPr lang="en-US" b="1" dirty="0" err="1">
                <a:latin typeface="Times New Roman" panose="02020603050405020304" pitchFamily="18" charset="0"/>
                <a:cs typeface="Times New Roman" panose="02020603050405020304" pitchFamily="18" charset="0"/>
              </a:rPr>
              <a:t>Tổng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số</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chấm</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xuất</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hiện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trên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hai</a:t>
            </a:r>
            <a:r>
              <a:rPr lang="en-US" b="1" dirty="0">
                <a:latin typeface="Times New Roman" panose="02020603050405020304" pitchFamily="18" charset="0"/>
                <a:cs typeface="Times New Roman" panose="02020603050405020304" pitchFamily="18" charset="0"/>
              </a:rPr>
              <a:t> con </a:t>
            </a:r>
            <a:r>
              <a:rPr lang="en-US" b="1" dirty="0" err="1">
                <a:latin typeface="Times New Roman" panose="02020603050405020304" pitchFamily="18" charset="0"/>
                <a:cs typeface="Times New Roman" panose="02020603050405020304" pitchFamily="18" charset="0"/>
              </a:rPr>
              <a:t>súc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sắc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bằng</a:t>
            </a:r>
            <a:r>
              <a:rPr lang="en-US" b="1" dirty="0">
                <a:latin typeface="Times New Roman" panose="02020603050405020304" pitchFamily="18" charset="0"/>
                <a:cs typeface="Times New Roman" panose="02020603050405020304" pitchFamily="18" charset="0"/>
              </a:rPr>
              <a:t> 4 </a:t>
            </a:r>
            <a:r>
              <a:rPr lang="en-US" b="1" dirty="0" err="1">
                <a:latin typeface="Times New Roman" panose="02020603050405020304" pitchFamily="18" charset="0"/>
                <a:cs typeface="Times New Roman" panose="02020603050405020304" pitchFamily="18" charset="0"/>
              </a:rPr>
              <a:t>hoặc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bằng</a:t>
            </a:r>
            <a:r>
              <a:rPr lang="en-US" b="1" dirty="0">
                <a:latin typeface="Times New Roman" panose="02020603050405020304" pitchFamily="18" charset="0"/>
                <a:cs typeface="Times New Roman" panose="02020603050405020304" pitchFamily="18" charset="0"/>
              </a:rPr>
              <a:t> 6” ta </a:t>
            </a:r>
            <a:r>
              <a:rPr lang="en-US" b="1" dirty="0" err="1">
                <a:latin typeface="Times New Roman" panose="02020603050405020304" pitchFamily="18" charset="0"/>
                <a:cs typeface="Times New Roman" panose="02020603050405020304" pitchFamily="18" charset="0"/>
              </a:rPr>
              <a:t>có</a:t>
            </a:r>
            <a:r>
              <a:rPr lang="en-US" b="1" dirty="0">
                <a:latin typeface="Times New Roman" panose="02020603050405020304" pitchFamily="18" charset="0"/>
                <a:cs typeface="Times New Roman" panose="02020603050405020304" pitchFamily="18" charset="0"/>
              </a:rPr>
              <a:t>: A={(</a:t>
            </a:r>
            <a:r>
              <a:rPr lang="en-US" b="1" dirty="0" err="1">
                <a:latin typeface="Times New Roman" panose="02020603050405020304" pitchFamily="18" charset="0"/>
                <a:cs typeface="Times New Roman" panose="02020603050405020304" pitchFamily="18" charset="0"/>
              </a:rPr>
              <a:t>i;j</a:t>
            </a:r>
            <a:r>
              <a:rPr lang="en-US" b="1" dirty="0">
                <a:latin typeface="Times New Roman" panose="02020603050405020304" pitchFamily="18" charset="0"/>
                <a:cs typeface="Times New Roman" panose="02020603050405020304" pitchFamily="18" charset="0"/>
              </a:rPr>
              <a:t>)|i,j∈N;1≤i≤5;1≤j≤5}</a:t>
            </a:r>
          </a:p>
          <a:p>
            <a:r>
              <a:rPr lang="en-US" b="1" dirty="0">
                <a:latin typeface="Times New Roman" panose="02020603050405020304" pitchFamily="18" charset="0"/>
                <a:cs typeface="Times New Roman" panose="02020603050405020304" pitchFamily="18" charset="0"/>
              </a:rPr>
              <a:t>A={(1,3);(3,1);(2,2);(1,5);(5,1);(2,4);(4,2);(3,3)}</a:t>
            </a:r>
          </a:p>
          <a:p>
            <a:pPr marL="0" indent="0">
              <a:buNone/>
            </a:pPr>
            <a:r>
              <a:rPr lang="en-US" b="1" dirty="0">
                <a:latin typeface="Times New Roman" panose="02020603050405020304" pitchFamily="18" charset="0"/>
                <a:cs typeface="Times New Roman" panose="02020603050405020304" pitchFamily="18" charset="0"/>
              </a:rPr>
              <a:t>⇒n(A)=8.</a:t>
            </a:r>
          </a:p>
          <a:p>
            <a:pPr marL="0" indent="0">
              <a:buNone/>
            </a:pPr>
            <a:endParaRPr lang="en-US" b="1"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2954000" y="3810001"/>
                <a:ext cx="11021291" cy="9609139"/>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b="1" dirty="0" err="1">
                    <a:latin typeface="Times New Roman" panose="02020603050405020304" pitchFamily="18" charset="0"/>
                    <a:cs typeface="Times New Roman" panose="02020603050405020304" pitchFamily="18" charset="0"/>
                  </a:rPr>
                  <a:t>Xác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suất</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để</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tồng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số</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chấm</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xuất</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hiện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trên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hai</a:t>
                </a:r>
                <a:r>
                  <a:rPr lang="en-US" b="1" dirty="0">
                    <a:latin typeface="Times New Roman" panose="02020603050405020304" pitchFamily="18" charset="0"/>
                    <a:cs typeface="Times New Roman" panose="02020603050405020304" pitchFamily="18" charset="0"/>
                  </a:rPr>
                  <a:t> con </a:t>
                </a:r>
                <a:r>
                  <a:rPr lang="en-US" b="1" dirty="0" err="1">
                    <a:latin typeface="Times New Roman" panose="02020603050405020304" pitchFamily="18" charset="0"/>
                    <a:cs typeface="Times New Roman" panose="02020603050405020304" pitchFamily="18" charset="0"/>
                  </a:rPr>
                  <a:t>súc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sắc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bằng</a:t>
                </a:r>
                <a:r>
                  <a:rPr lang="en-US" b="1" dirty="0">
                    <a:latin typeface="Times New Roman" panose="02020603050405020304" pitchFamily="18" charset="0"/>
                    <a:cs typeface="Times New Roman" panose="02020603050405020304" pitchFamily="18" charset="0"/>
                  </a:rPr>
                  <a:t> 4 </a:t>
                </a:r>
                <a:r>
                  <a:rPr lang="en-US" b="1" dirty="0" err="1">
                    <a:latin typeface="Times New Roman" panose="02020603050405020304" pitchFamily="18" charset="0"/>
                    <a:cs typeface="Times New Roman" panose="02020603050405020304" pitchFamily="18" charset="0"/>
                  </a:rPr>
                  <a:t>hoặc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bằng</a:t>
                </a:r>
                <a:r>
                  <a:rPr lang="en-US" b="1" dirty="0">
                    <a:latin typeface="Times New Roman" panose="02020603050405020304" pitchFamily="18" charset="0"/>
                    <a:cs typeface="Times New Roman" panose="02020603050405020304" pitchFamily="18" charset="0"/>
                  </a:rPr>
                  <a:t> 6:</a:t>
                </a:r>
              </a:p>
              <a:p>
                <a14:m>
                  <m:oMath xmlns:m="http://schemas.openxmlformats.org/officeDocument/2006/math">
                    <m:r>
                      <a:rPr lang="en-US" b="1" i="1">
                        <a:latin typeface="Cambria Math" panose="02040503050406030204" pitchFamily="18" charset="0"/>
                      </a:rPr>
                      <m:t>𝑷</m:t>
                    </m:r>
                    <m:d>
                      <m:dPr>
                        <m:ctrlPr>
                          <a:rPr lang="en-US" b="1" i="1">
                            <a:latin typeface="Cambria Math" panose="02040503050406030204" pitchFamily="18" charset="0"/>
                          </a:rPr>
                        </m:ctrlPr>
                      </m:dPr>
                      <m:e>
                        <m:r>
                          <a:rPr lang="en-US" b="1" i="1">
                            <a:latin typeface="Cambria Math" panose="02040503050406030204" pitchFamily="18" charset="0"/>
                          </a:rPr>
                          <m:t>𝑨</m:t>
                        </m:r>
                      </m:e>
                    </m:d>
                    <m:r>
                      <a:rPr lang="en-US" b="1" i="1">
                        <a:latin typeface="Cambria Math" panose="02040503050406030204" pitchFamily="18" charset="0"/>
                      </a:rPr>
                      <m:t>=</m:t>
                    </m:r>
                    <m:f>
                      <m:fPr>
                        <m:ctrlPr>
                          <a:rPr lang="en-US" b="1" i="1">
                            <a:latin typeface="Cambria Math" panose="02040503050406030204" pitchFamily="18" charset="0"/>
                          </a:rPr>
                        </m:ctrlPr>
                      </m:fPr>
                      <m:num>
                        <m:r>
                          <a:rPr lang="en-US" b="1" i="1">
                            <a:latin typeface="Cambria Math" panose="02040503050406030204" pitchFamily="18" charset="0"/>
                          </a:rPr>
                          <m:t>𝒏</m:t>
                        </m:r>
                        <m:d>
                          <m:dPr>
                            <m:ctrlPr>
                              <a:rPr lang="en-US" b="1" i="1">
                                <a:latin typeface="Cambria Math" panose="02040503050406030204" pitchFamily="18" charset="0"/>
                              </a:rPr>
                            </m:ctrlPr>
                          </m:dPr>
                          <m:e>
                            <m:r>
                              <a:rPr lang="en-US" b="1" i="1">
                                <a:latin typeface="Cambria Math" panose="02040503050406030204" pitchFamily="18" charset="0"/>
                              </a:rPr>
                              <m:t>𝑨</m:t>
                            </m:r>
                          </m:e>
                        </m:d>
                      </m:num>
                      <m:den>
                        <m:r>
                          <a:rPr lang="en-US" b="1" i="1">
                            <a:latin typeface="Cambria Math" panose="02040503050406030204" pitchFamily="18" charset="0"/>
                          </a:rPr>
                          <m:t>𝒏</m:t>
                        </m:r>
                        <m:d>
                          <m:dPr>
                            <m:ctrlPr>
                              <a:rPr lang="en-US" b="1" i="1">
                                <a:latin typeface="Cambria Math" panose="02040503050406030204" pitchFamily="18" charset="0"/>
                              </a:rPr>
                            </m:ctrlPr>
                          </m:dPr>
                          <m:e>
                            <m:r>
                              <a:rPr lang="en-US" b="1" i="1">
                                <a:latin typeface="Cambria Math" panose="02040503050406030204" pitchFamily="18" charset="0"/>
                              </a:rPr>
                              <m:t>𝜴</m:t>
                            </m:r>
                          </m:e>
                        </m:d>
                      </m:den>
                    </m:f>
                    <m:r>
                      <a:rPr lang="en-US" b="1" i="1">
                        <a:latin typeface="Cambria Math" panose="02040503050406030204" pitchFamily="18" charset="0"/>
                      </a:rPr>
                      <m:t>=</m:t>
                    </m:r>
                    <m:f>
                      <m:fPr>
                        <m:ctrlPr>
                          <a:rPr lang="en-US" b="1" i="1">
                            <a:latin typeface="Cambria Math" panose="02040503050406030204" pitchFamily="18" charset="0"/>
                          </a:rPr>
                        </m:ctrlPr>
                      </m:fPr>
                      <m:num>
                        <m:r>
                          <a:rPr lang="en-US" b="1" i="1">
                            <a:latin typeface="Cambria Math" panose="02040503050406030204" pitchFamily="18" charset="0"/>
                          </a:rPr>
                          <m:t>𝟖</m:t>
                        </m:r>
                      </m:num>
                      <m:den>
                        <m:r>
                          <a:rPr lang="en-US" b="1" i="1">
                            <a:latin typeface="Cambria Math" panose="02040503050406030204" pitchFamily="18" charset="0"/>
                          </a:rPr>
                          <m:t>𝟑𝟔</m:t>
                        </m:r>
                      </m:den>
                    </m:f>
                    <m:r>
                      <a:rPr lang="en-US" b="1" i="1">
                        <a:latin typeface="Cambria Math" panose="02040503050406030204" pitchFamily="18" charset="0"/>
                      </a:rPr>
                      <m:t>=</m:t>
                    </m:r>
                    <m:f>
                      <m:fPr>
                        <m:ctrlPr>
                          <a:rPr lang="en-US" b="1" i="1">
                            <a:latin typeface="Cambria Math" panose="02040503050406030204" pitchFamily="18" charset="0"/>
                          </a:rPr>
                        </m:ctrlPr>
                      </m:fPr>
                      <m:num>
                        <m:r>
                          <a:rPr lang="en-US" b="1" i="1">
                            <a:latin typeface="Cambria Math" panose="02040503050406030204" pitchFamily="18" charset="0"/>
                          </a:rPr>
                          <m:t>𝟐</m:t>
                        </m:r>
                      </m:num>
                      <m:den>
                        <m:r>
                          <a:rPr lang="en-US" b="1" i="1">
                            <a:latin typeface="Cambria Math" panose="02040503050406030204" pitchFamily="18" charset="0"/>
                          </a:rPr>
                          <m:t>𝟗</m:t>
                        </m:r>
                      </m:den>
                    </m:f>
                  </m:oMath>
                </a14:m>
                <a:r>
                  <a:rPr lang="en-US" b="1" dirty="0">
                    <a:latin typeface="Times New Roman" panose="02020603050405020304" pitchFamily="18" charset="0"/>
                    <a:cs typeface="Times New Roman" panose="02020603050405020304" pitchFamily="18" charset="0"/>
                  </a:rPr>
                  <a:t>.</a:t>
                </a:r>
              </a:p>
              <a:p>
                <a:pPr marL="0" indent="0">
                  <a:buNone/>
                </a:pPr>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p:txBody>
          </p:sp>
        </mc:Choice>
        <mc:Fallback>
          <p:sp>
            <p:nvSpPr>
              <p:cNvPr id="7" name="Content Placeholder 2">
                <a:extLst>
                  <a:ext uri="{FF2B5EF4-FFF2-40B4-BE49-F238E27FC236}">
                    <a16:creationId xmlns:a16="http://schemas.microsoft.com/office/drawing/2014/main" id="{08B49A2E-2A9D-46FD-AE9C-29462A33F0E6}"/>
                  </a:ext>
                </a:extLst>
              </p:cNvPr>
              <p:cNvSpPr txBox="1">
                <a:spLocks noRot="1" noChangeAspect="1" noMove="1" noResize="1" noEditPoints="1" noAdjustHandles="1" noChangeArrowheads="1" noChangeShapeType="1" noTextEdit="1"/>
              </p:cNvSpPr>
              <p:nvPr/>
            </p:nvSpPr>
            <p:spPr>
              <a:xfrm>
                <a:off x="12954000" y="3810001"/>
                <a:ext cx="11021291" cy="9609139"/>
              </a:xfrm>
              <a:prstGeom prst="rect">
                <a:avLst/>
              </a:prstGeom>
              <a:blipFill>
                <a:blip r:embed="rId3"/>
                <a:stretch>
                  <a:fillRect l="-2210" t="-2091"/>
                </a:stretch>
              </a:blipFill>
              <a:ln>
                <a:solidFill>
                  <a:srgbClr val="00B0F0"/>
                </a:solidFill>
              </a:ln>
            </p:spPr>
            <p:txBody>
              <a:bodyPr/>
              <a:lstStyle/>
              <a:p>
                <a:r>
                  <a:rPr lang="en-US">
                    <a:noFill/>
                  </a:rPr>
                  <a:t> </a:t>
                </a:r>
              </a:p>
            </p:txBody>
          </p:sp>
        </mc:Fallback>
      </mc:AlternateContent>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IX   ·   BÀI 26</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4501083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up)">
                                      <p:cBhvr>
                                        <p:cTn id="7" dur="1000"/>
                                        <p:tgtEl>
                                          <p:spTgt spid="9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99"/>
                                        </p:tgtEl>
                                        <p:attrNameLst>
                                          <p:attrName>style.visibility</p:attrName>
                                        </p:attrNameLst>
                                      </p:cBhvr>
                                      <p:to>
                                        <p:strVal val="visible"/>
                                      </p:to>
                                    </p:set>
                                    <p:animEffect transition="in" filter="wipe(up)">
                                      <p:cBhvr>
                                        <p:cTn id="12" dur="500"/>
                                        <p:tgtEl>
                                          <p:spTgt spid="9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99">
                                            <p:txEl>
                                              <p:pRg st="0" end="0"/>
                                            </p:txEl>
                                          </p:spTgt>
                                        </p:tgtEl>
                                        <p:attrNameLst>
                                          <p:attrName>style.visibility</p:attrName>
                                        </p:attrNameLst>
                                      </p:cBhvr>
                                      <p:to>
                                        <p:strVal val="visible"/>
                                      </p:to>
                                    </p:set>
                                    <p:animEffect transition="in" filter="wipe(up)">
                                      <p:cBhvr>
                                        <p:cTn id="17" dur="500"/>
                                        <p:tgtEl>
                                          <p:spTgt spid="99">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99">
                                            <p:txEl>
                                              <p:pRg st="1" end="1"/>
                                            </p:txEl>
                                          </p:spTgt>
                                        </p:tgtEl>
                                        <p:attrNameLst>
                                          <p:attrName>style.visibility</p:attrName>
                                        </p:attrNameLst>
                                      </p:cBhvr>
                                      <p:to>
                                        <p:strVal val="visible"/>
                                      </p:to>
                                    </p:set>
                                    <p:animEffect transition="in" filter="wipe(up)">
                                      <p:cBhvr>
                                        <p:cTn id="22" dur="500"/>
                                        <p:tgtEl>
                                          <p:spTgt spid="99">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99">
                                            <p:txEl>
                                              <p:pRg st="2" end="2"/>
                                            </p:txEl>
                                          </p:spTgt>
                                        </p:tgtEl>
                                        <p:attrNameLst>
                                          <p:attrName>style.visibility</p:attrName>
                                        </p:attrNameLst>
                                      </p:cBhvr>
                                      <p:to>
                                        <p:strVal val="visible"/>
                                      </p:to>
                                    </p:set>
                                    <p:animEffect transition="in" filter="wipe(up)">
                                      <p:cBhvr>
                                        <p:cTn id="27" dur="500"/>
                                        <p:tgtEl>
                                          <p:spTgt spid="99">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99">
                                            <p:txEl>
                                              <p:pRg st="3" end="3"/>
                                            </p:txEl>
                                          </p:spTgt>
                                        </p:tgtEl>
                                        <p:attrNameLst>
                                          <p:attrName>style.visibility</p:attrName>
                                        </p:attrNameLst>
                                      </p:cBhvr>
                                      <p:to>
                                        <p:strVal val="visible"/>
                                      </p:to>
                                    </p:set>
                                    <p:animEffect transition="in" filter="wipe(up)">
                                      <p:cBhvr>
                                        <p:cTn id="32" dur="500"/>
                                        <p:tgtEl>
                                          <p:spTgt spid="99">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99">
                                            <p:txEl>
                                              <p:pRg st="4" end="4"/>
                                            </p:txEl>
                                          </p:spTgt>
                                        </p:tgtEl>
                                        <p:attrNameLst>
                                          <p:attrName>style.visibility</p:attrName>
                                        </p:attrNameLst>
                                      </p:cBhvr>
                                      <p:to>
                                        <p:strVal val="visible"/>
                                      </p:to>
                                    </p:set>
                                    <p:animEffect transition="in" filter="wipe(up)">
                                      <p:cBhvr>
                                        <p:cTn id="37" dur="500"/>
                                        <p:tgtEl>
                                          <p:spTgt spid="99">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wipe(up)">
                                      <p:cBhvr>
                                        <p:cTn id="42" dur="500"/>
                                        <p:tgtEl>
                                          <p:spTgt spid="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7">
                                            <p:txEl>
                                              <p:pRg st="0" end="0"/>
                                            </p:txEl>
                                          </p:spTgt>
                                        </p:tgtEl>
                                        <p:attrNameLst>
                                          <p:attrName>style.visibility</p:attrName>
                                        </p:attrNameLst>
                                      </p:cBhvr>
                                      <p:to>
                                        <p:strVal val="visible"/>
                                      </p:to>
                                    </p:set>
                                    <p:animEffect transition="in" filter="wipe(up)">
                                      <p:cBhvr>
                                        <p:cTn id="47"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99" grpId="0" animBg="1"/>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457200" y="1879600"/>
            <a:ext cx="23545800" cy="2768599"/>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b="1" dirty="0">
                <a:solidFill>
                  <a:srgbClr val="FF0000"/>
                </a:solidFill>
              </a:rPr>
              <a:t>3. NGUYÊN LÍ XÁC SUẤT BÉ</a:t>
            </a:r>
            <a:endParaRPr lang="vi-VN" b="1" dirty="0">
              <a:solidFill>
                <a:srgbClr val="FF0000"/>
              </a:solidFill>
            </a:endParaRPr>
          </a:p>
          <a:p>
            <a:r>
              <a:rPr lang="en-US" b="1" dirty="0" err="1"/>
              <a:t>Nếu</a:t>
            </a:r>
            <a:r>
              <a:rPr lang="en-US" b="1" dirty="0"/>
              <a:t> </a:t>
            </a:r>
            <a:r>
              <a:rPr lang="en-US" b="1" dirty="0" err="1"/>
              <a:t>một</a:t>
            </a:r>
            <a:r>
              <a:rPr lang="en-US" b="1" dirty="0"/>
              <a:t> </a:t>
            </a:r>
            <a:r>
              <a:rPr lang="en-US" b="1" dirty="0" err="1"/>
              <a:t>biến</a:t>
            </a:r>
            <a:r>
              <a:rPr lang="en-US" b="1" dirty="0"/>
              <a:t> </a:t>
            </a:r>
            <a:r>
              <a:rPr lang="en-US" b="1" dirty="0" err="1"/>
              <a:t>cố</a:t>
            </a:r>
            <a:r>
              <a:rPr lang="en-US" b="1" dirty="0"/>
              <a:t> </a:t>
            </a:r>
            <a:r>
              <a:rPr lang="en-US" b="1" dirty="0" err="1"/>
              <a:t>có</a:t>
            </a:r>
            <a:r>
              <a:rPr lang="en-US" b="1" dirty="0"/>
              <a:t> </a:t>
            </a:r>
            <a:r>
              <a:rPr lang="en-US" b="1" dirty="0" err="1"/>
              <a:t>xác</a:t>
            </a:r>
            <a:r>
              <a:rPr lang="en-US" b="1" dirty="0"/>
              <a:t> </a:t>
            </a:r>
            <a:r>
              <a:rPr lang="en-US" b="1" dirty="0" err="1"/>
              <a:t>suất</a:t>
            </a:r>
            <a:r>
              <a:rPr lang="en-US" b="1" dirty="0"/>
              <a:t> </a:t>
            </a:r>
            <a:r>
              <a:rPr lang="en-US" b="1" dirty="0" err="1"/>
              <a:t>rất</a:t>
            </a:r>
            <a:r>
              <a:rPr lang="en-US" b="1" dirty="0"/>
              <a:t> </a:t>
            </a:r>
            <a:r>
              <a:rPr lang="en-US" b="1" dirty="0" err="1"/>
              <a:t>bé</a:t>
            </a:r>
            <a:r>
              <a:rPr lang="en-US" b="1" dirty="0"/>
              <a:t> </a:t>
            </a:r>
            <a:r>
              <a:rPr lang="en-US" b="1" dirty="0" err="1"/>
              <a:t>thì</a:t>
            </a:r>
            <a:r>
              <a:rPr lang="en-US" b="1" dirty="0"/>
              <a:t> </a:t>
            </a:r>
            <a:r>
              <a:rPr lang="en-US" b="1" dirty="0" err="1"/>
              <a:t>trong</a:t>
            </a:r>
            <a:r>
              <a:rPr lang="en-US" b="1" dirty="0"/>
              <a:t> </a:t>
            </a:r>
            <a:r>
              <a:rPr lang="en-US" b="1" dirty="0" err="1"/>
              <a:t>một</a:t>
            </a:r>
            <a:r>
              <a:rPr lang="en-US" b="1" dirty="0"/>
              <a:t> </a:t>
            </a:r>
            <a:r>
              <a:rPr lang="en-US" b="1" dirty="0" err="1"/>
              <a:t>phép</a:t>
            </a:r>
            <a:r>
              <a:rPr lang="en-US" b="1" dirty="0"/>
              <a:t> </a:t>
            </a:r>
            <a:r>
              <a:rPr lang="en-US" b="1" dirty="0" err="1"/>
              <a:t>thử</a:t>
            </a:r>
            <a:r>
              <a:rPr lang="en-US" b="1" dirty="0"/>
              <a:t> </a:t>
            </a:r>
            <a:r>
              <a:rPr lang="en-US" b="1" dirty="0" err="1"/>
              <a:t>biến</a:t>
            </a:r>
            <a:r>
              <a:rPr lang="en-US" b="1" dirty="0"/>
              <a:t> </a:t>
            </a:r>
            <a:r>
              <a:rPr lang="en-US" b="1" dirty="0" err="1"/>
              <a:t>cố</a:t>
            </a:r>
            <a:r>
              <a:rPr lang="en-US" b="1" dirty="0"/>
              <a:t> </a:t>
            </a:r>
            <a:r>
              <a:rPr lang="en-US" b="1" dirty="0" err="1"/>
              <a:t>đó</a:t>
            </a:r>
            <a:r>
              <a:rPr lang="en-US" b="1" dirty="0"/>
              <a:t> </a:t>
            </a:r>
            <a:r>
              <a:rPr lang="en-US" b="1" dirty="0" err="1"/>
              <a:t>sẽ</a:t>
            </a:r>
            <a:r>
              <a:rPr lang="en-US" b="1" dirty="0"/>
              <a:t> </a:t>
            </a:r>
            <a:r>
              <a:rPr lang="en-US" b="1" dirty="0" err="1"/>
              <a:t>không</a:t>
            </a:r>
            <a:r>
              <a:rPr lang="en-US" b="1" dirty="0"/>
              <a:t> </a:t>
            </a:r>
            <a:r>
              <a:rPr lang="en-US" b="1" dirty="0" err="1"/>
              <a:t>xảy</a:t>
            </a:r>
            <a:r>
              <a:rPr lang="en-US" b="1" dirty="0"/>
              <a:t> </a:t>
            </a:r>
            <a:r>
              <a:rPr lang="en-US" b="1" dirty="0" err="1"/>
              <a:t>ra.</a:t>
            </a:r>
            <a:endParaRPr lang="vi-VN" b="1" dirty="0"/>
          </a:p>
          <a:p>
            <a:endParaRPr lang="en-US" b="1" dirty="0"/>
          </a:p>
        </p:txBody>
      </p:sp>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457200" y="4716464"/>
            <a:ext cx="11277600" cy="8786812"/>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a:lnSpc>
                <a:spcPct val="150000"/>
              </a:lnSpc>
            </a:pPr>
            <a:r>
              <a:rPr lang="en-US" b="1" dirty="0" err="1"/>
              <a:t>Chẳng</a:t>
            </a:r>
            <a:r>
              <a:rPr lang="en-US" b="1" dirty="0"/>
              <a:t> </a:t>
            </a:r>
            <a:r>
              <a:rPr lang="en-US" b="1" dirty="0" err="1"/>
              <a:t>hạn</a:t>
            </a:r>
            <a:r>
              <a:rPr lang="en-US" b="1" dirty="0"/>
              <a:t>, </a:t>
            </a:r>
            <a:r>
              <a:rPr lang="en-US" b="1" dirty="0" err="1"/>
              <a:t>xác</a:t>
            </a:r>
            <a:r>
              <a:rPr lang="en-US" b="1" dirty="0"/>
              <a:t> </a:t>
            </a:r>
            <a:r>
              <a:rPr lang="en-US" b="1" dirty="0" err="1"/>
              <a:t>suất</a:t>
            </a:r>
            <a:r>
              <a:rPr lang="en-US" b="1" dirty="0"/>
              <a:t> </a:t>
            </a:r>
            <a:r>
              <a:rPr lang="en-US" b="1" dirty="0" err="1"/>
              <a:t>một</a:t>
            </a:r>
            <a:r>
              <a:rPr lang="en-US" b="1" dirty="0"/>
              <a:t> </a:t>
            </a:r>
            <a:r>
              <a:rPr lang="en-US" b="1" dirty="0" err="1"/>
              <a:t>chiếc</a:t>
            </a:r>
            <a:r>
              <a:rPr lang="en-US" b="1" dirty="0"/>
              <a:t> </a:t>
            </a:r>
            <a:r>
              <a:rPr lang="en-US" b="1" dirty="0" err="1"/>
              <a:t>máy</a:t>
            </a:r>
            <a:r>
              <a:rPr lang="en-US" b="1" dirty="0"/>
              <a:t> bay </a:t>
            </a:r>
            <a:r>
              <a:rPr lang="en-US" b="1" dirty="0" err="1"/>
              <a:t>rơi</a:t>
            </a:r>
            <a:r>
              <a:rPr lang="en-US" b="1" dirty="0"/>
              <a:t> </a:t>
            </a:r>
            <a:r>
              <a:rPr lang="en-US" b="1" dirty="0" err="1"/>
              <a:t>là</a:t>
            </a:r>
            <a:r>
              <a:rPr lang="en-US" b="1" dirty="0"/>
              <a:t> </a:t>
            </a:r>
            <a:r>
              <a:rPr lang="en-US" b="1" dirty="0" err="1"/>
              <a:t>rất</a:t>
            </a:r>
            <a:r>
              <a:rPr lang="en-US" b="1" dirty="0"/>
              <a:t> </a:t>
            </a:r>
            <a:r>
              <a:rPr lang="en-US" b="1" dirty="0" err="1"/>
              <a:t>bé</a:t>
            </a:r>
            <a:r>
              <a:rPr lang="en-US" b="1" dirty="0"/>
              <a:t>, </a:t>
            </a:r>
            <a:r>
              <a:rPr lang="en-US" b="1" dirty="0" err="1"/>
              <a:t>khoảng</a:t>
            </a:r>
            <a:r>
              <a:rPr lang="en-US" b="1" dirty="0"/>
              <a:t> 0,00000027. </a:t>
            </a:r>
            <a:r>
              <a:rPr lang="en-US" b="1" dirty="0" err="1"/>
              <a:t>Mỗi</a:t>
            </a:r>
            <a:r>
              <a:rPr lang="en-US" b="1" dirty="0"/>
              <a:t> </a:t>
            </a:r>
            <a:r>
              <a:rPr lang="en-US" b="1" dirty="0" err="1"/>
              <a:t>hành</a:t>
            </a:r>
            <a:r>
              <a:rPr lang="en-US" b="1" dirty="0"/>
              <a:t> </a:t>
            </a:r>
            <a:r>
              <a:rPr lang="en-US" b="1" dirty="0" err="1"/>
              <a:t>khách</a:t>
            </a:r>
            <a:r>
              <a:rPr lang="en-US" b="1" dirty="0"/>
              <a:t> </a:t>
            </a:r>
            <a:r>
              <a:rPr lang="en-US" b="1" dirty="0" err="1"/>
              <a:t>khi</a:t>
            </a:r>
            <a:r>
              <a:rPr lang="en-US" b="1" dirty="0"/>
              <a:t> </a:t>
            </a:r>
            <a:r>
              <a:rPr lang="en-US" b="1" dirty="0" err="1"/>
              <a:t>đi</a:t>
            </a:r>
            <a:r>
              <a:rPr lang="en-US" b="1" dirty="0"/>
              <a:t> </a:t>
            </a:r>
            <a:r>
              <a:rPr lang="en-US" b="1" dirty="0" err="1"/>
              <a:t>máy</a:t>
            </a:r>
            <a:r>
              <a:rPr lang="en-US" b="1" dirty="0"/>
              <a:t> bay </a:t>
            </a:r>
            <a:r>
              <a:rPr lang="en-US" b="1" dirty="0" err="1"/>
              <a:t>đều</a:t>
            </a:r>
            <a:r>
              <a:rPr lang="en-US" b="1" dirty="0"/>
              <a:t> tin </a:t>
            </a:r>
            <a:r>
              <a:rPr lang="en-US" b="1" dirty="0" err="1"/>
              <a:t>rằng</a:t>
            </a:r>
            <a:r>
              <a:rPr lang="en-US" b="1" dirty="0"/>
              <a:t> </a:t>
            </a:r>
            <a:r>
              <a:rPr lang="en-US" b="1" dirty="0" err="1"/>
              <a:t>biến</a:t>
            </a:r>
            <a:r>
              <a:rPr lang="en-US" b="1" dirty="0"/>
              <a:t> </a:t>
            </a:r>
            <a:r>
              <a:rPr lang="en-US" b="1" dirty="0" err="1"/>
              <a:t>cố</a:t>
            </a:r>
            <a:r>
              <a:rPr lang="en-US" b="1" dirty="0"/>
              <a:t>: “</a:t>
            </a:r>
            <a:r>
              <a:rPr lang="en-US" b="1" dirty="0" err="1"/>
              <a:t>Máy</a:t>
            </a:r>
            <a:r>
              <a:rPr lang="en-US" b="1" dirty="0"/>
              <a:t> bay </a:t>
            </a:r>
            <a:r>
              <a:rPr lang="en-US" b="1" dirty="0" err="1"/>
              <a:t>rơi</a:t>
            </a:r>
            <a:r>
              <a:rPr lang="en-US" b="1" dirty="0"/>
              <a:t>” </a:t>
            </a:r>
            <a:r>
              <a:rPr lang="en-US" b="1" dirty="0" err="1"/>
              <a:t>sẽ</a:t>
            </a:r>
            <a:r>
              <a:rPr lang="en-US" b="1" dirty="0"/>
              <a:t> </a:t>
            </a:r>
            <a:r>
              <a:rPr lang="en-US" b="1" dirty="0" err="1"/>
              <a:t>không</a:t>
            </a:r>
            <a:r>
              <a:rPr lang="en-US" b="1" dirty="0"/>
              <a:t> </a:t>
            </a:r>
            <a:r>
              <a:rPr lang="en-US" b="1" dirty="0" err="1"/>
              <a:t>xảy</a:t>
            </a:r>
            <a:r>
              <a:rPr lang="en-US" b="1" dirty="0"/>
              <a:t> </a:t>
            </a:r>
            <a:r>
              <a:rPr lang="en-US" b="1" dirty="0" err="1"/>
              <a:t>ra</a:t>
            </a:r>
            <a:r>
              <a:rPr lang="en-US" b="1" dirty="0"/>
              <a:t> </a:t>
            </a:r>
            <a:r>
              <a:rPr lang="en-US" b="1" dirty="0" err="1"/>
              <a:t>trong</a:t>
            </a:r>
            <a:r>
              <a:rPr lang="en-US" b="1" dirty="0"/>
              <a:t> </a:t>
            </a:r>
            <a:r>
              <a:rPr lang="en-US" b="1" dirty="0" err="1"/>
              <a:t>chuyến</a:t>
            </a:r>
            <a:r>
              <a:rPr lang="en-US" b="1" dirty="0"/>
              <a:t> bay </a:t>
            </a:r>
            <a:r>
              <a:rPr lang="en-US" b="1" dirty="0" err="1"/>
              <a:t>của</a:t>
            </a:r>
            <a:r>
              <a:rPr lang="en-US" b="1" dirty="0"/>
              <a:t> </a:t>
            </a:r>
            <a:r>
              <a:rPr lang="en-US" b="1" dirty="0" err="1"/>
              <a:t>mình</a:t>
            </a:r>
            <a:r>
              <a:rPr lang="en-US" b="1" dirty="0"/>
              <a:t>, do </a:t>
            </a:r>
            <a:r>
              <a:rPr lang="en-US" b="1" dirty="0" err="1"/>
              <a:t>đó</a:t>
            </a:r>
            <a:r>
              <a:rPr lang="en-US" b="1" dirty="0"/>
              <a:t> </a:t>
            </a:r>
            <a:r>
              <a:rPr lang="en-US" b="1" dirty="0" err="1"/>
              <a:t>người</a:t>
            </a:r>
            <a:r>
              <a:rPr lang="en-US" b="1" dirty="0"/>
              <a:t> ta </a:t>
            </a:r>
            <a:r>
              <a:rPr lang="en-US" b="1" dirty="0" err="1"/>
              <a:t>vẫn</a:t>
            </a:r>
            <a:r>
              <a:rPr lang="en-US" b="1" dirty="0"/>
              <a:t> </a:t>
            </a:r>
            <a:r>
              <a:rPr lang="en-US" b="1" dirty="0" err="1"/>
              <a:t>không</a:t>
            </a:r>
            <a:r>
              <a:rPr lang="en-US" b="1" dirty="0"/>
              <a:t> </a:t>
            </a:r>
            <a:r>
              <a:rPr lang="en-US" b="1" dirty="0" err="1"/>
              <a:t>ngần</a:t>
            </a:r>
            <a:r>
              <a:rPr lang="en-US" b="1" dirty="0"/>
              <a:t> </a:t>
            </a:r>
            <a:r>
              <a:rPr lang="en-US" b="1" dirty="0" err="1"/>
              <a:t>ngại</a:t>
            </a:r>
            <a:r>
              <a:rPr lang="en-US" b="1" dirty="0"/>
              <a:t> </a:t>
            </a:r>
            <a:r>
              <a:rPr lang="en-US" b="1" dirty="0" err="1"/>
              <a:t>đi</a:t>
            </a:r>
            <a:r>
              <a:rPr lang="en-US" b="1" dirty="0"/>
              <a:t> </a:t>
            </a:r>
            <a:r>
              <a:rPr lang="en-US" b="1" dirty="0" err="1"/>
              <a:t>máy</a:t>
            </a:r>
            <a:r>
              <a:rPr lang="en-US" b="1" dirty="0"/>
              <a:t> bay.</a:t>
            </a:r>
            <a:endParaRPr lang="vi-VN" b="1" dirty="0"/>
          </a:p>
          <a:p>
            <a:endParaRPr lang="en-US" b="1" dirty="0"/>
          </a:p>
        </p:txBody>
      </p:sp>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1954102" y="4716464"/>
            <a:ext cx="12021189" cy="8702676"/>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a:lnSpc>
                <a:spcPct val="150000"/>
              </a:lnSpc>
            </a:pPr>
            <a:r>
              <a:rPr lang="en-US" b="1" u="sng" dirty="0" err="1">
                <a:solidFill>
                  <a:srgbClr val="FF0000"/>
                </a:solidFill>
              </a:rPr>
              <a:t>Chú</a:t>
            </a:r>
            <a:r>
              <a:rPr lang="en-US" b="1" u="sng" dirty="0">
                <a:solidFill>
                  <a:srgbClr val="FF0000"/>
                </a:solidFill>
              </a:rPr>
              <a:t> ý</a:t>
            </a:r>
            <a:r>
              <a:rPr lang="en-US" b="1" dirty="0">
                <a:solidFill>
                  <a:srgbClr val="FF0000"/>
                </a:solidFill>
              </a:rPr>
              <a:t>. </a:t>
            </a:r>
            <a:r>
              <a:rPr lang="en-US" b="1" dirty="0" err="1"/>
              <a:t>Trong</a:t>
            </a:r>
            <a:r>
              <a:rPr lang="en-US" b="1" dirty="0"/>
              <a:t> </a:t>
            </a:r>
            <a:r>
              <a:rPr lang="en-US" b="1" dirty="0" err="1"/>
              <a:t>thực</a:t>
            </a:r>
            <a:r>
              <a:rPr lang="en-US" b="1" dirty="0"/>
              <a:t> </a:t>
            </a:r>
            <a:r>
              <a:rPr lang="en-US" b="1" dirty="0" err="1"/>
              <a:t>tế</a:t>
            </a:r>
            <a:r>
              <a:rPr lang="en-US" b="1" dirty="0"/>
              <a:t>, </a:t>
            </a:r>
            <a:r>
              <a:rPr lang="en-US" b="1" dirty="0" err="1"/>
              <a:t>xác</a:t>
            </a:r>
            <a:r>
              <a:rPr lang="en-US" b="1" dirty="0"/>
              <a:t> </a:t>
            </a:r>
            <a:r>
              <a:rPr lang="en-US" b="1" dirty="0" err="1"/>
              <a:t>suất</a:t>
            </a:r>
            <a:r>
              <a:rPr lang="en-US" b="1" dirty="0"/>
              <a:t> </a:t>
            </a:r>
            <a:r>
              <a:rPr lang="en-US" b="1" dirty="0" err="1"/>
              <a:t>của</a:t>
            </a:r>
            <a:r>
              <a:rPr lang="en-US" b="1" dirty="0"/>
              <a:t> </a:t>
            </a:r>
            <a:r>
              <a:rPr lang="en-US" b="1" dirty="0" err="1"/>
              <a:t>một</a:t>
            </a:r>
            <a:r>
              <a:rPr lang="en-US" b="1" dirty="0"/>
              <a:t> </a:t>
            </a:r>
            <a:r>
              <a:rPr lang="en-US" b="1" dirty="0" err="1"/>
              <a:t>biến</a:t>
            </a:r>
            <a:r>
              <a:rPr lang="en-US" b="1" dirty="0"/>
              <a:t> </a:t>
            </a:r>
            <a:r>
              <a:rPr lang="en-US" b="1" dirty="0" err="1"/>
              <a:t>cố</a:t>
            </a:r>
            <a:r>
              <a:rPr lang="en-US" b="1" dirty="0"/>
              <a:t> </a:t>
            </a:r>
            <a:r>
              <a:rPr lang="en-US" b="1" dirty="0" err="1"/>
              <a:t>được</a:t>
            </a:r>
            <a:r>
              <a:rPr lang="en-US" b="1" dirty="0"/>
              <a:t> </a:t>
            </a:r>
            <a:r>
              <a:rPr lang="en-US" b="1" dirty="0" err="1"/>
              <a:t>coi</a:t>
            </a:r>
            <a:r>
              <a:rPr lang="en-US" b="1" dirty="0"/>
              <a:t> </a:t>
            </a:r>
            <a:r>
              <a:rPr lang="en-US" b="1" dirty="0" err="1"/>
              <a:t>là</a:t>
            </a:r>
            <a:r>
              <a:rPr lang="en-US" b="1" dirty="0"/>
              <a:t> </a:t>
            </a:r>
            <a:r>
              <a:rPr lang="en-US" b="1" dirty="0" err="1"/>
              <a:t>bé</a:t>
            </a:r>
            <a:r>
              <a:rPr lang="en-US" b="1" dirty="0"/>
              <a:t> </a:t>
            </a:r>
            <a:r>
              <a:rPr lang="en-US" b="1" dirty="0" err="1"/>
              <a:t>phụ</a:t>
            </a:r>
            <a:r>
              <a:rPr lang="en-US" b="1" dirty="0"/>
              <a:t> </a:t>
            </a:r>
            <a:r>
              <a:rPr lang="en-US" b="1" dirty="0" err="1"/>
              <a:t>thuộc</a:t>
            </a:r>
            <a:r>
              <a:rPr lang="en-US" b="1" dirty="0"/>
              <a:t> </a:t>
            </a:r>
            <a:r>
              <a:rPr lang="en-US" b="1" dirty="0" err="1"/>
              <a:t>vào</a:t>
            </a:r>
            <a:r>
              <a:rPr lang="en-US" b="1" dirty="0"/>
              <a:t> </a:t>
            </a:r>
            <a:r>
              <a:rPr lang="en-US" b="1" dirty="0" err="1"/>
              <a:t>từng</a:t>
            </a:r>
            <a:r>
              <a:rPr lang="en-US" b="1" dirty="0"/>
              <a:t> </a:t>
            </a:r>
            <a:r>
              <a:rPr lang="en-US" b="1" dirty="0" err="1"/>
              <a:t>trường</a:t>
            </a:r>
            <a:r>
              <a:rPr lang="en-US" b="1" dirty="0"/>
              <a:t> </a:t>
            </a:r>
            <a:r>
              <a:rPr lang="en-US" b="1" dirty="0" err="1"/>
              <a:t>hợp</a:t>
            </a:r>
            <a:r>
              <a:rPr lang="en-US" b="1" dirty="0"/>
              <a:t> </a:t>
            </a:r>
            <a:r>
              <a:rPr lang="en-US" b="1" dirty="0" err="1"/>
              <a:t>cụ</a:t>
            </a:r>
            <a:r>
              <a:rPr lang="en-US" b="1" dirty="0"/>
              <a:t> </a:t>
            </a:r>
            <a:r>
              <a:rPr lang="en-US" b="1" dirty="0" err="1"/>
              <a:t>thề</a:t>
            </a:r>
            <a:r>
              <a:rPr lang="en-US" b="1" dirty="0"/>
              <a:t>. </a:t>
            </a:r>
            <a:r>
              <a:rPr lang="en-US" b="1" dirty="0" err="1"/>
              <a:t>Chẳng</a:t>
            </a:r>
            <a:r>
              <a:rPr lang="en-US" b="1" dirty="0"/>
              <a:t> </a:t>
            </a:r>
            <a:r>
              <a:rPr lang="en-US" b="1" dirty="0" err="1"/>
              <a:t>hạn</a:t>
            </a:r>
            <a:r>
              <a:rPr lang="en-US" b="1" dirty="0"/>
              <a:t>, </a:t>
            </a:r>
            <a:r>
              <a:rPr lang="en-US" b="1" dirty="0" err="1"/>
              <a:t>xác</a:t>
            </a:r>
            <a:r>
              <a:rPr lang="en-US" b="1" dirty="0"/>
              <a:t> </a:t>
            </a:r>
            <a:r>
              <a:rPr lang="en-US" b="1" dirty="0" err="1"/>
              <a:t>suất</a:t>
            </a:r>
            <a:r>
              <a:rPr lang="en-US" b="1" dirty="0"/>
              <a:t> </a:t>
            </a:r>
            <a:r>
              <a:rPr lang="en-US" b="1" dirty="0" err="1"/>
              <a:t>một</a:t>
            </a:r>
            <a:r>
              <a:rPr lang="en-US" b="1" dirty="0"/>
              <a:t> </a:t>
            </a:r>
            <a:r>
              <a:rPr lang="en-US" b="1" dirty="0" err="1"/>
              <a:t>chiếc</a:t>
            </a:r>
            <a:r>
              <a:rPr lang="en-US" b="1" dirty="0"/>
              <a:t> </a:t>
            </a:r>
            <a:r>
              <a:rPr lang="en-US" b="1" dirty="0" err="1"/>
              <a:t>điện</a:t>
            </a:r>
            <a:r>
              <a:rPr lang="en-US" b="1" dirty="0"/>
              <a:t> </a:t>
            </a:r>
            <a:r>
              <a:rPr lang="en-US" b="1" dirty="0" err="1"/>
              <a:t>thoại</a:t>
            </a:r>
            <a:r>
              <a:rPr lang="en-US" b="1" dirty="0"/>
              <a:t> </a:t>
            </a:r>
            <a:r>
              <a:rPr lang="en-US" b="1" dirty="0" err="1"/>
              <a:t>bị</a:t>
            </a:r>
            <a:r>
              <a:rPr lang="en-US" b="1" dirty="0"/>
              <a:t> </a:t>
            </a:r>
            <a:r>
              <a:rPr lang="en-US" b="1" dirty="0" err="1"/>
              <a:t>lỗi</a:t>
            </a:r>
            <a:r>
              <a:rPr lang="en-US" b="1" dirty="0"/>
              <a:t> </a:t>
            </a:r>
            <a:r>
              <a:rPr lang="en-US" b="1" dirty="0" err="1"/>
              <a:t>kĩ</a:t>
            </a:r>
            <a:r>
              <a:rPr lang="en-US" b="1" dirty="0"/>
              <a:t> </a:t>
            </a:r>
            <a:r>
              <a:rPr lang="en-US" b="1" dirty="0" err="1"/>
              <a:t>thuật</a:t>
            </a:r>
            <a:r>
              <a:rPr lang="en-US" b="1" dirty="0"/>
              <a:t> </a:t>
            </a:r>
            <a:r>
              <a:rPr lang="en-US" b="1" dirty="0" err="1"/>
              <a:t>là</a:t>
            </a:r>
            <a:r>
              <a:rPr lang="en-US" b="1" dirty="0"/>
              <a:t> 0,001 </a:t>
            </a:r>
            <a:r>
              <a:rPr lang="en-US" b="1" dirty="0" err="1"/>
              <a:t>được</a:t>
            </a:r>
            <a:r>
              <a:rPr lang="en-US" b="1" dirty="0"/>
              <a:t> </a:t>
            </a:r>
            <a:r>
              <a:rPr lang="en-US" b="1" dirty="0" err="1"/>
              <a:t>coi</a:t>
            </a:r>
            <a:r>
              <a:rPr lang="en-US" b="1" dirty="0"/>
              <a:t> </a:t>
            </a:r>
            <a:r>
              <a:rPr lang="en-US" b="1" dirty="0" err="1"/>
              <a:t>là</a:t>
            </a:r>
            <a:r>
              <a:rPr lang="en-US" b="1" dirty="0"/>
              <a:t> </a:t>
            </a:r>
            <a:r>
              <a:rPr lang="en-US" b="1" dirty="0" err="1"/>
              <a:t>rất</a:t>
            </a:r>
            <a:r>
              <a:rPr lang="en-US" b="1" dirty="0"/>
              <a:t> </a:t>
            </a:r>
            <a:r>
              <a:rPr lang="en-US" b="1" dirty="0" err="1"/>
              <a:t>bé</a:t>
            </a:r>
            <a:r>
              <a:rPr lang="en-US" b="1" dirty="0"/>
              <a:t>, </a:t>
            </a:r>
            <a:r>
              <a:rPr lang="en-US" b="1" dirty="0" err="1"/>
              <a:t>nhưng</a:t>
            </a:r>
            <a:r>
              <a:rPr lang="en-US" b="1" dirty="0"/>
              <a:t> </a:t>
            </a:r>
            <a:r>
              <a:rPr lang="en-US" b="1" dirty="0" err="1"/>
              <a:t>nếu</a:t>
            </a:r>
            <a:r>
              <a:rPr lang="en-US" b="1" dirty="0"/>
              <a:t> </a:t>
            </a:r>
            <a:r>
              <a:rPr lang="en-US" b="1" dirty="0" err="1"/>
              <a:t>xác</a:t>
            </a:r>
            <a:r>
              <a:rPr lang="en-US" b="1" dirty="0"/>
              <a:t> </a:t>
            </a:r>
            <a:r>
              <a:rPr lang="en-US" b="1" dirty="0" err="1"/>
              <a:t>suất</a:t>
            </a:r>
            <a:r>
              <a:rPr lang="en-US" b="1" dirty="0"/>
              <a:t> </a:t>
            </a:r>
            <a:r>
              <a:rPr lang="en-US" b="1" dirty="0" err="1"/>
              <a:t>cháy</a:t>
            </a:r>
            <a:r>
              <a:rPr lang="en-US" b="1" dirty="0"/>
              <a:t> </a:t>
            </a:r>
            <a:r>
              <a:rPr lang="en-US" b="1" dirty="0" err="1"/>
              <a:t>nồ</a:t>
            </a:r>
            <a:r>
              <a:rPr lang="en-US" b="1" dirty="0"/>
              <a:t> </a:t>
            </a:r>
            <a:r>
              <a:rPr lang="en-US" b="1" dirty="0" err="1"/>
              <a:t>động</a:t>
            </a:r>
            <a:r>
              <a:rPr lang="en-US" b="1" dirty="0"/>
              <a:t> </a:t>
            </a:r>
            <a:r>
              <a:rPr lang="en-US" b="1" dirty="0" err="1"/>
              <a:t>cơ</a:t>
            </a:r>
            <a:r>
              <a:rPr lang="en-US" b="1" dirty="0"/>
              <a:t> </a:t>
            </a:r>
            <a:r>
              <a:rPr lang="en-US" b="1" dirty="0" err="1"/>
              <a:t>của</a:t>
            </a:r>
            <a:r>
              <a:rPr lang="en-US" b="1" dirty="0"/>
              <a:t> </a:t>
            </a:r>
            <a:r>
              <a:rPr lang="en-US" b="1" dirty="0" err="1"/>
              <a:t>một</a:t>
            </a:r>
            <a:r>
              <a:rPr lang="en-US" b="1" dirty="0"/>
              <a:t> </a:t>
            </a:r>
            <a:r>
              <a:rPr lang="en-US" b="1" dirty="0" err="1"/>
              <a:t>máy</a:t>
            </a:r>
            <a:r>
              <a:rPr lang="en-US" b="1" dirty="0"/>
              <a:t> bay </a:t>
            </a:r>
            <a:r>
              <a:rPr lang="en-US" b="1" dirty="0" err="1"/>
              <a:t>là</a:t>
            </a:r>
            <a:r>
              <a:rPr lang="en-US" b="1" dirty="0"/>
              <a:t> 0,001 </a:t>
            </a:r>
            <a:r>
              <a:rPr lang="en-US" b="1" dirty="0" err="1"/>
              <a:t>thì</a:t>
            </a:r>
            <a:r>
              <a:rPr lang="en-US" b="1" dirty="0"/>
              <a:t> </a:t>
            </a:r>
            <a:r>
              <a:rPr lang="en-US" b="1" dirty="0" err="1"/>
              <a:t>xác</a:t>
            </a:r>
            <a:r>
              <a:rPr lang="en-US" b="1" dirty="0"/>
              <a:t> </a:t>
            </a:r>
            <a:r>
              <a:rPr lang="en-US" b="1" dirty="0" err="1"/>
              <a:t>suất</a:t>
            </a:r>
            <a:r>
              <a:rPr lang="en-US" b="1" dirty="0"/>
              <a:t> </a:t>
            </a:r>
            <a:r>
              <a:rPr lang="en-US" b="1" dirty="0" err="1"/>
              <a:t>này</a:t>
            </a:r>
            <a:r>
              <a:rPr lang="en-US" b="1" dirty="0"/>
              <a:t> </a:t>
            </a:r>
            <a:r>
              <a:rPr lang="en-US" b="1" dirty="0" err="1"/>
              <a:t>không</a:t>
            </a:r>
            <a:r>
              <a:rPr lang="en-US" b="1" dirty="0"/>
              <a:t> </a:t>
            </a:r>
            <a:r>
              <a:rPr lang="en-US" b="1" dirty="0" err="1"/>
              <a:t>được</a:t>
            </a:r>
            <a:r>
              <a:rPr lang="en-US" b="1" dirty="0"/>
              <a:t> </a:t>
            </a:r>
            <a:r>
              <a:rPr lang="en-US" b="1" dirty="0" err="1"/>
              <a:t>coi</a:t>
            </a:r>
            <a:r>
              <a:rPr lang="en-US" b="1" dirty="0"/>
              <a:t> </a:t>
            </a:r>
            <a:r>
              <a:rPr lang="en-US" b="1" dirty="0" err="1"/>
              <a:t>là</a:t>
            </a:r>
            <a:r>
              <a:rPr lang="en-US" b="1" dirty="0"/>
              <a:t> </a:t>
            </a:r>
            <a:r>
              <a:rPr lang="en-US" b="1" dirty="0" err="1"/>
              <a:t>rất</a:t>
            </a:r>
            <a:r>
              <a:rPr lang="en-US" b="1" dirty="0"/>
              <a:t> </a:t>
            </a:r>
            <a:r>
              <a:rPr lang="en-US" b="1" dirty="0" err="1"/>
              <a:t>bé</a:t>
            </a:r>
            <a:r>
              <a:rPr lang="en-US" b="1" dirty="0"/>
              <a:t>.</a:t>
            </a:r>
          </a:p>
        </p:txBody>
      </p:sp>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IX   ·   BÀI 26</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401534732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up)">
                                      <p:cBhvr>
                                        <p:cTn id="7" dur="1000"/>
                                        <p:tgtEl>
                                          <p:spTgt spid="9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99"/>
                                        </p:tgtEl>
                                        <p:attrNameLst>
                                          <p:attrName>style.visibility</p:attrName>
                                        </p:attrNameLst>
                                      </p:cBhvr>
                                      <p:to>
                                        <p:strVal val="visible"/>
                                      </p:to>
                                    </p:set>
                                    <p:animEffect transition="in" filter="wipe(up)">
                                      <p:cBhvr>
                                        <p:cTn id="12" dur="500"/>
                                        <p:tgtEl>
                                          <p:spTgt spid="9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99">
                                            <p:txEl>
                                              <p:pRg st="0" end="0"/>
                                            </p:txEl>
                                          </p:spTgt>
                                        </p:tgtEl>
                                        <p:attrNameLst>
                                          <p:attrName>style.visibility</p:attrName>
                                        </p:attrNameLst>
                                      </p:cBhvr>
                                      <p:to>
                                        <p:strVal val="visible"/>
                                      </p:to>
                                    </p:set>
                                    <p:animEffect transition="in" filter="wipe(up)">
                                      <p:cBhvr>
                                        <p:cTn id="17" dur="500"/>
                                        <p:tgtEl>
                                          <p:spTgt spid="99">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7">
                                            <p:txEl>
                                              <p:pRg st="0" end="0"/>
                                            </p:txEl>
                                          </p:spTgt>
                                        </p:tgtEl>
                                        <p:attrNameLst>
                                          <p:attrName>style.visibility</p:attrName>
                                        </p:attrNameLst>
                                      </p:cBhvr>
                                      <p:to>
                                        <p:strVal val="visible"/>
                                      </p:to>
                                    </p:set>
                                    <p:animEffect transition="in" filter="wipe(up)">
                                      <p:cBhvr>
                                        <p:cTn id="27"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99" grpId="0" animBg="1"/>
      <p:bldP spid="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228600" y="1752600"/>
            <a:ext cx="23774400" cy="1092200"/>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vi-VN" b="1" dirty="0">
                <a:solidFill>
                  <a:srgbClr val="FF0000"/>
                </a:solidFill>
                <a:latin typeface="Times New Roman" panose="02020603050405020304" pitchFamily="18" charset="0"/>
                <a:cs typeface="Times New Roman" panose="02020603050405020304" pitchFamily="18" charset="0"/>
              </a:rPr>
              <a:t>VẬN DỤNG.       </a:t>
            </a:r>
            <a:r>
              <a:rPr lang="vi-VN" b="1" dirty="0"/>
              <a:t>Xác suất của biến cố có ý nghĩa thực tế như sau:</a:t>
            </a:r>
            <a:endParaRPr lang="en-US" b="1" dirty="0"/>
          </a:p>
        </p:txBody>
      </p:sp>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228600" y="2971801"/>
            <a:ext cx="11963400" cy="10531475"/>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vi-VN" b="1" dirty="0"/>
              <a:t>Giả sử biến cố A có xác suất P(A). Khi thực hiện phép thử n lần (n≥30) thì số lần xuất hiện biến cố A sẽ xấp xỉ bằng n.P(A) (nói chung khi n càng lớn thì sai số tương đối càng bé).</a:t>
            </a:r>
          </a:p>
          <a:p>
            <a:r>
              <a:rPr lang="vi-VN" b="1" dirty="0"/>
              <a:t>Giả thiết rằng xác suất sinh con trai là 0,512 và xác suất sinh con gái là 0,488. Vận dụng ý nghĩa thực tế của xác suất, hãy ước tính trong số trẻ mới sinh với 10000 bé gái thì có bao nhiêu bé trai.</a:t>
            </a:r>
          </a:p>
          <a:p>
            <a:r>
              <a:rPr lang="vi-VN" b="1" dirty="0"/>
              <a:t>Hướng dẫn. Gọi n là số trẻ mới sinh. Ta coi mỗi lần sinh là một phép thử và biến cố liên quan đến phép thử là biến cố: “sinh con gái”. Như vậy ta có n phép thử. Ước tính n, từ đó ước tính số bé trai.</a:t>
            </a:r>
          </a:p>
          <a:p>
            <a:endParaRPr lang="en-US" b="1" dirty="0"/>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2344400" y="2971801"/>
                <a:ext cx="11630891" cy="10447339"/>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b="1" dirty="0" err="1">
                    <a:solidFill>
                      <a:srgbClr val="FF0000"/>
                    </a:solidFill>
                  </a:rPr>
                  <a:t>Lời</a:t>
                </a:r>
                <a:r>
                  <a:rPr lang="en-US" b="1" dirty="0">
                    <a:solidFill>
                      <a:srgbClr val="FF0000"/>
                    </a:solidFill>
                  </a:rPr>
                  <a:t> </a:t>
                </a:r>
                <a:r>
                  <a:rPr lang="en-US" b="1" dirty="0" err="1">
                    <a:solidFill>
                      <a:srgbClr val="FF0000"/>
                    </a:solidFill>
                  </a:rPr>
                  <a:t>giải</a:t>
                </a:r>
                <a:endParaRPr lang="vi-VN" b="1" dirty="0">
                  <a:solidFill>
                    <a:srgbClr val="FF0000"/>
                  </a:solidFill>
                </a:endParaRPr>
              </a:p>
              <a:p>
                <a:r>
                  <a:rPr lang="nl-NL" b="1" dirty="0"/>
                  <a:t>Gọi </a:t>
                </a:r>
                <a:r>
                  <a:rPr lang="nl-NL" b="1" i="1" dirty="0"/>
                  <a:t>n</a:t>
                </a:r>
                <a:r>
                  <a:rPr lang="nl-NL" b="1" dirty="0"/>
                  <a:t> là số trẻ mới sinh. Ta coi mỗi lần sinh là một phép thử và biến cố liên quan đến phép thử là biến cố: “sinh con gái”. Như vậy ta có </a:t>
                </a:r>
                <a:r>
                  <a:rPr lang="nl-NL" b="1" i="1" dirty="0"/>
                  <a:t>n</a:t>
                </a:r>
                <a:r>
                  <a:rPr lang="nl-NL" b="1" dirty="0"/>
                  <a:t> phép thử và xác suất sinh con gái là 0,488.</a:t>
                </a:r>
                <a:endParaRPr lang="vi-VN" b="1" dirty="0"/>
              </a:p>
              <a:p>
                <a:r>
                  <a:rPr lang="nl-NL" b="1" dirty="0"/>
                  <a:t>Với 10000 bé gái mới sinh, ta có:</a:t>
                </a:r>
              </a:p>
              <a:p>
                <a:pPr marL="0" indent="0">
                  <a:buNone/>
                </a:pPr>
                <a:r>
                  <a:rPr lang="nl-NL" b="1" dirty="0"/>
                  <a:t> </a:t>
                </a:r>
                <a14:m>
                  <m:oMath xmlns:m="http://schemas.openxmlformats.org/officeDocument/2006/math">
                    <m:f>
                      <m:fPr>
                        <m:ctrlPr>
                          <a:rPr lang="vi-VN" b="1" i="1">
                            <a:latin typeface="Cambria Math" panose="02040503050406030204" pitchFamily="18" charset="0"/>
                          </a:rPr>
                        </m:ctrlPr>
                      </m:fPr>
                      <m:num>
                        <m:r>
                          <a:rPr lang="nl-NL" b="1" i="1">
                            <a:latin typeface="Cambria Math" panose="02040503050406030204" pitchFamily="18" charset="0"/>
                          </a:rPr>
                          <m:t>𝟏𝟎𝟎𝟎𝟎</m:t>
                        </m:r>
                      </m:num>
                      <m:den>
                        <m:r>
                          <a:rPr lang="nl-NL" b="1" i="1">
                            <a:latin typeface="Cambria Math" panose="02040503050406030204" pitchFamily="18" charset="0"/>
                          </a:rPr>
                          <m:t>𝒏</m:t>
                        </m:r>
                      </m:den>
                    </m:f>
                    <m:r>
                      <a:rPr lang="nl-NL" b="1" i="1">
                        <a:latin typeface="Cambria Math" panose="02040503050406030204" pitchFamily="18" charset="0"/>
                      </a:rPr>
                      <m:t>=</m:t>
                    </m:r>
                    <m:r>
                      <a:rPr lang="nl-NL" b="1" i="1">
                        <a:latin typeface="Cambria Math" panose="02040503050406030204" pitchFamily="18" charset="0"/>
                      </a:rPr>
                      <m:t>𝟎</m:t>
                    </m:r>
                    <m:r>
                      <a:rPr lang="nl-NL" b="1" i="1">
                        <a:latin typeface="Cambria Math" panose="02040503050406030204" pitchFamily="18" charset="0"/>
                      </a:rPr>
                      <m:t>,</m:t>
                    </m:r>
                    <m:r>
                      <a:rPr lang="nl-NL" b="1" i="1">
                        <a:latin typeface="Cambria Math" panose="02040503050406030204" pitchFamily="18" charset="0"/>
                      </a:rPr>
                      <m:t>𝟒𝟖𝟖</m:t>
                    </m:r>
                    <m:r>
                      <a:rPr lang="nl-NL" b="1" i="1">
                        <a:latin typeface="Cambria Math" panose="02040503050406030204" pitchFamily="18" charset="0"/>
                      </a:rPr>
                      <m:t>⇔</m:t>
                    </m:r>
                    <m:r>
                      <a:rPr lang="nl-NL" b="1" i="1">
                        <a:latin typeface="Cambria Math" panose="02040503050406030204" pitchFamily="18" charset="0"/>
                      </a:rPr>
                      <m:t>𝒏</m:t>
                    </m:r>
                    <m:r>
                      <a:rPr lang="nl-NL" b="1" i="1">
                        <a:latin typeface="Cambria Math" panose="02040503050406030204" pitchFamily="18" charset="0"/>
                      </a:rPr>
                      <m:t>=</m:t>
                    </m:r>
                    <m:f>
                      <m:fPr>
                        <m:ctrlPr>
                          <a:rPr lang="vi-VN" b="1" i="1">
                            <a:latin typeface="Cambria Math" panose="02040503050406030204" pitchFamily="18" charset="0"/>
                          </a:rPr>
                        </m:ctrlPr>
                      </m:fPr>
                      <m:num>
                        <m:r>
                          <a:rPr lang="nl-NL" b="1" i="1">
                            <a:latin typeface="Cambria Math" panose="02040503050406030204" pitchFamily="18" charset="0"/>
                          </a:rPr>
                          <m:t>𝟏𝟎𝟎𝟎𝟎</m:t>
                        </m:r>
                      </m:num>
                      <m:den>
                        <m:r>
                          <a:rPr lang="nl-NL" b="1" i="1">
                            <a:latin typeface="Cambria Math" panose="02040503050406030204" pitchFamily="18" charset="0"/>
                          </a:rPr>
                          <m:t>𝟎</m:t>
                        </m:r>
                        <m:r>
                          <a:rPr lang="nl-NL" b="1" i="1">
                            <a:latin typeface="Cambria Math" panose="02040503050406030204" pitchFamily="18" charset="0"/>
                          </a:rPr>
                          <m:t>,</m:t>
                        </m:r>
                        <m:r>
                          <a:rPr lang="nl-NL" b="1" i="1">
                            <a:latin typeface="Cambria Math" panose="02040503050406030204" pitchFamily="18" charset="0"/>
                          </a:rPr>
                          <m:t>𝟒𝟖𝟖</m:t>
                        </m:r>
                      </m:den>
                    </m:f>
                    <m:r>
                      <a:rPr lang="nl-NL" b="1" i="1">
                        <a:latin typeface="Cambria Math" panose="02040503050406030204" pitchFamily="18" charset="0"/>
                      </a:rPr>
                      <m:t>≈</m:t>
                    </m:r>
                    <m:r>
                      <a:rPr lang="nl-NL" b="1" i="1">
                        <a:latin typeface="Cambria Math" panose="02040503050406030204" pitchFamily="18" charset="0"/>
                      </a:rPr>
                      <m:t>𝟐𝟎𝟒𝟗𝟏</m:t>
                    </m:r>
                  </m:oMath>
                </a14:m>
                <a:r>
                  <a:rPr lang="nl-NL" b="1" dirty="0"/>
                  <a:t>.</a:t>
                </a:r>
                <a:endParaRPr lang="vi-VN" b="1" dirty="0"/>
              </a:p>
              <a:p>
                <a:r>
                  <a:rPr lang="nl-NL" b="1" dirty="0"/>
                  <a:t>Vậy số bé trai tương ứng là</a:t>
                </a:r>
              </a:p>
              <a:p>
                <a:pPr marL="0" indent="0">
                  <a:buNone/>
                </a:pPr>
                <a:r>
                  <a:rPr lang="nl-NL" b="1" dirty="0"/>
                  <a:t> 20491 – 10000 = 10491.</a:t>
                </a:r>
                <a:endParaRPr lang="vi-VN" b="1" dirty="0"/>
              </a:p>
            </p:txBody>
          </p:sp>
        </mc:Choice>
        <mc:Fallback xmlns="">
          <p:sp>
            <p:nvSpPr>
              <p:cNvPr id="7" name="Content Placeholder 2">
                <a:extLst>
                  <a:ext uri="{FF2B5EF4-FFF2-40B4-BE49-F238E27FC236}">
                    <a16:creationId xmlns:a16="http://schemas.microsoft.com/office/drawing/2014/main" id="{08B49A2E-2A9D-46FD-AE9C-29462A33F0E6}"/>
                  </a:ext>
                </a:extLst>
              </p:cNvPr>
              <p:cNvSpPr txBox="1">
                <a:spLocks noRot="1" noChangeAspect="1" noMove="1" noResize="1" noEditPoints="1" noAdjustHandles="1" noChangeArrowheads="1" noChangeShapeType="1" noTextEdit="1"/>
              </p:cNvSpPr>
              <p:nvPr/>
            </p:nvSpPr>
            <p:spPr>
              <a:xfrm>
                <a:off x="12344400" y="2971801"/>
                <a:ext cx="11630891" cy="10447339"/>
              </a:xfrm>
              <a:prstGeom prst="rect">
                <a:avLst/>
              </a:prstGeom>
              <a:blipFill>
                <a:blip r:embed="rId3"/>
                <a:stretch>
                  <a:fillRect l="-2094" t="-1924" r="-1675"/>
                </a:stretch>
              </a:blipFill>
              <a:ln>
                <a:solidFill>
                  <a:srgbClr val="00B0F0"/>
                </a:solidFill>
              </a:ln>
            </p:spPr>
            <p:txBody>
              <a:bodyPr/>
              <a:lstStyle/>
              <a:p>
                <a:r>
                  <a:rPr lang="en-US">
                    <a:noFill/>
                  </a:rPr>
                  <a:t> </a:t>
                </a:r>
              </a:p>
            </p:txBody>
          </p:sp>
        </mc:Fallback>
      </mc:AlternateContent>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IX   ·   BÀI 26</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30222441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up)">
                                      <p:cBhvr>
                                        <p:cTn id="7" dur="1000"/>
                                        <p:tgtEl>
                                          <p:spTgt spid="9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99"/>
                                        </p:tgtEl>
                                        <p:attrNameLst>
                                          <p:attrName>style.visibility</p:attrName>
                                        </p:attrNameLst>
                                      </p:cBhvr>
                                      <p:to>
                                        <p:strVal val="visible"/>
                                      </p:to>
                                    </p:set>
                                    <p:animEffect transition="in" filter="wipe(up)">
                                      <p:cBhvr>
                                        <p:cTn id="12" dur="500"/>
                                        <p:tgtEl>
                                          <p:spTgt spid="9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99">
                                            <p:txEl>
                                              <p:pRg st="0" end="0"/>
                                            </p:txEl>
                                          </p:spTgt>
                                        </p:tgtEl>
                                        <p:attrNameLst>
                                          <p:attrName>style.visibility</p:attrName>
                                        </p:attrNameLst>
                                      </p:cBhvr>
                                      <p:to>
                                        <p:strVal val="visible"/>
                                      </p:to>
                                    </p:set>
                                    <p:animEffect transition="in" filter="wipe(up)">
                                      <p:cBhvr>
                                        <p:cTn id="17" dur="500"/>
                                        <p:tgtEl>
                                          <p:spTgt spid="99">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99">
                                            <p:txEl>
                                              <p:pRg st="1" end="1"/>
                                            </p:txEl>
                                          </p:spTgt>
                                        </p:tgtEl>
                                        <p:attrNameLst>
                                          <p:attrName>style.visibility</p:attrName>
                                        </p:attrNameLst>
                                      </p:cBhvr>
                                      <p:to>
                                        <p:strVal val="visible"/>
                                      </p:to>
                                    </p:set>
                                    <p:animEffect transition="in" filter="wipe(up)">
                                      <p:cBhvr>
                                        <p:cTn id="22" dur="500"/>
                                        <p:tgtEl>
                                          <p:spTgt spid="99">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99">
                                            <p:txEl>
                                              <p:pRg st="2" end="2"/>
                                            </p:txEl>
                                          </p:spTgt>
                                        </p:tgtEl>
                                        <p:attrNameLst>
                                          <p:attrName>style.visibility</p:attrName>
                                        </p:attrNameLst>
                                      </p:cBhvr>
                                      <p:to>
                                        <p:strVal val="visible"/>
                                      </p:to>
                                    </p:set>
                                    <p:animEffect transition="in" filter="wipe(up)">
                                      <p:cBhvr>
                                        <p:cTn id="27" dur="500"/>
                                        <p:tgtEl>
                                          <p:spTgt spid="99">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up)">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7">
                                            <p:txEl>
                                              <p:pRg st="0" end="0"/>
                                            </p:txEl>
                                          </p:spTgt>
                                        </p:tgtEl>
                                        <p:attrNameLst>
                                          <p:attrName>style.visibility</p:attrName>
                                        </p:attrNameLst>
                                      </p:cBhvr>
                                      <p:to>
                                        <p:strVal val="visible"/>
                                      </p:to>
                                    </p:set>
                                    <p:animEffect transition="in" filter="wipe(up)">
                                      <p:cBhvr>
                                        <p:cTn id="37" dur="500"/>
                                        <p:tgtEl>
                                          <p:spTgt spid="7">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7">
                                            <p:txEl>
                                              <p:pRg st="1" end="1"/>
                                            </p:txEl>
                                          </p:spTgt>
                                        </p:tgtEl>
                                        <p:attrNameLst>
                                          <p:attrName>style.visibility</p:attrName>
                                        </p:attrNameLst>
                                      </p:cBhvr>
                                      <p:to>
                                        <p:strVal val="visible"/>
                                      </p:to>
                                    </p:set>
                                    <p:animEffect transition="in" filter="wipe(up)">
                                      <p:cBhvr>
                                        <p:cTn id="42" dur="500"/>
                                        <p:tgtEl>
                                          <p:spTgt spid="7">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7">
                                            <p:txEl>
                                              <p:pRg st="2" end="2"/>
                                            </p:txEl>
                                          </p:spTgt>
                                        </p:tgtEl>
                                        <p:attrNameLst>
                                          <p:attrName>style.visibility</p:attrName>
                                        </p:attrNameLst>
                                      </p:cBhvr>
                                      <p:to>
                                        <p:strVal val="visible"/>
                                      </p:to>
                                    </p:set>
                                    <p:animEffect transition="in" filter="wipe(up)">
                                      <p:cBhvr>
                                        <p:cTn id="47" dur="500"/>
                                        <p:tgtEl>
                                          <p:spTgt spid="7">
                                            <p:txEl>
                                              <p:pRg st="2" end="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nodeType="clickEffect">
                                  <p:stCondLst>
                                    <p:cond delay="0"/>
                                  </p:stCondLst>
                                  <p:childTnLst>
                                    <p:set>
                                      <p:cBhvr>
                                        <p:cTn id="51" dur="1" fill="hold">
                                          <p:stCondLst>
                                            <p:cond delay="0"/>
                                          </p:stCondLst>
                                        </p:cTn>
                                        <p:tgtEl>
                                          <p:spTgt spid="7">
                                            <p:txEl>
                                              <p:pRg st="3" end="3"/>
                                            </p:txEl>
                                          </p:spTgt>
                                        </p:tgtEl>
                                        <p:attrNameLst>
                                          <p:attrName>style.visibility</p:attrName>
                                        </p:attrNameLst>
                                      </p:cBhvr>
                                      <p:to>
                                        <p:strVal val="visible"/>
                                      </p:to>
                                    </p:set>
                                    <p:animEffect transition="in" filter="wipe(up)">
                                      <p:cBhvr>
                                        <p:cTn id="52" dur="500"/>
                                        <p:tgtEl>
                                          <p:spTgt spid="7">
                                            <p:txEl>
                                              <p:pRg st="3" end="3"/>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nodeType="clickEffect">
                                  <p:stCondLst>
                                    <p:cond delay="0"/>
                                  </p:stCondLst>
                                  <p:childTnLst>
                                    <p:set>
                                      <p:cBhvr>
                                        <p:cTn id="56" dur="1" fill="hold">
                                          <p:stCondLst>
                                            <p:cond delay="0"/>
                                          </p:stCondLst>
                                        </p:cTn>
                                        <p:tgtEl>
                                          <p:spTgt spid="7">
                                            <p:txEl>
                                              <p:pRg st="4" end="4"/>
                                            </p:txEl>
                                          </p:spTgt>
                                        </p:tgtEl>
                                        <p:attrNameLst>
                                          <p:attrName>style.visibility</p:attrName>
                                        </p:attrNameLst>
                                      </p:cBhvr>
                                      <p:to>
                                        <p:strVal val="visible"/>
                                      </p:to>
                                    </p:set>
                                    <p:animEffect transition="in" filter="wipe(up)">
                                      <p:cBhvr>
                                        <p:cTn id="57" dur="500"/>
                                        <p:tgtEl>
                                          <p:spTgt spid="7">
                                            <p:txEl>
                                              <p:pRg st="4" end="4"/>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nodeType="clickEffect">
                                  <p:stCondLst>
                                    <p:cond delay="0"/>
                                  </p:stCondLst>
                                  <p:childTnLst>
                                    <p:set>
                                      <p:cBhvr>
                                        <p:cTn id="61" dur="1" fill="hold">
                                          <p:stCondLst>
                                            <p:cond delay="0"/>
                                          </p:stCondLst>
                                        </p:cTn>
                                        <p:tgtEl>
                                          <p:spTgt spid="7">
                                            <p:txEl>
                                              <p:pRg st="5" end="5"/>
                                            </p:txEl>
                                          </p:spTgt>
                                        </p:tgtEl>
                                        <p:attrNameLst>
                                          <p:attrName>style.visibility</p:attrName>
                                        </p:attrNameLst>
                                      </p:cBhvr>
                                      <p:to>
                                        <p:strVal val="visible"/>
                                      </p:to>
                                    </p:set>
                                    <p:animEffect transition="in" filter="wipe(up)">
                                      <p:cBhvr>
                                        <p:cTn id="62" dur="5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99" grpId="0" animBg="1"/>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7" name="Title 1">
                <a:extLst>
                  <a:ext uri="{FF2B5EF4-FFF2-40B4-BE49-F238E27FC236}">
                    <a16:creationId xmlns:a16="http://schemas.microsoft.com/office/drawing/2014/main" id="{D87ADF89-46F9-4713-9744-A644701231B8}"/>
                  </a:ext>
                </a:extLst>
              </p:cNvPr>
              <p:cNvSpPr txBox="1">
                <a:spLocks/>
              </p:cNvSpPr>
              <p:nvPr/>
            </p:nvSpPr>
            <p:spPr>
              <a:xfrm>
                <a:off x="304800" y="1752600"/>
                <a:ext cx="23698200" cy="3886200"/>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vi-VN" b="1" dirty="0">
                    <a:solidFill>
                      <a:srgbClr val="FF0000"/>
                    </a:solidFill>
                  </a:rPr>
                  <a:t> BÀI TẬP</a:t>
                </a:r>
                <a:endParaRPr lang="en-US" b="1" dirty="0">
                  <a:solidFill>
                    <a:srgbClr val="FF0000"/>
                  </a:solidFill>
                </a:endParaRPr>
              </a:p>
              <a:p>
                <a:r>
                  <a:rPr lang="en-US" b="1" dirty="0" err="1">
                    <a:solidFill>
                      <a:srgbClr val="FF0000"/>
                    </a:solidFill>
                  </a:rPr>
                  <a:t>Câu</a:t>
                </a:r>
                <a:r>
                  <a:rPr lang="en-US" b="1" dirty="0">
                    <a:solidFill>
                      <a:srgbClr val="FF0000"/>
                    </a:solidFill>
                  </a:rPr>
                  <a:t> 9.1</a:t>
                </a:r>
                <a:r>
                  <a:rPr lang="vi-VN" b="1" dirty="0">
                    <a:solidFill>
                      <a:srgbClr val="FF0000"/>
                    </a:solidFill>
                  </a:rPr>
                  <a:t> </a:t>
                </a:r>
                <a:r>
                  <a:rPr lang="vi-VN" b="1" dirty="0"/>
                  <a:t>	</a:t>
                </a:r>
              </a:p>
              <a:p>
                <a:r>
                  <a:rPr lang="vi-VN" b="1" dirty="0"/>
                  <a:t>a) Mô tả không gian mẫu.</a:t>
                </a:r>
              </a:p>
              <a:p>
                <a:r>
                  <a:rPr lang="vi-VN" b="1" dirty="0"/>
                  <a:t>b) Gọi A là biến cố: “Số được chọn là số nguyên tố”. Các biến cố A và </a:t>
                </a:r>
                <a14:m>
                  <m:oMath xmlns:m="http://schemas.openxmlformats.org/officeDocument/2006/math">
                    <m:bar>
                      <m:barPr>
                        <m:pos m:val="top"/>
                        <m:ctrlPr>
                          <a:rPr lang="en-US" b="1" i="1">
                            <a:latin typeface="Cambria Math" panose="02040503050406030204" pitchFamily="18" charset="0"/>
                          </a:rPr>
                        </m:ctrlPr>
                      </m:barPr>
                      <m:e>
                        <m:r>
                          <a:rPr lang="nl-NL" b="1" i="1">
                            <a:latin typeface="Cambria Math" panose="02040503050406030204" pitchFamily="18" charset="0"/>
                          </a:rPr>
                          <m:t>𝑨</m:t>
                        </m:r>
                      </m:e>
                    </m:bar>
                  </m:oMath>
                </a14:m>
                <a:r>
                  <a:rPr lang="vi-VN" b="1" dirty="0"/>
                  <a:t> là tập con nào của không gian mẫu?</a:t>
                </a:r>
              </a:p>
            </p:txBody>
          </p:sp>
        </mc:Choice>
        <mc:Fallback xmlns="">
          <p:sp>
            <p:nvSpPr>
              <p:cNvPr id="97" name="Title 1">
                <a:extLst>
                  <a:ext uri="{FF2B5EF4-FFF2-40B4-BE49-F238E27FC236}">
                    <a16:creationId xmlns:a16="http://schemas.microsoft.com/office/drawing/2014/main" id="{D87ADF89-46F9-4713-9744-A644701231B8}"/>
                  </a:ext>
                </a:extLst>
              </p:cNvPr>
              <p:cNvSpPr txBox="1">
                <a:spLocks noRot="1" noChangeAspect="1" noMove="1" noResize="1" noEditPoints="1" noAdjustHandles="1" noChangeArrowheads="1" noChangeShapeType="1" noTextEdit="1"/>
              </p:cNvSpPr>
              <p:nvPr/>
            </p:nvSpPr>
            <p:spPr>
              <a:xfrm>
                <a:off x="304800" y="1752600"/>
                <a:ext cx="23698200" cy="3886200"/>
              </a:xfrm>
              <a:prstGeom prst="rect">
                <a:avLst/>
              </a:prstGeom>
              <a:blipFill>
                <a:blip r:embed="rId3"/>
                <a:stretch>
                  <a:fillRect l="-1337" t="-6260" b="-9233"/>
                </a:stretch>
              </a:blipFill>
              <a:ln>
                <a:solidFill>
                  <a:schemeClr val="tx2">
                    <a:lumMod val="20000"/>
                    <a:lumOff val="80000"/>
                  </a:schemeClr>
                </a:solidFill>
              </a:ln>
            </p:spPr>
            <p:txBody>
              <a:bodyPr/>
              <a:lstStyle/>
              <a:p>
                <a:r>
                  <a:rPr lang="en-US">
                    <a:noFill/>
                  </a:rPr>
                  <a:t> </a:t>
                </a:r>
              </a:p>
            </p:txBody>
          </p:sp>
        </mc:Fallback>
      </mc:AlternateContent>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381000" y="5638800"/>
            <a:ext cx="12212782" cy="7864476"/>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vi-VN" b="1" dirty="0">
                <a:solidFill>
                  <a:srgbClr val="FF0000"/>
                </a:solidFill>
              </a:rPr>
              <a:t>Lời giải</a:t>
            </a:r>
          </a:p>
          <a:p>
            <a:r>
              <a:rPr lang="vi-VN" b="1" dirty="0"/>
              <a:t> a) Chọn ngẫu nhiên một số nguyên dương không lớn hơn 30, không gian mẫu là:</a:t>
            </a:r>
          </a:p>
          <a:p>
            <a:r>
              <a:rPr lang="el-GR" b="1" dirty="0"/>
              <a:t>Ω={1;2;3;4;5;6;7;8;9;10;11;12;13;14;15;16;17;18;19;20;21;22;23;24;25;26;27;28;29;30}</a:t>
            </a:r>
          </a:p>
          <a:p>
            <a:r>
              <a:rPr lang="vi-VN" b="1" dirty="0"/>
              <a:t>Hay </a:t>
            </a:r>
            <a:r>
              <a:rPr lang="el-GR" b="1" dirty="0"/>
              <a:t>Ω={1;2;3;...;30}.</a:t>
            </a:r>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2877799" y="5638800"/>
                <a:ext cx="11097491" cy="7780340"/>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vi-VN" b="1" dirty="0"/>
                  <a:t>b) A là biến cố: “Số được chọn là số nguyên tố”, ta có  </a:t>
                </a:r>
              </a:p>
              <a:p>
                <a:r>
                  <a:rPr lang="vi-VN" b="1" dirty="0"/>
                  <a:t>A={2;3;5;7;11;13;17;19;23;29}.</a:t>
                </a:r>
              </a:p>
              <a:p>
                <a14:m>
                  <m:oMath xmlns:m="http://schemas.openxmlformats.org/officeDocument/2006/math">
                    <m:bar>
                      <m:barPr>
                        <m:pos m:val="top"/>
                        <m:ctrlPr>
                          <a:rPr lang="en-US" b="1" i="1">
                            <a:latin typeface="Cambria Math" panose="02040503050406030204" pitchFamily="18" charset="0"/>
                          </a:rPr>
                        </m:ctrlPr>
                      </m:barPr>
                      <m:e>
                        <m:r>
                          <a:rPr lang="nl-NL" b="1" i="1">
                            <a:latin typeface="Cambria Math" panose="02040503050406030204" pitchFamily="18" charset="0"/>
                          </a:rPr>
                          <m:t>𝑨</m:t>
                        </m:r>
                      </m:e>
                    </m:bar>
                  </m:oMath>
                </a14:m>
                <a:r>
                  <a:rPr lang="vi-VN" b="1" dirty="0"/>
                  <a:t> là biến cố: “Số được chọn không phải là số nguyên tố”, ta có</a:t>
                </a:r>
              </a:p>
              <a:p>
                <a14:m>
                  <m:oMath xmlns:m="http://schemas.openxmlformats.org/officeDocument/2006/math">
                    <m:bar>
                      <m:barPr>
                        <m:pos m:val="top"/>
                        <m:ctrlPr>
                          <a:rPr lang="en-US" b="1" i="1">
                            <a:latin typeface="Cambria Math" panose="02040503050406030204" pitchFamily="18" charset="0"/>
                          </a:rPr>
                        </m:ctrlPr>
                      </m:barPr>
                      <m:e>
                        <m:r>
                          <a:rPr lang="nl-NL" b="1" i="1">
                            <a:latin typeface="Cambria Math" panose="02040503050406030204" pitchFamily="18" charset="0"/>
                          </a:rPr>
                          <m:t>𝑨</m:t>
                        </m:r>
                      </m:e>
                    </m:bar>
                  </m:oMath>
                </a14:m>
                <a:r>
                  <a:rPr lang="vi-VN" b="1" dirty="0"/>
                  <a:t>=</a:t>
                </a:r>
                <a:r>
                  <a:rPr lang="el-GR" b="1" dirty="0"/>
                  <a:t>Ω\</a:t>
                </a:r>
                <a:r>
                  <a:rPr lang="vi-VN" b="1" dirty="0"/>
                  <a:t>A</a:t>
                </a:r>
                <a:endParaRPr lang="en-US" b="1" dirty="0"/>
              </a:p>
              <a:p>
                <a:pPr marL="0" indent="0">
                  <a:buNone/>
                </a:pPr>
                <a:r>
                  <a:rPr lang="vi-VN" b="1" dirty="0"/>
                  <a:t>={1;4;6;8;9;10;12;14;15;16;18;20;21;22;24;25;26;27;28;30}.</a:t>
                </a:r>
              </a:p>
            </p:txBody>
          </p:sp>
        </mc:Choice>
        <mc:Fallback xmlns="">
          <p:sp>
            <p:nvSpPr>
              <p:cNvPr id="7" name="Content Placeholder 2">
                <a:extLst>
                  <a:ext uri="{FF2B5EF4-FFF2-40B4-BE49-F238E27FC236}">
                    <a16:creationId xmlns:a16="http://schemas.microsoft.com/office/drawing/2014/main" id="{08B49A2E-2A9D-46FD-AE9C-29462A33F0E6}"/>
                  </a:ext>
                </a:extLst>
              </p:cNvPr>
              <p:cNvSpPr txBox="1">
                <a:spLocks noRot="1" noChangeAspect="1" noMove="1" noResize="1" noEditPoints="1" noAdjustHandles="1" noChangeArrowheads="1" noChangeShapeType="1" noTextEdit="1"/>
              </p:cNvSpPr>
              <p:nvPr/>
            </p:nvSpPr>
            <p:spPr>
              <a:xfrm>
                <a:off x="12877799" y="5638800"/>
                <a:ext cx="11097491" cy="7780340"/>
              </a:xfrm>
              <a:prstGeom prst="rect">
                <a:avLst/>
              </a:prstGeom>
              <a:blipFill>
                <a:blip r:embed="rId4"/>
                <a:stretch>
                  <a:fillRect l="-2414" t="-2582" r="-1371"/>
                </a:stretch>
              </a:blipFill>
              <a:ln>
                <a:solidFill>
                  <a:srgbClr val="00B0F0"/>
                </a:solidFill>
              </a:ln>
            </p:spPr>
            <p:txBody>
              <a:bodyPr/>
              <a:lstStyle/>
              <a:p>
                <a:r>
                  <a:rPr lang="en-US">
                    <a:noFill/>
                  </a:rPr>
                  <a:t> </a:t>
                </a:r>
              </a:p>
            </p:txBody>
          </p:sp>
        </mc:Fallback>
      </mc:AlternateContent>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IX   ·   BÀI 26</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79009030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up)">
                                      <p:cBhvr>
                                        <p:cTn id="7" dur="1000"/>
                                        <p:tgtEl>
                                          <p:spTgt spid="97"/>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99"/>
                                        </p:tgtEl>
                                        <p:attrNameLst>
                                          <p:attrName>style.visibility</p:attrName>
                                        </p:attrNameLst>
                                      </p:cBhvr>
                                      <p:to>
                                        <p:strVal val="visible"/>
                                      </p:to>
                                    </p:set>
                                    <p:animEffect transition="in" filter="wipe(up)">
                                      <p:cBhvr>
                                        <p:cTn id="11" dur="500"/>
                                        <p:tgtEl>
                                          <p:spTgt spid="99"/>
                                        </p:tgtEl>
                                      </p:cBhvr>
                                    </p:animEffect>
                                  </p:childTnLst>
                                </p:cTn>
                              </p:par>
                            </p:childTnLst>
                          </p:cTn>
                        </p:par>
                        <p:par>
                          <p:cTn id="12" fill="hold">
                            <p:stCondLst>
                              <p:cond delay="1500"/>
                            </p:stCondLst>
                            <p:childTnLst>
                              <p:par>
                                <p:cTn id="13" presetID="22" presetClass="entr" presetSubtype="1" fill="hold" nodeType="afterEffect">
                                  <p:stCondLst>
                                    <p:cond delay="0"/>
                                  </p:stCondLst>
                                  <p:childTnLst>
                                    <p:set>
                                      <p:cBhvr>
                                        <p:cTn id="14" dur="1" fill="hold">
                                          <p:stCondLst>
                                            <p:cond delay="0"/>
                                          </p:stCondLst>
                                        </p:cTn>
                                        <p:tgtEl>
                                          <p:spTgt spid="99">
                                            <p:txEl>
                                              <p:pRg st="0" end="0"/>
                                            </p:txEl>
                                          </p:spTgt>
                                        </p:tgtEl>
                                        <p:attrNameLst>
                                          <p:attrName>style.visibility</p:attrName>
                                        </p:attrNameLst>
                                      </p:cBhvr>
                                      <p:to>
                                        <p:strVal val="visible"/>
                                      </p:to>
                                    </p:set>
                                    <p:animEffect transition="in" filter="wipe(up)">
                                      <p:cBhvr>
                                        <p:cTn id="15" dur="500"/>
                                        <p:tgtEl>
                                          <p:spTgt spid="99">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99">
                                            <p:txEl>
                                              <p:pRg st="1" end="1"/>
                                            </p:txEl>
                                          </p:spTgt>
                                        </p:tgtEl>
                                        <p:attrNameLst>
                                          <p:attrName>style.visibility</p:attrName>
                                        </p:attrNameLst>
                                      </p:cBhvr>
                                      <p:to>
                                        <p:strVal val="visible"/>
                                      </p:to>
                                    </p:set>
                                    <p:animEffect transition="in" filter="wipe(up)">
                                      <p:cBhvr>
                                        <p:cTn id="20" dur="500"/>
                                        <p:tgtEl>
                                          <p:spTgt spid="99">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99">
                                            <p:txEl>
                                              <p:pRg st="2" end="2"/>
                                            </p:txEl>
                                          </p:spTgt>
                                        </p:tgtEl>
                                        <p:attrNameLst>
                                          <p:attrName>style.visibility</p:attrName>
                                        </p:attrNameLst>
                                      </p:cBhvr>
                                      <p:to>
                                        <p:strVal val="visible"/>
                                      </p:to>
                                    </p:set>
                                    <p:animEffect transition="in" filter="wipe(up)">
                                      <p:cBhvr>
                                        <p:cTn id="25" dur="500"/>
                                        <p:tgtEl>
                                          <p:spTgt spid="99">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99">
                                            <p:txEl>
                                              <p:pRg st="3" end="3"/>
                                            </p:txEl>
                                          </p:spTgt>
                                        </p:tgtEl>
                                        <p:attrNameLst>
                                          <p:attrName>style.visibility</p:attrName>
                                        </p:attrNameLst>
                                      </p:cBhvr>
                                      <p:to>
                                        <p:strVal val="visible"/>
                                      </p:to>
                                    </p:set>
                                    <p:animEffect transition="in" filter="wipe(up)">
                                      <p:cBhvr>
                                        <p:cTn id="30" dur="500"/>
                                        <p:tgtEl>
                                          <p:spTgt spid="99">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wipe(up)">
                                      <p:cBhvr>
                                        <p:cTn id="35" dur="500"/>
                                        <p:tgtEl>
                                          <p:spTgt spid="7"/>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nodeType="clickEffect">
                                  <p:stCondLst>
                                    <p:cond delay="0"/>
                                  </p:stCondLst>
                                  <p:childTnLst>
                                    <p:set>
                                      <p:cBhvr>
                                        <p:cTn id="39" dur="1" fill="hold">
                                          <p:stCondLst>
                                            <p:cond delay="0"/>
                                          </p:stCondLst>
                                        </p:cTn>
                                        <p:tgtEl>
                                          <p:spTgt spid="7">
                                            <p:txEl>
                                              <p:pRg st="0" end="0"/>
                                            </p:txEl>
                                          </p:spTgt>
                                        </p:tgtEl>
                                        <p:attrNameLst>
                                          <p:attrName>style.visibility</p:attrName>
                                        </p:attrNameLst>
                                      </p:cBhvr>
                                      <p:to>
                                        <p:strVal val="visible"/>
                                      </p:to>
                                    </p:set>
                                    <p:animEffect transition="in" filter="wipe(up)">
                                      <p:cBhvr>
                                        <p:cTn id="40" dur="500"/>
                                        <p:tgtEl>
                                          <p:spTgt spid="7">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1" fill="hold" nodeType="clickEffect">
                                  <p:stCondLst>
                                    <p:cond delay="0"/>
                                  </p:stCondLst>
                                  <p:childTnLst>
                                    <p:set>
                                      <p:cBhvr>
                                        <p:cTn id="44" dur="1" fill="hold">
                                          <p:stCondLst>
                                            <p:cond delay="0"/>
                                          </p:stCondLst>
                                        </p:cTn>
                                        <p:tgtEl>
                                          <p:spTgt spid="7">
                                            <p:txEl>
                                              <p:pRg st="1" end="1"/>
                                            </p:txEl>
                                          </p:spTgt>
                                        </p:tgtEl>
                                        <p:attrNameLst>
                                          <p:attrName>style.visibility</p:attrName>
                                        </p:attrNameLst>
                                      </p:cBhvr>
                                      <p:to>
                                        <p:strVal val="visible"/>
                                      </p:to>
                                    </p:set>
                                    <p:animEffect transition="in" filter="wipe(up)">
                                      <p:cBhvr>
                                        <p:cTn id="45" dur="500"/>
                                        <p:tgtEl>
                                          <p:spTgt spid="7">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1" fill="hold" nodeType="clickEffect">
                                  <p:stCondLst>
                                    <p:cond delay="0"/>
                                  </p:stCondLst>
                                  <p:childTnLst>
                                    <p:set>
                                      <p:cBhvr>
                                        <p:cTn id="49" dur="1" fill="hold">
                                          <p:stCondLst>
                                            <p:cond delay="0"/>
                                          </p:stCondLst>
                                        </p:cTn>
                                        <p:tgtEl>
                                          <p:spTgt spid="7">
                                            <p:txEl>
                                              <p:pRg st="2" end="2"/>
                                            </p:txEl>
                                          </p:spTgt>
                                        </p:tgtEl>
                                        <p:attrNameLst>
                                          <p:attrName>style.visibility</p:attrName>
                                        </p:attrNameLst>
                                      </p:cBhvr>
                                      <p:to>
                                        <p:strVal val="visible"/>
                                      </p:to>
                                    </p:set>
                                    <p:animEffect transition="in" filter="wipe(up)">
                                      <p:cBhvr>
                                        <p:cTn id="50" dur="500"/>
                                        <p:tgtEl>
                                          <p:spTgt spid="7">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1" fill="hold" nodeType="clickEffect">
                                  <p:stCondLst>
                                    <p:cond delay="0"/>
                                  </p:stCondLst>
                                  <p:childTnLst>
                                    <p:set>
                                      <p:cBhvr>
                                        <p:cTn id="54" dur="1" fill="hold">
                                          <p:stCondLst>
                                            <p:cond delay="0"/>
                                          </p:stCondLst>
                                        </p:cTn>
                                        <p:tgtEl>
                                          <p:spTgt spid="7">
                                            <p:txEl>
                                              <p:pRg st="3" end="3"/>
                                            </p:txEl>
                                          </p:spTgt>
                                        </p:tgtEl>
                                        <p:attrNameLst>
                                          <p:attrName>style.visibility</p:attrName>
                                        </p:attrNameLst>
                                      </p:cBhvr>
                                      <p:to>
                                        <p:strVal val="visible"/>
                                      </p:to>
                                    </p:set>
                                    <p:animEffect transition="in" filter="wipe(up)">
                                      <p:cBhvr>
                                        <p:cTn id="55" dur="500"/>
                                        <p:tgtEl>
                                          <p:spTgt spid="7">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1" fill="hold" nodeType="clickEffect">
                                  <p:stCondLst>
                                    <p:cond delay="0"/>
                                  </p:stCondLst>
                                  <p:childTnLst>
                                    <p:set>
                                      <p:cBhvr>
                                        <p:cTn id="59" dur="1" fill="hold">
                                          <p:stCondLst>
                                            <p:cond delay="0"/>
                                          </p:stCondLst>
                                        </p:cTn>
                                        <p:tgtEl>
                                          <p:spTgt spid="7">
                                            <p:txEl>
                                              <p:pRg st="4" end="4"/>
                                            </p:txEl>
                                          </p:spTgt>
                                        </p:tgtEl>
                                        <p:attrNameLst>
                                          <p:attrName>style.visibility</p:attrName>
                                        </p:attrNameLst>
                                      </p:cBhvr>
                                      <p:to>
                                        <p:strVal val="visible"/>
                                      </p:to>
                                    </p:set>
                                    <p:animEffect transition="in" filter="wipe(up)">
                                      <p:cBhvr>
                                        <p:cTn id="60"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99" grpId="0" animBg="1"/>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7" name="Title 1">
                <a:extLst>
                  <a:ext uri="{FF2B5EF4-FFF2-40B4-BE49-F238E27FC236}">
                    <a16:creationId xmlns:a16="http://schemas.microsoft.com/office/drawing/2014/main" id="{D87ADF89-46F9-4713-9744-A644701231B8}"/>
                  </a:ext>
                </a:extLst>
              </p:cNvPr>
              <p:cNvSpPr txBox="1">
                <a:spLocks/>
              </p:cNvSpPr>
              <p:nvPr/>
            </p:nvSpPr>
            <p:spPr>
              <a:xfrm>
                <a:off x="408709" y="1746068"/>
                <a:ext cx="23616062" cy="3267891"/>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nl-NL" b="1" dirty="0">
                    <a:solidFill>
                      <a:srgbClr val="FF0000"/>
                    </a:solidFill>
                  </a:rPr>
                  <a:t>Câu 9.2.     </a:t>
                </a:r>
                <a:r>
                  <a:rPr lang="en-US" b="1" dirty="0" err="1"/>
                  <a:t>Chọn</a:t>
                </a:r>
                <a:r>
                  <a:rPr lang="en-US" b="1" dirty="0"/>
                  <a:t> </a:t>
                </a:r>
                <a:r>
                  <a:rPr lang="en-US" b="1" dirty="0" err="1"/>
                  <a:t>ngẫu</a:t>
                </a:r>
                <a:r>
                  <a:rPr lang="en-US" b="1" dirty="0"/>
                  <a:t> </a:t>
                </a:r>
                <a:r>
                  <a:rPr lang="en-US" b="1" dirty="0" err="1"/>
                  <a:t>nhiên</a:t>
                </a:r>
                <a:r>
                  <a:rPr lang="en-US" b="1" dirty="0"/>
                  <a:t> </a:t>
                </a:r>
                <a:r>
                  <a:rPr lang="en-US" b="1" dirty="0" err="1"/>
                  <a:t>một</a:t>
                </a:r>
                <a:r>
                  <a:rPr lang="en-US" b="1" dirty="0"/>
                  <a:t> </a:t>
                </a:r>
                <a:r>
                  <a:rPr lang="en-US" b="1" dirty="0" err="1"/>
                  <a:t>số</a:t>
                </a:r>
                <a:r>
                  <a:rPr lang="en-US" b="1" dirty="0"/>
                  <a:t> </a:t>
                </a:r>
                <a:r>
                  <a:rPr lang="en-US" b="1" dirty="0" err="1"/>
                  <a:t>nguyên</a:t>
                </a:r>
                <a:r>
                  <a:rPr lang="en-US" b="1" dirty="0"/>
                  <a:t> </a:t>
                </a:r>
                <a:r>
                  <a:rPr lang="en-US" b="1" dirty="0" err="1"/>
                  <a:t>dương</a:t>
                </a:r>
                <a:r>
                  <a:rPr lang="en-US" b="1" dirty="0"/>
                  <a:t> </a:t>
                </a:r>
                <a:r>
                  <a:rPr lang="en-US" b="1" dirty="0" err="1"/>
                  <a:t>không</a:t>
                </a:r>
                <a:r>
                  <a:rPr lang="en-US" b="1" dirty="0"/>
                  <a:t> </a:t>
                </a:r>
                <a:r>
                  <a:rPr lang="en-US" b="1" dirty="0" err="1"/>
                  <a:t>lớn</a:t>
                </a:r>
                <a:r>
                  <a:rPr lang="en-US" b="1" dirty="0"/>
                  <a:t> </a:t>
                </a:r>
                <a:r>
                  <a:rPr lang="en-US" b="1" dirty="0" err="1"/>
                  <a:t>hơn</a:t>
                </a:r>
                <a:r>
                  <a:rPr lang="en-US" b="1" dirty="0"/>
                  <a:t> 22.</a:t>
                </a:r>
              </a:p>
              <a:p>
                <a:r>
                  <a:rPr lang="nl-NL" b="1" dirty="0"/>
                  <a:t>a) Mô tả không gian mẫu.</a:t>
                </a:r>
                <a:endParaRPr lang="vi-VN" b="1" dirty="0"/>
              </a:p>
              <a:p>
                <a:r>
                  <a:rPr lang="nl-NL" b="1" dirty="0"/>
                  <a:t>b) Gọi </a:t>
                </a:r>
                <a:r>
                  <a:rPr lang="nl-NL" b="1" i="1" dirty="0"/>
                  <a:t>B</a:t>
                </a:r>
                <a:r>
                  <a:rPr lang="nl-NL" b="1" dirty="0"/>
                  <a:t> là biến cố: “Số được chọn chia hết cho 3”. Các biến cố </a:t>
                </a:r>
                <a:r>
                  <a:rPr lang="nl-NL" b="1" i="1" dirty="0"/>
                  <a:t>B</a:t>
                </a:r>
                <a:r>
                  <a:rPr lang="nl-NL" b="1" dirty="0"/>
                  <a:t> và </a:t>
                </a:r>
                <a14:m>
                  <m:oMath xmlns:m="http://schemas.openxmlformats.org/officeDocument/2006/math">
                    <m:bar>
                      <m:barPr>
                        <m:pos m:val="top"/>
                        <m:ctrlPr>
                          <a:rPr lang="vi-VN" b="1" i="1">
                            <a:latin typeface="Cambria Math" panose="02040503050406030204" pitchFamily="18" charset="0"/>
                          </a:rPr>
                        </m:ctrlPr>
                      </m:barPr>
                      <m:e>
                        <m:r>
                          <a:rPr lang="nl-NL" b="1" i="1">
                            <a:latin typeface="Cambria Math" panose="02040503050406030204" pitchFamily="18" charset="0"/>
                          </a:rPr>
                          <m:t>𝑩</m:t>
                        </m:r>
                      </m:e>
                    </m:bar>
                  </m:oMath>
                </a14:m>
                <a:r>
                  <a:rPr lang="nl-NL" b="1" dirty="0"/>
                  <a:t> là các tập con nào của không gian mẫu?</a:t>
                </a:r>
                <a:endParaRPr lang="vi-VN" b="1" dirty="0"/>
              </a:p>
              <a:p>
                <a:endParaRPr lang="vi-VN" b="1" dirty="0"/>
              </a:p>
            </p:txBody>
          </p:sp>
        </mc:Choice>
        <mc:Fallback xmlns="">
          <p:sp>
            <p:nvSpPr>
              <p:cNvPr id="97" name="Title 1">
                <a:extLst>
                  <a:ext uri="{FF2B5EF4-FFF2-40B4-BE49-F238E27FC236}">
                    <a16:creationId xmlns:a16="http://schemas.microsoft.com/office/drawing/2014/main" id="{D87ADF89-46F9-4713-9744-A644701231B8}"/>
                  </a:ext>
                </a:extLst>
              </p:cNvPr>
              <p:cNvSpPr txBox="1">
                <a:spLocks noRot="1" noChangeAspect="1" noMove="1" noResize="1" noEditPoints="1" noAdjustHandles="1" noChangeArrowheads="1" noChangeShapeType="1" noTextEdit="1"/>
              </p:cNvSpPr>
              <p:nvPr/>
            </p:nvSpPr>
            <p:spPr>
              <a:xfrm>
                <a:off x="408709" y="1746068"/>
                <a:ext cx="23616062" cy="3267891"/>
              </a:xfrm>
              <a:prstGeom prst="rect">
                <a:avLst/>
              </a:prstGeom>
              <a:blipFill>
                <a:blip r:embed="rId3"/>
                <a:stretch>
                  <a:fillRect l="-1342" t="-7435" b="-7249"/>
                </a:stretch>
              </a:blipFill>
              <a:ln>
                <a:solidFill>
                  <a:schemeClr val="tx2">
                    <a:lumMod val="20000"/>
                    <a:lumOff val="80000"/>
                  </a:schemeClr>
                </a:solidFill>
              </a:ln>
            </p:spPr>
            <p:txBody>
              <a:bodyPr/>
              <a:lstStyle/>
              <a:p>
                <a:r>
                  <a:rPr lang="en-US">
                    <a:noFill/>
                  </a:rPr>
                  <a:t> </a:t>
                </a:r>
              </a:p>
            </p:txBody>
          </p:sp>
        </mc:Fallback>
      </mc:AlternateContent>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408709" y="5029200"/>
            <a:ext cx="10030691" cy="8405180"/>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vi-VN" b="1" u="sng" dirty="0">
                <a:solidFill>
                  <a:srgbClr val="FF0000"/>
                </a:solidFill>
              </a:rPr>
              <a:t>Lời giải</a:t>
            </a:r>
          </a:p>
          <a:p>
            <a:r>
              <a:rPr lang="vi-VN" b="1" dirty="0"/>
              <a:t> a) Chọn ngẫu nhiên một số nguyên dương không lớn hơn 22, có không gian mẫu là :</a:t>
            </a:r>
          </a:p>
          <a:p>
            <a:r>
              <a:rPr lang="el-GR" b="1" dirty="0"/>
              <a:t>Ω={1;2;3;4;5;6;7;8;9;10;11;12;13;14;15;16;17;18;19;20;21;22}.</a:t>
            </a:r>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0668000" y="5013960"/>
                <a:ext cx="13307291" cy="8405180"/>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vi-VN" b="1" dirty="0"/>
                  <a:t>b) B là biến cố: “Số được chọn chia hết cho 3”, ta có:</a:t>
                </a:r>
              </a:p>
              <a:p>
                <a:r>
                  <a:rPr lang="vi-VN" b="1" dirty="0"/>
                  <a:t>B={3;6;9;12;15;18;21;}.</a:t>
                </a:r>
              </a:p>
              <a:p>
                <a14:m>
                  <m:oMath xmlns:m="http://schemas.openxmlformats.org/officeDocument/2006/math">
                    <m:bar>
                      <m:barPr>
                        <m:pos m:val="top"/>
                        <m:ctrlPr>
                          <a:rPr lang="vi-VN" b="1" i="1">
                            <a:latin typeface="Cambria Math" panose="02040503050406030204" pitchFamily="18" charset="0"/>
                          </a:rPr>
                        </m:ctrlPr>
                      </m:barPr>
                      <m:e>
                        <m:r>
                          <a:rPr lang="nl-NL" b="1" i="1">
                            <a:latin typeface="Cambria Math" panose="02040503050406030204" pitchFamily="18" charset="0"/>
                          </a:rPr>
                          <m:t>𝑩</m:t>
                        </m:r>
                      </m:e>
                    </m:bar>
                  </m:oMath>
                </a14:m>
                <a:r>
                  <a:rPr lang="vi-VN" b="1" dirty="0"/>
                  <a:t> là biến cố: “Số được chọn không chia hết cho 3”, ta có:</a:t>
                </a:r>
              </a:p>
              <a:p>
                <a14:m>
                  <m:oMath xmlns:m="http://schemas.openxmlformats.org/officeDocument/2006/math">
                    <m:bar>
                      <m:barPr>
                        <m:pos m:val="top"/>
                        <m:ctrlPr>
                          <a:rPr lang="vi-VN" b="1" i="1">
                            <a:latin typeface="Cambria Math" panose="02040503050406030204" pitchFamily="18" charset="0"/>
                          </a:rPr>
                        </m:ctrlPr>
                      </m:barPr>
                      <m:e>
                        <m:r>
                          <a:rPr lang="nl-NL" b="1" i="1">
                            <a:latin typeface="Cambria Math" panose="02040503050406030204" pitchFamily="18" charset="0"/>
                          </a:rPr>
                          <m:t>𝑩</m:t>
                        </m:r>
                      </m:e>
                    </m:bar>
                  </m:oMath>
                </a14:m>
                <a:r>
                  <a:rPr lang="vi-VN" b="1" dirty="0"/>
                  <a:t>=</a:t>
                </a:r>
                <a:r>
                  <a:rPr lang="el-GR" b="1" dirty="0"/>
                  <a:t>Ω\</a:t>
                </a:r>
                <a:r>
                  <a:rPr lang="vi-VN" b="1" dirty="0"/>
                  <a:t>B={1;2;4;5;7;8;10;11;13;14;16;17;19;20;22}</a:t>
                </a:r>
              </a:p>
            </p:txBody>
          </p:sp>
        </mc:Choice>
        <mc:Fallback xmlns="">
          <p:sp>
            <p:nvSpPr>
              <p:cNvPr id="7" name="Content Placeholder 2">
                <a:extLst>
                  <a:ext uri="{FF2B5EF4-FFF2-40B4-BE49-F238E27FC236}">
                    <a16:creationId xmlns:a16="http://schemas.microsoft.com/office/drawing/2014/main" id="{08B49A2E-2A9D-46FD-AE9C-29462A33F0E6}"/>
                  </a:ext>
                </a:extLst>
              </p:cNvPr>
              <p:cNvSpPr txBox="1">
                <a:spLocks noRot="1" noChangeAspect="1" noMove="1" noResize="1" noEditPoints="1" noAdjustHandles="1" noChangeArrowheads="1" noChangeShapeType="1" noTextEdit="1"/>
              </p:cNvSpPr>
              <p:nvPr/>
            </p:nvSpPr>
            <p:spPr>
              <a:xfrm>
                <a:off x="10668000" y="5013960"/>
                <a:ext cx="13307291" cy="8405180"/>
              </a:xfrm>
              <a:prstGeom prst="rect">
                <a:avLst/>
              </a:prstGeom>
              <a:blipFill>
                <a:blip r:embed="rId4"/>
                <a:stretch>
                  <a:fillRect l="-1831" t="-2391" r="-229"/>
                </a:stretch>
              </a:blipFill>
              <a:ln>
                <a:solidFill>
                  <a:srgbClr val="00B0F0"/>
                </a:solidFill>
              </a:ln>
            </p:spPr>
            <p:txBody>
              <a:bodyPr/>
              <a:lstStyle/>
              <a:p>
                <a:r>
                  <a:rPr lang="en-US">
                    <a:noFill/>
                  </a:rPr>
                  <a:t> </a:t>
                </a:r>
              </a:p>
            </p:txBody>
          </p:sp>
        </mc:Fallback>
      </mc:AlternateContent>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IX   ·   BÀI 26</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2533230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up)">
                                      <p:cBhvr>
                                        <p:cTn id="7" dur="1000"/>
                                        <p:tgtEl>
                                          <p:spTgt spid="97"/>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99"/>
                                        </p:tgtEl>
                                        <p:attrNameLst>
                                          <p:attrName>style.visibility</p:attrName>
                                        </p:attrNameLst>
                                      </p:cBhvr>
                                      <p:to>
                                        <p:strVal val="visible"/>
                                      </p:to>
                                    </p:set>
                                    <p:animEffect transition="in" filter="wipe(up)">
                                      <p:cBhvr>
                                        <p:cTn id="11" dur="500"/>
                                        <p:tgtEl>
                                          <p:spTgt spid="99"/>
                                        </p:tgtEl>
                                      </p:cBhvr>
                                    </p:animEffect>
                                  </p:childTnLst>
                                </p:cTn>
                              </p:par>
                            </p:childTnLst>
                          </p:cTn>
                        </p:par>
                        <p:par>
                          <p:cTn id="12" fill="hold">
                            <p:stCondLst>
                              <p:cond delay="1500"/>
                            </p:stCondLst>
                            <p:childTnLst>
                              <p:par>
                                <p:cTn id="13" presetID="22" presetClass="entr" presetSubtype="1" fill="hold" nodeType="afterEffect">
                                  <p:stCondLst>
                                    <p:cond delay="0"/>
                                  </p:stCondLst>
                                  <p:childTnLst>
                                    <p:set>
                                      <p:cBhvr>
                                        <p:cTn id="14" dur="1" fill="hold">
                                          <p:stCondLst>
                                            <p:cond delay="0"/>
                                          </p:stCondLst>
                                        </p:cTn>
                                        <p:tgtEl>
                                          <p:spTgt spid="99">
                                            <p:txEl>
                                              <p:pRg st="0" end="0"/>
                                            </p:txEl>
                                          </p:spTgt>
                                        </p:tgtEl>
                                        <p:attrNameLst>
                                          <p:attrName>style.visibility</p:attrName>
                                        </p:attrNameLst>
                                      </p:cBhvr>
                                      <p:to>
                                        <p:strVal val="visible"/>
                                      </p:to>
                                    </p:set>
                                    <p:animEffect transition="in" filter="wipe(up)">
                                      <p:cBhvr>
                                        <p:cTn id="15" dur="500"/>
                                        <p:tgtEl>
                                          <p:spTgt spid="99">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99">
                                            <p:txEl>
                                              <p:pRg st="1" end="1"/>
                                            </p:txEl>
                                          </p:spTgt>
                                        </p:tgtEl>
                                        <p:attrNameLst>
                                          <p:attrName>style.visibility</p:attrName>
                                        </p:attrNameLst>
                                      </p:cBhvr>
                                      <p:to>
                                        <p:strVal val="visible"/>
                                      </p:to>
                                    </p:set>
                                    <p:animEffect transition="in" filter="wipe(up)">
                                      <p:cBhvr>
                                        <p:cTn id="20" dur="500"/>
                                        <p:tgtEl>
                                          <p:spTgt spid="99">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99">
                                            <p:txEl>
                                              <p:pRg st="2" end="2"/>
                                            </p:txEl>
                                          </p:spTgt>
                                        </p:tgtEl>
                                        <p:attrNameLst>
                                          <p:attrName>style.visibility</p:attrName>
                                        </p:attrNameLst>
                                      </p:cBhvr>
                                      <p:to>
                                        <p:strVal val="visible"/>
                                      </p:to>
                                    </p:set>
                                    <p:animEffect transition="in" filter="wipe(up)">
                                      <p:cBhvr>
                                        <p:cTn id="25" dur="500"/>
                                        <p:tgtEl>
                                          <p:spTgt spid="99">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grpId="0"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wipe(up)">
                                      <p:cBhvr>
                                        <p:cTn id="30" dur="500"/>
                                        <p:tgtEl>
                                          <p:spTgt spid="7"/>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nodeType="clickEffect">
                                  <p:stCondLst>
                                    <p:cond delay="0"/>
                                  </p:stCondLst>
                                  <p:childTnLst>
                                    <p:set>
                                      <p:cBhvr>
                                        <p:cTn id="34" dur="1" fill="hold">
                                          <p:stCondLst>
                                            <p:cond delay="0"/>
                                          </p:stCondLst>
                                        </p:cTn>
                                        <p:tgtEl>
                                          <p:spTgt spid="7">
                                            <p:txEl>
                                              <p:pRg st="0" end="0"/>
                                            </p:txEl>
                                          </p:spTgt>
                                        </p:tgtEl>
                                        <p:attrNameLst>
                                          <p:attrName>style.visibility</p:attrName>
                                        </p:attrNameLst>
                                      </p:cBhvr>
                                      <p:to>
                                        <p:strVal val="visible"/>
                                      </p:to>
                                    </p:set>
                                    <p:animEffect transition="in" filter="wipe(up)">
                                      <p:cBhvr>
                                        <p:cTn id="35" dur="500"/>
                                        <p:tgtEl>
                                          <p:spTgt spid="7">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nodeType="clickEffect">
                                  <p:stCondLst>
                                    <p:cond delay="0"/>
                                  </p:stCondLst>
                                  <p:childTnLst>
                                    <p:set>
                                      <p:cBhvr>
                                        <p:cTn id="39" dur="1" fill="hold">
                                          <p:stCondLst>
                                            <p:cond delay="0"/>
                                          </p:stCondLst>
                                        </p:cTn>
                                        <p:tgtEl>
                                          <p:spTgt spid="7">
                                            <p:txEl>
                                              <p:pRg st="1" end="1"/>
                                            </p:txEl>
                                          </p:spTgt>
                                        </p:tgtEl>
                                        <p:attrNameLst>
                                          <p:attrName>style.visibility</p:attrName>
                                        </p:attrNameLst>
                                      </p:cBhvr>
                                      <p:to>
                                        <p:strVal val="visible"/>
                                      </p:to>
                                    </p:set>
                                    <p:animEffect transition="in" filter="wipe(up)">
                                      <p:cBhvr>
                                        <p:cTn id="40" dur="500"/>
                                        <p:tgtEl>
                                          <p:spTgt spid="7">
                                            <p:txEl>
                                              <p:pRg st="1" end="1"/>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1" fill="hold" nodeType="clickEffect">
                                  <p:stCondLst>
                                    <p:cond delay="0"/>
                                  </p:stCondLst>
                                  <p:childTnLst>
                                    <p:set>
                                      <p:cBhvr>
                                        <p:cTn id="44" dur="1" fill="hold">
                                          <p:stCondLst>
                                            <p:cond delay="0"/>
                                          </p:stCondLst>
                                        </p:cTn>
                                        <p:tgtEl>
                                          <p:spTgt spid="7">
                                            <p:txEl>
                                              <p:pRg st="2" end="2"/>
                                            </p:txEl>
                                          </p:spTgt>
                                        </p:tgtEl>
                                        <p:attrNameLst>
                                          <p:attrName>style.visibility</p:attrName>
                                        </p:attrNameLst>
                                      </p:cBhvr>
                                      <p:to>
                                        <p:strVal val="visible"/>
                                      </p:to>
                                    </p:set>
                                    <p:animEffect transition="in" filter="wipe(up)">
                                      <p:cBhvr>
                                        <p:cTn id="45" dur="500"/>
                                        <p:tgtEl>
                                          <p:spTgt spid="7">
                                            <p:txEl>
                                              <p:pRg st="2" end="2"/>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1" fill="hold" nodeType="clickEffect">
                                  <p:stCondLst>
                                    <p:cond delay="0"/>
                                  </p:stCondLst>
                                  <p:childTnLst>
                                    <p:set>
                                      <p:cBhvr>
                                        <p:cTn id="49" dur="1" fill="hold">
                                          <p:stCondLst>
                                            <p:cond delay="0"/>
                                          </p:stCondLst>
                                        </p:cTn>
                                        <p:tgtEl>
                                          <p:spTgt spid="7">
                                            <p:txEl>
                                              <p:pRg st="3" end="3"/>
                                            </p:txEl>
                                          </p:spTgt>
                                        </p:tgtEl>
                                        <p:attrNameLst>
                                          <p:attrName>style.visibility</p:attrName>
                                        </p:attrNameLst>
                                      </p:cBhvr>
                                      <p:to>
                                        <p:strVal val="visible"/>
                                      </p:to>
                                    </p:set>
                                    <p:animEffect transition="in" filter="wipe(up)">
                                      <p:cBhvr>
                                        <p:cTn id="50" dur="50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99" grpId="0" animBg="1"/>
      <p:bldP spid="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7" name="Title 1">
                <a:extLst>
                  <a:ext uri="{FF2B5EF4-FFF2-40B4-BE49-F238E27FC236}">
                    <a16:creationId xmlns:a16="http://schemas.microsoft.com/office/drawing/2014/main" id="{D87ADF89-46F9-4713-9744-A644701231B8}"/>
                  </a:ext>
                </a:extLst>
              </p:cNvPr>
              <p:cNvSpPr txBox="1">
                <a:spLocks/>
              </p:cNvSpPr>
              <p:nvPr/>
            </p:nvSpPr>
            <p:spPr>
              <a:xfrm>
                <a:off x="152400" y="1752600"/>
                <a:ext cx="23850600" cy="4724400"/>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vi-VN" b="1" dirty="0">
                    <a:solidFill>
                      <a:srgbClr val="FF0000"/>
                    </a:solidFill>
                    <a:latin typeface="+mj-lt"/>
                  </a:rPr>
                  <a:t>Câu 9.3.    </a:t>
                </a:r>
                <a:r>
                  <a:rPr lang="vi-VN" b="1" dirty="0">
                    <a:latin typeface="+mj-lt"/>
                  </a:rPr>
                  <a:t>Gieo đồng thời một con xúc xắc và một đồng xu .</a:t>
                </a:r>
                <a:endParaRPr lang="en-US" b="1" dirty="0">
                  <a:latin typeface="+mj-lt"/>
                </a:endParaRPr>
              </a:p>
              <a:p>
                <a:r>
                  <a:rPr lang="nl-NL" b="1" dirty="0">
                    <a:latin typeface="Times New Roman" panose="02020603050405020304" pitchFamily="18" charset="0"/>
                    <a:cs typeface="Times New Roman" panose="02020603050405020304" pitchFamily="18" charset="0"/>
                  </a:rPr>
                  <a:t>a) Mô tả không gian mẫu.</a:t>
                </a:r>
                <a:endParaRPr lang="vi-VN" b="1" dirty="0">
                  <a:latin typeface="Times New Roman" panose="02020603050405020304" pitchFamily="18" charset="0"/>
                  <a:cs typeface="Times New Roman" panose="02020603050405020304" pitchFamily="18" charset="0"/>
                </a:endParaRPr>
              </a:p>
              <a:p>
                <a:r>
                  <a:rPr lang="nl-NL" b="1" dirty="0">
                    <a:latin typeface="Times New Roman" panose="02020603050405020304" pitchFamily="18" charset="0"/>
                    <a:cs typeface="Times New Roman" panose="02020603050405020304" pitchFamily="18" charset="0"/>
                  </a:rPr>
                  <a:t>b) Xét các biến cố sau : </a:t>
                </a:r>
                <a:endParaRPr lang="vi-VN" b="1" dirty="0">
                  <a:latin typeface="Times New Roman" panose="02020603050405020304" pitchFamily="18" charset="0"/>
                  <a:cs typeface="Times New Roman" panose="02020603050405020304" pitchFamily="18" charset="0"/>
                </a:endParaRPr>
              </a:p>
              <a:p>
                <a:r>
                  <a:rPr lang="nl-NL" b="1" i="1" dirty="0">
                    <a:latin typeface="Times New Roman" panose="02020603050405020304" pitchFamily="18" charset="0"/>
                    <a:cs typeface="Times New Roman" panose="02020603050405020304" pitchFamily="18" charset="0"/>
                  </a:rPr>
                  <a:t>C</a:t>
                </a:r>
                <a:r>
                  <a:rPr lang="nl-NL" b="1" dirty="0">
                    <a:latin typeface="Times New Roman" panose="02020603050405020304" pitchFamily="18" charset="0"/>
                    <a:cs typeface="Times New Roman" panose="02020603050405020304" pitchFamily="18" charset="0"/>
                  </a:rPr>
                  <a:t>: “Đồng xu xuất hiện mặt sấp”; </a:t>
                </a:r>
                <a:endParaRPr lang="vi-VN" b="1" dirty="0">
                  <a:latin typeface="Times New Roman" panose="02020603050405020304" pitchFamily="18" charset="0"/>
                  <a:cs typeface="Times New Roman" panose="02020603050405020304" pitchFamily="18" charset="0"/>
                </a:endParaRPr>
              </a:p>
              <a:p>
                <a:r>
                  <a:rPr lang="nl-NL" b="1" i="1" dirty="0">
                    <a:latin typeface="Times New Roman" panose="02020603050405020304" pitchFamily="18" charset="0"/>
                    <a:cs typeface="Times New Roman" panose="02020603050405020304" pitchFamily="18" charset="0"/>
                  </a:rPr>
                  <a:t>D</a:t>
                </a:r>
                <a:r>
                  <a:rPr lang="nl-NL" b="1" dirty="0">
                    <a:latin typeface="Times New Roman" panose="02020603050405020304" pitchFamily="18" charset="0"/>
                    <a:cs typeface="Times New Roman" panose="02020603050405020304" pitchFamily="18" charset="0"/>
                  </a:rPr>
                  <a:t>: “Đồng xu xuất hiện mặt ngửa hoặc số chấm xuất hiện trên con xúc xắc là 5”.</a:t>
                </a:r>
                <a:endParaRPr lang="vi-VN" b="1" dirty="0">
                  <a:latin typeface="Times New Roman" panose="02020603050405020304" pitchFamily="18" charset="0"/>
                  <a:cs typeface="Times New Roman" panose="02020603050405020304" pitchFamily="18" charset="0"/>
                </a:endParaRPr>
              </a:p>
              <a:p>
                <a:r>
                  <a:rPr lang="nl-NL" b="1" dirty="0">
                    <a:latin typeface="Times New Roman" panose="02020603050405020304" pitchFamily="18" charset="0"/>
                    <a:cs typeface="Times New Roman" panose="02020603050405020304" pitchFamily="18" charset="0"/>
                  </a:rPr>
                  <a:t>Các biến cố </a:t>
                </a:r>
                <a:r>
                  <a:rPr lang="nl-NL" b="1" i="1" dirty="0">
                    <a:latin typeface="Times New Roman" panose="02020603050405020304" pitchFamily="18" charset="0"/>
                    <a:cs typeface="Times New Roman" panose="02020603050405020304" pitchFamily="18" charset="0"/>
                  </a:rPr>
                  <a:t>C</a:t>
                </a:r>
                <a:r>
                  <a:rPr lang="nl-NL" b="1" dirty="0">
                    <a:latin typeface="Times New Roman" panose="02020603050405020304" pitchFamily="18" charset="0"/>
                    <a:cs typeface="Times New Roman" panose="02020603050405020304" pitchFamily="18" charset="0"/>
                  </a:rPr>
                  <a:t>, </a:t>
                </a:r>
                <a14:m>
                  <m:oMath xmlns:m="http://schemas.openxmlformats.org/officeDocument/2006/math">
                    <m:bar>
                      <m:barPr>
                        <m:pos m:val="top"/>
                        <m:ctrlPr>
                          <a:rPr lang="vi-VN" b="1" i="1">
                            <a:latin typeface="+mj-lt"/>
                          </a:rPr>
                        </m:ctrlPr>
                      </m:barPr>
                      <m:e>
                        <m:r>
                          <a:rPr lang="nl-NL" b="1" i="1">
                            <a:latin typeface="+mj-lt"/>
                          </a:rPr>
                          <m:t>𝑪</m:t>
                        </m:r>
                      </m:e>
                    </m:bar>
                  </m:oMath>
                </a14:m>
                <a:r>
                  <a:rPr lang="nl-NL" b="1" dirty="0">
                    <a:latin typeface="Times New Roman" panose="02020603050405020304" pitchFamily="18" charset="0"/>
                    <a:cs typeface="Times New Roman" panose="02020603050405020304" pitchFamily="18" charset="0"/>
                  </a:rPr>
                  <a:t>, </a:t>
                </a:r>
                <a:r>
                  <a:rPr lang="nl-NL" b="1" i="1" dirty="0">
                    <a:latin typeface="Times New Roman" panose="02020603050405020304" pitchFamily="18" charset="0"/>
                    <a:cs typeface="Times New Roman" panose="02020603050405020304" pitchFamily="18" charset="0"/>
                  </a:rPr>
                  <a:t>D</a:t>
                </a:r>
                <a:r>
                  <a:rPr lang="nl-NL" b="1" dirty="0">
                    <a:latin typeface="Times New Roman" panose="02020603050405020304" pitchFamily="18" charset="0"/>
                    <a:cs typeface="Times New Roman" panose="02020603050405020304" pitchFamily="18" charset="0"/>
                  </a:rPr>
                  <a:t>  và </a:t>
                </a:r>
                <a14:m>
                  <m:oMath xmlns:m="http://schemas.openxmlformats.org/officeDocument/2006/math">
                    <m:bar>
                      <m:barPr>
                        <m:pos m:val="top"/>
                        <m:ctrlPr>
                          <a:rPr lang="vi-VN" b="1" i="1">
                            <a:latin typeface="+mj-lt"/>
                          </a:rPr>
                        </m:ctrlPr>
                      </m:barPr>
                      <m:e>
                        <m:r>
                          <a:rPr lang="nl-NL" b="1" i="1">
                            <a:latin typeface="+mj-lt"/>
                          </a:rPr>
                          <m:t>𝑫</m:t>
                        </m:r>
                      </m:e>
                    </m:bar>
                  </m:oMath>
                </a14:m>
                <a:r>
                  <a:rPr lang="nl-NL" b="1" dirty="0">
                    <a:latin typeface="Times New Roman" panose="02020603050405020304" pitchFamily="18" charset="0"/>
                    <a:cs typeface="Times New Roman" panose="02020603050405020304" pitchFamily="18" charset="0"/>
                  </a:rPr>
                  <a:t> là các tập con nào của không gian mẫu?</a:t>
                </a:r>
                <a:endParaRPr lang="vi-VN" b="1" dirty="0">
                  <a:latin typeface="Times New Roman" panose="02020603050405020304" pitchFamily="18" charset="0"/>
                  <a:cs typeface="Times New Roman" panose="02020603050405020304" pitchFamily="18" charset="0"/>
                </a:endParaRPr>
              </a:p>
              <a:p>
                <a:endParaRPr lang="vi-VN" b="1" dirty="0">
                  <a:latin typeface="+mj-lt"/>
                </a:endParaRPr>
              </a:p>
            </p:txBody>
          </p:sp>
        </mc:Choice>
        <mc:Fallback>
          <p:sp>
            <p:nvSpPr>
              <p:cNvPr id="97" name="Title 1">
                <a:extLst>
                  <a:ext uri="{FF2B5EF4-FFF2-40B4-BE49-F238E27FC236}">
                    <a16:creationId xmlns:a16="http://schemas.microsoft.com/office/drawing/2014/main" id="{D87ADF89-46F9-4713-9744-A644701231B8}"/>
                  </a:ext>
                </a:extLst>
              </p:cNvPr>
              <p:cNvSpPr txBox="1">
                <a:spLocks noRot="1" noChangeAspect="1" noMove="1" noResize="1" noEditPoints="1" noAdjustHandles="1" noChangeArrowheads="1" noChangeShapeType="1" noTextEdit="1"/>
              </p:cNvSpPr>
              <p:nvPr/>
            </p:nvSpPr>
            <p:spPr>
              <a:xfrm>
                <a:off x="152400" y="1752600"/>
                <a:ext cx="23850600" cy="4724400"/>
              </a:xfrm>
              <a:prstGeom prst="rect">
                <a:avLst/>
              </a:prstGeom>
              <a:blipFill>
                <a:blip r:embed="rId3"/>
                <a:stretch>
                  <a:fillRect l="-1328" t="-5534" b="-5405"/>
                </a:stretch>
              </a:blipFill>
              <a:ln>
                <a:solidFill>
                  <a:schemeClr val="tx2">
                    <a:lumMod val="20000"/>
                    <a:lumOff val="80000"/>
                  </a:schemeClr>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152400" y="6705600"/>
                <a:ext cx="24003000" cy="6797676"/>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vi-VN" b="1" u="sng" dirty="0">
                    <a:solidFill>
                      <a:srgbClr val="FF0000"/>
                    </a:solidFill>
                    <a:latin typeface="+mj-lt"/>
                  </a:rPr>
                  <a:t>Lời giải</a:t>
                </a:r>
                <a:r>
                  <a:rPr lang="en-US" b="1" u="sng" dirty="0">
                    <a:solidFill>
                      <a:srgbClr val="FF0000"/>
                    </a:solidFill>
                    <a:latin typeface="+mj-lt"/>
                  </a:rPr>
                  <a:t> </a:t>
                </a:r>
                <a:r>
                  <a:rPr lang="nl-NL" b="1" dirty="0">
                    <a:latin typeface="+mj-lt"/>
                  </a:rPr>
                  <a:t> a) </a:t>
                </a:r>
                <a:r>
                  <a:rPr lang="en-US" b="1" dirty="0" err="1">
                    <a:latin typeface="+mj-lt"/>
                  </a:rPr>
                  <a:t>Gieo</a:t>
                </a:r>
                <a:r>
                  <a:rPr lang="en-US" b="1" dirty="0">
                    <a:latin typeface="+mj-lt"/>
                  </a:rPr>
                  <a:t> </a:t>
                </a:r>
                <a:r>
                  <a:rPr lang="en-US" b="1" dirty="0" err="1">
                    <a:latin typeface="+mj-lt"/>
                  </a:rPr>
                  <a:t>đồng</a:t>
                </a:r>
                <a:r>
                  <a:rPr lang="en-US" b="1" dirty="0">
                    <a:latin typeface="+mj-lt"/>
                  </a:rPr>
                  <a:t> </a:t>
                </a:r>
                <a:r>
                  <a:rPr lang="en-US" b="1" dirty="0" err="1">
                    <a:latin typeface="+mj-lt"/>
                  </a:rPr>
                  <a:t>thời</a:t>
                </a:r>
                <a:r>
                  <a:rPr lang="en-US" b="1" dirty="0">
                    <a:latin typeface="+mj-lt"/>
                  </a:rPr>
                  <a:t> </a:t>
                </a:r>
                <a:r>
                  <a:rPr lang="en-US" b="1" dirty="0" err="1">
                    <a:latin typeface="+mj-lt"/>
                  </a:rPr>
                  <a:t>một</a:t>
                </a:r>
                <a:r>
                  <a:rPr lang="en-US" b="1" dirty="0">
                    <a:latin typeface="+mj-lt"/>
                  </a:rPr>
                  <a:t> con </a:t>
                </a:r>
                <a:r>
                  <a:rPr lang="en-US" b="1" dirty="0" err="1">
                    <a:latin typeface="+mj-lt"/>
                  </a:rPr>
                  <a:t>xúc</a:t>
                </a:r>
                <a:r>
                  <a:rPr lang="en-US" b="1" dirty="0">
                    <a:latin typeface="+mj-lt"/>
                  </a:rPr>
                  <a:t> </a:t>
                </a:r>
                <a:r>
                  <a:rPr lang="en-US" b="1" dirty="0" err="1">
                    <a:latin typeface="+mj-lt"/>
                  </a:rPr>
                  <a:t>xắc</a:t>
                </a:r>
                <a:r>
                  <a:rPr lang="en-US" b="1" dirty="0">
                    <a:latin typeface="+mj-lt"/>
                  </a:rPr>
                  <a:t> </a:t>
                </a:r>
                <a:r>
                  <a:rPr lang="en-US" b="1" dirty="0" err="1">
                    <a:latin typeface="+mj-lt"/>
                  </a:rPr>
                  <a:t>và</a:t>
                </a:r>
                <a:r>
                  <a:rPr lang="en-US" b="1" dirty="0">
                    <a:latin typeface="+mj-lt"/>
                  </a:rPr>
                  <a:t> </a:t>
                </a:r>
                <a:r>
                  <a:rPr lang="en-US" b="1" dirty="0" err="1">
                    <a:latin typeface="+mj-lt"/>
                  </a:rPr>
                  <a:t>một</a:t>
                </a:r>
                <a:r>
                  <a:rPr lang="en-US" b="1" dirty="0">
                    <a:latin typeface="+mj-lt"/>
                  </a:rPr>
                  <a:t> </a:t>
                </a:r>
                <a:r>
                  <a:rPr lang="en-US" b="1" dirty="0" err="1">
                    <a:latin typeface="+mj-lt"/>
                  </a:rPr>
                  <a:t>đồng</a:t>
                </a:r>
                <a:r>
                  <a:rPr lang="en-US" b="1" dirty="0">
                    <a:latin typeface="+mj-lt"/>
                  </a:rPr>
                  <a:t> xu, </a:t>
                </a:r>
                <a:r>
                  <a:rPr lang="en-US" b="1" dirty="0" err="1">
                    <a:latin typeface="+mj-lt"/>
                  </a:rPr>
                  <a:t>có</a:t>
                </a:r>
                <a:r>
                  <a:rPr lang="en-US" b="1" dirty="0">
                    <a:latin typeface="+mj-lt"/>
                  </a:rPr>
                  <a:t> </a:t>
                </a:r>
                <a:r>
                  <a:rPr lang="en-US" b="1" dirty="0" err="1">
                    <a:latin typeface="+mj-lt"/>
                  </a:rPr>
                  <a:t>không</a:t>
                </a:r>
                <a:r>
                  <a:rPr lang="en-US" b="1" dirty="0">
                    <a:latin typeface="+mj-lt"/>
                  </a:rPr>
                  <a:t> </a:t>
                </a:r>
                <a:r>
                  <a:rPr lang="en-US" b="1" dirty="0" err="1">
                    <a:latin typeface="+mj-lt"/>
                  </a:rPr>
                  <a:t>gian</a:t>
                </a:r>
                <a:r>
                  <a:rPr lang="en-US" b="1" dirty="0">
                    <a:latin typeface="+mj-lt"/>
                  </a:rPr>
                  <a:t> </a:t>
                </a:r>
                <a:r>
                  <a:rPr lang="en-US" b="1" dirty="0" err="1">
                    <a:latin typeface="+mj-lt"/>
                  </a:rPr>
                  <a:t>mẫu</a:t>
                </a:r>
                <a:r>
                  <a:rPr lang="en-US" b="1" dirty="0">
                    <a:latin typeface="+mj-lt"/>
                  </a:rPr>
                  <a:t> </a:t>
                </a:r>
                <a:r>
                  <a:rPr lang="en-US" b="1" dirty="0" err="1">
                    <a:latin typeface="+mj-lt"/>
                  </a:rPr>
                  <a:t>là</a:t>
                </a:r>
                <a:endParaRPr lang="vi-VN" b="1" dirty="0">
                  <a:latin typeface="+mj-lt"/>
                </a:endParaRPr>
              </a:p>
              <a:p>
                <a14:m>
                  <m:oMath xmlns:m="http://schemas.openxmlformats.org/officeDocument/2006/math">
                    <m:r>
                      <a:rPr lang="nl-NL" b="1" i="1">
                        <a:latin typeface="+mj-lt"/>
                      </a:rPr>
                      <m:t>𝜴</m:t>
                    </m:r>
                    <m:r>
                      <a:rPr lang="nl-NL" b="1" i="1">
                        <a:latin typeface="+mj-lt"/>
                      </a:rPr>
                      <m:t>=</m:t>
                    </m:r>
                    <m:d>
                      <m:dPr>
                        <m:begChr m:val="{"/>
                        <m:endChr m:val="}"/>
                        <m:ctrlPr>
                          <a:rPr lang="vi-VN" b="1" i="1">
                            <a:latin typeface="+mj-lt"/>
                          </a:rPr>
                        </m:ctrlPr>
                      </m:dPr>
                      <m:e>
                        <m:d>
                          <m:dPr>
                            <m:begChr m:val="{"/>
                            <m:endChr m:val="}"/>
                            <m:ctrlPr>
                              <a:rPr lang="vi-VN" b="1" i="1">
                                <a:latin typeface="+mj-lt"/>
                              </a:rPr>
                            </m:ctrlPr>
                          </m:dPr>
                          <m:e>
                            <m:r>
                              <a:rPr lang="nl-NL" b="1" i="1">
                                <a:latin typeface="+mj-lt"/>
                              </a:rPr>
                              <m:t>𝟏</m:t>
                            </m:r>
                            <m:r>
                              <a:rPr lang="nl-NL" b="1" i="1">
                                <a:latin typeface="+mj-lt"/>
                              </a:rPr>
                              <m:t>;</m:t>
                            </m:r>
                            <m:r>
                              <a:rPr lang="nl-NL" b="1" i="1">
                                <a:latin typeface="+mj-lt"/>
                              </a:rPr>
                              <m:t>𝑺</m:t>
                            </m:r>
                          </m:e>
                        </m:d>
                        <m:r>
                          <a:rPr lang="nl-NL" b="1" i="1">
                            <a:latin typeface="+mj-lt"/>
                          </a:rPr>
                          <m:t>;</m:t>
                        </m:r>
                        <m:d>
                          <m:dPr>
                            <m:begChr m:val="{"/>
                            <m:endChr m:val="}"/>
                            <m:ctrlPr>
                              <a:rPr lang="vi-VN" b="1" i="1">
                                <a:latin typeface="+mj-lt"/>
                              </a:rPr>
                            </m:ctrlPr>
                          </m:dPr>
                          <m:e>
                            <m:r>
                              <a:rPr lang="nl-NL" b="1" i="1">
                                <a:latin typeface="+mj-lt"/>
                              </a:rPr>
                              <m:t>𝟐</m:t>
                            </m:r>
                            <m:r>
                              <a:rPr lang="nl-NL" b="1" i="1">
                                <a:latin typeface="+mj-lt"/>
                              </a:rPr>
                              <m:t>;</m:t>
                            </m:r>
                            <m:r>
                              <a:rPr lang="nl-NL" b="1" i="1">
                                <a:latin typeface="+mj-lt"/>
                              </a:rPr>
                              <m:t>𝑺</m:t>
                            </m:r>
                          </m:e>
                        </m:d>
                        <m:r>
                          <a:rPr lang="nl-NL" b="1" i="1">
                            <a:latin typeface="+mj-lt"/>
                          </a:rPr>
                          <m:t>;</m:t>
                        </m:r>
                        <m:d>
                          <m:dPr>
                            <m:begChr m:val="{"/>
                            <m:endChr m:val="}"/>
                            <m:ctrlPr>
                              <a:rPr lang="vi-VN" b="1" i="1">
                                <a:latin typeface="+mj-lt"/>
                              </a:rPr>
                            </m:ctrlPr>
                          </m:dPr>
                          <m:e>
                            <m:r>
                              <a:rPr lang="nl-NL" b="1" i="1">
                                <a:latin typeface="+mj-lt"/>
                              </a:rPr>
                              <m:t>𝟑</m:t>
                            </m:r>
                            <m:r>
                              <a:rPr lang="nl-NL" b="1" i="1">
                                <a:latin typeface="+mj-lt"/>
                              </a:rPr>
                              <m:t>;</m:t>
                            </m:r>
                            <m:r>
                              <a:rPr lang="nl-NL" b="1" i="1">
                                <a:latin typeface="+mj-lt"/>
                              </a:rPr>
                              <m:t>𝑺</m:t>
                            </m:r>
                          </m:e>
                        </m:d>
                        <m:r>
                          <a:rPr lang="nl-NL" b="1" i="1">
                            <a:latin typeface="+mj-lt"/>
                          </a:rPr>
                          <m:t>;</m:t>
                        </m:r>
                        <m:d>
                          <m:dPr>
                            <m:begChr m:val="{"/>
                            <m:endChr m:val="}"/>
                            <m:ctrlPr>
                              <a:rPr lang="vi-VN" b="1" i="1">
                                <a:latin typeface="+mj-lt"/>
                              </a:rPr>
                            </m:ctrlPr>
                          </m:dPr>
                          <m:e>
                            <m:r>
                              <a:rPr lang="nl-NL" b="1" i="1">
                                <a:latin typeface="+mj-lt"/>
                              </a:rPr>
                              <m:t>𝟒</m:t>
                            </m:r>
                            <m:r>
                              <a:rPr lang="nl-NL" b="1" i="1">
                                <a:latin typeface="+mj-lt"/>
                              </a:rPr>
                              <m:t>;</m:t>
                            </m:r>
                            <m:r>
                              <a:rPr lang="nl-NL" b="1" i="1">
                                <a:latin typeface="+mj-lt"/>
                              </a:rPr>
                              <m:t>𝑺</m:t>
                            </m:r>
                          </m:e>
                        </m:d>
                        <m:r>
                          <a:rPr lang="nl-NL" b="1" i="1">
                            <a:latin typeface="+mj-lt"/>
                          </a:rPr>
                          <m:t>;</m:t>
                        </m:r>
                        <m:d>
                          <m:dPr>
                            <m:begChr m:val="{"/>
                            <m:endChr m:val="}"/>
                            <m:ctrlPr>
                              <a:rPr lang="vi-VN" b="1" i="1">
                                <a:latin typeface="+mj-lt"/>
                              </a:rPr>
                            </m:ctrlPr>
                          </m:dPr>
                          <m:e>
                            <m:r>
                              <a:rPr lang="nl-NL" b="1" i="1">
                                <a:latin typeface="+mj-lt"/>
                              </a:rPr>
                              <m:t>𝟓</m:t>
                            </m:r>
                            <m:r>
                              <a:rPr lang="nl-NL" b="1" i="1">
                                <a:latin typeface="+mj-lt"/>
                              </a:rPr>
                              <m:t>;</m:t>
                            </m:r>
                            <m:r>
                              <a:rPr lang="nl-NL" b="1" i="1">
                                <a:latin typeface="+mj-lt"/>
                              </a:rPr>
                              <m:t>𝑺</m:t>
                            </m:r>
                          </m:e>
                        </m:d>
                        <m:r>
                          <a:rPr lang="nl-NL" b="1" i="1">
                            <a:latin typeface="+mj-lt"/>
                          </a:rPr>
                          <m:t>;</m:t>
                        </m:r>
                        <m:d>
                          <m:dPr>
                            <m:begChr m:val="{"/>
                            <m:endChr m:val="}"/>
                            <m:ctrlPr>
                              <a:rPr lang="vi-VN" b="1" i="1">
                                <a:latin typeface="+mj-lt"/>
                              </a:rPr>
                            </m:ctrlPr>
                          </m:dPr>
                          <m:e>
                            <m:r>
                              <a:rPr lang="nl-NL" b="1" i="1">
                                <a:latin typeface="+mj-lt"/>
                              </a:rPr>
                              <m:t>𝟔</m:t>
                            </m:r>
                            <m:r>
                              <a:rPr lang="nl-NL" b="1" i="1">
                                <a:latin typeface="+mj-lt"/>
                              </a:rPr>
                              <m:t>;</m:t>
                            </m:r>
                            <m:r>
                              <a:rPr lang="nl-NL" b="1" i="1">
                                <a:latin typeface="+mj-lt"/>
                              </a:rPr>
                              <m:t>𝑺</m:t>
                            </m:r>
                          </m:e>
                        </m:d>
                        <m:r>
                          <a:rPr lang="nl-NL" b="1" i="1">
                            <a:latin typeface="+mj-lt"/>
                          </a:rPr>
                          <m:t>;</m:t>
                        </m:r>
                        <m:d>
                          <m:dPr>
                            <m:begChr m:val="{"/>
                            <m:endChr m:val="}"/>
                            <m:ctrlPr>
                              <a:rPr lang="vi-VN" b="1" i="1">
                                <a:latin typeface="+mj-lt"/>
                              </a:rPr>
                            </m:ctrlPr>
                          </m:dPr>
                          <m:e>
                            <m:r>
                              <a:rPr lang="nl-NL" b="1" i="1">
                                <a:latin typeface="+mj-lt"/>
                              </a:rPr>
                              <m:t>𝟏</m:t>
                            </m:r>
                            <m:r>
                              <a:rPr lang="nl-NL" b="1" i="1">
                                <a:latin typeface="+mj-lt"/>
                              </a:rPr>
                              <m:t>;</m:t>
                            </m:r>
                            <m:r>
                              <a:rPr lang="nl-NL" b="1" i="1">
                                <a:latin typeface="+mj-lt"/>
                              </a:rPr>
                              <m:t>𝑵</m:t>
                            </m:r>
                          </m:e>
                        </m:d>
                        <m:r>
                          <a:rPr lang="nl-NL" b="1" i="1">
                            <a:latin typeface="+mj-lt"/>
                          </a:rPr>
                          <m:t>;</m:t>
                        </m:r>
                        <m:d>
                          <m:dPr>
                            <m:begChr m:val="{"/>
                            <m:endChr m:val="}"/>
                            <m:ctrlPr>
                              <a:rPr lang="vi-VN" b="1" i="1">
                                <a:latin typeface="+mj-lt"/>
                              </a:rPr>
                            </m:ctrlPr>
                          </m:dPr>
                          <m:e>
                            <m:r>
                              <a:rPr lang="nl-NL" b="1" i="1">
                                <a:latin typeface="+mj-lt"/>
                              </a:rPr>
                              <m:t>𝟐</m:t>
                            </m:r>
                            <m:r>
                              <a:rPr lang="nl-NL" b="1" i="1">
                                <a:latin typeface="+mj-lt"/>
                              </a:rPr>
                              <m:t>;</m:t>
                            </m:r>
                            <m:r>
                              <a:rPr lang="nl-NL" b="1" i="1">
                                <a:latin typeface="+mj-lt"/>
                              </a:rPr>
                              <m:t>𝑵</m:t>
                            </m:r>
                          </m:e>
                        </m:d>
                        <m:r>
                          <a:rPr lang="nl-NL" b="1" i="1">
                            <a:latin typeface="+mj-lt"/>
                          </a:rPr>
                          <m:t>;</m:t>
                        </m:r>
                        <m:d>
                          <m:dPr>
                            <m:begChr m:val="{"/>
                            <m:endChr m:val="}"/>
                            <m:ctrlPr>
                              <a:rPr lang="vi-VN" b="1" i="1">
                                <a:latin typeface="+mj-lt"/>
                              </a:rPr>
                            </m:ctrlPr>
                          </m:dPr>
                          <m:e>
                            <m:r>
                              <a:rPr lang="nl-NL" b="1" i="1">
                                <a:latin typeface="+mj-lt"/>
                              </a:rPr>
                              <m:t>𝟑</m:t>
                            </m:r>
                            <m:r>
                              <a:rPr lang="nl-NL" b="1" i="1">
                                <a:latin typeface="+mj-lt"/>
                              </a:rPr>
                              <m:t>;</m:t>
                            </m:r>
                            <m:r>
                              <a:rPr lang="nl-NL" b="1" i="1">
                                <a:latin typeface="+mj-lt"/>
                              </a:rPr>
                              <m:t>𝑵</m:t>
                            </m:r>
                          </m:e>
                        </m:d>
                        <m:r>
                          <a:rPr lang="nl-NL" b="1" i="1">
                            <a:latin typeface="+mj-lt"/>
                          </a:rPr>
                          <m:t>;</m:t>
                        </m:r>
                        <m:d>
                          <m:dPr>
                            <m:begChr m:val="{"/>
                            <m:endChr m:val="}"/>
                            <m:ctrlPr>
                              <a:rPr lang="vi-VN" b="1" i="1">
                                <a:latin typeface="+mj-lt"/>
                              </a:rPr>
                            </m:ctrlPr>
                          </m:dPr>
                          <m:e>
                            <m:r>
                              <a:rPr lang="nl-NL" b="1" i="1">
                                <a:latin typeface="+mj-lt"/>
                              </a:rPr>
                              <m:t>𝟒</m:t>
                            </m:r>
                            <m:r>
                              <a:rPr lang="nl-NL" b="1" i="1">
                                <a:latin typeface="+mj-lt"/>
                              </a:rPr>
                              <m:t>;</m:t>
                            </m:r>
                            <m:r>
                              <a:rPr lang="nl-NL" b="1" i="1">
                                <a:latin typeface="+mj-lt"/>
                              </a:rPr>
                              <m:t>𝑵</m:t>
                            </m:r>
                          </m:e>
                        </m:d>
                        <m:r>
                          <a:rPr lang="nl-NL" b="1" i="1">
                            <a:latin typeface="+mj-lt"/>
                          </a:rPr>
                          <m:t>;</m:t>
                        </m:r>
                        <m:d>
                          <m:dPr>
                            <m:begChr m:val="{"/>
                            <m:endChr m:val="}"/>
                            <m:ctrlPr>
                              <a:rPr lang="vi-VN" b="1" i="1">
                                <a:latin typeface="+mj-lt"/>
                              </a:rPr>
                            </m:ctrlPr>
                          </m:dPr>
                          <m:e>
                            <m:r>
                              <a:rPr lang="nl-NL" b="1" i="1">
                                <a:latin typeface="+mj-lt"/>
                              </a:rPr>
                              <m:t>𝟓</m:t>
                            </m:r>
                            <m:r>
                              <a:rPr lang="nl-NL" b="1" i="1">
                                <a:latin typeface="+mj-lt"/>
                              </a:rPr>
                              <m:t>;</m:t>
                            </m:r>
                            <m:r>
                              <a:rPr lang="nl-NL" b="1" i="1">
                                <a:latin typeface="+mj-lt"/>
                              </a:rPr>
                              <m:t>𝑵</m:t>
                            </m:r>
                          </m:e>
                        </m:d>
                        <m:r>
                          <a:rPr lang="nl-NL" b="1" i="1">
                            <a:latin typeface="+mj-lt"/>
                          </a:rPr>
                          <m:t>;</m:t>
                        </m:r>
                        <m:d>
                          <m:dPr>
                            <m:begChr m:val="{"/>
                            <m:endChr m:val="}"/>
                            <m:ctrlPr>
                              <a:rPr lang="vi-VN" b="1" i="1">
                                <a:latin typeface="+mj-lt"/>
                              </a:rPr>
                            </m:ctrlPr>
                          </m:dPr>
                          <m:e>
                            <m:r>
                              <a:rPr lang="nl-NL" b="1" i="1">
                                <a:latin typeface="+mj-lt"/>
                              </a:rPr>
                              <m:t>𝟔</m:t>
                            </m:r>
                            <m:r>
                              <a:rPr lang="nl-NL" b="1" i="1">
                                <a:latin typeface="+mj-lt"/>
                              </a:rPr>
                              <m:t>;</m:t>
                            </m:r>
                            <m:r>
                              <a:rPr lang="nl-NL" b="1" i="1">
                                <a:latin typeface="+mj-lt"/>
                              </a:rPr>
                              <m:t>𝑵</m:t>
                            </m:r>
                          </m:e>
                        </m:d>
                      </m:e>
                    </m:d>
                  </m:oMath>
                </a14:m>
                <a:r>
                  <a:rPr lang="nl-NL" b="1" dirty="0">
                    <a:latin typeface="+mj-lt"/>
                  </a:rPr>
                  <a:t>.</a:t>
                </a:r>
              </a:p>
              <a:p>
                <a:pPr marL="0" indent="0">
                  <a:buNone/>
                </a:pPr>
                <a:endParaRPr lang="vi-VN" b="1" dirty="0">
                  <a:latin typeface="+mj-lt"/>
                </a:endParaRPr>
              </a:p>
            </p:txBody>
          </p:sp>
        </mc:Choice>
        <mc:Fallback>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152400" y="6705600"/>
                <a:ext cx="24003000" cy="6797676"/>
              </a:xfrm>
              <a:prstGeom prst="rect">
                <a:avLst/>
              </a:prstGeom>
              <a:blipFill>
                <a:blip r:embed="rId4"/>
                <a:stretch>
                  <a:fillRect l="-1117" t="-3223"/>
                </a:stretch>
              </a:blipFill>
              <a:ln>
                <a:solidFill>
                  <a:srgbClr val="00B0F0"/>
                </a:solidFill>
              </a:ln>
            </p:spPr>
            <p:txBody>
              <a:bodyPr/>
              <a:lstStyle/>
              <a:p>
                <a:r>
                  <a:rPr lang="en-US">
                    <a:noFill/>
                  </a:rPr>
                  <a:t> </a:t>
                </a:r>
              </a:p>
            </p:txBody>
          </p:sp>
        </mc:Fallback>
      </mc:AlternateContent>
      <p:sp>
        <p:nvSpPr>
          <p:cNvPr id="5" name="TextBox 4">
            <a:extLst>
              <a:ext uri="{FF2B5EF4-FFF2-40B4-BE49-F238E27FC236}">
                <a16:creationId xmlns:a16="http://schemas.microsoft.com/office/drawing/2014/main" id="{4B894593-F232-333A-179C-0DCC7D42C51D}"/>
              </a:ext>
            </a:extLst>
          </p:cNvPr>
          <p:cNvSpPr txBox="1"/>
          <p:nvPr/>
        </p:nvSpPr>
        <p:spPr>
          <a:xfrm>
            <a:off x="381000" y="8382000"/>
            <a:ext cx="24003000" cy="4062651"/>
          </a:xfrm>
          <a:prstGeom prst="rect">
            <a:avLst/>
          </a:prstGeom>
          <a:noFill/>
        </p:spPr>
        <p:txBody>
          <a:bodyPr wrap="square">
            <a:spAutoFit/>
          </a:bodyPr>
          <a:lstStyle/>
          <a:p>
            <a:pPr marL="0" marR="0" lvl="0" indent="0" algn="l" defTabSz="2177278" rtl="0" eaLnBrk="1" fontAlgn="auto" latinLnBrk="0" hangingPunct="1">
              <a:lnSpc>
                <a:spcPct val="100000"/>
              </a:lnSpc>
              <a:spcBef>
                <a:spcPts val="0"/>
              </a:spcBef>
              <a:spcAft>
                <a:spcPts val="0"/>
              </a:spcAft>
              <a:buClrTx/>
              <a:buSzTx/>
              <a:buFontTx/>
              <a:buNone/>
              <a:tabLst/>
              <a:defRPr/>
            </a:pPr>
            <a:r>
              <a:rPr kumimoji="0" lang="vi-VN" sz="4300" b="1" i="0" u="none" strike="noStrike" kern="1200" cap="none" spc="0" normalizeH="0" baseline="0" noProof="0" dirty="0">
                <a:ln>
                  <a:noFill/>
                </a:ln>
                <a:solidFill>
                  <a:prstClr val="black"/>
                </a:solidFill>
                <a:effectLst/>
                <a:uLnTx/>
                <a:uFillTx/>
                <a:latin typeface="+mj-lt"/>
              </a:rPr>
              <a:t>b) C là biến cố: “Đồng xu xuất hiện mặt sấp”, ta có:</a:t>
            </a:r>
            <a:r>
              <a:rPr kumimoji="0" lang="en-US" sz="4300" b="1" i="0" u="none" strike="noStrike" kern="1200" cap="none" spc="0" normalizeH="0" baseline="0" noProof="0" dirty="0">
                <a:ln>
                  <a:noFill/>
                </a:ln>
                <a:solidFill>
                  <a:prstClr val="black"/>
                </a:solidFill>
                <a:effectLst/>
                <a:uLnTx/>
                <a:uFillTx/>
                <a:latin typeface="+mj-lt"/>
              </a:rPr>
              <a:t> C</a:t>
            </a:r>
            <a:r>
              <a:rPr kumimoji="0" lang="vi-VN" sz="4300" b="1" i="0" u="none" strike="noStrike" kern="1200" cap="none" spc="0" normalizeH="0" baseline="0" noProof="0" dirty="0">
                <a:ln>
                  <a:noFill/>
                </a:ln>
                <a:solidFill>
                  <a:prstClr val="black"/>
                </a:solidFill>
                <a:effectLst/>
                <a:uLnTx/>
                <a:uFillTx/>
                <a:latin typeface="+mj-lt"/>
              </a:rPr>
              <a:t>={{1;S};{2;S};{3;S};{4;S};{5;S};{6;S}}.</a:t>
            </a:r>
          </a:p>
          <a:p>
            <a:pPr lvl="0">
              <a:defRPr/>
            </a:pPr>
            <a:r>
              <a:rPr kumimoji="0" lang="vi-VN" sz="4300" b="1" i="0" u="none" strike="noStrike" kern="1200" cap="none" spc="0" normalizeH="0" baseline="0" noProof="0" dirty="0">
                <a:ln>
                  <a:noFill/>
                </a:ln>
                <a:solidFill>
                  <a:prstClr val="black"/>
                </a:solidFill>
                <a:effectLst/>
                <a:uLnTx/>
                <a:uFillTx/>
                <a:latin typeface="+mj-lt"/>
              </a:rPr>
              <a:t>C là biến cố: “Đồng xu xuất hiện mặt ngửa”, ta có</a:t>
            </a:r>
            <a:r>
              <a:rPr lang="vi-VN" b="1" dirty="0">
                <a:solidFill>
                  <a:prstClr val="black"/>
                </a:solidFill>
                <a:latin typeface="+mj-lt"/>
              </a:rPr>
              <a:t>:</a:t>
            </a:r>
            <a:r>
              <a:rPr lang="en-US" b="1" dirty="0">
                <a:solidFill>
                  <a:prstClr val="black"/>
                </a:solidFill>
                <a:latin typeface="+mj-lt"/>
              </a:rPr>
              <a:t> </a:t>
            </a:r>
            <a:r>
              <a:rPr lang="vi-VN" b="1" dirty="0">
                <a:solidFill>
                  <a:prstClr val="black"/>
                </a:solidFill>
                <a:latin typeface="+mj-lt"/>
              </a:rPr>
              <a:t>C=</a:t>
            </a:r>
            <a:r>
              <a:rPr lang="el-GR" b="1" dirty="0">
                <a:solidFill>
                  <a:prstClr val="black"/>
                </a:solidFill>
                <a:latin typeface="+mj-lt"/>
              </a:rPr>
              <a:t>Ω\</a:t>
            </a:r>
            <a:r>
              <a:rPr lang="vi-VN" b="1" dirty="0">
                <a:solidFill>
                  <a:prstClr val="black"/>
                </a:solidFill>
                <a:latin typeface="+mj-lt"/>
              </a:rPr>
              <a:t>C={{1;N};{2;N};{3;N};{4;N};{5;N};{6;N}}.</a:t>
            </a:r>
            <a:endParaRPr kumimoji="0" lang="vi-VN" sz="4300" b="1" i="0" u="none" strike="noStrike" kern="1200" cap="none" spc="0" normalizeH="0" baseline="0" noProof="0" dirty="0">
              <a:ln>
                <a:noFill/>
              </a:ln>
              <a:solidFill>
                <a:prstClr val="black"/>
              </a:solidFill>
              <a:effectLst/>
              <a:uLnTx/>
              <a:uFillTx/>
              <a:latin typeface="+mj-lt"/>
            </a:endParaRPr>
          </a:p>
          <a:p>
            <a:pPr marL="0" marR="0" lvl="0" indent="0" algn="l" defTabSz="2177278" rtl="0" eaLnBrk="1" fontAlgn="auto" latinLnBrk="0" hangingPunct="1">
              <a:lnSpc>
                <a:spcPct val="100000"/>
              </a:lnSpc>
              <a:spcBef>
                <a:spcPts val="0"/>
              </a:spcBef>
              <a:spcAft>
                <a:spcPts val="0"/>
              </a:spcAft>
              <a:buClrTx/>
              <a:buSzTx/>
              <a:buFontTx/>
              <a:buNone/>
              <a:tabLst/>
              <a:defRPr/>
            </a:pPr>
            <a:r>
              <a:rPr kumimoji="0" lang="vi-VN" sz="4300" b="1" i="0" u="none" strike="noStrike" kern="1200" cap="none" spc="0" normalizeH="0" baseline="0" noProof="0" dirty="0">
                <a:ln>
                  <a:noFill/>
                </a:ln>
                <a:solidFill>
                  <a:prstClr val="black"/>
                </a:solidFill>
                <a:effectLst/>
                <a:uLnTx/>
                <a:uFillTx/>
                <a:latin typeface="+mj-lt"/>
              </a:rPr>
              <a:t>D là biến cố: “Đồng xu xuất hiện mặt ngửa hoặc số chấm xuất hiện trên con xúc xắc là 5”, ta có:</a:t>
            </a:r>
            <a:r>
              <a:rPr kumimoji="0" lang="en-US" sz="4300" b="1" i="0" u="none" strike="noStrike" kern="1200" cap="none" spc="0" normalizeH="0" baseline="0" noProof="0" dirty="0">
                <a:ln>
                  <a:noFill/>
                </a:ln>
                <a:solidFill>
                  <a:prstClr val="black"/>
                </a:solidFill>
                <a:effectLst/>
                <a:uLnTx/>
                <a:uFillTx/>
                <a:latin typeface="+mj-lt"/>
              </a:rPr>
              <a:t> </a:t>
            </a:r>
            <a:r>
              <a:rPr kumimoji="0" lang="vi-VN" sz="4300" b="1" i="0" u="none" strike="noStrike" kern="1200" cap="none" spc="0" normalizeH="0" baseline="0" noProof="0" dirty="0">
                <a:ln>
                  <a:noFill/>
                </a:ln>
                <a:solidFill>
                  <a:prstClr val="black"/>
                </a:solidFill>
                <a:effectLst/>
                <a:uLnTx/>
                <a:uFillTx/>
                <a:latin typeface="+mj-lt"/>
              </a:rPr>
              <a:t>D={{5;S};{1;N};{2;N};{3;N};{4;N};{5;N};{6;N}}.</a:t>
            </a:r>
          </a:p>
          <a:p>
            <a:pPr marL="0" marR="0" lvl="0" indent="0" algn="l" defTabSz="2177278" rtl="0" eaLnBrk="1" fontAlgn="auto" latinLnBrk="0" hangingPunct="1">
              <a:lnSpc>
                <a:spcPct val="100000"/>
              </a:lnSpc>
              <a:spcBef>
                <a:spcPts val="0"/>
              </a:spcBef>
              <a:spcAft>
                <a:spcPts val="0"/>
              </a:spcAft>
              <a:buClrTx/>
              <a:buSzTx/>
              <a:buFontTx/>
              <a:buNone/>
              <a:tabLst/>
              <a:defRPr/>
            </a:pPr>
            <a:r>
              <a:rPr kumimoji="0" lang="vi-VN" sz="4300" b="1" i="0" u="none" strike="noStrike" kern="1200" cap="none" spc="0" normalizeH="0" baseline="0" noProof="0" dirty="0">
                <a:ln>
                  <a:noFill/>
                </a:ln>
                <a:solidFill>
                  <a:prstClr val="black"/>
                </a:solidFill>
                <a:effectLst/>
                <a:uLnTx/>
                <a:uFillTx/>
                <a:latin typeface="+mj-lt"/>
              </a:rPr>
              <a:t>D là biến cố: “Đồng xu xuất hiện mặt sấp và số chấm xuất hiện trên con xúc xắc khác 5”, ta có:</a:t>
            </a:r>
            <a:r>
              <a:rPr kumimoji="0" lang="en-US" sz="4300" b="1" i="0" u="none" strike="noStrike" kern="1200" cap="none" spc="0" normalizeH="0" baseline="0" noProof="0" dirty="0">
                <a:ln>
                  <a:noFill/>
                </a:ln>
                <a:solidFill>
                  <a:prstClr val="black"/>
                </a:solidFill>
                <a:effectLst/>
                <a:uLnTx/>
                <a:uFillTx/>
                <a:latin typeface="+mj-lt"/>
              </a:rPr>
              <a:t> </a:t>
            </a:r>
            <a:r>
              <a:rPr kumimoji="0" lang="vi-VN" sz="4300" b="1" i="0" u="none" strike="noStrike" kern="1200" cap="none" spc="0" normalizeH="0" baseline="0" noProof="0" dirty="0">
                <a:ln>
                  <a:noFill/>
                </a:ln>
                <a:solidFill>
                  <a:prstClr val="black"/>
                </a:solidFill>
                <a:effectLst/>
                <a:uLnTx/>
                <a:uFillTx/>
                <a:latin typeface="+mj-lt"/>
              </a:rPr>
              <a:t>D=</a:t>
            </a:r>
            <a:r>
              <a:rPr kumimoji="0" lang="el-GR" sz="4300" b="1" i="0" u="none" strike="noStrike" kern="1200" cap="none" spc="0" normalizeH="0" baseline="0" noProof="0" dirty="0">
                <a:ln>
                  <a:noFill/>
                </a:ln>
                <a:solidFill>
                  <a:prstClr val="black"/>
                </a:solidFill>
                <a:effectLst/>
                <a:uLnTx/>
                <a:uFillTx/>
                <a:latin typeface="+mj-lt"/>
              </a:rPr>
              <a:t>Ω\</a:t>
            </a:r>
            <a:r>
              <a:rPr kumimoji="0" lang="vi-VN" sz="4300" b="1" i="0" u="none" strike="noStrike" kern="1200" cap="none" spc="0" normalizeH="0" baseline="0" noProof="0" dirty="0">
                <a:ln>
                  <a:noFill/>
                </a:ln>
                <a:solidFill>
                  <a:prstClr val="black"/>
                </a:solidFill>
                <a:effectLst/>
                <a:uLnTx/>
                <a:uFillTx/>
                <a:latin typeface="+mj-lt"/>
              </a:rPr>
              <a:t>D={{1;S};{2;S};{3;S};{4;S};{6;S}}.</a:t>
            </a:r>
            <a:endParaRPr lang="en-US" dirty="0">
              <a:latin typeface="+mj-lt"/>
            </a:endParaRPr>
          </a:p>
        </p:txBody>
      </p:sp>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IX   ·   BÀI 26</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78304079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up)">
                                      <p:cBhvr>
                                        <p:cTn id="7" dur="1000"/>
                                        <p:tgtEl>
                                          <p:spTgt spid="97"/>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99"/>
                                        </p:tgtEl>
                                        <p:attrNameLst>
                                          <p:attrName>style.visibility</p:attrName>
                                        </p:attrNameLst>
                                      </p:cBhvr>
                                      <p:to>
                                        <p:strVal val="visible"/>
                                      </p:to>
                                    </p:set>
                                    <p:animEffect transition="in" filter="wipe(up)">
                                      <p:cBhvr>
                                        <p:cTn id="11" dur="500"/>
                                        <p:tgtEl>
                                          <p:spTgt spid="9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99">
                                            <p:txEl>
                                              <p:pRg st="0" end="0"/>
                                            </p:txEl>
                                          </p:spTgt>
                                        </p:tgtEl>
                                        <p:attrNameLst>
                                          <p:attrName>style.visibility</p:attrName>
                                        </p:attrNameLst>
                                      </p:cBhvr>
                                      <p:to>
                                        <p:strVal val="visible"/>
                                      </p:to>
                                    </p:set>
                                    <p:animEffect transition="in" filter="wipe(up)">
                                      <p:cBhvr>
                                        <p:cTn id="16" dur="500"/>
                                        <p:tgtEl>
                                          <p:spTgt spid="99">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99">
                                            <p:txEl>
                                              <p:pRg st="1" end="1"/>
                                            </p:txEl>
                                          </p:spTgt>
                                        </p:tgtEl>
                                        <p:attrNameLst>
                                          <p:attrName>style.visibility</p:attrName>
                                        </p:attrNameLst>
                                      </p:cBhvr>
                                      <p:to>
                                        <p:strVal val="visible"/>
                                      </p:to>
                                    </p:set>
                                    <p:animEffect transition="in" filter="wipe(up)">
                                      <p:cBhvr>
                                        <p:cTn id="21" dur="500"/>
                                        <p:tgtEl>
                                          <p:spTgt spid="99">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5">
                                            <p:txEl>
                                              <p:pRg st="0" end="0"/>
                                            </p:txEl>
                                          </p:spTgt>
                                        </p:tgtEl>
                                        <p:attrNameLst>
                                          <p:attrName>style.visibility</p:attrName>
                                        </p:attrNameLst>
                                      </p:cBhvr>
                                      <p:to>
                                        <p:strVal val="visible"/>
                                      </p:to>
                                    </p:set>
                                    <p:animEffect transition="in" filter="wipe(left)">
                                      <p:cBhvr>
                                        <p:cTn id="26" dur="500"/>
                                        <p:tgtEl>
                                          <p:spTgt spid="5">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5">
                                            <p:txEl>
                                              <p:pRg st="1" end="1"/>
                                            </p:txEl>
                                          </p:spTgt>
                                        </p:tgtEl>
                                        <p:attrNameLst>
                                          <p:attrName>style.visibility</p:attrName>
                                        </p:attrNameLst>
                                      </p:cBhvr>
                                      <p:to>
                                        <p:strVal val="visible"/>
                                      </p:to>
                                    </p:set>
                                    <p:animEffect transition="in" filter="wipe(left)">
                                      <p:cBhvr>
                                        <p:cTn id="31" dur="500"/>
                                        <p:tgtEl>
                                          <p:spTgt spid="5">
                                            <p:txEl>
                                              <p:pRg st="1" end="1"/>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5">
                                            <p:txEl>
                                              <p:pRg st="2" end="2"/>
                                            </p:txEl>
                                          </p:spTgt>
                                        </p:tgtEl>
                                        <p:attrNameLst>
                                          <p:attrName>style.visibility</p:attrName>
                                        </p:attrNameLst>
                                      </p:cBhvr>
                                      <p:to>
                                        <p:strVal val="visible"/>
                                      </p:to>
                                    </p:set>
                                    <p:animEffect transition="in" filter="wipe(left)">
                                      <p:cBhvr>
                                        <p:cTn id="36" dur="500"/>
                                        <p:tgtEl>
                                          <p:spTgt spid="5">
                                            <p:txEl>
                                              <p:pRg st="2" end="2"/>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5">
                                            <p:txEl>
                                              <p:pRg st="3" end="3"/>
                                            </p:txEl>
                                          </p:spTgt>
                                        </p:tgtEl>
                                        <p:attrNameLst>
                                          <p:attrName>style.visibility</p:attrName>
                                        </p:attrNameLst>
                                      </p:cBhvr>
                                      <p:to>
                                        <p:strVal val="visible"/>
                                      </p:to>
                                    </p:set>
                                    <p:animEffect transition="in" filter="wipe(left)">
                                      <p:cBhvr>
                                        <p:cTn id="41"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9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7" name="Title 1">
                <a:extLst>
                  <a:ext uri="{FF2B5EF4-FFF2-40B4-BE49-F238E27FC236}">
                    <a16:creationId xmlns:a16="http://schemas.microsoft.com/office/drawing/2014/main" id="{D87ADF89-46F9-4713-9744-A644701231B8}"/>
                  </a:ext>
                </a:extLst>
              </p:cNvPr>
              <p:cNvSpPr txBox="1">
                <a:spLocks/>
              </p:cNvSpPr>
              <p:nvPr/>
            </p:nvSpPr>
            <p:spPr>
              <a:xfrm>
                <a:off x="228600" y="1752600"/>
                <a:ext cx="23774400" cy="4724400"/>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vi-VN" b="1" dirty="0">
                    <a:solidFill>
                      <a:srgbClr val="FF0000"/>
                    </a:solidFill>
                  </a:rPr>
                  <a:t>Câu 9.4.     </a:t>
                </a:r>
                <a:r>
                  <a:rPr lang="vi-VN" b="1" dirty="0"/>
                  <a:t>Một túi chứa một số bi xanh, bi đỏ, bi đen và bi trắng. Lấy ngẫu nhiên một viên bi từ trong túi.</a:t>
                </a:r>
                <a:endParaRPr lang="en-US" b="1" dirty="0"/>
              </a:p>
              <a:p>
                <a:r>
                  <a:rPr lang="vi-VN" b="1" dirty="0"/>
                  <a:t>a) Gọi H là biến cố: “Bi lấy ra màu đỏ”. Biến cố: “Bi lấy ra có màu xanh hoặc đen hoặc trắng” có phải là biến cố </a:t>
                </a:r>
                <a14:m>
                  <m:oMath xmlns:m="http://schemas.openxmlformats.org/officeDocument/2006/math">
                    <m:bar>
                      <m:barPr>
                        <m:pos m:val="top"/>
                        <m:ctrlPr>
                          <a:rPr lang="en-US" b="1" i="1">
                            <a:latin typeface="Cambria Math" panose="02040503050406030204" pitchFamily="18" charset="0"/>
                          </a:rPr>
                        </m:ctrlPr>
                      </m:barPr>
                      <m:e>
                        <m:r>
                          <a:rPr lang="nl-NL" b="1" i="1">
                            <a:latin typeface="Cambria Math" panose="02040503050406030204" pitchFamily="18" charset="0"/>
                          </a:rPr>
                          <m:t>𝑯</m:t>
                        </m:r>
                      </m:e>
                    </m:bar>
                  </m:oMath>
                </a14:m>
                <a:r>
                  <a:rPr lang="vi-VN" b="1" dirty="0"/>
                  <a:t> hay không?</a:t>
                </a:r>
              </a:p>
              <a:p>
                <a:r>
                  <a:rPr lang="vi-VN" b="1" dirty="0"/>
                  <a:t>b) Gọi K là biến cố: “Bi lấy ra có màu xanh hoặc trắng”. Biến cố: “Bi lấy ra màu đen” có phải là biến cố </a:t>
                </a:r>
                <a14:m>
                  <m:oMath xmlns:m="http://schemas.openxmlformats.org/officeDocument/2006/math">
                    <m:bar>
                      <m:barPr>
                        <m:pos m:val="top"/>
                        <m:ctrlPr>
                          <a:rPr lang="en-US" b="1" i="1">
                            <a:latin typeface="Cambria Math" panose="02040503050406030204" pitchFamily="18" charset="0"/>
                          </a:rPr>
                        </m:ctrlPr>
                      </m:barPr>
                      <m:e>
                        <m:r>
                          <a:rPr lang="nl-NL" b="1" i="1">
                            <a:latin typeface="Cambria Math" panose="02040503050406030204" pitchFamily="18" charset="0"/>
                          </a:rPr>
                          <m:t>𝑲</m:t>
                        </m:r>
                      </m:e>
                    </m:bar>
                  </m:oMath>
                </a14:m>
                <a:r>
                  <a:rPr lang="vi-VN" b="1" dirty="0"/>
                  <a:t> hay không?</a:t>
                </a:r>
              </a:p>
              <a:p>
                <a:endParaRPr lang="vi-VN" b="1" dirty="0"/>
              </a:p>
            </p:txBody>
          </p:sp>
        </mc:Choice>
        <mc:Fallback xmlns="">
          <p:sp>
            <p:nvSpPr>
              <p:cNvPr id="97" name="Title 1">
                <a:extLst>
                  <a:ext uri="{FF2B5EF4-FFF2-40B4-BE49-F238E27FC236}">
                    <a16:creationId xmlns:a16="http://schemas.microsoft.com/office/drawing/2014/main" id="{D87ADF89-46F9-4713-9744-A644701231B8}"/>
                  </a:ext>
                </a:extLst>
              </p:cNvPr>
              <p:cNvSpPr txBox="1">
                <a:spLocks noRot="1" noChangeAspect="1" noMove="1" noResize="1" noEditPoints="1" noAdjustHandles="1" noChangeArrowheads="1" noChangeShapeType="1" noTextEdit="1"/>
              </p:cNvSpPr>
              <p:nvPr/>
            </p:nvSpPr>
            <p:spPr>
              <a:xfrm>
                <a:off x="228600" y="1752600"/>
                <a:ext cx="23774400" cy="4724400"/>
              </a:xfrm>
              <a:prstGeom prst="rect">
                <a:avLst/>
              </a:prstGeom>
              <a:blipFill>
                <a:blip r:embed="rId3"/>
                <a:stretch>
                  <a:fillRect l="-1358" t="-5148" r="-1538" b="-7207"/>
                </a:stretch>
              </a:blipFill>
              <a:ln>
                <a:solidFill>
                  <a:schemeClr val="tx2">
                    <a:lumMod val="20000"/>
                    <a:lumOff val="80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228600" y="6477000"/>
                <a:ext cx="11963400" cy="7026276"/>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vi-VN" b="1" u="sng" dirty="0">
                    <a:solidFill>
                      <a:srgbClr val="FF0000"/>
                    </a:solidFill>
                  </a:rPr>
                  <a:t>Lời giải</a:t>
                </a:r>
              </a:p>
              <a:p>
                <a:r>
                  <a:rPr lang="vi-VN" b="1" dirty="0"/>
                  <a:t>Lấy ngẫu nhiên một viên bi từ trong túi chứa một số bi xanh, bi đỏ, bi đen và bi trắng.</a:t>
                </a:r>
              </a:p>
              <a:p>
                <a:r>
                  <a:rPr lang="vi-VN" b="1" dirty="0"/>
                  <a:t>a) H là biến cố: “Bi lấy ra màu đỏ” suy ra biến cố “Bi lấy ra có màu xanh hoặc đen hoặc trắng” nghĩa là biến cố “Bi lấy ra không phải màu đỏ” do đó biến cố nêu trên là biến cố </a:t>
                </a:r>
                <a14:m>
                  <m:oMath xmlns:m="http://schemas.openxmlformats.org/officeDocument/2006/math">
                    <m:bar>
                      <m:barPr>
                        <m:pos m:val="top"/>
                        <m:ctrlPr>
                          <a:rPr lang="en-US" b="1" i="1">
                            <a:latin typeface="Cambria Math" panose="02040503050406030204" pitchFamily="18" charset="0"/>
                          </a:rPr>
                        </m:ctrlPr>
                      </m:barPr>
                      <m:e>
                        <m:r>
                          <a:rPr lang="nl-NL" b="1" i="1">
                            <a:latin typeface="Cambria Math" panose="02040503050406030204" pitchFamily="18" charset="0"/>
                          </a:rPr>
                          <m:t>𝑯</m:t>
                        </m:r>
                      </m:e>
                    </m:bar>
                  </m:oMath>
                </a14:m>
                <a:r>
                  <a:rPr lang="vi-VN" b="1" dirty="0"/>
                  <a:t>.</a:t>
                </a:r>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228600" y="6477000"/>
                <a:ext cx="11963400" cy="7026276"/>
              </a:xfrm>
              <a:prstGeom prst="rect">
                <a:avLst/>
              </a:prstGeom>
              <a:blipFill>
                <a:blip r:embed="rId4"/>
                <a:stretch>
                  <a:fillRect l="-2291" t="-2860" r="-2953"/>
                </a:stretch>
              </a:blipFill>
              <a:ln>
                <a:solidFill>
                  <a:srgbClr val="00B0F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2344400" y="6477000"/>
                <a:ext cx="11630891" cy="6942140"/>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vi-VN" b="1" dirty="0"/>
                  <a:t>b) K là biến cố: “Bi lấy ra có màu xanh hoặc trắng” suy ra </a:t>
                </a:r>
                <a14:m>
                  <m:oMath xmlns:m="http://schemas.openxmlformats.org/officeDocument/2006/math">
                    <m:bar>
                      <m:barPr>
                        <m:pos m:val="top"/>
                        <m:ctrlPr>
                          <a:rPr lang="en-US" b="1" i="1">
                            <a:latin typeface="Cambria Math" panose="02040503050406030204" pitchFamily="18" charset="0"/>
                          </a:rPr>
                        </m:ctrlPr>
                      </m:barPr>
                      <m:e>
                        <m:r>
                          <a:rPr lang="nl-NL" b="1" i="1">
                            <a:latin typeface="Cambria Math" panose="02040503050406030204" pitchFamily="18" charset="0"/>
                          </a:rPr>
                          <m:t>𝑲</m:t>
                        </m:r>
                      </m:e>
                    </m:bar>
                  </m:oMath>
                </a14:m>
                <a:r>
                  <a:rPr lang="vi-VN" b="1" dirty="0"/>
                  <a:t> là biến cố: “Bi lấy ra có màu đen hoặc đỏ”.</a:t>
                </a:r>
              </a:p>
              <a:p>
                <a:r>
                  <a:rPr lang="vi-VN" b="1" dirty="0"/>
                  <a:t>Do đó biến cố: “Bi lấy ra màu đen” không phải là biến cố </a:t>
                </a:r>
                <a14:m>
                  <m:oMath xmlns:m="http://schemas.openxmlformats.org/officeDocument/2006/math">
                    <m:bar>
                      <m:barPr>
                        <m:pos m:val="top"/>
                        <m:ctrlPr>
                          <a:rPr lang="en-US" b="1" i="1">
                            <a:latin typeface="Cambria Math" panose="02040503050406030204" pitchFamily="18" charset="0"/>
                          </a:rPr>
                        </m:ctrlPr>
                      </m:barPr>
                      <m:e>
                        <m:r>
                          <a:rPr lang="nl-NL" b="1" i="1">
                            <a:latin typeface="Cambria Math" panose="02040503050406030204" pitchFamily="18" charset="0"/>
                          </a:rPr>
                          <m:t>𝑲</m:t>
                        </m:r>
                      </m:e>
                    </m:bar>
                  </m:oMath>
                </a14:m>
                <a:r>
                  <a:rPr lang="vi-VN" b="1" dirty="0"/>
                  <a:t> .</a:t>
                </a:r>
              </a:p>
            </p:txBody>
          </p:sp>
        </mc:Choice>
        <mc:Fallback xmlns="">
          <p:sp>
            <p:nvSpPr>
              <p:cNvPr id="7" name="Content Placeholder 2">
                <a:extLst>
                  <a:ext uri="{FF2B5EF4-FFF2-40B4-BE49-F238E27FC236}">
                    <a16:creationId xmlns:a16="http://schemas.microsoft.com/office/drawing/2014/main" id="{08B49A2E-2A9D-46FD-AE9C-29462A33F0E6}"/>
                  </a:ext>
                </a:extLst>
              </p:cNvPr>
              <p:cNvSpPr txBox="1">
                <a:spLocks noRot="1" noChangeAspect="1" noMove="1" noResize="1" noEditPoints="1" noAdjustHandles="1" noChangeArrowheads="1" noChangeShapeType="1" noTextEdit="1"/>
              </p:cNvSpPr>
              <p:nvPr/>
            </p:nvSpPr>
            <p:spPr>
              <a:xfrm>
                <a:off x="12344400" y="6477000"/>
                <a:ext cx="11630891" cy="6942140"/>
              </a:xfrm>
              <a:prstGeom prst="rect">
                <a:avLst/>
              </a:prstGeom>
              <a:blipFill>
                <a:blip r:embed="rId5"/>
                <a:stretch>
                  <a:fillRect l="-2094" t="-2895" r="-3351"/>
                </a:stretch>
              </a:blipFill>
              <a:ln>
                <a:solidFill>
                  <a:srgbClr val="00B0F0"/>
                </a:solidFill>
              </a:ln>
            </p:spPr>
            <p:txBody>
              <a:bodyPr/>
              <a:lstStyle/>
              <a:p>
                <a:r>
                  <a:rPr lang="en-US">
                    <a:noFill/>
                  </a:rPr>
                  <a:t> </a:t>
                </a:r>
              </a:p>
            </p:txBody>
          </p:sp>
        </mc:Fallback>
      </mc:AlternateContent>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IX   ·   BÀI 26</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00364084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up)">
                                      <p:cBhvr>
                                        <p:cTn id="7" dur="1000"/>
                                        <p:tgtEl>
                                          <p:spTgt spid="97"/>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99"/>
                                        </p:tgtEl>
                                        <p:attrNameLst>
                                          <p:attrName>style.visibility</p:attrName>
                                        </p:attrNameLst>
                                      </p:cBhvr>
                                      <p:to>
                                        <p:strVal val="visible"/>
                                      </p:to>
                                    </p:set>
                                    <p:animEffect transition="in" filter="wipe(up)">
                                      <p:cBhvr>
                                        <p:cTn id="11" dur="500"/>
                                        <p:tgtEl>
                                          <p:spTgt spid="99"/>
                                        </p:tgtEl>
                                      </p:cBhvr>
                                    </p:animEffect>
                                  </p:childTnLst>
                                </p:cTn>
                              </p:par>
                            </p:childTnLst>
                          </p:cTn>
                        </p:par>
                        <p:par>
                          <p:cTn id="12" fill="hold">
                            <p:stCondLst>
                              <p:cond delay="1500"/>
                            </p:stCondLst>
                            <p:childTnLst>
                              <p:par>
                                <p:cTn id="13" presetID="22" presetClass="entr" presetSubtype="1" fill="hold" nodeType="afterEffect">
                                  <p:stCondLst>
                                    <p:cond delay="0"/>
                                  </p:stCondLst>
                                  <p:childTnLst>
                                    <p:set>
                                      <p:cBhvr>
                                        <p:cTn id="14" dur="1" fill="hold">
                                          <p:stCondLst>
                                            <p:cond delay="0"/>
                                          </p:stCondLst>
                                        </p:cTn>
                                        <p:tgtEl>
                                          <p:spTgt spid="99">
                                            <p:txEl>
                                              <p:pRg st="0" end="0"/>
                                            </p:txEl>
                                          </p:spTgt>
                                        </p:tgtEl>
                                        <p:attrNameLst>
                                          <p:attrName>style.visibility</p:attrName>
                                        </p:attrNameLst>
                                      </p:cBhvr>
                                      <p:to>
                                        <p:strVal val="visible"/>
                                      </p:to>
                                    </p:set>
                                    <p:animEffect transition="in" filter="wipe(up)">
                                      <p:cBhvr>
                                        <p:cTn id="15" dur="500"/>
                                        <p:tgtEl>
                                          <p:spTgt spid="99">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99">
                                            <p:txEl>
                                              <p:pRg st="1" end="1"/>
                                            </p:txEl>
                                          </p:spTgt>
                                        </p:tgtEl>
                                        <p:attrNameLst>
                                          <p:attrName>style.visibility</p:attrName>
                                        </p:attrNameLst>
                                      </p:cBhvr>
                                      <p:to>
                                        <p:strVal val="visible"/>
                                      </p:to>
                                    </p:set>
                                    <p:animEffect transition="in" filter="wipe(up)">
                                      <p:cBhvr>
                                        <p:cTn id="20" dur="500"/>
                                        <p:tgtEl>
                                          <p:spTgt spid="99">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99">
                                            <p:txEl>
                                              <p:pRg st="2" end="2"/>
                                            </p:txEl>
                                          </p:spTgt>
                                        </p:tgtEl>
                                        <p:attrNameLst>
                                          <p:attrName>style.visibility</p:attrName>
                                        </p:attrNameLst>
                                      </p:cBhvr>
                                      <p:to>
                                        <p:strVal val="visible"/>
                                      </p:to>
                                    </p:set>
                                    <p:animEffect transition="in" filter="wipe(up)">
                                      <p:cBhvr>
                                        <p:cTn id="25" dur="500"/>
                                        <p:tgtEl>
                                          <p:spTgt spid="99">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grpId="0"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wipe(up)">
                                      <p:cBhvr>
                                        <p:cTn id="30" dur="500"/>
                                        <p:tgtEl>
                                          <p:spTgt spid="7"/>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nodeType="clickEffect">
                                  <p:stCondLst>
                                    <p:cond delay="0"/>
                                  </p:stCondLst>
                                  <p:childTnLst>
                                    <p:set>
                                      <p:cBhvr>
                                        <p:cTn id="34" dur="1" fill="hold">
                                          <p:stCondLst>
                                            <p:cond delay="0"/>
                                          </p:stCondLst>
                                        </p:cTn>
                                        <p:tgtEl>
                                          <p:spTgt spid="7">
                                            <p:txEl>
                                              <p:pRg st="0" end="0"/>
                                            </p:txEl>
                                          </p:spTgt>
                                        </p:tgtEl>
                                        <p:attrNameLst>
                                          <p:attrName>style.visibility</p:attrName>
                                        </p:attrNameLst>
                                      </p:cBhvr>
                                      <p:to>
                                        <p:strVal val="visible"/>
                                      </p:to>
                                    </p:set>
                                    <p:animEffect transition="in" filter="wipe(up)">
                                      <p:cBhvr>
                                        <p:cTn id="35" dur="500"/>
                                        <p:tgtEl>
                                          <p:spTgt spid="7">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nodeType="clickEffect">
                                  <p:stCondLst>
                                    <p:cond delay="0"/>
                                  </p:stCondLst>
                                  <p:childTnLst>
                                    <p:set>
                                      <p:cBhvr>
                                        <p:cTn id="39" dur="1" fill="hold">
                                          <p:stCondLst>
                                            <p:cond delay="0"/>
                                          </p:stCondLst>
                                        </p:cTn>
                                        <p:tgtEl>
                                          <p:spTgt spid="7">
                                            <p:txEl>
                                              <p:pRg st="1" end="1"/>
                                            </p:txEl>
                                          </p:spTgt>
                                        </p:tgtEl>
                                        <p:attrNameLst>
                                          <p:attrName>style.visibility</p:attrName>
                                        </p:attrNameLst>
                                      </p:cBhvr>
                                      <p:to>
                                        <p:strVal val="visible"/>
                                      </p:to>
                                    </p:set>
                                    <p:animEffect transition="in" filter="wipe(up)">
                                      <p:cBhvr>
                                        <p:cTn id="40"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99" grpId="0" animBg="1"/>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381000" y="1752600"/>
            <a:ext cx="23622000" cy="4800600"/>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vi-VN" b="1" dirty="0">
                <a:solidFill>
                  <a:srgbClr val="FF0000"/>
                </a:solidFill>
              </a:rPr>
              <a:t>Câu 9.5.    </a:t>
            </a:r>
            <a:r>
              <a:rPr lang="vi-VN" b="1" dirty="0"/>
              <a:t>Hai bạn An và Bình mỗi người gieo một con xúc xắc cân đối. Tính xác suất để:</a:t>
            </a:r>
            <a:endParaRPr lang="en-US" b="1" dirty="0"/>
          </a:p>
          <a:p>
            <a:r>
              <a:rPr lang="vi-VN" b="1" dirty="0"/>
              <a:t>a) Số chấm xuất hiện trên hai con xúc sắc bé hơn 3;</a:t>
            </a:r>
          </a:p>
          <a:p>
            <a:r>
              <a:rPr lang="vi-VN" b="1" dirty="0"/>
              <a:t>b) Số chấm xuất hiện trên con xúc xắc mà An gieo lớn hơn hoặc bằng 5;</a:t>
            </a:r>
          </a:p>
          <a:p>
            <a:r>
              <a:rPr lang="vi-VN" b="1" dirty="0"/>
              <a:t>c) Tích số chấm xuất hiện trên hai con xúc xắc bé hơn 6;</a:t>
            </a:r>
          </a:p>
          <a:p>
            <a:r>
              <a:rPr lang="vi-VN" b="1" dirty="0"/>
              <a:t>d) Tổng hai số chấm xuất hiện trên hai con xúc xắc là một số nguyên tố. </a:t>
            </a:r>
          </a:p>
          <a:p>
            <a:endParaRPr lang="vi-VN" b="1" dirty="0"/>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381000" y="6553200"/>
                <a:ext cx="23622000" cy="6950076"/>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vi-VN" b="1" dirty="0">
                    <a:solidFill>
                      <a:srgbClr val="FF0000"/>
                    </a:solidFill>
                  </a:rPr>
                  <a:t>Lời giải</a:t>
                </a:r>
                <a:r>
                  <a:rPr lang="en-US" b="1" dirty="0">
                    <a:solidFill>
                      <a:srgbClr val="FF0000"/>
                    </a:solidFill>
                  </a:rPr>
                  <a:t>: </a:t>
                </a:r>
                <a:r>
                  <a:rPr lang="vi-VN" b="1" dirty="0"/>
                  <a:t>Hai bạn An và Bình mỗi người gieo một con xúc xắc cân đối, có không gian mẫu là:</a:t>
                </a:r>
              </a:p>
              <a:p>
                <a:pPr marL="0" indent="0">
                  <a:buNone/>
                </a:pPr>
                <a:r>
                  <a:rPr lang="el-GR" b="1" dirty="0"/>
                  <a:t>Ω={(</a:t>
                </a:r>
                <a:r>
                  <a:rPr lang="vi-VN" b="1" dirty="0"/>
                  <a:t>i;j)</a:t>
                </a:r>
                <a:r>
                  <a:rPr lang="en-US" b="1" dirty="0"/>
                  <a:t>|</a:t>
                </a:r>
                <a:r>
                  <a:rPr lang="vi-VN" b="1" dirty="0"/>
                  <a:t>i,j∈N;1≤i,j≤6} với i là số chấm xuất hiện trên con xúc xắc của bạn An, j là số chấm xuất hiện trên con xúc xắc của bạn Bình. Suy ra n(</a:t>
                </a:r>
                <a:r>
                  <a:rPr lang="el-GR" b="1" dirty="0"/>
                  <a:t>Ω)=36.</a:t>
                </a:r>
              </a:p>
              <a:p>
                <a:r>
                  <a:rPr lang="vi-VN" b="1" dirty="0"/>
                  <a:t>a) Gọi C là biến cố: “Số chấm xuất hiện trên hai con xúc sắc bé hơn 3”, ta có </a:t>
                </a:r>
              </a:p>
              <a:p>
                <a:r>
                  <a:rPr lang="vi-VN" b="1" dirty="0"/>
                  <a:t>C={(i;j)</a:t>
                </a:r>
                <a:r>
                  <a:rPr lang="en-US" b="1" dirty="0"/>
                  <a:t>|</a:t>
                </a:r>
                <a:r>
                  <a:rPr lang="vi-VN" b="1" dirty="0"/>
                  <a:t>i,j∈N;1≤i,j&lt;3}={(1;1);(1;2);(2;1);(2;2)}.</a:t>
                </a:r>
              </a:p>
              <a:p>
                <a:pPr marL="0" indent="0">
                  <a:buNone/>
                </a:pPr>
                <a:r>
                  <a:rPr lang="vi-VN" b="1" dirty="0"/>
                  <a:t>⇒n(C)=4.</a:t>
                </a:r>
              </a:p>
              <a:p>
                <a:r>
                  <a:rPr lang="vi-VN" b="1" dirty="0"/>
                  <a:t>Xác suất </a:t>
                </a:r>
                <a14:m>
                  <m:oMath xmlns:m="http://schemas.openxmlformats.org/officeDocument/2006/math">
                    <m:r>
                      <a:rPr lang="nl-NL" b="1" i="1">
                        <a:latin typeface="Cambria Math" panose="02040503050406030204" pitchFamily="18" charset="0"/>
                      </a:rPr>
                      <m:t>𝑷</m:t>
                    </m:r>
                    <m:d>
                      <m:dPr>
                        <m:ctrlPr>
                          <a:rPr lang="en-US" b="1" i="1">
                            <a:latin typeface="Cambria Math" panose="02040503050406030204" pitchFamily="18" charset="0"/>
                          </a:rPr>
                        </m:ctrlPr>
                      </m:dPr>
                      <m:e>
                        <m:r>
                          <a:rPr lang="nl-NL" b="1" i="1">
                            <a:latin typeface="Cambria Math" panose="02040503050406030204" pitchFamily="18" charset="0"/>
                          </a:rPr>
                          <m:t>𝑪</m:t>
                        </m:r>
                      </m:e>
                    </m:d>
                    <m:r>
                      <a:rPr lang="nl-NL" b="1" i="1">
                        <a:latin typeface="Cambria Math" panose="02040503050406030204" pitchFamily="18" charset="0"/>
                      </a:rPr>
                      <m:t>=</m:t>
                    </m:r>
                    <m:f>
                      <m:fPr>
                        <m:ctrlPr>
                          <a:rPr lang="en-US" b="1" i="1">
                            <a:latin typeface="Cambria Math" panose="02040503050406030204" pitchFamily="18" charset="0"/>
                          </a:rPr>
                        </m:ctrlPr>
                      </m:fPr>
                      <m:num>
                        <m:r>
                          <a:rPr lang="nl-NL" b="1" i="1">
                            <a:latin typeface="Cambria Math" panose="02040503050406030204" pitchFamily="18" charset="0"/>
                          </a:rPr>
                          <m:t>𝒏</m:t>
                        </m:r>
                        <m:d>
                          <m:dPr>
                            <m:ctrlPr>
                              <a:rPr lang="en-US" b="1" i="1">
                                <a:latin typeface="Cambria Math" panose="02040503050406030204" pitchFamily="18" charset="0"/>
                              </a:rPr>
                            </m:ctrlPr>
                          </m:dPr>
                          <m:e>
                            <m:r>
                              <a:rPr lang="nl-NL" b="1" i="1">
                                <a:latin typeface="Cambria Math" panose="02040503050406030204" pitchFamily="18" charset="0"/>
                              </a:rPr>
                              <m:t>𝑪</m:t>
                            </m:r>
                          </m:e>
                        </m:d>
                      </m:num>
                      <m:den>
                        <m:r>
                          <a:rPr lang="nl-NL" b="1" i="1">
                            <a:latin typeface="Cambria Math" panose="02040503050406030204" pitchFamily="18" charset="0"/>
                          </a:rPr>
                          <m:t>𝒏</m:t>
                        </m:r>
                        <m:d>
                          <m:dPr>
                            <m:ctrlPr>
                              <a:rPr lang="en-US" b="1" i="1">
                                <a:latin typeface="Cambria Math" panose="02040503050406030204" pitchFamily="18" charset="0"/>
                              </a:rPr>
                            </m:ctrlPr>
                          </m:dPr>
                          <m:e>
                            <m:r>
                              <a:rPr lang="nl-NL" b="1" i="1">
                                <a:latin typeface="Cambria Math" panose="02040503050406030204" pitchFamily="18" charset="0"/>
                              </a:rPr>
                              <m:t>𝜴</m:t>
                            </m:r>
                          </m:e>
                        </m:d>
                      </m:den>
                    </m:f>
                    <m:r>
                      <a:rPr lang="nl-NL" b="1" i="1">
                        <a:latin typeface="Cambria Math" panose="02040503050406030204" pitchFamily="18" charset="0"/>
                      </a:rPr>
                      <m:t>=</m:t>
                    </m:r>
                    <m:f>
                      <m:fPr>
                        <m:ctrlPr>
                          <a:rPr lang="en-US" b="1" i="1">
                            <a:latin typeface="Cambria Math" panose="02040503050406030204" pitchFamily="18" charset="0"/>
                          </a:rPr>
                        </m:ctrlPr>
                      </m:fPr>
                      <m:num>
                        <m:r>
                          <a:rPr lang="nl-NL" b="1" i="1">
                            <a:latin typeface="Cambria Math" panose="02040503050406030204" pitchFamily="18" charset="0"/>
                          </a:rPr>
                          <m:t>𝟒</m:t>
                        </m:r>
                      </m:num>
                      <m:den>
                        <m:r>
                          <a:rPr lang="nl-NL" b="1" i="1">
                            <a:latin typeface="Cambria Math" panose="02040503050406030204" pitchFamily="18" charset="0"/>
                          </a:rPr>
                          <m:t>𝟑𝟔</m:t>
                        </m:r>
                      </m:den>
                    </m:f>
                    <m:r>
                      <a:rPr lang="nl-NL" b="1" i="1">
                        <a:latin typeface="Cambria Math" panose="02040503050406030204" pitchFamily="18" charset="0"/>
                      </a:rPr>
                      <m:t>=</m:t>
                    </m:r>
                    <m:f>
                      <m:fPr>
                        <m:ctrlPr>
                          <a:rPr lang="en-US" b="1" i="1">
                            <a:latin typeface="Cambria Math" panose="02040503050406030204" pitchFamily="18" charset="0"/>
                          </a:rPr>
                        </m:ctrlPr>
                      </m:fPr>
                      <m:num>
                        <m:r>
                          <a:rPr lang="nl-NL" b="1" i="1">
                            <a:latin typeface="Cambria Math" panose="02040503050406030204" pitchFamily="18" charset="0"/>
                          </a:rPr>
                          <m:t>𝟏</m:t>
                        </m:r>
                      </m:num>
                      <m:den>
                        <m:r>
                          <a:rPr lang="nl-NL" b="1" i="1">
                            <a:latin typeface="Cambria Math" panose="02040503050406030204" pitchFamily="18" charset="0"/>
                          </a:rPr>
                          <m:t>𝟗</m:t>
                        </m:r>
                      </m:den>
                    </m:f>
                  </m:oMath>
                </a14:m>
                <a:r>
                  <a:rPr lang="nl-NL" b="1" dirty="0"/>
                  <a:t>. </a:t>
                </a:r>
                <a:endParaRPr lang="el-GR" b="1" dirty="0"/>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381000" y="6553200"/>
                <a:ext cx="23622000" cy="6950076"/>
              </a:xfrm>
              <a:prstGeom prst="rect">
                <a:avLst/>
              </a:prstGeom>
              <a:blipFill>
                <a:blip r:embed="rId3"/>
                <a:stretch>
                  <a:fillRect l="-1161" t="-2890" r="-619"/>
                </a:stretch>
              </a:blipFill>
              <a:ln>
                <a:solidFill>
                  <a:srgbClr val="00B0F0"/>
                </a:solidFill>
              </a:ln>
            </p:spPr>
            <p:txBody>
              <a:bodyPr/>
              <a:lstStyle/>
              <a:p>
                <a:r>
                  <a:rPr lang="en-US">
                    <a:noFill/>
                  </a:rPr>
                  <a:t> </a:t>
                </a:r>
              </a:p>
            </p:txBody>
          </p:sp>
        </mc:Fallback>
      </mc:AlternateContent>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IX   ·   BÀI 26</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83074745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up)">
                                      <p:cBhvr>
                                        <p:cTn id="7" dur="1000"/>
                                        <p:tgtEl>
                                          <p:spTgt spid="97"/>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99"/>
                                        </p:tgtEl>
                                        <p:attrNameLst>
                                          <p:attrName>style.visibility</p:attrName>
                                        </p:attrNameLst>
                                      </p:cBhvr>
                                      <p:to>
                                        <p:strVal val="visible"/>
                                      </p:to>
                                    </p:set>
                                    <p:animEffect transition="in" filter="wipe(up)">
                                      <p:cBhvr>
                                        <p:cTn id="11" dur="500"/>
                                        <p:tgtEl>
                                          <p:spTgt spid="9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99">
                                            <p:txEl>
                                              <p:pRg st="0" end="0"/>
                                            </p:txEl>
                                          </p:spTgt>
                                        </p:tgtEl>
                                        <p:attrNameLst>
                                          <p:attrName>style.visibility</p:attrName>
                                        </p:attrNameLst>
                                      </p:cBhvr>
                                      <p:to>
                                        <p:strVal val="visible"/>
                                      </p:to>
                                    </p:set>
                                    <p:animEffect transition="in" filter="wipe(up)">
                                      <p:cBhvr>
                                        <p:cTn id="16" dur="500"/>
                                        <p:tgtEl>
                                          <p:spTgt spid="99">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99">
                                            <p:txEl>
                                              <p:pRg st="1" end="1"/>
                                            </p:txEl>
                                          </p:spTgt>
                                        </p:tgtEl>
                                        <p:attrNameLst>
                                          <p:attrName>style.visibility</p:attrName>
                                        </p:attrNameLst>
                                      </p:cBhvr>
                                      <p:to>
                                        <p:strVal val="visible"/>
                                      </p:to>
                                    </p:set>
                                    <p:animEffect transition="in" filter="wipe(up)">
                                      <p:cBhvr>
                                        <p:cTn id="21" dur="500"/>
                                        <p:tgtEl>
                                          <p:spTgt spid="99">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99">
                                            <p:txEl>
                                              <p:pRg st="2" end="2"/>
                                            </p:txEl>
                                          </p:spTgt>
                                        </p:tgtEl>
                                        <p:attrNameLst>
                                          <p:attrName>style.visibility</p:attrName>
                                        </p:attrNameLst>
                                      </p:cBhvr>
                                      <p:to>
                                        <p:strVal val="visible"/>
                                      </p:to>
                                    </p:set>
                                    <p:animEffect transition="in" filter="wipe(up)">
                                      <p:cBhvr>
                                        <p:cTn id="26" dur="500"/>
                                        <p:tgtEl>
                                          <p:spTgt spid="99">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99">
                                            <p:txEl>
                                              <p:pRg st="3" end="3"/>
                                            </p:txEl>
                                          </p:spTgt>
                                        </p:tgtEl>
                                        <p:attrNameLst>
                                          <p:attrName>style.visibility</p:attrName>
                                        </p:attrNameLst>
                                      </p:cBhvr>
                                      <p:to>
                                        <p:strVal val="visible"/>
                                      </p:to>
                                    </p:set>
                                    <p:animEffect transition="in" filter="wipe(up)">
                                      <p:cBhvr>
                                        <p:cTn id="31" dur="500"/>
                                        <p:tgtEl>
                                          <p:spTgt spid="99">
                                            <p:txEl>
                                              <p:pRg st="3" end="3"/>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nodeType="clickEffect">
                                  <p:stCondLst>
                                    <p:cond delay="0"/>
                                  </p:stCondLst>
                                  <p:childTnLst>
                                    <p:set>
                                      <p:cBhvr>
                                        <p:cTn id="35" dur="1" fill="hold">
                                          <p:stCondLst>
                                            <p:cond delay="0"/>
                                          </p:stCondLst>
                                        </p:cTn>
                                        <p:tgtEl>
                                          <p:spTgt spid="99">
                                            <p:txEl>
                                              <p:pRg st="4" end="4"/>
                                            </p:txEl>
                                          </p:spTgt>
                                        </p:tgtEl>
                                        <p:attrNameLst>
                                          <p:attrName>style.visibility</p:attrName>
                                        </p:attrNameLst>
                                      </p:cBhvr>
                                      <p:to>
                                        <p:strVal val="visible"/>
                                      </p:to>
                                    </p:set>
                                    <p:animEffect transition="in" filter="wipe(up)">
                                      <p:cBhvr>
                                        <p:cTn id="36" dur="500"/>
                                        <p:tgtEl>
                                          <p:spTgt spid="99">
                                            <p:txEl>
                                              <p:pRg st="4" end="4"/>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nodeType="clickEffect">
                                  <p:stCondLst>
                                    <p:cond delay="0"/>
                                  </p:stCondLst>
                                  <p:childTnLst>
                                    <p:set>
                                      <p:cBhvr>
                                        <p:cTn id="40" dur="1" fill="hold">
                                          <p:stCondLst>
                                            <p:cond delay="0"/>
                                          </p:stCondLst>
                                        </p:cTn>
                                        <p:tgtEl>
                                          <p:spTgt spid="99">
                                            <p:txEl>
                                              <p:pRg st="5" end="5"/>
                                            </p:txEl>
                                          </p:spTgt>
                                        </p:tgtEl>
                                        <p:attrNameLst>
                                          <p:attrName>style.visibility</p:attrName>
                                        </p:attrNameLst>
                                      </p:cBhvr>
                                      <p:to>
                                        <p:strVal val="visible"/>
                                      </p:to>
                                    </p:set>
                                    <p:animEffect transition="in" filter="wipe(up)">
                                      <p:cBhvr>
                                        <p:cTn id="41" dur="500"/>
                                        <p:tgtEl>
                                          <p:spTgt spid="9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9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152400" y="1752600"/>
            <a:ext cx="24079200" cy="3657600"/>
          </a:xfrm>
          <a:prstGeom prst="rect">
            <a:avLst/>
          </a:prstGeom>
          <a:solidFill>
            <a:schemeClr val="accent1">
              <a:lumMod val="20000"/>
              <a:lumOff val="80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vi-VN" b="1" dirty="0">
                <a:latin typeface="+mj-lt"/>
              </a:rPr>
              <a:t>b) Gọi D là biến cố: “Số chấm xuất hiện trên con xúc xắc mà An gieo lớn hơn hoặc bằng 5”, ta có: D={(i;j)|i,j∈N;5≤i;1≤j≤6}</a:t>
            </a:r>
          </a:p>
          <a:p>
            <a:r>
              <a:rPr lang="vi-VN" b="1" dirty="0">
                <a:latin typeface="+mj-lt"/>
              </a:rPr>
              <a:t>={(5;1);(5;2);(5;3);(5;4);(5;5);(5;6);(6;1);(6;2);(6;3);(6;4);(6;5);(6;6)}.</a:t>
            </a:r>
          </a:p>
          <a:p>
            <a:r>
              <a:rPr lang="vi-VN" b="1" dirty="0">
                <a:latin typeface="+mj-lt"/>
              </a:rPr>
              <a:t>⇒n(D)=12.</a:t>
            </a: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152400" y="5410200"/>
                <a:ext cx="24079200" cy="8093076"/>
              </a:xfrm>
              <a:prstGeom prst="rect">
                <a:avLst/>
              </a:prstGeom>
              <a:solidFill>
                <a:schemeClr val="accent1">
                  <a:lumMod val="20000"/>
                  <a:lumOff val="80000"/>
                </a:schemeClr>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vi-VN" b="1" dirty="0"/>
                  <a:t>c) Gọi E là biến cố: “Tích số chấm xuất hiện trên hai con xúc xắc bé hơn 6”, ta có </a:t>
                </a:r>
              </a:p>
              <a:p>
                <a:r>
                  <a:rPr lang="vi-VN" b="1" dirty="0"/>
                  <a:t>E={(i;j)</a:t>
                </a:r>
                <a:r>
                  <a:rPr lang="en-US" b="1" dirty="0"/>
                  <a:t>|</a:t>
                </a:r>
                <a:r>
                  <a:rPr lang="vi-VN" b="1" dirty="0"/>
                  <a:t>i,j∈N;i.j&lt;6}={(1;1);(1;2);(1;3);(1;4);(1;5);(2;1);(2;2);(3;1);(4;1);(5;1)}.</a:t>
                </a:r>
              </a:p>
              <a:p>
                <a:pPr marL="0" indent="0">
                  <a:buNone/>
                </a:pPr>
                <a:r>
                  <a:rPr lang="vi-VN" b="1" dirty="0"/>
                  <a:t>⇒n(E)=10.</a:t>
                </a:r>
              </a:p>
              <a:p>
                <a:r>
                  <a:rPr lang="vi-VN" b="1" dirty="0"/>
                  <a:t>Xác suất </a:t>
                </a:r>
                <a:r>
                  <a:rPr lang="en-US" b="1" dirty="0" err="1"/>
                  <a:t>của</a:t>
                </a:r>
                <a:r>
                  <a:rPr lang="en-US" b="1" dirty="0"/>
                  <a:t> </a:t>
                </a:r>
                <a:r>
                  <a:rPr lang="en-US" b="1" dirty="0" err="1"/>
                  <a:t>biến</a:t>
                </a:r>
                <a:r>
                  <a:rPr lang="en-US" b="1" dirty="0"/>
                  <a:t> </a:t>
                </a:r>
                <a:r>
                  <a:rPr lang="en-US" b="1" dirty="0" err="1"/>
                  <a:t>cố</a:t>
                </a:r>
                <a:r>
                  <a:rPr lang="en-US" b="1" dirty="0"/>
                  <a:t> E </a:t>
                </a:r>
                <a:r>
                  <a:rPr lang="en-US" b="1" dirty="0" err="1"/>
                  <a:t>là</a:t>
                </a:r>
                <a:r>
                  <a:rPr lang="en-US" b="1" dirty="0"/>
                  <a:t>: </a:t>
                </a:r>
                <a14:m>
                  <m:oMath xmlns:m="http://schemas.openxmlformats.org/officeDocument/2006/math">
                    <m:r>
                      <a:rPr lang="nl-NL" b="1" i="1">
                        <a:latin typeface="Cambria Math" panose="02040503050406030204" pitchFamily="18" charset="0"/>
                      </a:rPr>
                      <m:t>𝑷</m:t>
                    </m:r>
                    <m:d>
                      <m:dPr>
                        <m:ctrlPr>
                          <a:rPr lang="en-US" b="1" i="1">
                            <a:latin typeface="Cambria Math" panose="02040503050406030204" pitchFamily="18" charset="0"/>
                          </a:rPr>
                        </m:ctrlPr>
                      </m:dPr>
                      <m:e>
                        <m:r>
                          <a:rPr lang="nl-NL" b="1" i="1">
                            <a:latin typeface="Cambria Math" panose="02040503050406030204" pitchFamily="18" charset="0"/>
                          </a:rPr>
                          <m:t>𝑬</m:t>
                        </m:r>
                      </m:e>
                    </m:d>
                    <m:r>
                      <a:rPr lang="nl-NL" b="1" i="1">
                        <a:latin typeface="Cambria Math" panose="02040503050406030204" pitchFamily="18" charset="0"/>
                      </a:rPr>
                      <m:t>=</m:t>
                    </m:r>
                    <m:f>
                      <m:fPr>
                        <m:ctrlPr>
                          <a:rPr lang="en-US" b="1" i="1">
                            <a:latin typeface="Cambria Math" panose="02040503050406030204" pitchFamily="18" charset="0"/>
                          </a:rPr>
                        </m:ctrlPr>
                      </m:fPr>
                      <m:num>
                        <m:r>
                          <a:rPr lang="nl-NL" b="1" i="1">
                            <a:latin typeface="Cambria Math" panose="02040503050406030204" pitchFamily="18" charset="0"/>
                          </a:rPr>
                          <m:t>𝒏</m:t>
                        </m:r>
                        <m:d>
                          <m:dPr>
                            <m:ctrlPr>
                              <a:rPr lang="en-US" b="1" i="1">
                                <a:latin typeface="Cambria Math" panose="02040503050406030204" pitchFamily="18" charset="0"/>
                              </a:rPr>
                            </m:ctrlPr>
                          </m:dPr>
                          <m:e>
                            <m:r>
                              <a:rPr lang="nl-NL" b="1" i="1">
                                <a:latin typeface="Cambria Math" panose="02040503050406030204" pitchFamily="18" charset="0"/>
                              </a:rPr>
                              <m:t>𝑬</m:t>
                            </m:r>
                          </m:e>
                        </m:d>
                      </m:num>
                      <m:den>
                        <m:r>
                          <a:rPr lang="nl-NL" b="1" i="1">
                            <a:latin typeface="Cambria Math" panose="02040503050406030204" pitchFamily="18" charset="0"/>
                          </a:rPr>
                          <m:t>𝒏</m:t>
                        </m:r>
                        <m:d>
                          <m:dPr>
                            <m:ctrlPr>
                              <a:rPr lang="en-US" b="1" i="1">
                                <a:latin typeface="Cambria Math" panose="02040503050406030204" pitchFamily="18" charset="0"/>
                              </a:rPr>
                            </m:ctrlPr>
                          </m:dPr>
                          <m:e>
                            <m:r>
                              <a:rPr lang="nl-NL" b="1" i="1">
                                <a:latin typeface="Cambria Math" panose="02040503050406030204" pitchFamily="18" charset="0"/>
                              </a:rPr>
                              <m:t>𝜴</m:t>
                            </m:r>
                          </m:e>
                        </m:d>
                      </m:den>
                    </m:f>
                    <m:r>
                      <a:rPr lang="nl-NL" b="1" i="1">
                        <a:latin typeface="Cambria Math" panose="02040503050406030204" pitchFamily="18" charset="0"/>
                      </a:rPr>
                      <m:t>=</m:t>
                    </m:r>
                    <m:f>
                      <m:fPr>
                        <m:ctrlPr>
                          <a:rPr lang="en-US" b="1" i="1">
                            <a:latin typeface="Cambria Math" panose="02040503050406030204" pitchFamily="18" charset="0"/>
                          </a:rPr>
                        </m:ctrlPr>
                      </m:fPr>
                      <m:num>
                        <m:r>
                          <a:rPr lang="nl-NL" b="1" i="1">
                            <a:latin typeface="Cambria Math" panose="02040503050406030204" pitchFamily="18" charset="0"/>
                          </a:rPr>
                          <m:t>𝟏𝟎</m:t>
                        </m:r>
                      </m:num>
                      <m:den>
                        <m:r>
                          <a:rPr lang="nl-NL" b="1" i="1">
                            <a:latin typeface="Cambria Math" panose="02040503050406030204" pitchFamily="18" charset="0"/>
                          </a:rPr>
                          <m:t>𝟑𝟔</m:t>
                        </m:r>
                      </m:den>
                    </m:f>
                    <m:r>
                      <a:rPr lang="nl-NL" b="1" i="1">
                        <a:latin typeface="Cambria Math" panose="02040503050406030204" pitchFamily="18" charset="0"/>
                      </a:rPr>
                      <m:t>=</m:t>
                    </m:r>
                    <m:f>
                      <m:fPr>
                        <m:ctrlPr>
                          <a:rPr lang="en-US" b="1" i="1">
                            <a:latin typeface="Cambria Math" panose="02040503050406030204" pitchFamily="18" charset="0"/>
                          </a:rPr>
                        </m:ctrlPr>
                      </m:fPr>
                      <m:num>
                        <m:r>
                          <a:rPr lang="nl-NL" b="1" i="1">
                            <a:latin typeface="Cambria Math" panose="02040503050406030204" pitchFamily="18" charset="0"/>
                          </a:rPr>
                          <m:t>𝟓</m:t>
                        </m:r>
                      </m:num>
                      <m:den>
                        <m:r>
                          <a:rPr lang="nl-NL" b="1" i="1">
                            <a:latin typeface="Cambria Math" panose="02040503050406030204" pitchFamily="18" charset="0"/>
                          </a:rPr>
                          <m:t>𝟏𝟖</m:t>
                        </m:r>
                      </m:den>
                    </m:f>
                  </m:oMath>
                </a14:m>
                <a:r>
                  <a:rPr lang="nl-NL" b="1" dirty="0"/>
                  <a:t>.</a:t>
                </a:r>
              </a:p>
              <a:p>
                <a:pPr marL="0" indent="0">
                  <a:buNone/>
                </a:pPr>
                <a:r>
                  <a:rPr lang="nl-NL" b="1" dirty="0"/>
                  <a:t>d) Gọi </a:t>
                </a:r>
                <a:r>
                  <a:rPr lang="nl-NL" b="1" i="1" dirty="0"/>
                  <a:t>F</a:t>
                </a:r>
                <a:r>
                  <a:rPr lang="nl-NL" b="1" dirty="0"/>
                  <a:t> là biến cố: “Tổng hai số chấm xuất hiện trên hai con xúc xắc là một số nguyên tố”, ta có </a:t>
                </a:r>
                <a:endParaRPr lang="vi-VN" b="1" dirty="0"/>
              </a:p>
              <a:p>
                <a:pPr marL="0" indent="0">
                  <a:buNone/>
                </a:pPr>
                <a14:m>
                  <m:oMath xmlns:m="http://schemas.openxmlformats.org/officeDocument/2006/math">
                    <m:r>
                      <a:rPr lang="nl-NL" sz="4100" b="1" i="1" smtClean="0">
                        <a:latin typeface="Cambria Math" panose="02040503050406030204" pitchFamily="18" charset="0"/>
                      </a:rPr>
                      <m:t>𝑭</m:t>
                    </m:r>
                    <m:r>
                      <a:rPr lang="nl-NL" sz="4100" b="1" i="1">
                        <a:latin typeface="Cambria Math" panose="02040503050406030204" pitchFamily="18" charset="0"/>
                      </a:rPr>
                      <m:t>=</m:t>
                    </m:r>
                    <m:d>
                      <m:dPr>
                        <m:begChr m:val="{"/>
                        <m:endChr m:val="}"/>
                        <m:ctrlPr>
                          <a:rPr lang="vi-VN" sz="4100" b="1" i="1">
                            <a:latin typeface="Cambria Math" panose="02040503050406030204" pitchFamily="18" charset="0"/>
                          </a:rPr>
                        </m:ctrlPr>
                      </m:dPr>
                      <m:e>
                        <m:d>
                          <m:dPr>
                            <m:ctrlPr>
                              <a:rPr lang="vi-VN" sz="4100" b="1" i="1">
                                <a:latin typeface="Cambria Math" panose="02040503050406030204" pitchFamily="18" charset="0"/>
                              </a:rPr>
                            </m:ctrlPr>
                          </m:dPr>
                          <m:e>
                            <m:r>
                              <a:rPr lang="nl-NL" sz="4100" b="1" i="1">
                                <a:latin typeface="Cambria Math" panose="02040503050406030204" pitchFamily="18" charset="0"/>
                              </a:rPr>
                              <m:t>𝟏</m:t>
                            </m:r>
                            <m:r>
                              <a:rPr lang="nl-NL" sz="4100" b="1" i="1">
                                <a:latin typeface="Cambria Math" panose="02040503050406030204" pitchFamily="18" charset="0"/>
                              </a:rPr>
                              <m:t>;</m:t>
                            </m:r>
                            <m:r>
                              <a:rPr lang="nl-NL" sz="4100" b="1" i="1">
                                <a:latin typeface="Cambria Math" panose="02040503050406030204" pitchFamily="18" charset="0"/>
                              </a:rPr>
                              <m:t>𝟏</m:t>
                            </m:r>
                          </m:e>
                        </m:d>
                        <m:r>
                          <a:rPr lang="nl-NL" sz="4100" b="1" i="1">
                            <a:latin typeface="Cambria Math" panose="02040503050406030204" pitchFamily="18" charset="0"/>
                          </a:rPr>
                          <m:t>;</m:t>
                        </m:r>
                        <m:d>
                          <m:dPr>
                            <m:ctrlPr>
                              <a:rPr lang="vi-VN" sz="4100" b="1" i="1">
                                <a:latin typeface="Cambria Math" panose="02040503050406030204" pitchFamily="18" charset="0"/>
                              </a:rPr>
                            </m:ctrlPr>
                          </m:dPr>
                          <m:e>
                            <m:r>
                              <a:rPr lang="nl-NL" sz="4100" b="1" i="1">
                                <a:latin typeface="Cambria Math" panose="02040503050406030204" pitchFamily="18" charset="0"/>
                              </a:rPr>
                              <m:t>𝟏</m:t>
                            </m:r>
                            <m:r>
                              <a:rPr lang="nl-NL" sz="4100" b="1" i="1">
                                <a:latin typeface="Cambria Math" panose="02040503050406030204" pitchFamily="18" charset="0"/>
                              </a:rPr>
                              <m:t>;</m:t>
                            </m:r>
                            <m:r>
                              <a:rPr lang="nl-NL" sz="4100" b="1" i="1">
                                <a:latin typeface="Cambria Math" panose="02040503050406030204" pitchFamily="18" charset="0"/>
                              </a:rPr>
                              <m:t>𝟐</m:t>
                            </m:r>
                          </m:e>
                        </m:d>
                        <m:r>
                          <a:rPr lang="nl-NL" sz="4100" b="1" i="1">
                            <a:latin typeface="Cambria Math" panose="02040503050406030204" pitchFamily="18" charset="0"/>
                          </a:rPr>
                          <m:t>;</m:t>
                        </m:r>
                        <m:d>
                          <m:dPr>
                            <m:ctrlPr>
                              <a:rPr lang="vi-VN" sz="4100" b="1" i="1">
                                <a:latin typeface="Cambria Math" panose="02040503050406030204" pitchFamily="18" charset="0"/>
                              </a:rPr>
                            </m:ctrlPr>
                          </m:dPr>
                          <m:e>
                            <m:r>
                              <a:rPr lang="nl-NL" sz="4100" b="1" i="1">
                                <a:latin typeface="Cambria Math" panose="02040503050406030204" pitchFamily="18" charset="0"/>
                              </a:rPr>
                              <m:t>𝟏</m:t>
                            </m:r>
                            <m:r>
                              <a:rPr lang="nl-NL" sz="4100" b="1" i="1">
                                <a:latin typeface="Cambria Math" panose="02040503050406030204" pitchFamily="18" charset="0"/>
                              </a:rPr>
                              <m:t>;</m:t>
                            </m:r>
                            <m:r>
                              <a:rPr lang="nl-NL" sz="4100" b="1" i="1">
                                <a:latin typeface="Cambria Math" panose="02040503050406030204" pitchFamily="18" charset="0"/>
                              </a:rPr>
                              <m:t>𝟒</m:t>
                            </m:r>
                          </m:e>
                        </m:d>
                        <m:r>
                          <a:rPr lang="nl-NL" sz="4100" b="1" i="1">
                            <a:latin typeface="Cambria Math" panose="02040503050406030204" pitchFamily="18" charset="0"/>
                          </a:rPr>
                          <m:t>;</m:t>
                        </m:r>
                        <m:d>
                          <m:dPr>
                            <m:ctrlPr>
                              <a:rPr lang="vi-VN" sz="4100" b="1" i="1">
                                <a:latin typeface="Cambria Math" panose="02040503050406030204" pitchFamily="18" charset="0"/>
                              </a:rPr>
                            </m:ctrlPr>
                          </m:dPr>
                          <m:e>
                            <m:r>
                              <a:rPr lang="nl-NL" sz="4100" b="1" i="1">
                                <a:latin typeface="Cambria Math" panose="02040503050406030204" pitchFamily="18" charset="0"/>
                              </a:rPr>
                              <m:t>𝟏</m:t>
                            </m:r>
                            <m:r>
                              <a:rPr lang="nl-NL" sz="4100" b="1" i="1">
                                <a:latin typeface="Cambria Math" panose="02040503050406030204" pitchFamily="18" charset="0"/>
                              </a:rPr>
                              <m:t>;</m:t>
                            </m:r>
                            <m:r>
                              <a:rPr lang="nl-NL" sz="4100" b="1" i="1">
                                <a:latin typeface="Cambria Math" panose="02040503050406030204" pitchFamily="18" charset="0"/>
                              </a:rPr>
                              <m:t>𝟔</m:t>
                            </m:r>
                          </m:e>
                        </m:d>
                        <m:r>
                          <a:rPr lang="nl-NL" sz="4100" b="1" i="1">
                            <a:latin typeface="Cambria Math" panose="02040503050406030204" pitchFamily="18" charset="0"/>
                          </a:rPr>
                          <m:t>;</m:t>
                        </m:r>
                        <m:d>
                          <m:dPr>
                            <m:ctrlPr>
                              <a:rPr lang="vi-VN" sz="4100" b="1" i="1">
                                <a:latin typeface="Cambria Math" panose="02040503050406030204" pitchFamily="18" charset="0"/>
                              </a:rPr>
                            </m:ctrlPr>
                          </m:dPr>
                          <m:e>
                            <m:r>
                              <a:rPr lang="nl-NL" sz="4100" b="1" i="1">
                                <a:latin typeface="Cambria Math" panose="02040503050406030204" pitchFamily="18" charset="0"/>
                              </a:rPr>
                              <m:t>𝟐</m:t>
                            </m:r>
                            <m:r>
                              <a:rPr lang="nl-NL" sz="4100" b="1" i="1">
                                <a:latin typeface="Cambria Math" panose="02040503050406030204" pitchFamily="18" charset="0"/>
                              </a:rPr>
                              <m:t>;</m:t>
                            </m:r>
                            <m:r>
                              <a:rPr lang="nl-NL" sz="4100" b="1" i="1">
                                <a:latin typeface="Cambria Math" panose="02040503050406030204" pitchFamily="18" charset="0"/>
                              </a:rPr>
                              <m:t>𝟏</m:t>
                            </m:r>
                          </m:e>
                        </m:d>
                        <m:r>
                          <a:rPr lang="nl-NL" sz="4100" b="1" i="1">
                            <a:latin typeface="Cambria Math" panose="02040503050406030204" pitchFamily="18" charset="0"/>
                          </a:rPr>
                          <m:t>;</m:t>
                        </m:r>
                        <m:d>
                          <m:dPr>
                            <m:ctrlPr>
                              <a:rPr lang="vi-VN" sz="4100" b="1" i="1">
                                <a:latin typeface="Cambria Math" panose="02040503050406030204" pitchFamily="18" charset="0"/>
                              </a:rPr>
                            </m:ctrlPr>
                          </m:dPr>
                          <m:e>
                            <m:r>
                              <a:rPr lang="nl-NL" sz="4100" b="1" i="1">
                                <a:latin typeface="Cambria Math" panose="02040503050406030204" pitchFamily="18" charset="0"/>
                              </a:rPr>
                              <m:t>𝟐</m:t>
                            </m:r>
                            <m:r>
                              <a:rPr lang="nl-NL" sz="4100" b="1" i="1">
                                <a:latin typeface="Cambria Math" panose="02040503050406030204" pitchFamily="18" charset="0"/>
                              </a:rPr>
                              <m:t>;</m:t>
                            </m:r>
                            <m:r>
                              <a:rPr lang="nl-NL" sz="4100" b="1" i="1">
                                <a:latin typeface="Cambria Math" panose="02040503050406030204" pitchFamily="18" charset="0"/>
                              </a:rPr>
                              <m:t>𝟑</m:t>
                            </m:r>
                          </m:e>
                        </m:d>
                        <m:r>
                          <a:rPr lang="nl-NL" sz="4100" b="1" i="1">
                            <a:latin typeface="Cambria Math" panose="02040503050406030204" pitchFamily="18" charset="0"/>
                          </a:rPr>
                          <m:t>;</m:t>
                        </m:r>
                        <m:d>
                          <m:dPr>
                            <m:ctrlPr>
                              <a:rPr lang="vi-VN" sz="4100" b="1" i="1">
                                <a:latin typeface="Cambria Math" panose="02040503050406030204" pitchFamily="18" charset="0"/>
                              </a:rPr>
                            </m:ctrlPr>
                          </m:dPr>
                          <m:e>
                            <m:r>
                              <a:rPr lang="nl-NL" sz="4100" b="1" i="1">
                                <a:latin typeface="Cambria Math" panose="02040503050406030204" pitchFamily="18" charset="0"/>
                              </a:rPr>
                              <m:t>𝟐</m:t>
                            </m:r>
                            <m:r>
                              <a:rPr lang="nl-NL" sz="4100" b="1" i="1">
                                <a:latin typeface="Cambria Math" panose="02040503050406030204" pitchFamily="18" charset="0"/>
                              </a:rPr>
                              <m:t>;</m:t>
                            </m:r>
                            <m:r>
                              <a:rPr lang="nl-NL" sz="4100" b="1" i="1">
                                <a:latin typeface="Cambria Math" panose="02040503050406030204" pitchFamily="18" charset="0"/>
                              </a:rPr>
                              <m:t>𝟓</m:t>
                            </m:r>
                          </m:e>
                        </m:d>
                        <m:r>
                          <a:rPr lang="nl-NL" sz="4100" b="1" i="1">
                            <a:latin typeface="Cambria Math" panose="02040503050406030204" pitchFamily="18" charset="0"/>
                          </a:rPr>
                          <m:t>;</m:t>
                        </m:r>
                        <m:d>
                          <m:dPr>
                            <m:ctrlPr>
                              <a:rPr lang="vi-VN" sz="4100" b="1" i="1">
                                <a:latin typeface="Cambria Math" panose="02040503050406030204" pitchFamily="18" charset="0"/>
                              </a:rPr>
                            </m:ctrlPr>
                          </m:dPr>
                          <m:e>
                            <m:r>
                              <a:rPr lang="nl-NL" sz="4100" b="1" i="1">
                                <a:latin typeface="Cambria Math" panose="02040503050406030204" pitchFamily="18" charset="0"/>
                              </a:rPr>
                              <m:t>𝟑</m:t>
                            </m:r>
                            <m:r>
                              <a:rPr lang="nl-NL" sz="4100" b="1" i="1">
                                <a:latin typeface="Cambria Math" panose="02040503050406030204" pitchFamily="18" charset="0"/>
                              </a:rPr>
                              <m:t>;</m:t>
                            </m:r>
                            <m:r>
                              <a:rPr lang="nl-NL" sz="4100" b="1" i="1">
                                <a:latin typeface="Cambria Math" panose="02040503050406030204" pitchFamily="18" charset="0"/>
                              </a:rPr>
                              <m:t>𝟐</m:t>
                            </m:r>
                          </m:e>
                        </m:d>
                        <m:r>
                          <a:rPr lang="nl-NL" sz="4100" b="1" i="1">
                            <a:latin typeface="Cambria Math" panose="02040503050406030204" pitchFamily="18" charset="0"/>
                          </a:rPr>
                          <m:t>;</m:t>
                        </m:r>
                        <m:d>
                          <m:dPr>
                            <m:ctrlPr>
                              <a:rPr lang="vi-VN" sz="4100" b="1" i="1">
                                <a:latin typeface="Cambria Math" panose="02040503050406030204" pitchFamily="18" charset="0"/>
                              </a:rPr>
                            </m:ctrlPr>
                          </m:dPr>
                          <m:e>
                            <m:r>
                              <a:rPr lang="nl-NL" sz="4100" b="1" i="1">
                                <a:latin typeface="Cambria Math" panose="02040503050406030204" pitchFamily="18" charset="0"/>
                              </a:rPr>
                              <m:t>𝟑</m:t>
                            </m:r>
                            <m:r>
                              <a:rPr lang="nl-NL" sz="4100" b="1" i="1">
                                <a:latin typeface="Cambria Math" panose="02040503050406030204" pitchFamily="18" charset="0"/>
                              </a:rPr>
                              <m:t>;</m:t>
                            </m:r>
                            <m:r>
                              <a:rPr lang="nl-NL" sz="4100" b="1" i="1">
                                <a:latin typeface="Cambria Math" panose="02040503050406030204" pitchFamily="18" charset="0"/>
                              </a:rPr>
                              <m:t>𝟒</m:t>
                            </m:r>
                          </m:e>
                        </m:d>
                        <m:r>
                          <a:rPr lang="nl-NL" sz="4100" b="1" i="1">
                            <a:latin typeface="Cambria Math" panose="02040503050406030204" pitchFamily="18" charset="0"/>
                          </a:rPr>
                          <m:t>;</m:t>
                        </m:r>
                        <m:d>
                          <m:dPr>
                            <m:ctrlPr>
                              <a:rPr lang="vi-VN" sz="4100" b="1" i="1">
                                <a:latin typeface="Cambria Math" panose="02040503050406030204" pitchFamily="18" charset="0"/>
                              </a:rPr>
                            </m:ctrlPr>
                          </m:dPr>
                          <m:e>
                            <m:r>
                              <a:rPr lang="nl-NL" sz="4100" b="1" i="1">
                                <a:latin typeface="Cambria Math" panose="02040503050406030204" pitchFamily="18" charset="0"/>
                              </a:rPr>
                              <m:t>𝟒</m:t>
                            </m:r>
                            <m:r>
                              <a:rPr lang="nl-NL" sz="4100" b="1" i="1">
                                <a:latin typeface="Cambria Math" panose="02040503050406030204" pitchFamily="18" charset="0"/>
                              </a:rPr>
                              <m:t>;</m:t>
                            </m:r>
                            <m:r>
                              <a:rPr lang="nl-NL" sz="4100" b="1" i="1">
                                <a:latin typeface="Cambria Math" panose="02040503050406030204" pitchFamily="18" charset="0"/>
                              </a:rPr>
                              <m:t>𝟏</m:t>
                            </m:r>
                          </m:e>
                        </m:d>
                        <m:r>
                          <a:rPr lang="nl-NL" sz="4100" b="1" i="1">
                            <a:latin typeface="Cambria Math" panose="02040503050406030204" pitchFamily="18" charset="0"/>
                          </a:rPr>
                          <m:t>;</m:t>
                        </m:r>
                        <m:d>
                          <m:dPr>
                            <m:ctrlPr>
                              <a:rPr lang="vi-VN" sz="4100" b="1" i="1">
                                <a:latin typeface="Cambria Math" panose="02040503050406030204" pitchFamily="18" charset="0"/>
                              </a:rPr>
                            </m:ctrlPr>
                          </m:dPr>
                          <m:e>
                            <m:r>
                              <a:rPr lang="nl-NL" sz="4100" b="1" i="1">
                                <a:latin typeface="Cambria Math" panose="02040503050406030204" pitchFamily="18" charset="0"/>
                              </a:rPr>
                              <m:t>𝟒</m:t>
                            </m:r>
                            <m:r>
                              <a:rPr lang="nl-NL" sz="4100" b="1" i="1">
                                <a:latin typeface="Cambria Math" panose="02040503050406030204" pitchFamily="18" charset="0"/>
                              </a:rPr>
                              <m:t>;</m:t>
                            </m:r>
                            <m:r>
                              <a:rPr lang="nl-NL" sz="4100" b="1" i="1">
                                <a:latin typeface="Cambria Math" panose="02040503050406030204" pitchFamily="18" charset="0"/>
                              </a:rPr>
                              <m:t>𝟑</m:t>
                            </m:r>
                          </m:e>
                        </m:d>
                        <m:r>
                          <a:rPr lang="nl-NL" sz="4100" b="1" i="1">
                            <a:latin typeface="Cambria Math" panose="02040503050406030204" pitchFamily="18" charset="0"/>
                          </a:rPr>
                          <m:t>;</m:t>
                        </m:r>
                        <m:d>
                          <m:dPr>
                            <m:ctrlPr>
                              <a:rPr lang="vi-VN" sz="4100" b="1" i="1">
                                <a:latin typeface="Cambria Math" panose="02040503050406030204" pitchFamily="18" charset="0"/>
                              </a:rPr>
                            </m:ctrlPr>
                          </m:dPr>
                          <m:e>
                            <m:r>
                              <a:rPr lang="nl-NL" sz="4100" b="1" i="1">
                                <a:latin typeface="Cambria Math" panose="02040503050406030204" pitchFamily="18" charset="0"/>
                              </a:rPr>
                              <m:t>𝟓</m:t>
                            </m:r>
                            <m:r>
                              <a:rPr lang="nl-NL" sz="4100" b="1" i="1">
                                <a:latin typeface="Cambria Math" panose="02040503050406030204" pitchFamily="18" charset="0"/>
                              </a:rPr>
                              <m:t>;</m:t>
                            </m:r>
                            <m:r>
                              <a:rPr lang="nl-NL" sz="4100" b="1" i="1">
                                <a:latin typeface="Cambria Math" panose="02040503050406030204" pitchFamily="18" charset="0"/>
                              </a:rPr>
                              <m:t>𝟐</m:t>
                            </m:r>
                          </m:e>
                        </m:d>
                        <m:r>
                          <a:rPr lang="nl-NL" sz="4100" b="1" i="1">
                            <a:latin typeface="Cambria Math" panose="02040503050406030204" pitchFamily="18" charset="0"/>
                          </a:rPr>
                          <m:t>;</m:t>
                        </m:r>
                        <m:d>
                          <m:dPr>
                            <m:ctrlPr>
                              <a:rPr lang="vi-VN" sz="4100" b="1" i="1">
                                <a:latin typeface="Cambria Math" panose="02040503050406030204" pitchFamily="18" charset="0"/>
                              </a:rPr>
                            </m:ctrlPr>
                          </m:dPr>
                          <m:e>
                            <m:r>
                              <a:rPr lang="nl-NL" sz="4100" b="1" i="1">
                                <a:latin typeface="Cambria Math" panose="02040503050406030204" pitchFamily="18" charset="0"/>
                              </a:rPr>
                              <m:t>𝟓</m:t>
                            </m:r>
                            <m:r>
                              <a:rPr lang="nl-NL" sz="4100" b="1" i="1">
                                <a:latin typeface="Cambria Math" panose="02040503050406030204" pitchFamily="18" charset="0"/>
                              </a:rPr>
                              <m:t>;</m:t>
                            </m:r>
                            <m:r>
                              <a:rPr lang="nl-NL" sz="4100" b="1" i="1">
                                <a:latin typeface="Cambria Math" panose="02040503050406030204" pitchFamily="18" charset="0"/>
                              </a:rPr>
                              <m:t>𝟔</m:t>
                            </m:r>
                          </m:e>
                        </m:d>
                        <m:r>
                          <a:rPr lang="nl-NL" sz="4100" b="1" i="1">
                            <a:latin typeface="Cambria Math" panose="02040503050406030204" pitchFamily="18" charset="0"/>
                          </a:rPr>
                          <m:t>;</m:t>
                        </m:r>
                        <m:d>
                          <m:dPr>
                            <m:ctrlPr>
                              <a:rPr lang="vi-VN" sz="4100" b="1" i="1">
                                <a:latin typeface="Cambria Math" panose="02040503050406030204" pitchFamily="18" charset="0"/>
                              </a:rPr>
                            </m:ctrlPr>
                          </m:dPr>
                          <m:e>
                            <m:r>
                              <a:rPr lang="nl-NL" sz="4100" b="1" i="1">
                                <a:latin typeface="Cambria Math" panose="02040503050406030204" pitchFamily="18" charset="0"/>
                              </a:rPr>
                              <m:t>𝟔</m:t>
                            </m:r>
                            <m:r>
                              <a:rPr lang="nl-NL" sz="4100" b="1" i="1">
                                <a:latin typeface="Cambria Math" panose="02040503050406030204" pitchFamily="18" charset="0"/>
                              </a:rPr>
                              <m:t>;</m:t>
                            </m:r>
                            <m:r>
                              <a:rPr lang="nl-NL" sz="4100" b="1" i="1">
                                <a:latin typeface="Cambria Math" panose="02040503050406030204" pitchFamily="18" charset="0"/>
                              </a:rPr>
                              <m:t>𝟏</m:t>
                            </m:r>
                          </m:e>
                        </m:d>
                        <m:r>
                          <a:rPr lang="nl-NL" sz="4100" b="1" i="1">
                            <a:latin typeface="Cambria Math" panose="02040503050406030204" pitchFamily="18" charset="0"/>
                          </a:rPr>
                          <m:t>;</m:t>
                        </m:r>
                        <m:d>
                          <m:dPr>
                            <m:ctrlPr>
                              <a:rPr lang="vi-VN" sz="4100" b="1" i="1">
                                <a:latin typeface="Cambria Math" panose="02040503050406030204" pitchFamily="18" charset="0"/>
                              </a:rPr>
                            </m:ctrlPr>
                          </m:dPr>
                          <m:e>
                            <m:r>
                              <a:rPr lang="nl-NL" sz="4100" b="1" i="1">
                                <a:latin typeface="Cambria Math" panose="02040503050406030204" pitchFamily="18" charset="0"/>
                              </a:rPr>
                              <m:t>𝟔</m:t>
                            </m:r>
                            <m:r>
                              <a:rPr lang="nl-NL" sz="4100" b="1" i="1">
                                <a:latin typeface="Cambria Math" panose="02040503050406030204" pitchFamily="18" charset="0"/>
                              </a:rPr>
                              <m:t>;</m:t>
                            </m:r>
                            <m:r>
                              <a:rPr lang="nl-NL" sz="4100" b="1" i="1">
                                <a:latin typeface="Cambria Math" panose="02040503050406030204" pitchFamily="18" charset="0"/>
                              </a:rPr>
                              <m:t>𝟓</m:t>
                            </m:r>
                          </m:e>
                        </m:d>
                      </m:e>
                    </m:d>
                  </m:oMath>
                </a14:m>
                <a:r>
                  <a:rPr lang="en-US" sz="4100" b="1" dirty="0">
                    <a:latin typeface="Tahoma" panose="020B0604030504040204" pitchFamily="34" charset="0"/>
                    <a:ea typeface="Tahoma" panose="020B0604030504040204" pitchFamily="34" charset="0"/>
                    <a:cs typeface="Tahoma" panose="020B0604030504040204" pitchFamily="34" charset="0"/>
                  </a:rPr>
                  <a:t>.</a:t>
                </a:r>
                <a:endParaRPr lang="vi-VN" sz="4100" b="1" dirty="0">
                  <a:latin typeface="Tahoma" panose="020B0604030504040204" pitchFamily="34" charset="0"/>
                  <a:ea typeface="Tahoma" panose="020B0604030504040204" pitchFamily="34" charset="0"/>
                  <a:cs typeface="Tahoma" panose="020B0604030504040204" pitchFamily="34" charset="0"/>
                </a:endParaRPr>
              </a:p>
              <a:p>
                <a:pPr marL="0" indent="0">
                  <a:buNone/>
                </a:pPr>
                <a14:m>
                  <m:oMath xmlns:m="http://schemas.openxmlformats.org/officeDocument/2006/math">
                    <m:r>
                      <a:rPr lang="nl-NL" b="1" i="1">
                        <a:latin typeface="Cambria Math" panose="02040503050406030204" pitchFamily="18" charset="0"/>
                      </a:rPr>
                      <m:t>⇒</m:t>
                    </m:r>
                    <m:r>
                      <a:rPr lang="nl-NL" b="1" i="1">
                        <a:latin typeface="Cambria Math" panose="02040503050406030204" pitchFamily="18" charset="0"/>
                      </a:rPr>
                      <m:t>𝒏</m:t>
                    </m:r>
                    <m:d>
                      <m:dPr>
                        <m:ctrlPr>
                          <a:rPr lang="vi-VN" b="1" i="1">
                            <a:latin typeface="Cambria Math" panose="02040503050406030204" pitchFamily="18" charset="0"/>
                          </a:rPr>
                        </m:ctrlPr>
                      </m:dPr>
                      <m:e>
                        <m:r>
                          <a:rPr lang="nl-NL" b="1" i="1">
                            <a:latin typeface="Cambria Math" panose="02040503050406030204" pitchFamily="18" charset="0"/>
                          </a:rPr>
                          <m:t>𝑭</m:t>
                        </m:r>
                      </m:e>
                    </m:d>
                    <m:r>
                      <a:rPr lang="nl-NL" b="1" i="1">
                        <a:latin typeface="Cambria Math" panose="02040503050406030204" pitchFamily="18" charset="0"/>
                      </a:rPr>
                      <m:t>=</m:t>
                    </m:r>
                    <m:r>
                      <a:rPr lang="nl-NL" b="1" i="1">
                        <a:latin typeface="Cambria Math" panose="02040503050406030204" pitchFamily="18" charset="0"/>
                      </a:rPr>
                      <m:t>𝟏𝟓</m:t>
                    </m:r>
                  </m:oMath>
                </a14:m>
                <a:r>
                  <a:rPr lang="nl-NL" b="1" dirty="0"/>
                  <a:t>.</a:t>
                </a:r>
                <a:endParaRPr lang="vi-VN" b="1" dirty="0"/>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152400" y="5410200"/>
                <a:ext cx="24079200" cy="8093076"/>
              </a:xfrm>
              <a:prstGeom prst="rect">
                <a:avLst/>
              </a:prstGeom>
              <a:blipFill>
                <a:blip r:embed="rId3"/>
                <a:stretch>
                  <a:fillRect l="-1113" t="-2483" r="-784"/>
                </a:stretch>
              </a:blipFill>
              <a:ln>
                <a:solidFill>
                  <a:srgbClr val="00B0F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B40E3AD-A2AB-B992-D881-294BE13693BB}"/>
                  </a:ext>
                </a:extLst>
              </p:cNvPr>
              <p:cNvSpPr txBox="1"/>
              <p:nvPr/>
            </p:nvSpPr>
            <p:spPr>
              <a:xfrm>
                <a:off x="4953000" y="4038600"/>
                <a:ext cx="16687800" cy="1195392"/>
              </a:xfrm>
              <a:prstGeom prst="rect">
                <a:avLst/>
              </a:prstGeom>
              <a:noFill/>
            </p:spPr>
            <p:txBody>
              <a:bodyPr wrap="square">
                <a:spAutoFit/>
              </a:bodyPr>
              <a:lstStyle/>
              <a:p>
                <a:pPr marL="0" marR="0" lvl="0" indent="0" algn="l" defTabSz="2177278" rtl="0" eaLnBrk="1" fontAlgn="auto" latinLnBrk="0" hangingPunct="1">
                  <a:lnSpc>
                    <a:spcPct val="100000"/>
                  </a:lnSpc>
                  <a:spcBef>
                    <a:spcPts val="0"/>
                  </a:spcBef>
                  <a:spcAft>
                    <a:spcPts val="0"/>
                  </a:spcAft>
                  <a:buClrTx/>
                  <a:buSzTx/>
                  <a:buFontTx/>
                  <a:buNone/>
                  <a:tabLst/>
                  <a:defRPr/>
                </a:pPr>
                <a:r>
                  <a:rPr kumimoji="0" lang="vi-VN" sz="4500" b="1"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Xác suất </a:t>
                </a:r>
                <a:r>
                  <a:rPr kumimoji="0" lang="en-US" sz="4500" b="1"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của</a:t>
                </a:r>
                <a:r>
                  <a:rPr kumimoji="0" lang="en-US" sz="4500" b="1" i="0" u="none" strike="noStrike" kern="1200" cap="none" spc="0" normalizeH="0" noProof="0" dirty="0">
                    <a:ln>
                      <a:noFill/>
                    </a:ln>
                    <a:solidFill>
                      <a:prstClr val="black"/>
                    </a:solidFill>
                    <a:effectLst/>
                    <a:uLnTx/>
                    <a:uFillTx/>
                    <a:latin typeface="Arial" panose="020B0604020202020204" pitchFamily="34" charset="0"/>
                    <a:ea typeface="+mn-ea"/>
                    <a:cs typeface="+mn-cs"/>
                  </a:rPr>
                  <a:t> biến cố D là: </a:t>
                </a:r>
                <a14:m>
                  <m:oMath xmlns:m="http://schemas.openxmlformats.org/officeDocument/2006/math">
                    <m:r>
                      <a:rPr kumimoji="0" lang="nl-NL" sz="45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𝑷</m:t>
                    </m:r>
                    <m:d>
                      <m:dPr>
                        <m:ctrlPr>
                          <a:rPr kumimoji="0" lang="en-US" sz="45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nl-NL" sz="45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𝑫</m:t>
                        </m:r>
                      </m:e>
                    </m:d>
                    <m:r>
                      <a:rPr kumimoji="0" lang="nl-NL" sz="45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f>
                      <m:fPr>
                        <m:ctrlPr>
                          <a:rPr kumimoji="0" lang="en-US" sz="45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r>
                          <a:rPr kumimoji="0" lang="nl-NL" sz="45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𝒏</m:t>
                        </m:r>
                        <m:d>
                          <m:dPr>
                            <m:ctrlPr>
                              <a:rPr kumimoji="0" lang="en-US" sz="45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nl-NL" sz="45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𝑫</m:t>
                            </m:r>
                          </m:e>
                        </m:d>
                      </m:num>
                      <m:den>
                        <m:r>
                          <a:rPr kumimoji="0" lang="nl-NL" sz="45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𝒏</m:t>
                        </m:r>
                        <m:d>
                          <m:dPr>
                            <m:ctrlPr>
                              <a:rPr kumimoji="0" lang="en-US" sz="45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nl-NL" sz="45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𝜴</m:t>
                            </m:r>
                          </m:e>
                        </m:d>
                      </m:den>
                    </m:f>
                    <m:r>
                      <a:rPr kumimoji="0" lang="nl-NL" sz="45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f>
                      <m:fPr>
                        <m:ctrlPr>
                          <a:rPr kumimoji="0" lang="en-US" sz="45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r>
                          <a:rPr kumimoji="0" lang="nl-NL" sz="45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𝟏𝟐</m:t>
                        </m:r>
                      </m:num>
                      <m:den>
                        <m:r>
                          <a:rPr kumimoji="0" lang="nl-NL" sz="45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𝟑𝟔</m:t>
                        </m:r>
                      </m:den>
                    </m:f>
                    <m:r>
                      <a:rPr kumimoji="0" lang="nl-NL" sz="45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f>
                      <m:fPr>
                        <m:ctrlPr>
                          <a:rPr kumimoji="0" lang="en-US" sz="45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r>
                          <a:rPr kumimoji="0" lang="nl-NL" sz="45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𝟏</m:t>
                        </m:r>
                      </m:num>
                      <m:den>
                        <m:r>
                          <a:rPr kumimoji="0" lang="nl-NL" sz="45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𝟑</m:t>
                        </m:r>
                      </m:den>
                    </m:f>
                  </m:oMath>
                </a14:m>
                <a:r>
                  <a:rPr kumimoji="0" lang="en-US" sz="4500" b="1" i="0" u="none" strike="noStrike" kern="1200" cap="none" spc="0" normalizeH="0" baseline="0" noProof="0" dirty="0">
                    <a:ln>
                      <a:noFill/>
                    </a:ln>
                    <a:solidFill>
                      <a:prstClr val="black"/>
                    </a:solidFill>
                    <a:effectLst/>
                    <a:uLnTx/>
                    <a:uFillTx/>
                    <a:latin typeface="Calibri"/>
                    <a:ea typeface="+mn-ea"/>
                    <a:cs typeface="+mn-cs"/>
                  </a:rPr>
                  <a:t>.</a:t>
                </a:r>
                <a:endParaRPr kumimoji="0" lang="el-GR" sz="4500" b="1"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6" name="TextBox 5">
                <a:extLst>
                  <a:ext uri="{FF2B5EF4-FFF2-40B4-BE49-F238E27FC236}">
                    <a16:creationId xmlns:a16="http://schemas.microsoft.com/office/drawing/2014/main" id="{5B40E3AD-A2AB-B992-D881-294BE13693BB}"/>
                  </a:ext>
                </a:extLst>
              </p:cNvPr>
              <p:cNvSpPr txBox="1">
                <a:spLocks noRot="1" noChangeAspect="1" noMove="1" noResize="1" noEditPoints="1" noAdjustHandles="1" noChangeArrowheads="1" noChangeShapeType="1" noTextEdit="1"/>
              </p:cNvSpPr>
              <p:nvPr/>
            </p:nvSpPr>
            <p:spPr>
              <a:xfrm>
                <a:off x="4953000" y="4038600"/>
                <a:ext cx="16687800" cy="1195392"/>
              </a:xfrm>
              <a:prstGeom prst="rect">
                <a:avLst/>
              </a:prstGeom>
              <a:blipFill>
                <a:blip r:embed="rId4"/>
                <a:stretch>
                  <a:fillRect l="-1535" b="-66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3660882-B089-04D8-8AF7-52C3CA547615}"/>
                  </a:ext>
                </a:extLst>
              </p:cNvPr>
              <p:cNvSpPr txBox="1"/>
              <p:nvPr/>
            </p:nvSpPr>
            <p:spPr>
              <a:xfrm>
                <a:off x="5638800" y="11963400"/>
                <a:ext cx="12727172" cy="1244508"/>
              </a:xfrm>
              <a:prstGeom prst="rect">
                <a:avLst/>
              </a:prstGeom>
              <a:noFill/>
            </p:spPr>
            <p:txBody>
              <a:bodyPr wrap="square">
                <a:spAutoFit/>
              </a:bodyPr>
              <a:lstStyle/>
              <a:p>
                <a:pPr lvl="0">
                  <a:defRPr/>
                </a:pPr>
                <a:r>
                  <a:rPr kumimoji="0" lang="nl-NL" sz="4700" b="1" i="0" u="none" strike="noStrike" kern="1200" cap="none" spc="0" normalizeH="0" baseline="0" noProof="0" dirty="0">
                    <a:ln>
                      <a:noFill/>
                    </a:ln>
                    <a:solidFill>
                      <a:prstClr val="black"/>
                    </a:solidFill>
                    <a:effectLst/>
                    <a:uLnTx/>
                    <a:uFillTx/>
                    <a:latin typeface="Calibri"/>
                    <a:ea typeface="+mn-ea"/>
                    <a:cs typeface="+mn-cs"/>
                  </a:rPr>
                  <a:t>Xác suất của</a:t>
                </a:r>
                <a:r>
                  <a:rPr kumimoji="0" lang="nl-NL" sz="4700" b="1" i="0" u="none" strike="noStrike" kern="1200" cap="none" spc="0" normalizeH="0" noProof="0" dirty="0">
                    <a:ln>
                      <a:noFill/>
                    </a:ln>
                    <a:solidFill>
                      <a:prstClr val="black"/>
                    </a:solidFill>
                    <a:effectLst/>
                    <a:uLnTx/>
                    <a:uFillTx/>
                    <a:latin typeface="Calibri"/>
                    <a:ea typeface="+mn-ea"/>
                    <a:cs typeface="+mn-cs"/>
                  </a:rPr>
                  <a:t> biến cố </a:t>
                </a:r>
                <a14:m>
                  <m:oMath xmlns:m="http://schemas.openxmlformats.org/officeDocument/2006/math">
                    <m:r>
                      <a:rPr lang="nl-NL" sz="4800" b="1" i="1">
                        <a:latin typeface="Cambria Math" panose="02040503050406030204" pitchFamily="18" charset="0"/>
                      </a:rPr>
                      <m:t>𝑭</m:t>
                    </m:r>
                  </m:oMath>
                </a14:m>
                <a:r>
                  <a:rPr kumimoji="0" lang="nl-NL" sz="4700" b="1" i="0" u="none" strike="noStrike" kern="1200" cap="none" spc="0" normalizeH="0" noProof="0" dirty="0">
                    <a:ln>
                      <a:noFill/>
                    </a:ln>
                    <a:solidFill>
                      <a:prstClr val="black"/>
                    </a:solidFill>
                    <a:effectLst/>
                    <a:uLnTx/>
                    <a:uFillTx/>
                    <a:latin typeface="Calibri"/>
                    <a:ea typeface="+mn-ea"/>
                    <a:cs typeface="+mn-cs"/>
                  </a:rPr>
                  <a:t>: </a:t>
                </a:r>
                <a:r>
                  <a:rPr kumimoji="0" lang="nl-NL" sz="4700" b="1" i="0" u="none" strike="noStrike" kern="1200" cap="none" spc="0" normalizeH="0" baseline="0" noProof="0" dirty="0">
                    <a:ln>
                      <a:noFill/>
                    </a:ln>
                    <a:solidFill>
                      <a:prstClr val="black"/>
                    </a:solidFill>
                    <a:effectLst/>
                    <a:uLnTx/>
                    <a:uFillTx/>
                    <a:latin typeface="Calibri"/>
                    <a:ea typeface="+mn-ea"/>
                    <a:cs typeface="+mn-cs"/>
                  </a:rPr>
                  <a:t> </a:t>
                </a:r>
                <a14:m>
                  <m:oMath xmlns:m="http://schemas.openxmlformats.org/officeDocument/2006/math">
                    <m:r>
                      <a:rPr kumimoji="0" lang="nl-NL" sz="47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𝑷</m:t>
                    </m:r>
                    <m:d>
                      <m:dPr>
                        <m:ctrlPr>
                          <a:rPr kumimoji="0" lang="vi-VN" sz="47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nl-NL" sz="47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𝑭</m:t>
                        </m:r>
                      </m:e>
                    </m:d>
                    <m:r>
                      <a:rPr kumimoji="0" lang="nl-NL" sz="47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f>
                      <m:fPr>
                        <m:ctrlPr>
                          <a:rPr kumimoji="0" lang="vi-VN" sz="47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r>
                          <a:rPr kumimoji="0" lang="nl-NL" sz="47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𝒏</m:t>
                        </m:r>
                        <m:d>
                          <m:dPr>
                            <m:ctrlPr>
                              <a:rPr kumimoji="0" lang="vi-VN" sz="47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nl-NL" sz="47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𝑭</m:t>
                            </m:r>
                          </m:e>
                        </m:d>
                      </m:num>
                      <m:den>
                        <m:r>
                          <a:rPr kumimoji="0" lang="nl-NL" sz="47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𝒏</m:t>
                        </m:r>
                        <m:d>
                          <m:dPr>
                            <m:ctrlPr>
                              <a:rPr kumimoji="0" lang="vi-VN" sz="47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nl-NL" sz="47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𝜴</m:t>
                            </m:r>
                          </m:e>
                        </m:d>
                      </m:den>
                    </m:f>
                    <m:r>
                      <a:rPr kumimoji="0" lang="nl-NL" sz="47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f>
                      <m:fPr>
                        <m:ctrlPr>
                          <a:rPr kumimoji="0" lang="vi-VN" sz="47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r>
                          <a:rPr kumimoji="0" lang="nl-NL" sz="47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𝟏𝟓</m:t>
                        </m:r>
                      </m:num>
                      <m:den>
                        <m:r>
                          <a:rPr kumimoji="0" lang="nl-NL" sz="47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𝟑𝟔</m:t>
                        </m:r>
                      </m:den>
                    </m:f>
                    <m:r>
                      <a:rPr kumimoji="0" lang="nl-NL" sz="47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f>
                      <m:fPr>
                        <m:ctrlPr>
                          <a:rPr kumimoji="0" lang="vi-VN" sz="47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r>
                          <a:rPr kumimoji="0" lang="nl-NL" sz="47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𝟓</m:t>
                        </m:r>
                      </m:num>
                      <m:den>
                        <m:r>
                          <a:rPr kumimoji="0" lang="nl-NL" sz="47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𝟏𝟐</m:t>
                        </m:r>
                      </m:den>
                    </m:f>
                  </m:oMath>
                </a14:m>
                <a:r>
                  <a:rPr kumimoji="0" lang="nl-NL" sz="4700" b="1" i="0" u="none" strike="noStrike" kern="1200" cap="none" spc="0" normalizeH="0" baseline="0" noProof="0" dirty="0">
                    <a:ln>
                      <a:noFill/>
                    </a:ln>
                    <a:solidFill>
                      <a:prstClr val="black"/>
                    </a:solidFill>
                    <a:effectLst/>
                    <a:uLnTx/>
                    <a:uFillTx/>
                    <a:latin typeface="Calibri"/>
                    <a:ea typeface="+mn-ea"/>
                    <a:cs typeface="+mn-cs"/>
                  </a:rPr>
                  <a:t>.</a:t>
                </a:r>
                <a:endParaRPr kumimoji="0" lang="vi-VN" sz="4700" b="1"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mc:Choice>
        <mc:Fallback xmlns="">
          <p:sp>
            <p:nvSpPr>
              <p:cNvPr id="9" name="TextBox 8">
                <a:extLst>
                  <a:ext uri="{FF2B5EF4-FFF2-40B4-BE49-F238E27FC236}">
                    <a16:creationId xmlns:a16="http://schemas.microsoft.com/office/drawing/2014/main" id="{43660882-B089-04D8-8AF7-52C3CA547615}"/>
                  </a:ext>
                </a:extLst>
              </p:cNvPr>
              <p:cNvSpPr txBox="1">
                <a:spLocks noRot="1" noChangeAspect="1" noMove="1" noResize="1" noEditPoints="1" noAdjustHandles="1" noChangeArrowheads="1" noChangeShapeType="1" noTextEdit="1"/>
              </p:cNvSpPr>
              <p:nvPr/>
            </p:nvSpPr>
            <p:spPr>
              <a:xfrm>
                <a:off x="5638800" y="11963400"/>
                <a:ext cx="12727172" cy="1244508"/>
              </a:xfrm>
              <a:prstGeom prst="rect">
                <a:avLst/>
              </a:prstGeom>
              <a:blipFill>
                <a:blip r:embed="rId5"/>
                <a:stretch>
                  <a:fillRect l="-2107" b="-6373"/>
                </a:stretch>
              </a:blipFill>
            </p:spPr>
            <p:txBody>
              <a:bodyPr/>
              <a:lstStyle/>
              <a:p>
                <a:r>
                  <a:rPr lang="en-US">
                    <a:noFill/>
                  </a:rPr>
                  <a:t> </a:t>
                </a:r>
              </a:p>
            </p:txBody>
          </p:sp>
        </mc:Fallback>
      </mc:AlternateContent>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IX   ·   BÀI 26</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413584068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up)">
                                      <p:cBhvr>
                                        <p:cTn id="7" dur="1000"/>
                                        <p:tgtEl>
                                          <p:spTgt spid="9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99"/>
                                        </p:tgtEl>
                                        <p:attrNameLst>
                                          <p:attrName>style.visibility</p:attrName>
                                        </p:attrNameLst>
                                      </p:cBhvr>
                                      <p:to>
                                        <p:strVal val="visible"/>
                                      </p:to>
                                    </p:set>
                                    <p:animEffect transition="in" filter="wipe(up)">
                                      <p:cBhvr>
                                        <p:cTn id="17" dur="500"/>
                                        <p:tgtEl>
                                          <p:spTgt spid="9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99">
                                            <p:txEl>
                                              <p:pRg st="0" end="0"/>
                                            </p:txEl>
                                          </p:spTgt>
                                        </p:tgtEl>
                                        <p:attrNameLst>
                                          <p:attrName>style.visibility</p:attrName>
                                        </p:attrNameLst>
                                      </p:cBhvr>
                                      <p:to>
                                        <p:strVal val="visible"/>
                                      </p:to>
                                    </p:set>
                                    <p:animEffect transition="in" filter="wipe(up)">
                                      <p:cBhvr>
                                        <p:cTn id="22" dur="500"/>
                                        <p:tgtEl>
                                          <p:spTgt spid="99">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99">
                                            <p:txEl>
                                              <p:pRg st="1" end="1"/>
                                            </p:txEl>
                                          </p:spTgt>
                                        </p:tgtEl>
                                        <p:attrNameLst>
                                          <p:attrName>style.visibility</p:attrName>
                                        </p:attrNameLst>
                                      </p:cBhvr>
                                      <p:to>
                                        <p:strVal val="visible"/>
                                      </p:to>
                                    </p:set>
                                    <p:animEffect transition="in" filter="wipe(up)">
                                      <p:cBhvr>
                                        <p:cTn id="27" dur="500"/>
                                        <p:tgtEl>
                                          <p:spTgt spid="99">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99">
                                            <p:txEl>
                                              <p:pRg st="2" end="2"/>
                                            </p:txEl>
                                          </p:spTgt>
                                        </p:tgtEl>
                                        <p:attrNameLst>
                                          <p:attrName>style.visibility</p:attrName>
                                        </p:attrNameLst>
                                      </p:cBhvr>
                                      <p:to>
                                        <p:strVal val="visible"/>
                                      </p:to>
                                    </p:set>
                                    <p:animEffect transition="in" filter="wipe(up)">
                                      <p:cBhvr>
                                        <p:cTn id="32" dur="500"/>
                                        <p:tgtEl>
                                          <p:spTgt spid="99">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99">
                                            <p:txEl>
                                              <p:pRg st="3" end="3"/>
                                            </p:txEl>
                                          </p:spTgt>
                                        </p:tgtEl>
                                        <p:attrNameLst>
                                          <p:attrName>style.visibility</p:attrName>
                                        </p:attrNameLst>
                                      </p:cBhvr>
                                      <p:to>
                                        <p:strVal val="visible"/>
                                      </p:to>
                                    </p:set>
                                    <p:animEffect transition="in" filter="wipe(up)">
                                      <p:cBhvr>
                                        <p:cTn id="37" dur="500"/>
                                        <p:tgtEl>
                                          <p:spTgt spid="99">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99">
                                            <p:txEl>
                                              <p:pRg st="4" end="4"/>
                                            </p:txEl>
                                          </p:spTgt>
                                        </p:tgtEl>
                                        <p:attrNameLst>
                                          <p:attrName>style.visibility</p:attrName>
                                        </p:attrNameLst>
                                      </p:cBhvr>
                                      <p:to>
                                        <p:strVal val="visible"/>
                                      </p:to>
                                    </p:set>
                                    <p:animEffect transition="in" filter="wipe(up)">
                                      <p:cBhvr>
                                        <p:cTn id="42" dur="500"/>
                                        <p:tgtEl>
                                          <p:spTgt spid="99">
                                            <p:txEl>
                                              <p:pRg st="4" end="4"/>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99">
                                            <p:txEl>
                                              <p:pRg st="5" end="5"/>
                                            </p:txEl>
                                          </p:spTgt>
                                        </p:tgtEl>
                                        <p:attrNameLst>
                                          <p:attrName>style.visibility</p:attrName>
                                        </p:attrNameLst>
                                      </p:cBhvr>
                                      <p:to>
                                        <p:strVal val="visible"/>
                                      </p:to>
                                    </p:set>
                                    <p:animEffect transition="in" filter="wipe(up)">
                                      <p:cBhvr>
                                        <p:cTn id="47" dur="500"/>
                                        <p:tgtEl>
                                          <p:spTgt spid="99">
                                            <p:txEl>
                                              <p:pRg st="5" end="5"/>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nodeType="clickEffect">
                                  <p:stCondLst>
                                    <p:cond delay="0"/>
                                  </p:stCondLst>
                                  <p:childTnLst>
                                    <p:set>
                                      <p:cBhvr>
                                        <p:cTn id="51" dur="1" fill="hold">
                                          <p:stCondLst>
                                            <p:cond delay="0"/>
                                          </p:stCondLst>
                                        </p:cTn>
                                        <p:tgtEl>
                                          <p:spTgt spid="99">
                                            <p:txEl>
                                              <p:pRg st="6" end="6"/>
                                            </p:txEl>
                                          </p:spTgt>
                                        </p:tgtEl>
                                        <p:attrNameLst>
                                          <p:attrName>style.visibility</p:attrName>
                                        </p:attrNameLst>
                                      </p:cBhvr>
                                      <p:to>
                                        <p:strVal val="visible"/>
                                      </p:to>
                                    </p:set>
                                    <p:animEffect transition="in" filter="wipe(up)">
                                      <p:cBhvr>
                                        <p:cTn id="52" dur="500"/>
                                        <p:tgtEl>
                                          <p:spTgt spid="99">
                                            <p:txEl>
                                              <p:pRg st="6" end="6"/>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9"/>
                                        </p:tgtEl>
                                        <p:attrNameLst>
                                          <p:attrName>style.visibility</p:attrName>
                                        </p:attrNameLst>
                                      </p:cBhvr>
                                      <p:to>
                                        <p:strVal val="visible"/>
                                      </p:to>
                                    </p:set>
                                    <p:animEffect transition="in" filter="wipe(left)">
                                      <p:cBhvr>
                                        <p:cTn id="5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99" grpId="0" animBg="1"/>
      <p:bldP spid="6" grpId="0"/>
      <p:bldP spid="9" grpId="0"/>
    </p:bld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8.0&quot;&gt;&lt;object type=&quot;1&quot; unique_id=&quot;10001&quot;&gt;&lt;object type=&quot;2&quot; unique_id=&quot;10002&quot;&gt;&lt;object type=&quot;3&quot; unique_id=&quot;10003&quot;&gt;&lt;property id=&quot;20148&quot; value=&quot;5&quot;/&gt;&lt;property id=&quot;20300&quot; value=&quot;Slide 1&quot;/&gt;&lt;property id=&quot;20307&quot; value=&quot;257&quot;/&gt;&lt;/object&gt;&lt;object type=&quot;3&quot; unique_id=&quot;10004&quot;&gt;&lt;property id=&quot;20148&quot; value=&quot;5&quot;/&gt;&lt;property id=&quot;20300&quot; value=&quot;Slide 2&quot;/&gt;&lt;property id=&quot;20307&quot; value=&quot;258&quot;/&gt;&lt;/object&gt;&lt;object type=&quot;3&quot; unique_id=&quot;10005&quot;&gt;&lt;property id=&quot;20148&quot; value=&quot;5&quot;/&gt;&lt;property id=&quot;20300&quot; value=&quot;Slide 3&quot;/&gt;&lt;property id=&quot;20307&quot; value=&quot;259&quot;/&gt;&lt;/object&gt;&lt;object type=&quot;3&quot; unique_id=&quot;10006&quot;&gt;&lt;property id=&quot;20148&quot; value=&quot;5&quot;/&gt;&lt;property id=&quot;20300&quot; value=&quot;Slide 4&quot;/&gt;&lt;property id=&quot;20307&quot; value=&quot;260&quot;/&gt;&lt;/object&gt;&lt;object type=&quot;3&quot; unique_id=&quot;10007&quot;&gt;&lt;property id=&quot;20148&quot; value=&quot;5&quot;/&gt;&lt;property id=&quot;20300&quot; value=&quot;Slide 5&quot;/&gt;&lt;property id=&quot;20307&quot; value=&quot;262&quot;/&gt;&lt;/object&gt;&lt;object type=&quot;3&quot; unique_id=&quot;10008&quot;&gt;&lt;property id=&quot;20148&quot; value=&quot;5&quot;/&gt;&lt;property id=&quot;20300&quot; value=&quot;Slide 6&quot;/&gt;&lt;property id=&quot;20307&quot; value=&quot;263&quot;/&gt;&lt;/object&gt;&lt;object type=&quot;3&quot; unique_id=&quot;10009&quot;&gt;&lt;property id=&quot;20148&quot; value=&quot;5&quot;/&gt;&lt;property id=&quot;20300&quot; value=&quot;Slide 7&quot;/&gt;&lt;property id=&quot;20307&quot; value=&quot;264&quot;/&gt;&lt;/object&gt;&lt;object type=&quot;3&quot; unique_id=&quot;10010&quot;&gt;&lt;property id=&quot;20148&quot; value=&quot;5&quot;/&gt;&lt;property id=&quot;20300&quot; value=&quot;Slide 8&quot;/&gt;&lt;property id=&quot;20307&quot; value=&quot;265&quot;/&gt;&lt;/object&gt;&lt;object type=&quot;3&quot; unique_id=&quot;10011&quot;&gt;&lt;property id=&quot;20148&quot; value=&quot;5&quot;/&gt;&lt;property id=&quot;20300&quot; value=&quot;Slide 9&quot;/&gt;&lt;property id=&quot;20307&quot; value=&quot;266&quot;/&gt;&lt;/object&gt;&lt;object type=&quot;3&quot; unique_id=&quot;10012&quot;&gt;&lt;property id=&quot;20148&quot; value=&quot;5&quot;/&gt;&lt;property id=&quot;20300&quot; value=&quot;Slide 10&quot;/&gt;&lt;property id=&quot;20307&quot; value=&quot;267&quot;/&gt;&lt;/object&gt;&lt;object type=&quot;3&quot; unique_id=&quot;10013&quot;&gt;&lt;property id=&quot;20148&quot; value=&quot;5&quot;/&gt;&lt;property id=&quot;20300&quot; value=&quot;Slide 11&quot;/&gt;&lt;property id=&quot;20307&quot; value=&quot;269&quot;/&gt;&lt;/object&gt;&lt;object type=&quot;3&quot; unique_id=&quot;10014&quot;&gt;&lt;property id=&quot;20148&quot; value=&quot;5&quot;/&gt;&lt;property id=&quot;20300&quot; value=&quot;Slide 12&quot;/&gt;&lt;property id=&quot;20307&quot; value=&quot;270&quot;/&gt;&lt;/object&gt;&lt;object type=&quot;3&quot; unique_id=&quot;10015&quot;&gt;&lt;property id=&quot;20148&quot; value=&quot;5&quot;/&gt;&lt;property id=&quot;20300&quot; value=&quot;Slide 13&quot;/&gt;&lt;property id=&quot;20307&quot; value=&quot;274&quot;/&gt;&lt;/object&gt;&lt;object type=&quot;3&quot; unique_id=&quot;10016&quot;&gt;&lt;property id=&quot;20148&quot; value=&quot;5&quot;/&gt;&lt;property id=&quot;20300&quot; value=&quot;Slide 14&quot;/&gt;&lt;property id=&quot;20307&quot; value=&quot;275&quot;/&gt;&lt;/object&gt;&lt;object type=&quot;3&quot; unique_id=&quot;10017&quot;&gt;&lt;property id=&quot;20148&quot; value=&quot;5&quot;/&gt;&lt;property id=&quot;20300&quot; value=&quot;Slide 15&quot;/&gt;&lt;property id=&quot;20307&quot; value=&quot;276&quot;/&gt;&lt;/object&gt;&lt;object type=&quot;3&quot; unique_id=&quot;10018&quot;&gt;&lt;property id=&quot;20148&quot; value=&quot;5&quot;/&gt;&lt;property id=&quot;20300&quot; value=&quot;Slide 16&quot;/&gt;&lt;property id=&quot;20307&quot; value=&quot;277&quot;/&gt;&lt;/object&gt;&lt;object type=&quot;3&quot; unique_id=&quot;10019&quot;&gt;&lt;property id=&quot;20148&quot; value=&quot;5&quot;/&gt;&lt;property id=&quot;20300&quot; value=&quot;Slide 17&quot;/&gt;&lt;property id=&quot;20307&quot; value=&quot;271&quot;/&gt;&lt;/object&gt;&lt;object type=&quot;3&quot; unique_id=&quot;10020&quot;&gt;&lt;property id=&quot;20148&quot; value=&quot;5&quot;/&gt;&lt;property id=&quot;20300&quot; value=&quot;Slide 18&quot;/&gt;&lt;property id=&quot;20307&quot; value=&quot;278&quot;/&gt;&lt;/object&gt;&lt;object type=&quot;3&quot; unique_id=&quot;10021&quot;&gt;&lt;property id=&quot;20148&quot; value=&quot;5&quot;/&gt;&lt;property id=&quot;20300&quot; value=&quot;Slide 19&quot;/&gt;&lt;property id=&quot;20307&quot; value=&quot;279&quot;/&gt;&lt;/object&gt;&lt;object type=&quot;3&quot; unique_id=&quot;10022&quot;&gt;&lt;property id=&quot;20148&quot; value=&quot;5&quot;/&gt;&lt;property id=&quot;20300&quot; value=&quot;Slide 20&quot;/&gt;&lt;property id=&quot;20307&quot; value=&quot;272&quot;/&gt;&lt;/object&gt;&lt;object type=&quot;3&quot; unique_id=&quot;10023&quot;&gt;&lt;property id=&quot;20148&quot; value=&quot;5&quot;/&gt;&lt;property id=&quot;20300&quot; value=&quot;Slide 21&quot;/&gt;&lt;property id=&quot;20307&quot; value=&quot;273&quot;/&gt;&lt;/object&gt;&lt;object type=&quot;3&quot; unique_id=&quot;10024&quot;&gt;&lt;property id=&quot;20148&quot; value=&quot;5&quot;/&gt;&lt;property id=&quot;20300&quot; value=&quot;Slide 22&quot;/&gt;&lt;property id=&quot;20307&quot; value=&quot;268&quot;/&gt;&lt;/object&gt;&lt;object type=&quot;3&quot; unique_id=&quot;10025&quot;&gt;&lt;property id=&quot;20148&quot; value=&quot;5&quot;/&gt;&lt;property id=&quot;20300&quot; value=&quot;Slide 23&quot;/&gt;&lt;property id=&quot;20307&quot; value=&quot;280&quot;/&gt;&lt;/object&gt;&lt;object type=&quot;3&quot; unique_id=&quot;10026&quot;&gt;&lt;property id=&quot;20148&quot; value=&quot;5&quot;/&gt;&lt;property id=&quot;20300&quot; value=&quot;Slide 24&quot;/&gt;&lt;property id=&quot;20307&quot; value=&quot;281&quot;/&gt;&lt;/object&gt;&lt;object type=&quot;3&quot; unique_id=&quot;10027&quot;&gt;&lt;property id=&quot;20148&quot; value=&quot;5&quot;/&gt;&lt;property id=&quot;20300&quot; value=&quot;Slide 25&quot;/&gt;&lt;property id=&quot;20307&quot; value=&quot;282&quot;/&gt;&lt;/object&gt;&lt;/object&gt;&lt;object type=&quot;8&quot; unique_id=&quot;10056&quot;&gt;&lt;/object&gt;&lt;/object&gt;&lt;/database&gt;"/>
  <p:tag name="SECTOMILLISECCONVERTED"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9Slide.vn</Template>
  <TotalTime>3178</TotalTime>
  <Words>1734</Words>
  <Application>Microsoft Office PowerPoint</Application>
  <PresentationFormat>Custom</PresentationFormat>
  <Paragraphs>127</Paragraphs>
  <Slides>11</Slides>
  <Notes>11</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11</vt:i4>
      </vt:variant>
    </vt:vector>
  </HeadingPairs>
  <TitlesOfParts>
    <vt:vector size="25" baseType="lpstr">
      <vt:lpstr>SimSun</vt:lpstr>
      <vt:lpstr>Yu Gothic UI Semilight</vt:lpstr>
      <vt:lpstr>Arial</vt:lpstr>
      <vt:lpstr>Bahnschrift SemiBold SemiConden</vt:lpstr>
      <vt:lpstr>Baumans</vt:lpstr>
      <vt:lpstr>Calibri</vt:lpstr>
      <vt:lpstr>Calibri Light</vt:lpstr>
      <vt:lpstr>Cambria Math</vt:lpstr>
      <vt:lpstr>Cascadia Mono</vt:lpstr>
      <vt:lpstr>Tahoma</vt:lpstr>
      <vt:lpstr>Times New Roman</vt:lpstr>
      <vt:lpstr>Tomaho</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9Slide.vn</Manager>
  <Company>9Slide.vn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subject>9Slide.vn</dc:subject>
  <dc:creator>BINH</dc:creator>
  <dc:description>9Slide.vn</dc:description>
  <cp:lastModifiedBy>Admin</cp:lastModifiedBy>
  <cp:revision>343</cp:revision>
  <dcterms:created xsi:type="dcterms:W3CDTF">2013-08-31T11:42:51Z</dcterms:created>
  <dcterms:modified xsi:type="dcterms:W3CDTF">2022-08-30T03:09:40Z</dcterms:modified>
  <cp:category>9Slide.vn</cp:category>
</cp:coreProperties>
</file>