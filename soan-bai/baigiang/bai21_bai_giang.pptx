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54" r:id="rId2"/>
  </p:sldMasterIdLst>
  <p:notesMasterIdLst>
    <p:notesMasterId r:id="rId34"/>
  </p:notesMasterIdLst>
  <p:sldIdLst>
    <p:sldId id="313" r:id="rId3"/>
    <p:sldId id="301" r:id="rId4"/>
    <p:sldId id="315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329" r:id="rId18"/>
    <p:sldId id="330" r:id="rId19"/>
    <p:sldId id="331" r:id="rId20"/>
    <p:sldId id="332" r:id="rId21"/>
    <p:sldId id="333" r:id="rId22"/>
    <p:sldId id="334" r:id="rId23"/>
    <p:sldId id="335" r:id="rId24"/>
    <p:sldId id="336" r:id="rId25"/>
    <p:sldId id="337" r:id="rId26"/>
    <p:sldId id="338" r:id="rId27"/>
    <p:sldId id="339" r:id="rId28"/>
    <p:sldId id="340" r:id="rId29"/>
    <p:sldId id="341" r:id="rId30"/>
    <p:sldId id="342" r:id="rId31"/>
    <p:sldId id="343" r:id="rId32"/>
    <p:sldId id="344" r:id="rId33"/>
  </p:sldIdLst>
  <p:sldSz cx="24384000" cy="13716000"/>
  <p:notesSz cx="6858000" cy="9144000"/>
  <p:custDataLst>
    <p:tags r:id="rId35"/>
  </p:custDataLst>
  <p:defaultTextStyle>
    <a:defPPr>
      <a:defRPr lang="en-US"/>
    </a:defPPr>
    <a:lvl1pPr marL="0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7F7FF"/>
    <a:srgbClr val="D6F7FE"/>
    <a:srgbClr val="EEF7E9"/>
    <a:srgbClr val="135F82"/>
    <a:srgbClr val="FFFFFF"/>
    <a:srgbClr val="008000"/>
    <a:srgbClr val="242452"/>
    <a:srgbClr val="270F6B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698" autoAdjust="0"/>
    <p:restoredTop sz="94139" autoAdjust="0"/>
  </p:normalViewPr>
  <p:slideViewPr>
    <p:cSldViewPr>
      <p:cViewPr varScale="1">
        <p:scale>
          <a:sx n="31" d="100"/>
          <a:sy n="31" d="100"/>
        </p:scale>
        <p:origin x="138" y="348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notesMaster" Target="notesMasters/notesMaster1.xml"/><Relationship Id="rId35" Type="http://schemas.openxmlformats.org/officeDocument/2006/relationships/tags" Target="tags/tag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BB293-0719-4B19-A181-EE36FD0623AD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A8B73-FCCD-4D4C-BC4E-0CE5120A1B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6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64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06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5284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207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91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174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2515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6821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817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384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4947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152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9631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648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1039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119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211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6768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0908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636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65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7448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104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2328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2514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700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8097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9427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1944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9727" y="1781954"/>
            <a:ext cx="21031200" cy="2651126"/>
          </a:xfrm>
          <a:prstGeom prst="rect">
            <a:avLst/>
          </a:prstGeom>
        </p:spPr>
        <p:txBody>
          <a:bodyPr/>
          <a:lstStyle>
            <a:lvl1pPr algn="l">
              <a:defRPr sz="5400">
                <a:latin typeface="Tomaho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9727" y="4702953"/>
            <a:ext cx="10363200" cy="8702676"/>
          </a:xfrm>
          <a:prstGeom prst="rect">
            <a:avLst/>
          </a:prstGeom>
        </p:spPr>
        <p:txBody>
          <a:bodyPr/>
          <a:lstStyle>
            <a:lvl1pPr algn="l">
              <a:defRPr sz="4800">
                <a:latin typeface="Tomaho"/>
              </a:defRPr>
            </a:lvl1pPr>
            <a:lvl2pPr algn="l">
              <a:defRPr sz="4800">
                <a:latin typeface="Tomaho"/>
              </a:defRPr>
            </a:lvl2pPr>
            <a:lvl3pPr algn="l">
              <a:defRPr sz="4800">
                <a:latin typeface="Tomaho"/>
              </a:defRPr>
            </a:lvl3pPr>
            <a:lvl4pPr algn="l">
              <a:defRPr sz="4800">
                <a:latin typeface="Tomaho"/>
              </a:defRPr>
            </a:lvl4pPr>
            <a:lvl5pPr algn="l">
              <a:defRPr sz="4800">
                <a:latin typeface="Tomah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67727" y="4702953"/>
            <a:ext cx="10363200" cy="8702676"/>
          </a:xfrm>
          <a:prstGeom prst="rect">
            <a:avLst/>
          </a:prstGeom>
        </p:spPr>
        <p:txBody>
          <a:bodyPr/>
          <a:lstStyle>
            <a:lvl1pPr algn="l">
              <a:defRPr sz="4800">
                <a:latin typeface="Tomaho"/>
              </a:defRPr>
            </a:lvl1pPr>
            <a:lvl2pPr algn="l">
              <a:defRPr sz="4800">
                <a:latin typeface="Tomaho"/>
              </a:defRPr>
            </a:lvl2pPr>
            <a:lvl3pPr algn="l">
              <a:defRPr sz="4800">
                <a:latin typeface="Tomaho"/>
              </a:defRPr>
            </a:lvl3pPr>
            <a:lvl4pPr algn="l">
              <a:defRPr sz="4800">
                <a:latin typeface="Tomaho"/>
              </a:defRPr>
            </a:lvl4pPr>
            <a:lvl5pPr algn="l">
              <a:defRPr sz="4800">
                <a:latin typeface="Tomah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0733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08065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51046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38197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41930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89881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55814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8361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8558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3307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683611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959766"/>
      </p:ext>
    </p:extLst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8770"/>
      </p:ext>
    </p:extLst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15295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94460"/>
      </p:ext>
    </p:extLst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83300"/>
      </p:ext>
    </p:extLst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78250"/>
      </p:ext>
    </p:extLst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10540"/>
      </p:ext>
    </p:extLst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46283"/>
      </p:ext>
    </p:extLst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81129"/>
      </p:ext>
    </p:extLst>
  </p:cSld>
  <p:clrMapOvr>
    <a:masterClrMapping/>
  </p:clrMapOvr>
  <p:transition spd="slow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07362"/>
      </p:ext>
    </p:extLst>
  </p:cSld>
  <p:clrMapOvr>
    <a:masterClrMapping/>
  </p:clrMapOvr>
  <p:transition spd="slow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30660"/>
      </p:ext>
    </p:extLst>
  </p:cSld>
  <p:clrMapOvr>
    <a:masterClrMapping/>
  </p:clrMapOvr>
  <p:transition spd="slow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48505"/>
      </p:ext>
    </p:extLst>
  </p:cSld>
  <p:clrMapOvr>
    <a:masterClrMapping/>
  </p:clrMapOvr>
  <p:transition spd="slow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0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D15044BE-B3F3-4258-B55D-9238C2EBFDF1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5" y="12712706"/>
            <a:ext cx="7721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4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62067"/>
      </p:ext>
    </p:extLst>
  </p:cSld>
  <p:clrMapOvr>
    <a:masterClrMapping/>
  </p:clrMapOvr>
  <p:transition spd="slow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2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2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1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64471"/>
      </p:ext>
    </p:extLst>
  </p:cSld>
  <p:clrMapOvr>
    <a:masterClrMapping/>
  </p:clrMapOvr>
  <p:transition spd="slow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6085"/>
      </p:ext>
    </p:extLst>
  </p:cSld>
  <p:clrMapOvr>
    <a:masterClrMapping/>
  </p:clrMapOvr>
  <p:transition spd="slow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13515"/>
      </p:ext>
    </p:extLst>
  </p:cSld>
  <p:clrMapOvr>
    <a:masterClrMapping/>
  </p:clrMapOvr>
  <p:transition spd="slow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gi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theme" Target="../theme/theme2.xml"/><Relationship Id="rId17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14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0" r:id="rId3"/>
    <p:sldLayoutId id="2147483741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82" r:id="rId12"/>
  </p:sldLayoutIdLst>
  <p:transition spd="slow">
    <p:fade/>
  </p:transition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09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</p:sldLayoutIdLst>
  <p:transition spd="slow">
    <p:fade/>
  </p:transition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emf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Relationship Id="rId4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Relationship Id="rId4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png"/><Relationship Id="rId4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0.png"/><Relationship Id="rId4" Type="http://schemas.openxmlformats.org/officeDocument/2006/relationships/image" Target="../media/image80.png"/><Relationship Id="rId5" Type="http://schemas.openxmlformats.org/officeDocument/2006/relationships/image" Target="../media/image3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0.png"/><Relationship Id="rId4" Type="http://schemas.openxmlformats.org/officeDocument/2006/relationships/image" Target="../media/image16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0.png"/><Relationship Id="rId4" Type="http://schemas.openxmlformats.org/officeDocument/2006/relationships/image" Target="../media/image18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0.png"/><Relationship Id="rId4" Type="http://schemas.openxmlformats.org/officeDocument/2006/relationships/image" Target="../media/image1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0.png"/><Relationship Id="rId4" Type="http://schemas.openxmlformats.org/officeDocument/2006/relationships/image" Target="../media/image13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0.png"/><Relationship Id="rId4" Type="http://schemas.openxmlformats.org/officeDocument/2006/relationships/image" Target="../media/image24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0.png"/><Relationship Id="rId4" Type="http://schemas.openxmlformats.org/officeDocument/2006/relationships/image" Target="../media/image26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0.png"/><Relationship Id="rId4" Type="http://schemas.openxmlformats.org/officeDocument/2006/relationships/image" Target="../media/image260.png"/><Relationship Id="rId5" Type="http://schemas.openxmlformats.org/officeDocument/2006/relationships/image" Target="../media/image3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0.png"/><Relationship Id="rId4" Type="http://schemas.openxmlformats.org/officeDocument/2006/relationships/image" Target="../media/image260.png"/><Relationship Id="rId5" Type="http://schemas.openxmlformats.org/officeDocument/2006/relationships/image" Target="../media/image3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0.png"/><Relationship Id="rId4" Type="http://schemas.openxmlformats.org/officeDocument/2006/relationships/image" Target="../media/image260.png"/><Relationship Id="rId5" Type="http://schemas.openxmlformats.org/officeDocument/2006/relationships/image" Target="../media/image3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0.png"/><Relationship Id="rId4" Type="http://schemas.openxmlformats.org/officeDocument/2006/relationships/image" Target="../media/image30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0.png"/><Relationship Id="rId4" Type="http://schemas.openxmlformats.org/officeDocument/2006/relationships/image" Target="../media/image33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0.png"/><Relationship Id="rId4" Type="http://schemas.openxmlformats.org/officeDocument/2006/relationships/image" Target="../media/image3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60.png"/><Relationship Id="rId4" Type="http://schemas.openxmlformats.org/officeDocument/2006/relationships/image" Target="../media/image3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3FF6797-9084-4088-B03C-F68BB0D6D29D}"/>
              </a:ext>
            </a:extLst>
          </p:cNvPr>
          <p:cNvGrpSpPr/>
          <p:nvPr/>
        </p:nvGrpSpPr>
        <p:grpSpPr>
          <a:xfrm>
            <a:off x="9677400" y="1676400"/>
            <a:ext cx="13944600" cy="11582400"/>
            <a:chOff x="9243891" y="2126503"/>
            <a:chExt cx="13944600" cy="12099118"/>
          </a:xfrm>
        </p:grpSpPr>
        <p:grpSp>
          <p:nvGrpSpPr>
            <p:cNvPr id="8" name="Group 7"/>
            <p:cNvGrpSpPr/>
            <p:nvPr/>
          </p:nvGrpSpPr>
          <p:grpSpPr>
            <a:xfrm>
              <a:off x="9243891" y="2126503"/>
              <a:ext cx="13944600" cy="12099118"/>
              <a:chOff x="732403" y="3448230"/>
              <a:chExt cx="13944600" cy="12099118"/>
            </a:xfrm>
          </p:grpSpPr>
          <p:sp>
            <p:nvSpPr>
              <p:cNvPr id="10" name="Right Triangle 9"/>
              <p:cNvSpPr/>
              <p:nvPr/>
            </p:nvSpPr>
            <p:spPr>
              <a:xfrm flipH="1">
                <a:off x="8958821" y="3486542"/>
                <a:ext cx="193377" cy="212342"/>
              </a:xfrm>
              <a:prstGeom prst="rtTriangl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0"/>
              <p:cNvGrpSpPr/>
              <p:nvPr/>
            </p:nvGrpSpPr>
            <p:grpSpPr>
              <a:xfrm>
                <a:off x="732403" y="3448230"/>
                <a:ext cx="13944600" cy="12099118"/>
                <a:chOff x="732403" y="3448230"/>
                <a:chExt cx="13944600" cy="12099118"/>
              </a:xfrm>
            </p:grpSpPr>
            <p:sp>
              <p:nvSpPr>
                <p:cNvPr id="12" name="Rounded Rectangle 11"/>
                <p:cNvSpPr/>
                <p:nvPr/>
              </p:nvSpPr>
              <p:spPr>
                <a:xfrm>
                  <a:off x="732403" y="4613667"/>
                  <a:ext cx="13944600" cy="10933681"/>
                </a:xfrm>
                <a:prstGeom prst="roundRect">
                  <a:avLst>
                    <a:gd name="adj" fmla="val 2374"/>
                  </a:avLst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28575">
                  <a:solidFill>
                    <a:srgbClr val="0999C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18000" rIns="36000" bIns="18000" rtlCol="0" anchor="ctr"/>
                <a:lstStyle/>
                <a:p>
                  <a:pPr algn="ctr"/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5759299" y="3448230"/>
                  <a:ext cx="3890809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5400" b="1" cap="all" dirty="0">
                      <a:ln w="0"/>
                      <a:solidFill>
                        <a:schemeClr val="bg1"/>
                      </a:solidFill>
                      <a:effectLst>
                        <a:reflection blurRad="12700" stA="50000" endPos="50000" dist="5000" dir="5400000" sy="-100000" rotWithShape="0"/>
                      </a:effectLst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CHƯƠNG I</a:t>
                  </a:r>
                </a:p>
              </p:txBody>
            </p:sp>
          </p:grpSp>
        </p:grpSp>
        <p:sp>
          <p:nvSpPr>
            <p:cNvPr id="15" name="Right Triangle 14"/>
            <p:cNvSpPr/>
            <p:nvPr/>
          </p:nvSpPr>
          <p:spPr>
            <a:xfrm flipH="1">
              <a:off x="11477625" y="2164818"/>
              <a:ext cx="193377" cy="212342"/>
            </a:xfrm>
            <a:prstGeom prst="rt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ound Same Side Corner Rectangle 15"/>
            <p:cNvSpPr/>
            <p:nvPr/>
          </p:nvSpPr>
          <p:spPr>
            <a:xfrm flipV="1">
              <a:off x="10767891" y="2164814"/>
              <a:ext cx="11430000" cy="2069079"/>
            </a:xfrm>
            <a:prstGeom prst="round2Same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9624891" y="4497442"/>
              <a:ext cx="13337304" cy="94400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§19.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Phương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trình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đường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thẳng</a:t>
              </a:r>
              <a:endParaRPr lang="en-US" sz="60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§20.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Vị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trí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tương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đối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giữa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hai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đường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thẳng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,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góc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và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khoảng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cách</a:t>
              </a:r>
              <a:endParaRPr lang="en-US" sz="60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§21.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Phương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trình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đường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tròn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trong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mặt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phẳng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tọa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độ</a:t>
              </a:r>
              <a:endParaRPr lang="en-US" sz="60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§22. Ba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đường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conic</a:t>
              </a: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endParaRPr lang="en-US" sz="60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11533753" y="2428363"/>
              <a:ext cx="10325100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54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CHƯƠNG </a:t>
              </a:r>
              <a:r>
                <a:rPr lang="en-US" sz="54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VI</a:t>
              </a:r>
              <a:r>
                <a:rPr lang="vi-VN" sz="54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I. </a:t>
              </a:r>
              <a:r>
                <a:rPr lang="en-US" sz="54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PHƯƠNG PHÁP TỌA ĐỘ TRONG MẶT PHẲNG</a:t>
              </a:r>
              <a:endParaRPr lang="vi-VN" sz="5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4FF52DF-8AC8-4DAD-B751-39601E57B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34" y="1924240"/>
            <a:ext cx="8813299" cy="10933681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1405188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1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8C62C3-3138-4092-86C2-85A1567C6E78}"/>
              </a:ext>
            </a:extLst>
          </p:cNvPr>
          <p:cNvGrpSpPr/>
          <p:nvPr/>
        </p:nvGrpSpPr>
        <p:grpSpPr>
          <a:xfrm>
            <a:off x="76200" y="1865761"/>
            <a:ext cx="23408815" cy="11677586"/>
            <a:chOff x="1447797" y="1793810"/>
            <a:chExt cx="22808130" cy="1167758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17C9077-2F0E-4830-9CBB-2CF87E745444}"/>
                </a:ext>
              </a:extLst>
            </p:cNvPr>
            <p:cNvGrpSpPr/>
            <p:nvPr/>
          </p:nvGrpSpPr>
          <p:grpSpPr>
            <a:xfrm>
              <a:off x="1447797" y="1793810"/>
              <a:ext cx="22808130" cy="11677586"/>
              <a:chOff x="1447797" y="1793810"/>
              <a:chExt cx="22808130" cy="11677586"/>
            </a:xfrm>
          </p:grpSpPr>
          <p:grpSp>
            <p:nvGrpSpPr>
              <p:cNvPr id="69" name="Group 68"/>
              <p:cNvGrpSpPr/>
              <p:nvPr/>
            </p:nvGrpSpPr>
            <p:grpSpPr>
              <a:xfrm>
                <a:off x="1575873" y="1797127"/>
                <a:ext cx="22680054" cy="11674269"/>
                <a:chOff x="-3538955" y="3448230"/>
                <a:chExt cx="22680054" cy="11674269"/>
              </a:xfrm>
            </p:grpSpPr>
            <p:sp>
              <p:nvSpPr>
                <p:cNvPr id="70" name="Right Triangle 69"/>
                <p:cNvSpPr/>
                <p:nvPr/>
              </p:nvSpPr>
              <p:spPr>
                <a:xfrm flipH="1">
                  <a:off x="8958821" y="3486542"/>
                  <a:ext cx="193377" cy="212342"/>
                </a:xfrm>
                <a:prstGeom prst="rtTriangle">
                  <a:avLst/>
                </a:pr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71" name="Group 70"/>
                <p:cNvGrpSpPr/>
                <p:nvPr/>
              </p:nvGrpSpPr>
              <p:grpSpPr>
                <a:xfrm>
                  <a:off x="-3538955" y="3448230"/>
                  <a:ext cx="22680054" cy="11674269"/>
                  <a:chOff x="-3538955" y="3448230"/>
                  <a:chExt cx="22680054" cy="11674269"/>
                </a:xfrm>
              </p:grpSpPr>
              <p:sp>
                <p:nvSpPr>
                  <p:cNvPr id="72" name="Rounded Rectangle 71"/>
                  <p:cNvSpPr/>
                  <p:nvPr/>
                </p:nvSpPr>
                <p:spPr>
                  <a:xfrm>
                    <a:off x="-3538955" y="3592713"/>
                    <a:ext cx="22680054" cy="11529786"/>
                  </a:xfrm>
                  <a:prstGeom prst="roundRect">
                    <a:avLst>
                      <a:gd name="adj" fmla="val 2127"/>
                    </a:avLst>
                  </a:prstGeom>
                  <a:solidFill>
                    <a:schemeClr val="bg1"/>
                  </a:solidFill>
                  <a:ln w="28575">
                    <a:solidFill>
                      <a:srgbClr val="0999C8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36000" tIns="18000" rIns="36000" bIns="18000" rtlCol="0" anchor="ctr"/>
                  <a:lstStyle/>
                  <a:p>
                    <a:pPr algn="ctr"/>
                    <a:endParaRPr lang="en-US" sz="4600" dirty="0">
                      <a:latin typeface="Tahoma" pitchFamily="34" charset="0"/>
                      <a:ea typeface="Tahoma" pitchFamily="34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73" name="TextBox 72"/>
                  <p:cNvSpPr txBox="1"/>
                  <p:nvPr/>
                </p:nvSpPr>
                <p:spPr>
                  <a:xfrm>
                    <a:off x="5759299" y="3448230"/>
                    <a:ext cx="3890809" cy="92333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fontAlgn="auto">
                      <a:spcBef>
                        <a:spcPct val="5000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5400" b="1" cap="all" dirty="0">
                        <a:ln w="0"/>
                        <a:solidFill>
                          <a:schemeClr val="bg1"/>
                        </a:solidFill>
                        <a:effectLst>
                          <a:reflection blurRad="12700" stA="50000" endPos="50000" dist="5000" dir="5400000" sy="-100000" rotWithShape="0"/>
                        </a:effectLst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a:t>CHƯƠNG I</a:t>
                    </a:r>
                  </a:p>
                </p:txBody>
              </p:sp>
            </p:grpSp>
          </p:grpSp>
          <p:sp>
            <p:nvSpPr>
              <p:cNvPr id="74" name="Right Triangle 73"/>
              <p:cNvSpPr/>
              <p:nvPr/>
            </p:nvSpPr>
            <p:spPr>
              <a:xfrm flipH="1">
                <a:off x="7921388" y="1793819"/>
                <a:ext cx="193377" cy="212342"/>
              </a:xfrm>
              <a:prstGeom prst="rtTriangl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ound Same Side Corner Rectangle 95"/>
              <p:cNvSpPr/>
              <p:nvPr/>
            </p:nvSpPr>
            <p:spPr>
              <a:xfrm flipV="1">
                <a:off x="3809998" y="1793810"/>
                <a:ext cx="19828267" cy="1181261"/>
              </a:xfrm>
              <a:prstGeom prst="round2SameRect">
                <a:avLst>
                  <a:gd name="adj1" fmla="val 6458"/>
                  <a:gd name="adj2" fmla="val 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3809999" y="1953929"/>
                <a:ext cx="1982826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5400" b="1" dirty="0">
                    <a:solidFill>
                      <a:srgbClr val="C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CHƯƠNG </a:t>
                </a:r>
                <a:r>
                  <a:rPr lang="en-US" sz="5400" b="1" dirty="0">
                    <a:solidFill>
                      <a:srgbClr val="C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</a:t>
                </a:r>
                <a:r>
                  <a:rPr lang="vi-VN" sz="5400" b="1" dirty="0">
                    <a:solidFill>
                      <a:srgbClr val="C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I. </a:t>
                </a:r>
                <a:r>
                  <a:rPr lang="en-US" sz="5400" b="1" dirty="0">
                    <a:solidFill>
                      <a:srgbClr val="C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 PHÁP TỌA ĐỘ TRONG MẶT PHẲNG</a:t>
                </a:r>
                <a:endParaRPr lang="vi-VN" sz="5400" b="1" dirty="0">
                  <a:solidFill>
                    <a:srgbClr val="C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104" name="Picture 53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71230" y="2975075"/>
                <a:ext cx="1495424" cy="14954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7" name="Rectangle 16"/>
              <p:cNvSpPr/>
              <p:nvPr/>
            </p:nvSpPr>
            <p:spPr>
              <a:xfrm>
                <a:off x="7467544" y="4114018"/>
                <a:ext cx="13632086" cy="8332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0" tIns="45705" rIns="91410" bIns="45705" rtlCol="0" anchor="ctr"/>
              <a:lstStyle/>
              <a:p>
                <a:pPr algn="ctr"/>
                <a:endParaRPr lang="en-US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56" name="Group 60"/>
              <p:cNvGrpSpPr/>
              <p:nvPr/>
            </p:nvGrpSpPr>
            <p:grpSpPr>
              <a:xfrm>
                <a:off x="1447800" y="5264640"/>
                <a:ext cx="11518637" cy="1501155"/>
                <a:chOff x="7459670" y="7086600"/>
                <a:chExt cx="11519970" cy="1501330"/>
              </a:xfrm>
            </p:grpSpPr>
            <p:sp>
              <p:nvSpPr>
                <p:cNvPr id="57" name="Rectangle 56"/>
                <p:cNvSpPr/>
                <p:nvPr/>
              </p:nvSpPr>
              <p:spPr>
                <a:xfrm>
                  <a:off x="9092456" y="7772227"/>
                  <a:ext cx="9887184" cy="81570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  <a:defRPr/>
                  </a:pPr>
                  <a:r>
                    <a:rPr lang="en-US" sz="4700" b="1" dirty="0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PHƯƠNG TRÌNH ĐƯỜNG TRÒN</a:t>
                  </a:r>
                </a:p>
              </p:txBody>
            </p:sp>
            <p:grpSp>
              <p:nvGrpSpPr>
                <p:cNvPr id="58" name="Group 26"/>
                <p:cNvGrpSpPr/>
                <p:nvPr/>
              </p:nvGrpSpPr>
              <p:grpSpPr>
                <a:xfrm>
                  <a:off x="7459670" y="7086600"/>
                  <a:ext cx="1392613" cy="1466894"/>
                  <a:chOff x="7459669" y="7543800"/>
                  <a:chExt cx="1381116" cy="1466894"/>
                </a:xfrm>
              </p:grpSpPr>
              <p:sp>
                <p:nvSpPr>
                  <p:cNvPr id="59" name="Isosceles Triangle 44"/>
                  <p:cNvSpPr/>
                  <p:nvPr/>
                </p:nvSpPr>
                <p:spPr>
                  <a:xfrm rot="16200000">
                    <a:off x="7469936" y="7533533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" fmla="*/ 2363 w 296088"/>
                      <a:gd name="connsiteY0" fmla="*/ 164221 h 164221"/>
                      <a:gd name="connsiteX1" fmla="*/ 0 w 296088"/>
                      <a:gd name="connsiteY1" fmla="*/ 0 h 164221"/>
                      <a:gd name="connsiteX2" fmla="*/ 296088 w 296088"/>
                      <a:gd name="connsiteY2" fmla="*/ 164221 h 164221"/>
                      <a:gd name="connsiteX3" fmla="*/ 2363 w 296088"/>
                      <a:gd name="connsiteY3" fmla="*/ 164221 h 16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60" name="Group 28"/>
                  <p:cNvGrpSpPr/>
                  <p:nvPr/>
                </p:nvGrpSpPr>
                <p:grpSpPr>
                  <a:xfrm>
                    <a:off x="7504379" y="8279174"/>
                    <a:ext cx="1336406" cy="731520"/>
                    <a:chOff x="7504379" y="8279174"/>
                    <a:chExt cx="1336406" cy="731520"/>
                  </a:xfrm>
                </p:grpSpPr>
                <p:sp>
                  <p:nvSpPr>
                    <p:cNvPr id="61" name="Round Same Side Corner Rectangle 60"/>
                    <p:cNvSpPr/>
                    <p:nvPr/>
                  </p:nvSpPr>
                  <p:spPr>
                    <a:xfrm rot="5400000">
                      <a:off x="7806822" y="7976731"/>
                      <a:ext cx="731520" cy="1336406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62" name="TextBox 61"/>
                    <p:cNvSpPr txBox="1"/>
                    <p:nvPr/>
                  </p:nvSpPr>
                  <p:spPr>
                    <a:xfrm>
                      <a:off x="7958807" y="8282807"/>
                      <a:ext cx="507514" cy="70796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 dirty="0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p:txBody>
                </p:sp>
              </p:grpSp>
            </p:grpSp>
          </p:grpSp>
          <p:grpSp>
            <p:nvGrpSpPr>
              <p:cNvPr id="76" name="Group 32"/>
              <p:cNvGrpSpPr/>
              <p:nvPr/>
            </p:nvGrpSpPr>
            <p:grpSpPr>
              <a:xfrm>
                <a:off x="1447797" y="8814031"/>
                <a:ext cx="1014912" cy="852829"/>
                <a:chOff x="7459669" y="7543800"/>
                <a:chExt cx="1006650" cy="852927"/>
              </a:xfrm>
            </p:grpSpPr>
            <p:sp>
              <p:nvSpPr>
                <p:cNvPr id="77" name="Isosceles Triangle 44"/>
                <p:cNvSpPr/>
                <p:nvPr/>
              </p:nvSpPr>
              <p:spPr>
                <a:xfrm rot="16200000">
                  <a:off x="7469936" y="7533533"/>
                  <a:ext cx="143688" cy="164221"/>
                </a:xfrm>
                <a:custGeom>
                  <a:avLst/>
                  <a:gdLst>
                    <a:gd name="connsiteX0" fmla="*/ 0 w 293725"/>
                    <a:gd name="connsiteY0" fmla="*/ 164224 h 164224"/>
                    <a:gd name="connsiteX1" fmla="*/ 146863 w 293725"/>
                    <a:gd name="connsiteY1" fmla="*/ 0 h 164224"/>
                    <a:gd name="connsiteX2" fmla="*/ 293725 w 293725"/>
                    <a:gd name="connsiteY2" fmla="*/ 164224 h 164224"/>
                    <a:gd name="connsiteX3" fmla="*/ 0 w 293725"/>
                    <a:gd name="connsiteY3" fmla="*/ 164224 h 164224"/>
                    <a:gd name="connsiteX0" fmla="*/ 2363 w 296088"/>
                    <a:gd name="connsiteY0" fmla="*/ 164221 h 164221"/>
                    <a:gd name="connsiteX1" fmla="*/ 0 w 296088"/>
                    <a:gd name="connsiteY1" fmla="*/ 0 h 164221"/>
                    <a:gd name="connsiteX2" fmla="*/ 296088 w 296088"/>
                    <a:gd name="connsiteY2" fmla="*/ 164221 h 164221"/>
                    <a:gd name="connsiteX3" fmla="*/ 2363 w 296088"/>
                    <a:gd name="connsiteY3" fmla="*/ 164221 h 1642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6088" h="164221">
                      <a:moveTo>
                        <a:pt x="2363" y="164221"/>
                      </a:moveTo>
                      <a:cubicBezTo>
                        <a:pt x="1575" y="109481"/>
                        <a:pt x="788" y="54740"/>
                        <a:pt x="0" y="0"/>
                      </a:cubicBezTo>
                      <a:lnTo>
                        <a:pt x="296088" y="164221"/>
                      </a:lnTo>
                      <a:lnTo>
                        <a:pt x="2363" y="164221"/>
                      </a:lnTo>
                      <a:close/>
                    </a:path>
                  </a:pathLst>
                </a:cu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80" name="TextBox 79"/>
                <p:cNvSpPr txBox="1"/>
                <p:nvPr/>
              </p:nvSpPr>
              <p:spPr>
                <a:xfrm>
                  <a:off x="7958806" y="7688760"/>
                  <a:ext cx="507513" cy="70796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4000" b="1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2</a:t>
                  </a:r>
                  <a:endParaRPr lang="en-US" sz="4000" b="1" dirty="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grpSp>
            <p:nvGrpSpPr>
              <p:cNvPr id="83" name="Group 44"/>
              <p:cNvGrpSpPr/>
              <p:nvPr/>
            </p:nvGrpSpPr>
            <p:grpSpPr>
              <a:xfrm>
                <a:off x="1447797" y="11125197"/>
                <a:ext cx="1014914" cy="852829"/>
                <a:chOff x="7459669" y="7543800"/>
                <a:chExt cx="1006652" cy="852928"/>
              </a:xfrm>
            </p:grpSpPr>
            <p:sp>
              <p:nvSpPr>
                <p:cNvPr id="84" name="Isosceles Triangle 44"/>
                <p:cNvSpPr/>
                <p:nvPr/>
              </p:nvSpPr>
              <p:spPr>
                <a:xfrm rot="16200000">
                  <a:off x="7469936" y="7533533"/>
                  <a:ext cx="143688" cy="164221"/>
                </a:xfrm>
                <a:custGeom>
                  <a:avLst/>
                  <a:gdLst>
                    <a:gd name="connsiteX0" fmla="*/ 0 w 293725"/>
                    <a:gd name="connsiteY0" fmla="*/ 164224 h 164224"/>
                    <a:gd name="connsiteX1" fmla="*/ 146863 w 293725"/>
                    <a:gd name="connsiteY1" fmla="*/ 0 h 164224"/>
                    <a:gd name="connsiteX2" fmla="*/ 293725 w 293725"/>
                    <a:gd name="connsiteY2" fmla="*/ 164224 h 164224"/>
                    <a:gd name="connsiteX3" fmla="*/ 0 w 293725"/>
                    <a:gd name="connsiteY3" fmla="*/ 164224 h 164224"/>
                    <a:gd name="connsiteX0" fmla="*/ 2363 w 296088"/>
                    <a:gd name="connsiteY0" fmla="*/ 164221 h 164221"/>
                    <a:gd name="connsiteX1" fmla="*/ 0 w 296088"/>
                    <a:gd name="connsiteY1" fmla="*/ 0 h 164221"/>
                    <a:gd name="connsiteX2" fmla="*/ 296088 w 296088"/>
                    <a:gd name="connsiteY2" fmla="*/ 164221 h 164221"/>
                    <a:gd name="connsiteX3" fmla="*/ 2363 w 296088"/>
                    <a:gd name="connsiteY3" fmla="*/ 164221 h 1642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6088" h="164221">
                      <a:moveTo>
                        <a:pt x="2363" y="164221"/>
                      </a:moveTo>
                      <a:cubicBezTo>
                        <a:pt x="1575" y="109481"/>
                        <a:pt x="788" y="54740"/>
                        <a:pt x="0" y="0"/>
                      </a:cubicBezTo>
                      <a:lnTo>
                        <a:pt x="296088" y="164221"/>
                      </a:lnTo>
                      <a:lnTo>
                        <a:pt x="2363" y="164221"/>
                      </a:lnTo>
                      <a:close/>
                    </a:path>
                  </a:pathLst>
                </a:cu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87" name="TextBox 86"/>
                <p:cNvSpPr txBox="1"/>
                <p:nvPr/>
              </p:nvSpPr>
              <p:spPr>
                <a:xfrm>
                  <a:off x="7958808" y="7688760"/>
                  <a:ext cx="507513" cy="707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4000" b="1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4</a:t>
                  </a:r>
                  <a:endParaRPr lang="en-US" sz="4000" b="1" dirty="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91" name="TextBox 90"/>
              <p:cNvSpPr txBox="1"/>
              <p:nvPr/>
            </p:nvSpPr>
            <p:spPr>
              <a:xfrm>
                <a:off x="3844753" y="6486123"/>
                <a:ext cx="54374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400" b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</a:t>
                </a:r>
              </a:p>
            </p:txBody>
          </p:sp>
          <p:sp>
            <p:nvSpPr>
              <p:cNvPr id="95" name="TextBox 94"/>
              <p:cNvSpPr txBox="1"/>
              <p:nvPr/>
            </p:nvSpPr>
            <p:spPr>
              <a:xfrm>
                <a:off x="3809999" y="7688223"/>
                <a:ext cx="54374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2</a:t>
                </a:r>
              </a:p>
            </p:txBody>
          </p:sp>
          <p:grpSp>
            <p:nvGrpSpPr>
              <p:cNvPr id="49" name="Group 32"/>
              <p:cNvGrpSpPr/>
              <p:nvPr/>
            </p:nvGrpSpPr>
            <p:grpSpPr>
              <a:xfrm>
                <a:off x="1447799" y="9982203"/>
                <a:ext cx="1014915" cy="889486"/>
                <a:chOff x="7459669" y="7543800"/>
                <a:chExt cx="1301368" cy="889588"/>
              </a:xfrm>
            </p:grpSpPr>
            <p:sp>
              <p:nvSpPr>
                <p:cNvPr id="50" name="Isosceles Triangle 44"/>
                <p:cNvSpPr/>
                <p:nvPr/>
              </p:nvSpPr>
              <p:spPr>
                <a:xfrm rot="16200000">
                  <a:off x="7469936" y="7533533"/>
                  <a:ext cx="143688" cy="164221"/>
                </a:xfrm>
                <a:custGeom>
                  <a:avLst/>
                  <a:gdLst>
                    <a:gd name="connsiteX0" fmla="*/ 0 w 293725"/>
                    <a:gd name="connsiteY0" fmla="*/ 164224 h 164224"/>
                    <a:gd name="connsiteX1" fmla="*/ 146863 w 293725"/>
                    <a:gd name="connsiteY1" fmla="*/ 0 h 164224"/>
                    <a:gd name="connsiteX2" fmla="*/ 293725 w 293725"/>
                    <a:gd name="connsiteY2" fmla="*/ 164224 h 164224"/>
                    <a:gd name="connsiteX3" fmla="*/ 0 w 293725"/>
                    <a:gd name="connsiteY3" fmla="*/ 164224 h 164224"/>
                    <a:gd name="connsiteX0" fmla="*/ 2363 w 296088"/>
                    <a:gd name="connsiteY0" fmla="*/ 164221 h 164221"/>
                    <a:gd name="connsiteX1" fmla="*/ 0 w 296088"/>
                    <a:gd name="connsiteY1" fmla="*/ 0 h 164221"/>
                    <a:gd name="connsiteX2" fmla="*/ 296088 w 296088"/>
                    <a:gd name="connsiteY2" fmla="*/ 164221 h 164221"/>
                    <a:gd name="connsiteX3" fmla="*/ 2363 w 296088"/>
                    <a:gd name="connsiteY3" fmla="*/ 164221 h 1642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6088" h="164221">
                      <a:moveTo>
                        <a:pt x="2363" y="164221"/>
                      </a:moveTo>
                      <a:cubicBezTo>
                        <a:pt x="1575" y="109481"/>
                        <a:pt x="788" y="54740"/>
                        <a:pt x="0" y="0"/>
                      </a:cubicBezTo>
                      <a:lnTo>
                        <a:pt x="296088" y="164221"/>
                      </a:lnTo>
                      <a:lnTo>
                        <a:pt x="2363" y="164221"/>
                      </a:lnTo>
                      <a:close/>
                    </a:path>
                  </a:pathLst>
                </a:cu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53" name="TextBox 52"/>
                <p:cNvSpPr txBox="1"/>
                <p:nvPr/>
              </p:nvSpPr>
              <p:spPr>
                <a:xfrm>
                  <a:off x="8104940" y="7725421"/>
                  <a:ext cx="656097" cy="70796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4000" b="1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3</a:t>
                  </a:r>
                  <a:endParaRPr lang="en-US" sz="4000" b="1" dirty="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grpSp>
            <p:nvGrpSpPr>
              <p:cNvPr id="64" name="Group 44"/>
              <p:cNvGrpSpPr/>
              <p:nvPr/>
            </p:nvGrpSpPr>
            <p:grpSpPr>
              <a:xfrm>
                <a:off x="1447798" y="12257830"/>
                <a:ext cx="1024533" cy="852830"/>
                <a:chOff x="7459669" y="7543800"/>
                <a:chExt cx="1016193" cy="852928"/>
              </a:xfrm>
            </p:grpSpPr>
            <p:sp>
              <p:nvSpPr>
                <p:cNvPr id="65" name="Isosceles Triangle 44"/>
                <p:cNvSpPr/>
                <p:nvPr/>
              </p:nvSpPr>
              <p:spPr>
                <a:xfrm rot="16200000">
                  <a:off x="7469936" y="7533533"/>
                  <a:ext cx="143688" cy="164221"/>
                </a:xfrm>
                <a:custGeom>
                  <a:avLst/>
                  <a:gdLst>
                    <a:gd name="connsiteX0" fmla="*/ 0 w 293725"/>
                    <a:gd name="connsiteY0" fmla="*/ 164224 h 164224"/>
                    <a:gd name="connsiteX1" fmla="*/ 146863 w 293725"/>
                    <a:gd name="connsiteY1" fmla="*/ 0 h 164224"/>
                    <a:gd name="connsiteX2" fmla="*/ 293725 w 293725"/>
                    <a:gd name="connsiteY2" fmla="*/ 164224 h 164224"/>
                    <a:gd name="connsiteX3" fmla="*/ 0 w 293725"/>
                    <a:gd name="connsiteY3" fmla="*/ 164224 h 164224"/>
                    <a:gd name="connsiteX0" fmla="*/ 2363 w 296088"/>
                    <a:gd name="connsiteY0" fmla="*/ 164221 h 164221"/>
                    <a:gd name="connsiteX1" fmla="*/ 0 w 296088"/>
                    <a:gd name="connsiteY1" fmla="*/ 0 h 164221"/>
                    <a:gd name="connsiteX2" fmla="*/ 296088 w 296088"/>
                    <a:gd name="connsiteY2" fmla="*/ 164221 h 164221"/>
                    <a:gd name="connsiteX3" fmla="*/ 2363 w 296088"/>
                    <a:gd name="connsiteY3" fmla="*/ 164221 h 1642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6088" h="164221">
                      <a:moveTo>
                        <a:pt x="2363" y="164221"/>
                      </a:moveTo>
                      <a:cubicBezTo>
                        <a:pt x="1575" y="109481"/>
                        <a:pt x="788" y="54740"/>
                        <a:pt x="0" y="0"/>
                      </a:cubicBezTo>
                      <a:lnTo>
                        <a:pt x="296088" y="164221"/>
                      </a:lnTo>
                      <a:lnTo>
                        <a:pt x="2363" y="164221"/>
                      </a:lnTo>
                      <a:close/>
                    </a:path>
                  </a:pathLst>
                </a:cu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68" name="TextBox 67"/>
                <p:cNvSpPr txBox="1"/>
                <p:nvPr/>
              </p:nvSpPr>
              <p:spPr>
                <a:xfrm>
                  <a:off x="7949269" y="7688760"/>
                  <a:ext cx="526593" cy="707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4000" b="1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5</a:t>
                  </a:r>
                  <a:endParaRPr lang="en-US" sz="4000" b="1" dirty="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</p:grpSp>
        <p:sp>
          <p:nvSpPr>
            <p:cNvPr id="103" name="Google Shape;122;p14">
              <a:extLst>
                <a:ext uri="{FF2B5EF4-FFF2-40B4-BE49-F238E27FC236}">
                  <a16:creationId xmlns:a16="http://schemas.microsoft.com/office/drawing/2014/main" id="{FAF7E6E7-D68E-4774-9801-54F6529B128E}"/>
                </a:ext>
              </a:extLst>
            </p:cNvPr>
            <p:cNvSpPr/>
            <p:nvPr/>
          </p:nvSpPr>
          <p:spPr>
            <a:xfrm>
              <a:off x="3165290" y="3009806"/>
              <a:ext cx="5082410" cy="882637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17500" dir="5400000" sx="90000" sy="-19000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  <a:scene3d>
                <a:camera prst="orthographicFront"/>
                <a:lightRig rig="threePt" dir="t"/>
              </a:scene3d>
              <a:sp3d prstMaterial="metal"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dirty="0">
                  <a:solidFill>
                    <a:srgbClr val="FF0000"/>
                  </a:solidFill>
                  <a:effectLst>
                    <a:glow rad="76200">
                      <a:srgbClr val="FFFF00">
                        <a:alpha val="47000"/>
                      </a:srgbClr>
                    </a:glow>
                    <a:outerShdw blurRad="50800" dist="38100" dir="18900000" algn="bl" rotWithShape="0">
                      <a:srgbClr val="0000CC">
                        <a:alpha val="40000"/>
                      </a:srgbClr>
                    </a:outerShdw>
                  </a:effectLst>
                  <a:latin typeface="Bahnschrift SemiBold SemiConden" panose="020B0502040204020203" pitchFamily="34" charset="0"/>
                  <a:sym typeface="Baumans"/>
                </a:rPr>
                <a:t>TOÁN HÌNH HỌC</a:t>
              </a:r>
              <a:endParaRPr sz="6000" dirty="0">
                <a:solidFill>
                  <a:srgbClr val="FF0000"/>
                </a:solidFill>
                <a:effectLst>
                  <a:glow rad="76200">
                    <a:srgbClr val="FFFF00">
                      <a:alpha val="47000"/>
                    </a:srgbClr>
                  </a:glow>
                  <a:outerShdw blurRad="50800" dist="38100" dir="18900000" algn="bl" rotWithShape="0">
                    <a:srgbClr val="0000CC">
                      <a:alpha val="40000"/>
                    </a:srgbClr>
                  </a:outerShdw>
                </a:effectLst>
                <a:latin typeface="Bahnschrift SemiBold SemiConden" panose="020B0502040204020203" pitchFamily="34" charset="0"/>
              </a:endParaRP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7EC462C3-097E-478F-9154-33220765427C}"/>
                </a:ext>
              </a:extLst>
            </p:cNvPr>
            <p:cNvGrpSpPr/>
            <p:nvPr/>
          </p:nvGrpSpPr>
          <p:grpSpPr>
            <a:xfrm>
              <a:off x="4408900" y="3900043"/>
              <a:ext cx="1320281" cy="1323399"/>
              <a:chOff x="4869876" y="2922072"/>
              <a:chExt cx="1320281" cy="1323399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392A2278-170A-49E8-B48D-301797CCDF5E}"/>
                  </a:ext>
                </a:extLst>
              </p:cNvPr>
              <p:cNvGrpSpPr/>
              <p:nvPr/>
            </p:nvGrpSpPr>
            <p:grpSpPr>
              <a:xfrm>
                <a:off x="5015148" y="2971696"/>
                <a:ext cx="1175009" cy="1143519"/>
                <a:chOff x="5015148" y="2971695"/>
                <a:chExt cx="1175009" cy="1143520"/>
              </a:xfrm>
            </p:grpSpPr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4E1041DC-D475-450B-91E9-794165D6DE77}"/>
                    </a:ext>
                  </a:extLst>
                </p:cNvPr>
                <p:cNvSpPr/>
                <p:nvPr/>
              </p:nvSpPr>
              <p:spPr>
                <a:xfrm>
                  <a:off x="5015148" y="2971695"/>
                  <a:ext cx="1175009" cy="1143520"/>
                </a:xfrm>
                <a:prstGeom prst="ellipse">
                  <a:avLst/>
                </a:prstGeom>
                <a:solidFill>
                  <a:srgbClr val="FFFF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1BBB2B80-ECD5-421E-A4F7-BBA59D5C9CDF}"/>
                    </a:ext>
                  </a:extLst>
                </p:cNvPr>
                <p:cNvSpPr/>
                <p:nvPr/>
              </p:nvSpPr>
              <p:spPr>
                <a:xfrm>
                  <a:off x="5015148" y="2993775"/>
                  <a:ext cx="1091111" cy="1121440"/>
                </a:xfrm>
                <a:prstGeom prst="ellipse">
                  <a:avLst/>
                </a:prstGeom>
                <a:solidFill>
                  <a:srgbClr val="3333FF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7" name="Google Shape;123;p14">
                <a:extLst>
                  <a:ext uri="{FF2B5EF4-FFF2-40B4-BE49-F238E27FC236}">
                    <a16:creationId xmlns:a16="http://schemas.microsoft.com/office/drawing/2014/main" id="{F38EB064-8955-4FC1-9AF5-C49985002268}"/>
                  </a:ext>
                </a:extLst>
              </p:cNvPr>
              <p:cNvSpPr txBox="1"/>
              <p:nvPr/>
            </p:nvSpPr>
            <p:spPr>
              <a:xfrm>
                <a:off x="4869876" y="2922072"/>
                <a:ext cx="1316269" cy="1323399"/>
              </a:xfrm>
              <a:prstGeom prst="rect">
                <a:avLst/>
              </a:prstGeom>
              <a:noFill/>
              <a:ln>
                <a:noFill/>
              </a:ln>
              <a:effectLst>
                <a:innerShdw blurRad="63500" dist="50800">
                  <a:prstClr val="black">
                    <a:alpha val="50000"/>
                  </a:prstClr>
                </a:innerShdw>
              </a:effectLst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0" dirty="0">
                    <a:solidFill>
                      <a:schemeClr val="bg1"/>
                    </a:solidFill>
                    <a:latin typeface="Yu Gothic UI Semilight" panose="020B0400000000000000" pitchFamily="34" charset="-128"/>
                    <a:ea typeface="Yu Gothic UI Semilight" panose="020B0400000000000000" pitchFamily="34" charset="-128"/>
                  </a:rPr>
                  <a:t>➉</a:t>
                </a:r>
                <a:endParaRPr sz="80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F6311BF-A4CF-4E55-85D0-0A86514BB33B}"/>
              </a:ext>
            </a:extLst>
          </p:cNvPr>
          <p:cNvGrpSpPr/>
          <p:nvPr/>
        </p:nvGrpSpPr>
        <p:grpSpPr>
          <a:xfrm>
            <a:off x="7010400" y="3405456"/>
            <a:ext cx="16651736" cy="2319879"/>
            <a:chOff x="71819" y="148683"/>
            <a:chExt cx="12310507" cy="1586290"/>
          </a:xfrm>
        </p:grpSpPr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E248C2BE-8566-4C92-B9DC-0F7EBDD76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819" y="148683"/>
              <a:ext cx="12310507" cy="1586290"/>
            </a:xfrm>
            <a:prstGeom prst="rect">
              <a:avLst/>
            </a:prstGeom>
          </p:spPr>
        </p:pic>
        <p:sp>
          <p:nvSpPr>
            <p:cNvPr id="114" name="TextBox 321">
              <a:extLst>
                <a:ext uri="{FF2B5EF4-FFF2-40B4-BE49-F238E27FC236}">
                  <a16:creationId xmlns:a16="http://schemas.microsoft.com/office/drawing/2014/main" id="{39A246B9-3D0B-4A2B-A2B0-AD412E909BB4}"/>
                </a:ext>
              </a:extLst>
            </p:cNvPr>
            <p:cNvSpPr txBox="1"/>
            <p:nvPr/>
          </p:nvSpPr>
          <p:spPr>
            <a:xfrm>
              <a:off x="2214549" y="271755"/>
              <a:ext cx="8497633" cy="1247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5500" b="1" kern="1200" dirty="0">
                  <a:solidFill>
                    <a:srgbClr val="FCFFE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PHƯƠNG TRÌNH ĐƯỜNG TRÒN</a:t>
              </a:r>
            </a:p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5500" b="1" dirty="0">
                  <a:solidFill>
                    <a:srgbClr val="FCFFE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TRONG MẶT PHẲNG TỌA ĐỘ</a:t>
              </a:r>
              <a:endParaRPr lang="en-US" sz="55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5" name="TextBox 321">
              <a:extLst>
                <a:ext uri="{FF2B5EF4-FFF2-40B4-BE49-F238E27FC236}">
                  <a16:creationId xmlns:a16="http://schemas.microsoft.com/office/drawing/2014/main" id="{EFE5FD9A-8DAE-41E9-BE5B-4B8636094028}"/>
                </a:ext>
              </a:extLst>
            </p:cNvPr>
            <p:cNvSpPr txBox="1"/>
            <p:nvPr/>
          </p:nvSpPr>
          <p:spPr>
            <a:xfrm>
              <a:off x="495609" y="401256"/>
              <a:ext cx="1718940" cy="8744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8000" b="1" kern="1200" dirty="0">
                  <a:solidFill>
                    <a:srgbClr val="FFFFFF"/>
                  </a:solidFill>
                  <a:effectLst/>
                  <a:latin typeface="Calibri" panose="020F0502020204030204" pitchFamily="34" charset="0"/>
                  <a:ea typeface="Cascadia Mono" panose="020B0609020000020004" pitchFamily="49" charset="0"/>
                  <a:cs typeface="Times New Roman" panose="02020603050405020304" pitchFamily="18" charset="0"/>
                </a:rPr>
                <a:t>21</a:t>
              </a:r>
              <a:endParaRPr lang="en-US" sz="8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9204C448-2D8F-4A7E-9B2E-F635DF97ADCA}"/>
              </a:ext>
            </a:extLst>
          </p:cNvPr>
          <p:cNvSpPr/>
          <p:nvPr/>
        </p:nvSpPr>
        <p:spPr>
          <a:xfrm>
            <a:off x="1838109" y="6858006"/>
            <a:ext cx="8525091" cy="8156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sz="4700" b="1" spc="-150" dirty="0">
                <a:solidFill>
                  <a:srgbClr val="2424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TRÌNH TIẾP TUYẾN</a:t>
            </a:r>
          </a:p>
        </p:txBody>
      </p:sp>
      <p:sp>
        <p:nvSpPr>
          <p:cNvPr id="46" name="Round Same Side Corner Rectangle 78">
            <a:extLst>
              <a:ext uri="{FF2B5EF4-FFF2-40B4-BE49-F238E27FC236}">
                <a16:creationId xmlns:a16="http://schemas.microsoft.com/office/drawing/2014/main" id="{B7BE534A-7F06-44A5-B2EA-E03DCFEDEFB9}"/>
              </a:ext>
            </a:extLst>
          </p:cNvPr>
          <p:cNvSpPr/>
          <p:nvPr/>
        </p:nvSpPr>
        <p:spPr>
          <a:xfrm rot="5400000">
            <a:off x="495398" y="6502343"/>
            <a:ext cx="731439" cy="1382858"/>
          </a:xfrm>
          <a:prstGeom prst="round2SameRect">
            <a:avLst/>
          </a:prstGeom>
          <a:solidFill>
            <a:srgbClr val="135F8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CBE5B7-87E3-4C6D-A9F9-87B4CAD581AC}"/>
              </a:ext>
            </a:extLst>
          </p:cNvPr>
          <p:cNvSpPr txBox="1"/>
          <p:nvPr/>
        </p:nvSpPr>
        <p:spPr>
          <a:xfrm>
            <a:off x="589557" y="6816372"/>
            <a:ext cx="5116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21842548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2286000"/>
            <a:ext cx="231648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PHƯƠNG TRÌNH ĐƯỜNG TRÒN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683125"/>
                <a:ext cx="11353800" cy="4349749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những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thỏa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mãn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điều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kiện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𝑰𝑴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Do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lập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cần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chuyển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điều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kiện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học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𝑰𝑴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thành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điều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kiện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đại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683125"/>
                <a:ext cx="11353800" cy="4349749"/>
              </a:xfrm>
              <a:prstGeom prst="rect">
                <a:avLst/>
              </a:prstGeom>
              <a:blipFill>
                <a:blip r:embed="rId3"/>
                <a:stretch>
                  <a:fillRect l="-2200" t="-4888" r="-236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3C569BC4-9AE0-4FEE-92C9-AC55D28D4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2600" y="3200400"/>
            <a:ext cx="10058400" cy="9352547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78169890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79601"/>
            <a:ext cx="231648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 marL="914400" indent="-914400">
              <a:buAutoNum type="arabicPeriod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TRÌNH ĐƯỜNG TRÒN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745E5E3-0F3D-4DD8-8EF9-85D6C62C5C25}"/>
              </a:ext>
            </a:extLst>
          </p:cNvPr>
          <p:cNvSpPr txBox="1">
            <a:spLocks/>
          </p:cNvSpPr>
          <p:nvPr/>
        </p:nvSpPr>
        <p:spPr>
          <a:xfrm>
            <a:off x="2819400" y="2826900"/>
            <a:ext cx="211074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HĐ1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F963C0E-8307-4357-B0AC-6C59B10BB2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4191001"/>
                <a:ext cx="11859491" cy="42672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phẳng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Oxy,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𝑪</m:t>
                    </m:r>
                    <m:r>
                      <a:rPr lang="en-US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)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𝑰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𝒂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;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𝒃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)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(H.7.13).Khi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𝐌</m:t>
                    </m:r>
                    <m:r>
                      <a:rPr lang="en-US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;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𝒚</m:t>
                    </m:r>
                    <m:r>
                      <a:rPr lang="en-US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)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thuộc đường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𝑪</m:t>
                    </m:r>
                    <m:r>
                      <a:rPr lang="en-US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)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thỏa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mãn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điều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kiện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đại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F963C0E-8307-4357-B0AC-6C59B10BB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191001"/>
                <a:ext cx="11859491" cy="4267200"/>
              </a:xfrm>
              <a:prstGeom prst="rect">
                <a:avLst/>
              </a:prstGeom>
              <a:blipFill>
                <a:blip r:embed="rId3"/>
                <a:stretch>
                  <a:fillRect l="-2259" t="-4843" r="-2259" b="-199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498D75C-BCDB-4F89-A946-C38707BB4B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697690" y="4191001"/>
                <a:ext cx="11353801" cy="4267200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i="1" dirty="0"/>
                  <a:t>  </a:t>
                </a:r>
                <a:r>
                  <a:rPr lang="en-US" b="1" i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i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i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dẫn</a:t>
                </a:r>
                <a:endParaRPr lang="en-US" b="1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𝑴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𝑰𝑴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𝑹</m:t>
                      </m:r>
                    </m:oMath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⇔</m:t>
                      </m:r>
                      <m:rad>
                        <m:radPr>
                          <m:degHide m:val="on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⇔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498D75C-BCDB-4F89-A946-C38707BB4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7690" y="4191001"/>
                <a:ext cx="11353801" cy="4267200"/>
              </a:xfrm>
              <a:prstGeom prst="rect">
                <a:avLst/>
              </a:prstGeom>
              <a:blipFill>
                <a:blip r:embed="rId4"/>
                <a:stretch>
                  <a:fillRect t="-5413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6CA2A77A-40C9-4C44-B116-91DE275CEB13}"/>
              </a:ext>
            </a:extLst>
          </p:cNvPr>
          <p:cNvSpPr/>
          <p:nvPr/>
        </p:nvSpPr>
        <p:spPr>
          <a:xfrm>
            <a:off x="1905000" y="2826900"/>
            <a:ext cx="529046" cy="622058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16BDE2E2-BF03-46E5-B02F-0EC4741DE14C}"/>
              </a:ext>
            </a:extLst>
          </p:cNvPr>
          <p:cNvSpPr/>
          <p:nvPr/>
        </p:nvSpPr>
        <p:spPr>
          <a:xfrm>
            <a:off x="2209800" y="2826900"/>
            <a:ext cx="529046" cy="620161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2EDA9D3D-73BF-4D96-AAEB-F6B2BD6F6C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8915400"/>
                <a:ext cx="23213291" cy="3775075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𝑴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𝑪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𝑰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𝒂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𝑹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                                     </a:t>
                </a:r>
              </a:p>
              <a:p>
                <a:pPr marL="0" indent="0"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𝒃</m:t>
                            </m:r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(C).</a:t>
                </a:r>
              </a:p>
            </p:txBody>
          </p:sp>
        </mc:Choice>
        <mc:Fallback xmlns="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2EDA9D3D-73BF-4D96-AAEB-F6B2BD6F6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915400"/>
                <a:ext cx="23213291" cy="3775075"/>
              </a:xfrm>
              <a:prstGeom prst="rect">
                <a:avLst/>
              </a:prstGeom>
              <a:blipFill>
                <a:blip r:embed="rId5"/>
                <a:stretch>
                  <a:fillRect l="-1076" t="-402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5739894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3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79601"/>
            <a:ext cx="231648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 marL="914400" indent="-914400">
              <a:buAutoNum type="arabicPeriod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TRÌNH ĐƯỜNG TRÒN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745E5E3-0F3D-4DD8-8EF9-85D6C62C5C25}"/>
              </a:ext>
            </a:extLst>
          </p:cNvPr>
          <p:cNvSpPr txBox="1">
            <a:spLocks/>
          </p:cNvSpPr>
          <p:nvPr/>
        </p:nvSpPr>
        <p:spPr>
          <a:xfrm>
            <a:off x="2819400" y="2826900"/>
            <a:ext cx="211074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Ví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1.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F963C0E-8307-4357-B0AC-6C59B10BB2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3859756"/>
                <a:ext cx="23164800" cy="329029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gấp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đôi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F963C0E-8307-4357-B0AC-6C59B10BB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3859756"/>
                <a:ext cx="23164800" cy="3290290"/>
              </a:xfrm>
              <a:prstGeom prst="rect">
                <a:avLst/>
              </a:prstGeom>
              <a:blipFill>
                <a:blip r:embed="rId3"/>
                <a:stretch>
                  <a:fillRect l="-1052" t="-6458" b="-811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498D75C-BCDB-4F89-A946-C38707BB4B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1742" y="8892027"/>
                <a:ext cx="23164800" cy="4061973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ở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𝑰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′=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𝟔𝟒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498D75C-BCDB-4F89-A946-C38707BB4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742" y="8892027"/>
                <a:ext cx="23164800" cy="4061973"/>
              </a:xfrm>
              <a:prstGeom prst="rect">
                <a:avLst/>
              </a:prstGeom>
              <a:blipFill>
                <a:blip r:embed="rId4"/>
                <a:stretch>
                  <a:fillRect l="-1078" t="-1048" b="-599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6CA2A77A-40C9-4C44-B116-91DE275CEB13}"/>
              </a:ext>
            </a:extLst>
          </p:cNvPr>
          <p:cNvSpPr/>
          <p:nvPr/>
        </p:nvSpPr>
        <p:spPr>
          <a:xfrm>
            <a:off x="1905000" y="2826900"/>
            <a:ext cx="529046" cy="622058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16BDE2E2-BF03-46E5-B02F-0EC4741DE14C}"/>
              </a:ext>
            </a:extLst>
          </p:cNvPr>
          <p:cNvSpPr/>
          <p:nvPr/>
        </p:nvSpPr>
        <p:spPr>
          <a:xfrm>
            <a:off x="2209800" y="2826900"/>
            <a:ext cx="529046" cy="620161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721A9C-9680-4151-902E-E9B4C831C8CD}"/>
              </a:ext>
            </a:extLst>
          </p:cNvPr>
          <p:cNvSpPr txBox="1"/>
          <p:nvPr/>
        </p:nvSpPr>
        <p:spPr>
          <a:xfrm>
            <a:off x="870856" y="7551003"/>
            <a:ext cx="121974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800" i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endParaRPr lang="en-US" sz="4800" i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34773292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3" grpId="0" animBg="1"/>
      <p:bldP spid="15" grpId="0" animBg="1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79601"/>
            <a:ext cx="231648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 marL="914400" indent="-914400">
              <a:buAutoNum type="arabicPeriod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TRÌNH ĐƯỜNG TRÒN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745E5E3-0F3D-4DD8-8EF9-85D6C62C5C25}"/>
              </a:ext>
            </a:extLst>
          </p:cNvPr>
          <p:cNvSpPr txBox="1">
            <a:spLocks/>
          </p:cNvSpPr>
          <p:nvPr/>
        </p:nvSpPr>
        <p:spPr>
          <a:xfrm>
            <a:off x="2819400" y="2826900"/>
            <a:ext cx="211074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Luyện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1.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F963C0E-8307-4357-B0AC-6C59B10BB2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4104982"/>
                <a:ext cx="23164800" cy="185094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F963C0E-8307-4357-B0AC-6C59B10BB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104982"/>
                <a:ext cx="23164800" cy="1850942"/>
              </a:xfrm>
              <a:prstGeom prst="rect">
                <a:avLst/>
              </a:prstGeom>
              <a:blipFill>
                <a:blip r:embed="rId3"/>
                <a:stretch>
                  <a:fillRect l="-1157" t="-1078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498D75C-BCDB-4F89-A946-C38707BB4B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0856" y="7267971"/>
                <a:ext cx="23164800" cy="263802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ở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𝑰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𝟕</m:t>
                        </m:r>
                      </m:e>
                    </m:ra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498D75C-BCDB-4F89-A946-C38707BB4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856" y="7267971"/>
                <a:ext cx="23164800" cy="2638029"/>
              </a:xfrm>
              <a:prstGeom prst="rect">
                <a:avLst/>
              </a:prstGeom>
              <a:blipFill>
                <a:blip r:embed="rId4"/>
                <a:stretch>
                  <a:fillRect t="-460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6CA2A77A-40C9-4C44-B116-91DE275CEB13}"/>
              </a:ext>
            </a:extLst>
          </p:cNvPr>
          <p:cNvSpPr/>
          <p:nvPr/>
        </p:nvSpPr>
        <p:spPr>
          <a:xfrm>
            <a:off x="1905000" y="2826900"/>
            <a:ext cx="529046" cy="622058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16BDE2E2-BF03-46E5-B02F-0EC4741DE14C}"/>
              </a:ext>
            </a:extLst>
          </p:cNvPr>
          <p:cNvSpPr/>
          <p:nvPr/>
        </p:nvSpPr>
        <p:spPr>
          <a:xfrm>
            <a:off x="2209800" y="2826900"/>
            <a:ext cx="529046" cy="620161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721A9C-9680-4151-902E-E9B4C831C8CD}"/>
              </a:ext>
            </a:extLst>
          </p:cNvPr>
          <p:cNvSpPr txBox="1"/>
          <p:nvPr/>
        </p:nvSpPr>
        <p:spPr>
          <a:xfrm>
            <a:off x="838199" y="6196449"/>
            <a:ext cx="121974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800" i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endParaRPr lang="en-US" sz="4800" i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570D3FCE-5631-4AC4-A32A-8BC0A1D4B7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1743" y="10315971"/>
                <a:ext cx="23164800" cy="263802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Nhận</a:t>
                </a:r>
                <a:r>
                  <a:rPr lang="en-US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xét</a:t>
                </a:r>
                <a:r>
                  <a:rPr lang="en-US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  <a:r>
                  <a:rPr lang="en-US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𝒂𝒙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570D3FCE-5631-4AC4-A32A-8BC0A1D4B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743" y="10315971"/>
                <a:ext cx="23164800" cy="2638029"/>
              </a:xfrm>
              <a:prstGeom prst="rect">
                <a:avLst/>
              </a:prstGeom>
              <a:blipFill>
                <a:blip r:embed="rId5"/>
                <a:stretch>
                  <a:fillRect t="-781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6693045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3" grpId="0" animBg="1"/>
      <p:bldP spid="15" grpId="0" animBg="1"/>
      <p:bldP spid="14" grpId="0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79601"/>
            <a:ext cx="231648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 marL="914400" indent="-914400">
              <a:buAutoNum type="arabicPeriod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TRÌNH ĐƯỜNG TRÒN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745E5E3-0F3D-4DD8-8EF9-85D6C62C5C25}"/>
              </a:ext>
            </a:extLst>
          </p:cNvPr>
          <p:cNvSpPr txBox="1">
            <a:spLocks/>
          </p:cNvSpPr>
          <p:nvPr/>
        </p:nvSpPr>
        <p:spPr>
          <a:xfrm>
            <a:off x="2819400" y="2826900"/>
            <a:ext cx="211074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Ví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2.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F963C0E-8307-4357-B0AC-6C59B10BB2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4104981"/>
                <a:ext cx="23164800" cy="2707797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hằng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những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thỏa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mãn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𝒂𝒙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F963C0E-8307-4357-B0AC-6C59B10BB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104981"/>
                <a:ext cx="23164800" cy="2707797"/>
              </a:xfrm>
              <a:prstGeom prst="rect">
                <a:avLst/>
              </a:prstGeom>
              <a:blipFill>
                <a:blip r:embed="rId3"/>
                <a:stretch>
                  <a:fillRect l="-1157" t="-7830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498D75C-BCDB-4F89-A946-C38707BB4B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1742" y="8146914"/>
                <a:ext cx="23164800" cy="4061973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⇔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Xét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𝑰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𝑰𝑴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d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d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trở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thành</a:t>
                </a: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                                      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𝑰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498D75C-BCDB-4F89-A946-C38707BB4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742" y="8146914"/>
                <a:ext cx="23164800" cy="4061973"/>
              </a:xfrm>
              <a:prstGeom prst="rect">
                <a:avLst/>
              </a:prstGeom>
              <a:blipFill>
                <a:blip r:embed="rId4"/>
                <a:stretch>
                  <a:fillRect l="-1078" t="-523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6CA2A77A-40C9-4C44-B116-91DE275CEB13}"/>
              </a:ext>
            </a:extLst>
          </p:cNvPr>
          <p:cNvSpPr/>
          <p:nvPr/>
        </p:nvSpPr>
        <p:spPr>
          <a:xfrm>
            <a:off x="1905000" y="2826900"/>
            <a:ext cx="529046" cy="622058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16BDE2E2-BF03-46E5-B02F-0EC4741DE14C}"/>
              </a:ext>
            </a:extLst>
          </p:cNvPr>
          <p:cNvSpPr/>
          <p:nvPr/>
        </p:nvSpPr>
        <p:spPr>
          <a:xfrm>
            <a:off x="2209800" y="2826900"/>
            <a:ext cx="529046" cy="620161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721A9C-9680-4151-902E-E9B4C831C8CD}"/>
              </a:ext>
            </a:extLst>
          </p:cNvPr>
          <p:cNvSpPr txBox="1"/>
          <p:nvPr/>
        </p:nvSpPr>
        <p:spPr>
          <a:xfrm>
            <a:off x="870856" y="6903222"/>
            <a:ext cx="121974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800" i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endParaRPr lang="en-US" sz="4800" i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02460459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3" grpId="0" animBg="1"/>
      <p:bldP spid="15" grpId="0" animBg="1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79601"/>
            <a:ext cx="231648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 marL="914400" indent="-914400">
              <a:buAutoNum type="arabicPeriod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TRÌNH ĐƯỜNG TRÒN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F963C0E-8307-4357-B0AC-6C59B10BB2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3429000"/>
                <a:ext cx="23164800" cy="561572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xét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lvl="0"/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Nếu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những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thỏa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mãn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𝑰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rad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lvl="0"/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Nếu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𝑰𝑴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Do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những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thỏa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mãn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gồm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𝑰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lvl="0"/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Nếu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những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rỗng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F963C0E-8307-4357-B0AC-6C59B10BB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429000"/>
                <a:ext cx="23164800" cy="5615720"/>
              </a:xfrm>
              <a:prstGeom prst="rect">
                <a:avLst/>
              </a:prstGeom>
              <a:blipFill>
                <a:blip r:embed="rId3"/>
                <a:stretch>
                  <a:fillRect l="-1157" t="-368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7F8D7A6B-E372-417D-9FC7-3CD460F8EE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9457068"/>
                <a:ext cx="23164800" cy="28956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𝒂𝒙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𝑰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rad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7F8D7A6B-E372-417D-9FC7-3CD460F8E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9457068"/>
                <a:ext cx="23164800" cy="2895600"/>
              </a:xfrm>
              <a:prstGeom prst="rect">
                <a:avLst/>
              </a:prstGeom>
              <a:blipFill>
                <a:blip r:embed="rId4"/>
                <a:stretch>
                  <a:fillRect l="-1157" t="-691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30189358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676400"/>
            <a:ext cx="231648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 marL="914400" indent="-914400">
              <a:buAutoNum type="arabicPeriod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TRÌNH ĐƯỜNG TRÒN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745E5E3-0F3D-4DD8-8EF9-85D6C62C5C25}"/>
              </a:ext>
            </a:extLst>
          </p:cNvPr>
          <p:cNvSpPr txBox="1">
            <a:spLocks/>
          </p:cNvSpPr>
          <p:nvPr/>
        </p:nvSpPr>
        <p:spPr>
          <a:xfrm>
            <a:off x="2819400" y="2590800"/>
            <a:ext cx="211074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Luyện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2.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F963C0E-8307-4357-B0AC-6C59B10BB2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9086" y="3505200"/>
                <a:ext cx="23164800" cy="3314623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biết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dưới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đây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ứng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lv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a)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  b)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lv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c)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F963C0E-8307-4357-B0AC-6C59B10BB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86" y="3505200"/>
                <a:ext cx="23164800" cy="3314623"/>
              </a:xfrm>
              <a:prstGeom prst="rect">
                <a:avLst/>
              </a:prstGeom>
              <a:blipFill>
                <a:blip r:embed="rId3"/>
                <a:stretch>
                  <a:fillRect l="-1157" t="-6227" b="-769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498D75C-BCDB-4F89-A946-C38707BB4B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7620000"/>
                <a:ext cx="23164800" cy="5715000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:r>
                  <a:rPr lang="en-US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phải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lv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𝟔</m:t>
                            </m:r>
                          </m:e>
                        </m:eqAr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{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𝟔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.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Xét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phải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498D75C-BCDB-4F89-A946-C38707BB4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7620000"/>
                <a:ext cx="23164800" cy="5715000"/>
              </a:xfrm>
              <a:prstGeom prst="rect">
                <a:avLst/>
              </a:prstGeom>
              <a:blipFill>
                <a:blip r:embed="rId4"/>
                <a:stretch>
                  <a:fillRect l="-1184" t="-3511" r="-84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6CA2A77A-40C9-4C44-B116-91DE275CEB13}"/>
              </a:ext>
            </a:extLst>
          </p:cNvPr>
          <p:cNvSpPr/>
          <p:nvPr/>
        </p:nvSpPr>
        <p:spPr>
          <a:xfrm>
            <a:off x="1905000" y="2590800"/>
            <a:ext cx="529046" cy="622058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16BDE2E2-BF03-46E5-B02F-0EC4741DE14C}"/>
              </a:ext>
            </a:extLst>
          </p:cNvPr>
          <p:cNvSpPr/>
          <p:nvPr/>
        </p:nvSpPr>
        <p:spPr>
          <a:xfrm>
            <a:off x="2209800" y="2590800"/>
            <a:ext cx="529046" cy="620161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721A9C-9680-4151-902E-E9B4C831C8CD}"/>
              </a:ext>
            </a:extLst>
          </p:cNvPr>
          <p:cNvSpPr txBox="1"/>
          <p:nvPr/>
        </p:nvSpPr>
        <p:spPr>
          <a:xfrm>
            <a:off x="680358" y="6858000"/>
            <a:ext cx="121974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800" i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endParaRPr lang="en-US" sz="4800" i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35149041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3" grpId="0" animBg="1"/>
      <p:bldP spid="15" grpId="0" animBg="1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676400"/>
            <a:ext cx="231648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 marL="914400" indent="-914400">
              <a:buAutoNum type="arabicPeriod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TRÌNH ĐƯỜNG TRÒN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745E5E3-0F3D-4DD8-8EF9-85D6C62C5C25}"/>
              </a:ext>
            </a:extLst>
          </p:cNvPr>
          <p:cNvSpPr txBox="1">
            <a:spLocks/>
          </p:cNvSpPr>
          <p:nvPr/>
        </p:nvSpPr>
        <p:spPr>
          <a:xfrm>
            <a:off x="2819400" y="2590800"/>
            <a:ext cx="211074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Luyện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2.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F963C0E-8307-4357-B0AC-6C59B10BB2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9086" y="3695777"/>
                <a:ext cx="23164800" cy="3314623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biết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dưới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đây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ứng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lv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a)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  b)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lv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c)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F963C0E-8307-4357-B0AC-6C59B10BB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86" y="3695777"/>
                <a:ext cx="23164800" cy="3314623"/>
              </a:xfrm>
              <a:prstGeom prst="rect">
                <a:avLst/>
              </a:prstGeom>
              <a:blipFill>
                <a:blip r:embed="rId3"/>
                <a:stretch>
                  <a:fillRect l="-1157" t="-6227" b="-769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498D75C-BCDB-4F89-A946-C38707BB4B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8153400"/>
                <a:ext cx="23164800" cy="5105400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𝟔</m:t>
                            </m:r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eqAr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{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eqArr>
                      </m:e>
                    </m:d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Xét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𝑰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ra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𝟏𝟏</m:t>
                        </m:r>
                      </m:e>
                    </m:rad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498D75C-BCDB-4F89-A946-C38707BB4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153400"/>
                <a:ext cx="23164800" cy="5105400"/>
              </a:xfrm>
              <a:prstGeom prst="rect">
                <a:avLst/>
              </a:prstGeom>
              <a:blipFill>
                <a:blip r:embed="rId4"/>
                <a:stretch>
                  <a:fillRect l="-1184" t="-715" b="-1430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6CA2A77A-40C9-4C44-B116-91DE275CEB13}"/>
              </a:ext>
            </a:extLst>
          </p:cNvPr>
          <p:cNvSpPr/>
          <p:nvPr/>
        </p:nvSpPr>
        <p:spPr>
          <a:xfrm>
            <a:off x="1905000" y="2590800"/>
            <a:ext cx="529046" cy="622058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16BDE2E2-BF03-46E5-B02F-0EC4741DE14C}"/>
              </a:ext>
            </a:extLst>
          </p:cNvPr>
          <p:cNvSpPr/>
          <p:nvPr/>
        </p:nvSpPr>
        <p:spPr>
          <a:xfrm>
            <a:off x="2209800" y="2590800"/>
            <a:ext cx="529046" cy="620161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721A9C-9680-4151-902E-E9B4C831C8CD}"/>
              </a:ext>
            </a:extLst>
          </p:cNvPr>
          <p:cNvSpPr txBox="1"/>
          <p:nvPr/>
        </p:nvSpPr>
        <p:spPr>
          <a:xfrm>
            <a:off x="680358" y="7093803"/>
            <a:ext cx="121974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800" b="1" i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endParaRPr lang="en-US" sz="4800" b="1" i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75849459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651000"/>
            <a:ext cx="231648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 marL="914400" indent="-914400">
              <a:buAutoNum type="arabicPeriod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TRÌNH ĐƯỜNG TRÒN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745E5E3-0F3D-4DD8-8EF9-85D6C62C5C25}"/>
              </a:ext>
            </a:extLst>
          </p:cNvPr>
          <p:cNvSpPr txBox="1">
            <a:spLocks/>
          </p:cNvSpPr>
          <p:nvPr/>
        </p:nvSpPr>
        <p:spPr>
          <a:xfrm>
            <a:off x="2819400" y="2336800"/>
            <a:ext cx="211074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Ví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3.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F963C0E-8307-4357-B0AC-6C59B10BB2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3202297"/>
                <a:ext cx="23164800" cy="912503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qua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𝟕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F963C0E-8307-4357-B0AC-6C59B10BB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3202297"/>
                <a:ext cx="23164800" cy="912503"/>
              </a:xfrm>
              <a:prstGeom prst="rect">
                <a:avLst/>
              </a:prstGeom>
              <a:blipFill>
                <a:blip r:embed="rId3"/>
                <a:stretch>
                  <a:fillRect l="-1157" t="-23026" b="-15789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498D75C-BCDB-4F89-A946-C38707BB4B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4800600"/>
                <a:ext cx="23502259" cy="8686800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đoạn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𝑨𝑪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ứng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𝟓</m:t>
                            </m:r>
                          </m:num>
                          <m:den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f>
                          <m:f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trực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𝜟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đoạn</a:t>
                </a: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qua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𝜟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cũng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nhận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Do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𝜟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hay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trực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𝜟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đoạn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𝑨𝑪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qua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𝟓</m:t>
                            </m:r>
                          </m:num>
                          <m:den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f>
                          <m:f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𝜟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cũng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nhận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VTPT.</a:t>
                </a: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498D75C-BCDB-4F89-A946-C38707BB4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800600"/>
                <a:ext cx="23502259" cy="8686800"/>
              </a:xfrm>
              <a:prstGeom prst="rect">
                <a:avLst/>
              </a:prstGeom>
              <a:blipFill>
                <a:blip r:embed="rId4"/>
                <a:stretch>
                  <a:fillRect l="-1141" t="-2453" r="-493" b="-455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6CA2A77A-40C9-4C44-B116-91DE275CEB13}"/>
              </a:ext>
            </a:extLst>
          </p:cNvPr>
          <p:cNvSpPr/>
          <p:nvPr/>
        </p:nvSpPr>
        <p:spPr>
          <a:xfrm>
            <a:off x="1905000" y="2413000"/>
            <a:ext cx="529046" cy="622058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16BDE2E2-BF03-46E5-B02F-0EC4741DE14C}"/>
              </a:ext>
            </a:extLst>
          </p:cNvPr>
          <p:cNvSpPr/>
          <p:nvPr/>
        </p:nvSpPr>
        <p:spPr>
          <a:xfrm>
            <a:off x="2209800" y="2413000"/>
            <a:ext cx="529046" cy="620161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721A9C-9680-4151-902E-E9B4C831C8CD}"/>
              </a:ext>
            </a:extLst>
          </p:cNvPr>
          <p:cNvSpPr txBox="1"/>
          <p:nvPr/>
        </p:nvSpPr>
        <p:spPr>
          <a:xfrm>
            <a:off x="881742" y="3969603"/>
            <a:ext cx="121974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800" b="1" i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endParaRPr lang="en-US" sz="4800" b="1" i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88FD4F-6360-484C-B1CE-100A87116F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28092" y="4797718"/>
            <a:ext cx="5474907" cy="4955882"/>
          </a:xfrm>
          <a:prstGeom prst="rect">
            <a:avLst/>
          </a:prstGeom>
        </p:spPr>
      </p:pic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80104661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3" grpId="0" animBg="1"/>
      <p:bldP spid="15" grpId="0" animBg="1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676400"/>
            <a:ext cx="231648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 marL="914400" indent="-914400">
              <a:buAutoNum type="arabicPeriod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TRÌNH ĐƯỜNG TRÒN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745E5E3-0F3D-4DD8-8EF9-85D6C62C5C25}"/>
              </a:ext>
            </a:extLst>
          </p:cNvPr>
          <p:cNvSpPr txBox="1">
            <a:spLocks/>
          </p:cNvSpPr>
          <p:nvPr/>
        </p:nvSpPr>
        <p:spPr>
          <a:xfrm>
            <a:off x="2819400" y="2438400"/>
            <a:ext cx="211074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Ví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3.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F963C0E-8307-4357-B0AC-6C59B10BB2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3450771"/>
                <a:ext cx="23164800" cy="968829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qua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𝟕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F963C0E-8307-4357-B0AC-6C59B10BB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3450771"/>
                <a:ext cx="23164800" cy="968829"/>
              </a:xfrm>
              <a:prstGeom prst="rect">
                <a:avLst/>
              </a:prstGeom>
              <a:blipFill>
                <a:blip r:embed="rId3"/>
                <a:stretch>
                  <a:fillRect l="-1157" t="-21739" b="-9317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498D75C-BCDB-4F89-A946-C38707BB4B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1742" y="6172200"/>
                <a:ext cx="23164800" cy="6858000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Do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𝜟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𝟓</m:t>
                            </m:r>
                          </m:num>
                          <m:den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hay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𝜟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𝜟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nghiệm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𝟗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Suy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𝑰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𝑰𝑨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498D75C-BCDB-4F89-A946-C38707BB4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742" y="6172200"/>
                <a:ext cx="23164800" cy="6858000"/>
              </a:xfrm>
              <a:prstGeom prst="rect">
                <a:avLst/>
              </a:prstGeom>
              <a:blipFill>
                <a:blip r:embed="rId4"/>
                <a:stretch>
                  <a:fillRect l="-1078" t="-799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6CA2A77A-40C9-4C44-B116-91DE275CEB13}"/>
              </a:ext>
            </a:extLst>
          </p:cNvPr>
          <p:cNvSpPr/>
          <p:nvPr/>
        </p:nvSpPr>
        <p:spPr>
          <a:xfrm>
            <a:off x="1905000" y="2514600"/>
            <a:ext cx="529046" cy="622058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16BDE2E2-BF03-46E5-B02F-0EC4741DE14C}"/>
              </a:ext>
            </a:extLst>
          </p:cNvPr>
          <p:cNvSpPr/>
          <p:nvPr/>
        </p:nvSpPr>
        <p:spPr>
          <a:xfrm>
            <a:off x="2209800" y="2514600"/>
            <a:ext cx="529046" cy="620161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721A9C-9680-4151-902E-E9B4C831C8CD}"/>
              </a:ext>
            </a:extLst>
          </p:cNvPr>
          <p:cNvSpPr txBox="1"/>
          <p:nvPr/>
        </p:nvSpPr>
        <p:spPr>
          <a:xfrm>
            <a:off x="790302" y="4648200"/>
            <a:ext cx="121974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800" b="1" i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endParaRPr lang="en-US" sz="4800" b="1" i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27560970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676400"/>
            <a:ext cx="231648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 marL="914400" indent="-914400">
              <a:buAutoNum type="arabicPeriod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TRÌNH ĐƯỜNG TRÒN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745E5E3-0F3D-4DD8-8EF9-85D6C62C5C25}"/>
              </a:ext>
            </a:extLst>
          </p:cNvPr>
          <p:cNvSpPr txBox="1">
            <a:spLocks/>
          </p:cNvSpPr>
          <p:nvPr/>
        </p:nvSpPr>
        <p:spPr>
          <a:xfrm>
            <a:off x="2819400" y="2590800"/>
            <a:ext cx="211074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Luyện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3.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F963C0E-8307-4357-B0AC-6C59B10BB2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9086" y="3695777"/>
                <a:ext cx="23164800" cy="1338729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kern="1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b="1" kern="1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kern="1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kern="1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kern="1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kern="1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kern="1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kern="1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kern="1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kern="1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𝑪</m:t>
                        </m:r>
                      </m:e>
                    </m:d>
                  </m:oMath>
                </a14:m>
                <a:r>
                  <a:rPr lang="en-US" b="1" kern="1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kern="1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</a:t>
                </a:r>
                <a:r>
                  <a:rPr lang="en-US" b="1" kern="1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qua </a:t>
                </a:r>
                <a:r>
                  <a:rPr lang="en-US" b="1" kern="1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ba</a:t>
                </a:r>
                <a:r>
                  <a:rPr lang="en-US" b="1" kern="1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kern="1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kern="1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kern="1200">
                        <a:effectLst/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𝑴</m:t>
                    </m:r>
                    <m:d>
                      <m:dPr>
                        <m:ctrlPr>
                          <a:rPr lang="en-US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𝟒</m:t>
                        </m:r>
                        <m:r>
                          <a:rPr lang="en-US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;−</m:t>
                        </m:r>
                        <m:r>
                          <a:rPr lang="en-US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𝟓</m:t>
                        </m:r>
                      </m:e>
                    </m:d>
                    <m:r>
                      <a:rPr lang="en-US" b="1" i="1" kern="1200">
                        <a:effectLst/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b="1" i="1" kern="1200">
                        <a:effectLst/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𝑵</m:t>
                    </m:r>
                    <m:d>
                      <m:dPr>
                        <m:ctrlPr>
                          <a:rPr lang="en-US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US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;−</m:t>
                        </m:r>
                        <m:r>
                          <a:rPr lang="en-US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𝟏</m:t>
                        </m:r>
                      </m:e>
                    </m:d>
                    <m:r>
                      <a:rPr lang="en-US" b="1" i="1" kern="1200">
                        <a:effectLst/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b="1" i="1" kern="1200">
                        <a:effectLst/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𝑷</m:t>
                    </m:r>
                    <m:d>
                      <m:dPr>
                        <m:ctrlPr>
                          <a:rPr lang="en-US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𝟑</m:t>
                        </m:r>
                        <m:r>
                          <a:rPr lang="en-US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;−</m:t>
                        </m:r>
                        <m:r>
                          <a:rPr lang="en-US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𝟖</m:t>
                        </m:r>
                      </m:e>
                    </m:d>
                    <m:r>
                      <a:rPr lang="en-US" b="1" i="1" kern="1200">
                        <a:effectLst/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F963C0E-8307-4357-B0AC-6C59B10BB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86" y="3695777"/>
                <a:ext cx="23164800" cy="1338729"/>
              </a:xfrm>
              <a:prstGeom prst="rect">
                <a:avLst/>
              </a:prstGeom>
              <a:blipFill>
                <a:blip r:embed="rId3"/>
                <a:stretch>
                  <a:fillRect l="-1157" t="-1576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498D75C-BCDB-4F89-A946-C38707BB4B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6569820"/>
                <a:ext cx="23164800" cy="6688980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𝒂𝒙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qua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𝟖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d>
                              <m:d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</m:d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d>
                              <m:d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d>
                              <m:d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e>
                            </m:d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{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𝟖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𝟏𝟎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𝟒𝟏</m:t>
                            </m:r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𝟓</m:t>
                            </m:r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𝟔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𝟏𝟔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𝟕𝟑</m:t>
                            </m:r>
                          </m:e>
                        </m:eqAr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{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𝟓</m:t>
                            </m:r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498D75C-BCDB-4F89-A946-C38707BB4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569820"/>
                <a:ext cx="23164800" cy="6688980"/>
              </a:xfrm>
              <a:prstGeom prst="rect">
                <a:avLst/>
              </a:prstGeom>
              <a:blipFill>
                <a:blip r:embed="rId4"/>
                <a:stretch>
                  <a:fillRect l="-1078" t="-3003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6CA2A77A-40C9-4C44-B116-91DE275CEB13}"/>
              </a:ext>
            </a:extLst>
          </p:cNvPr>
          <p:cNvSpPr/>
          <p:nvPr/>
        </p:nvSpPr>
        <p:spPr>
          <a:xfrm>
            <a:off x="1905000" y="2590800"/>
            <a:ext cx="529046" cy="622058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16BDE2E2-BF03-46E5-B02F-0EC4741DE14C}"/>
              </a:ext>
            </a:extLst>
          </p:cNvPr>
          <p:cNvSpPr/>
          <p:nvPr/>
        </p:nvSpPr>
        <p:spPr>
          <a:xfrm>
            <a:off x="2209800" y="2590800"/>
            <a:ext cx="529046" cy="620161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721A9C-9680-4151-902E-E9B4C831C8CD}"/>
              </a:ext>
            </a:extLst>
          </p:cNvPr>
          <p:cNvSpPr txBox="1"/>
          <p:nvPr/>
        </p:nvSpPr>
        <p:spPr>
          <a:xfrm>
            <a:off x="838200" y="5036403"/>
            <a:ext cx="121974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800" i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endParaRPr lang="en-US" sz="4800" i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24829031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3" grpId="0" animBg="1"/>
      <p:bldP spid="15" grpId="0" animBg="1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79601"/>
            <a:ext cx="231648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 marL="914400" indent="-914400">
              <a:buAutoNum type="arabicPeriod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TRÌNH ĐƯỜNG TRÒN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745E5E3-0F3D-4DD8-8EF9-85D6C62C5C25}"/>
              </a:ext>
            </a:extLst>
          </p:cNvPr>
          <p:cNvSpPr txBox="1">
            <a:spLocks/>
          </p:cNvSpPr>
          <p:nvPr/>
        </p:nvSpPr>
        <p:spPr>
          <a:xfrm>
            <a:off x="2819400" y="2826900"/>
            <a:ext cx="211074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Vận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F963C0E-8307-4357-B0AC-6C59B10BB2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3995301"/>
                <a:ext cx="12573001" cy="7587099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Bên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hồ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bơi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người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dự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thiết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kế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bể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sục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nửa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bể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sục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(H.7.15a)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người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bơi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thể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ngồi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tựa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lưng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thành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bể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sục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thư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giãn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bể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sục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tổng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chu vi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bể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𝟑𝟐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m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tổng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diện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tích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chiếm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hồ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bơi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nhỏ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nhất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toán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lấy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𝟏𝟒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mét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tới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chữ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thập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F963C0E-8307-4357-B0AC-6C59B10BB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3995301"/>
                <a:ext cx="12573001" cy="7587099"/>
              </a:xfrm>
              <a:prstGeom prst="rect">
                <a:avLst/>
              </a:prstGeom>
              <a:blipFill>
                <a:blip r:embed="rId3"/>
                <a:stretch>
                  <a:fillRect l="-2131" t="-2727" r="-213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6CA2A77A-40C9-4C44-B116-91DE275CEB13}"/>
              </a:ext>
            </a:extLst>
          </p:cNvPr>
          <p:cNvSpPr/>
          <p:nvPr/>
        </p:nvSpPr>
        <p:spPr>
          <a:xfrm>
            <a:off x="1905000" y="2826900"/>
            <a:ext cx="529046" cy="622058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16BDE2E2-BF03-46E5-B02F-0EC4741DE14C}"/>
              </a:ext>
            </a:extLst>
          </p:cNvPr>
          <p:cNvSpPr/>
          <p:nvPr/>
        </p:nvSpPr>
        <p:spPr>
          <a:xfrm>
            <a:off x="2209800" y="2826900"/>
            <a:ext cx="529046" cy="620161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F97950-94B1-4AB0-A811-5E0E0395E6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2439" y="3995300"/>
            <a:ext cx="8577263" cy="7953462"/>
          </a:xfrm>
          <a:prstGeom prst="rect">
            <a:avLst/>
          </a:prstGeom>
        </p:spPr>
      </p:pic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6434005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3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79601"/>
            <a:ext cx="231648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 marL="914400" indent="-914400">
              <a:buAutoNum type="arabicPeriod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TRÌNH ĐƯỜNG TRÒN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745E5E3-0F3D-4DD8-8EF9-85D6C62C5C25}"/>
              </a:ext>
            </a:extLst>
          </p:cNvPr>
          <p:cNvSpPr txBox="1">
            <a:spLocks/>
          </p:cNvSpPr>
          <p:nvPr/>
        </p:nvSpPr>
        <p:spPr>
          <a:xfrm>
            <a:off x="2819400" y="2826900"/>
            <a:ext cx="211074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Vận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F963C0E-8307-4357-B0AC-6C59B10BB2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3733800"/>
                <a:ext cx="15839705" cy="97536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lang="en-US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b="1" i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i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i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dẫn</a:t>
                </a:r>
                <a:endParaRPr lang="en-US" b="1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just"/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bể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bể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nửa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ứng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(m). Khi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tổng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chu vi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bể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𝟑𝟐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m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𝟓𝟕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𝟓𝟕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just"/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tổng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diện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tích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bể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sục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(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Khi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𝑺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𝟏𝟒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just"/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phẳng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𝑶𝒙𝒚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xét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𝑺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𝟏𝟒</m:t>
                        </m:r>
                      </m:den>
                    </m:f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num>
                          <m:den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𝟏𝟒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𝟓𝟕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𝟓𝟕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Khi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bài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toán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chuyển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thành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nhỏ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nhất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𝜟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ít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nhất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chung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tung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(H.7.15b).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F963C0E-8307-4357-B0AC-6C59B10BB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3733800"/>
                <a:ext cx="15839705" cy="9753600"/>
              </a:xfrm>
              <a:prstGeom prst="rect">
                <a:avLst/>
              </a:prstGeom>
              <a:blipFill>
                <a:blip r:embed="rId3"/>
                <a:stretch>
                  <a:fillRect l="-1538" t="-2122" r="-1692" b="-3620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6CA2A77A-40C9-4C44-B116-91DE275CEB13}"/>
              </a:ext>
            </a:extLst>
          </p:cNvPr>
          <p:cNvSpPr/>
          <p:nvPr/>
        </p:nvSpPr>
        <p:spPr>
          <a:xfrm>
            <a:off x="1905000" y="2826900"/>
            <a:ext cx="529046" cy="622058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16BDE2E2-BF03-46E5-B02F-0EC4741DE14C}"/>
              </a:ext>
            </a:extLst>
          </p:cNvPr>
          <p:cNvSpPr/>
          <p:nvPr/>
        </p:nvSpPr>
        <p:spPr>
          <a:xfrm>
            <a:off x="2209800" y="2826900"/>
            <a:ext cx="529046" cy="620161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F3DEFC-0741-441A-BF3C-CC1A3CB3A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0" y="5159669"/>
            <a:ext cx="7190389" cy="6422731"/>
          </a:xfrm>
          <a:prstGeom prst="rect">
            <a:avLst/>
          </a:prstGeom>
        </p:spPr>
      </p:pic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42359899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676400"/>
            <a:ext cx="231648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 marL="914400" indent="-914400">
              <a:buAutoNum type="arabicPeriod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TRÌNH ĐƯỜNG TRÒN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745E5E3-0F3D-4DD8-8EF9-85D6C62C5C25}"/>
              </a:ext>
            </a:extLst>
          </p:cNvPr>
          <p:cNvSpPr txBox="1">
            <a:spLocks/>
          </p:cNvSpPr>
          <p:nvPr/>
        </p:nvSpPr>
        <p:spPr>
          <a:xfrm>
            <a:off x="2819400" y="2514600"/>
            <a:ext cx="211074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Vận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F963C0E-8307-4357-B0AC-6C59B10BB2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3429000"/>
                <a:ext cx="16060883" cy="100584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b="1" i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i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i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dẫn</a:t>
                </a:r>
                <a:endParaRPr lang="en-US" b="1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Khi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𝒅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𝜟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𝟓𝟕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𝟓𝟕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𝟖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𝟓</m:t>
                            </m:r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𝟓</m:t>
                            </m:r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𝟔𝟔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nhỏ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nhất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𝟔𝟔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Lúc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𝑯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chiếu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lên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𝜟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tung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ứng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cần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𝑶𝑯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𝟓𝟕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𝟓𝟕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𝑶𝑯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𝜟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nghiệm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𝟓𝟕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𝟓𝟕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𝟖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𝟓𝟕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𝟓𝟕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eqAr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{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≈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𝟑𝟖</m:t>
                            </m:r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≈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𝟐𝟕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bể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xấp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xỉ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𝟑𝟖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bể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nửa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xấp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xỉ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𝟐𝟕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F963C0E-8307-4357-B0AC-6C59B10BB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3429000"/>
                <a:ext cx="16060883" cy="10058400"/>
              </a:xfrm>
              <a:prstGeom prst="rect">
                <a:avLst/>
              </a:prstGeom>
              <a:blipFill>
                <a:blip r:embed="rId3"/>
                <a:stretch>
                  <a:fillRect l="-1517" t="-2058" r="-1289" b="-369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6CA2A77A-40C9-4C44-B116-91DE275CEB13}"/>
              </a:ext>
            </a:extLst>
          </p:cNvPr>
          <p:cNvSpPr/>
          <p:nvPr/>
        </p:nvSpPr>
        <p:spPr>
          <a:xfrm>
            <a:off x="1905000" y="2514600"/>
            <a:ext cx="529046" cy="622058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16BDE2E2-BF03-46E5-B02F-0EC4741DE14C}"/>
              </a:ext>
            </a:extLst>
          </p:cNvPr>
          <p:cNvSpPr/>
          <p:nvPr/>
        </p:nvSpPr>
        <p:spPr>
          <a:xfrm>
            <a:off x="2209800" y="2514600"/>
            <a:ext cx="529046" cy="620161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3AA34C-C685-4D28-A965-5B0B9B219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0" y="5159669"/>
            <a:ext cx="7190389" cy="6422731"/>
          </a:xfrm>
          <a:prstGeom prst="rect">
            <a:avLst/>
          </a:prstGeom>
        </p:spPr>
      </p:pic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99802421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73001" y="2790868"/>
                <a:ext cx="11402291" cy="1062827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defTabSz="2177278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b="1" dirty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Lời </a:t>
                </a:r>
                <a:r>
                  <a:rPr lang="en-US" b="1" dirty="0" err="1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dirty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914400" lvl="0" indent="-914400" defTabSz="2177278">
                  <a:lnSpc>
                    <a:spcPct val="100000"/>
                  </a:lnSpc>
                  <a:spcBef>
                    <a:spcPts val="0"/>
                  </a:spcBef>
                  <a:buAutoNum type="alphaLcParenR"/>
                </a:pP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Do </a:t>
                </a:r>
                <a:endParaRPr lang="en-US" i="1" dirty="0">
                  <a:solidFill>
                    <a:prstClr val="black"/>
                  </a:solidFill>
                  <a:latin typeface="Cambria Math" panose="020405030504060302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marL="0" lvl="0" indent="0" defTabSz="2177278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(4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−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</m:t>
                      </m:r>
                      <m:sSup>
                        <m:sSup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+(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−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−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=9+16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=25</m:t>
                      </m:r>
                    </m:oMath>
                  </m:oMathPara>
                </a14:m>
                <a:endParaRPr lang="en-US" i="1" dirty="0">
                  <a:solidFill>
                    <a:prstClr val="black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 defTabSz="2177278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4;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 defTabSz="2177278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 defTabSz="2177278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Ta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1;2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=5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</a:t>
                </a:r>
                <a:r>
                  <a:rPr lang="en-US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𝛥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tiếp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4;−2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𝑀𝐼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−3;4</m:t>
                        </m:r>
                      </m:e>
                    </m:d>
                    <m:r>
                      <a:rPr lang="en-US" b="0" i="1" smtClean="0">
                        <a:latin typeface="Cambria Math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b="0" i="0" smtClean="0">
                        <a:latin typeface="Cambria Math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đường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𝛥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spcAft>
                    <a:spcPts val="0"/>
                  </a:spcAft>
                  <a:buNone/>
                  <a:tabLst>
                    <a:tab pos="2971800" algn="ctr"/>
                    <a:tab pos="5943600" algn="r"/>
                  </a:tabLst>
                </a:pPr>
                <a:r>
                  <a:rPr lang="nl-NL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          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𝟑</m:t>
                    </m:r>
                    <m:d>
                      <m:dPr>
                        <m:ctrlPr>
                          <a:rPr lang="en-US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nl-NL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𝒙</m:t>
                        </m:r>
                        <m:r>
                          <a:rPr lang="nl-NL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r>
                          <a:rPr lang="nl-NL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𝟒</m:t>
                        </m:r>
                      </m:e>
                    </m:d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𝟒</m:t>
                    </m:r>
                    <m:d>
                      <m:dPr>
                        <m:ctrlPr>
                          <a:rPr lang="en-US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nl-NL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𝒚</m:t>
                        </m:r>
                        <m:r>
                          <a:rPr lang="nl-NL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nl-NL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𝟐</m:t>
                        </m:r>
                      </m:e>
                    </m:d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𝟎</m:t>
                    </m:r>
                  </m:oMath>
                </a14:m>
                <a:endParaRPr lang="en-US" b="1" i="1" dirty="0">
                  <a:solidFill>
                    <a:srgbClr val="0000FF"/>
                  </a:solidFill>
                  <a:latin typeface="Cambria Math" panose="02040503050406030204" pitchFamily="18" charset="0"/>
                  <a:ea typeface="Calibri" panose="020F0502020204030204" pitchFamily="34" charset="0"/>
                </a:endParaRPr>
              </a:p>
              <a:p>
                <a:pPr marL="0" indent="0">
                  <a:spcAft>
                    <a:spcPts val="0"/>
                  </a:spcAft>
                  <a:buNone/>
                  <a:tabLst>
                    <a:tab pos="2971800" algn="ctr"/>
                    <a:tab pos="5943600" algn="r"/>
                  </a:tabLst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       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⇔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𝟑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𝒙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𝟒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𝒚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𝟐𝟎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nl-NL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 defTabSz="2177278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lvl="0" indent="0" defTabSz="2177278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lvl="0" indent="0" defTabSz="2177278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3001" y="2790868"/>
                <a:ext cx="11402291" cy="10628272"/>
              </a:xfrm>
              <a:prstGeom prst="rect">
                <a:avLst/>
              </a:prstGeom>
              <a:blipFill rotWithShape="1">
                <a:blip r:embed="rId3"/>
                <a:stretch>
                  <a:fillRect l="-2404" t="-1261" r="-128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600" y="2743200"/>
                <a:ext cx="12102737" cy="1067594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HĐ2. 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+(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=25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4;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r>
                  <a:rPr lang="en-US" dirty="0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/>
                </a:r>
                <a:b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Chứng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minh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4;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b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Xác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b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tiếp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pháp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(H.7.16).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743200"/>
                <a:ext cx="12102737" cy="10675940"/>
              </a:xfrm>
              <a:prstGeom prst="rect">
                <a:avLst/>
              </a:prstGeom>
              <a:blipFill rotWithShape="1">
                <a:blip r:embed="rId4"/>
                <a:stretch>
                  <a:fillRect l="-2265" t="-1940" r="-166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200526" y="1879601"/>
            <a:ext cx="23774766" cy="8635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38562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PHƯƠNG TRÌNH TIẾP TUYẾN CỦA ĐƯỜNG TRÒN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102252" y="8839200"/>
            <a:ext cx="4419600" cy="4700506"/>
            <a:chOff x="4102252" y="8839200"/>
            <a:chExt cx="4419600" cy="4700506"/>
          </a:xfrm>
        </p:grpSpPr>
        <p:pic>
          <p:nvPicPr>
            <p:cNvPr id="9" name="Picture 8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02252" y="8839200"/>
              <a:ext cx="4419600" cy="411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Rectangle 9"/>
            <p:cNvSpPr/>
            <p:nvPr/>
          </p:nvSpPr>
          <p:spPr>
            <a:xfrm>
              <a:off x="4495800" y="12770265"/>
              <a:ext cx="2321469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4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Calibri" panose="020F0502020204030204" pitchFamily="34" charset="0"/>
                </a:rPr>
                <a:t> </a:t>
              </a:r>
              <a:r>
                <a:rPr lang="en-US" sz="3200" b="1" dirty="0" err="1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Hình</a:t>
              </a:r>
              <a:r>
                <a:rPr lang="en-US" sz="3200" b="1" dirty="0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7.16</a:t>
              </a:r>
              <a:endPara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77" name="Rounded Rectangle 76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5411517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1981200"/>
                <a:ext cx="23137090" cy="42672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sz="53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3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ctrlP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53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53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53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53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53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53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3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3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3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  <m:r>
                      <a:rPr lang="en-US" sz="53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:(</m:t>
                    </m:r>
                    <m:r>
                      <a:rPr lang="en-US" sz="53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53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53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sSup>
                      <m:sSupPr>
                        <m:ctrlP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53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+(</m:t>
                    </m:r>
                    <m:r>
                      <a:rPr lang="en-US" sz="53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53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53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sSup>
                      <m:sSupPr>
                        <m:ctrlP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53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(</a:t>
                </a:r>
                <a:r>
                  <a:rPr lang="en-US" sz="53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3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  <m:d>
                      <m:dPr>
                        <m:ctrlP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53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3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3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). </a:t>
                </a:r>
                <a:r>
                  <a:rPr lang="en-US" sz="53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3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53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tiếp</a:t>
                </a:r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3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3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𝛥</m:t>
                    </m:r>
                  </m:oMath>
                </a14:m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3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3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3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ctrlP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53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53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53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53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53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53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3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3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3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pháp</a:t>
                </a:r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3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300" i="1" dirty="0">
                    <a:latin typeface="Cambria Math" panose="020405030504060302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53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𝑀𝐼</m:t>
                        </m:r>
                      </m:e>
                    </m:acc>
                    <m:r>
                      <a:rPr lang="en-US" sz="53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53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53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53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53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53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53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53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3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3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3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53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   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53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53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𝒂</m:t>
                        </m:r>
                        <m:r>
                          <a:rPr lang="en-US" sz="53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53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53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53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sz="53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53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US" sz="53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53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53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53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sz="53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lang="en-US" sz="53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53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𝒃</m:t>
                        </m:r>
                        <m:r>
                          <a:rPr lang="en-US" sz="53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53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53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53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sz="53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53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𝒚</m:t>
                        </m:r>
                        <m:r>
                          <a:rPr lang="en-US" sz="53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53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53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53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sz="53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53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US" sz="53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5300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981200"/>
                <a:ext cx="23137090" cy="4267200"/>
              </a:xfrm>
              <a:prstGeom prst="rect">
                <a:avLst/>
              </a:prstGeom>
              <a:blipFill rotWithShape="1">
                <a:blip r:embed="rId3"/>
                <a:stretch>
                  <a:fillRect l="-1317" t="-5556" r="-60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08467280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b="1" dirty="0" err="1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Ví</a:t>
                </a:r>
                <a:r>
                  <a:rPr lang="en-US" b="1" dirty="0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dụ</a:t>
                </a:r>
                <a:r>
                  <a:rPr lang="en-US" b="1" dirty="0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4.</a:t>
                </a:r>
                <a:endParaRPr lang="en-US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lvl="0" indent="0" defTabSz="2177278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endParaRPr lang="en-US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lvl="0" indent="0" algn="ctr" defTabSz="2177278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+1</m:t>
                    </m:r>
                    <m:sSup>
                      <m:sSup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+(</m:t>
                    </m:r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−3</m:t>
                    </m:r>
                    <m:sSup>
                      <m:sSup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=5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lvl="0" indent="0" defTabSz="2177278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0;1</m:t>
                        </m:r>
                      </m:e>
                    </m:d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hay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Nếu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tiếp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blipFill rotWithShape="1">
                <a:blip r:embed="rId3"/>
                <a:stretch>
                  <a:fillRect l="-2463" t="-133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b="1" dirty="0" err="1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Lời</a:t>
                </a:r>
                <a:r>
                  <a:rPr lang="en-US" b="1" dirty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dirty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/>
                </a:r>
                <a:b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(0+1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+(1−3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=5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b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−1;3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Tiếp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0;1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𝑀𝐼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−1;2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−</m:t>
                      </m:r>
                      <m:r>
                        <a:rPr lang="nl-NL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𝟏</m:t>
                      </m:r>
                      <m:d>
                        <m:dPr>
                          <m:ctrlP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nl-NL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𝒙</m:t>
                          </m:r>
                          <m:r>
                            <a:rPr lang="nl-NL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</m:t>
                          </m:r>
                          <m:r>
                            <a:rPr lang="nl-NL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𝟎</m:t>
                          </m:r>
                        </m:e>
                      </m:d>
                      <m:r>
                        <a:rPr lang="nl-NL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r>
                        <a:rPr lang="nl-NL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𝟐</m:t>
                      </m:r>
                      <m:d>
                        <m:dPr>
                          <m:ctrlP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nl-NL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𝒚</m:t>
                          </m:r>
                          <m:r>
                            <a:rPr lang="nl-NL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</m:t>
                          </m:r>
                          <m:r>
                            <a:rPr lang="nl-NL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𝟏</m:t>
                          </m:r>
                        </m:e>
                      </m:d>
                      <m:r>
                        <a:rPr lang="nl-NL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nl-NL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𝟎</m:t>
                      </m:r>
                    </m:oMath>
                  </m:oMathPara>
                </a14:m>
                <a:endParaRPr lang="en-US" b="1" i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spcAft>
                    <a:spcPts val="0"/>
                  </a:spcAft>
                  <a:buNone/>
                  <a:tabLst>
                    <a:tab pos="2971800" algn="ctr"/>
                    <a:tab pos="5943600" algn="r"/>
                  </a:tabLst>
                </a:pPr>
                <a:r>
                  <a:rPr lang="nl-NL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</a:t>
                </a:r>
                <a14:m>
                  <m:oMath xmlns:m="http://schemas.openxmlformats.org/officeDocument/2006/math"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⇔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𝒙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𝟐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𝒚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𝟐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nl-NL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sz="3600" b="1" dirty="0">
                  <a:solidFill>
                    <a:srgbClr val="0000F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 l="-2260" t="-133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36984401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b="1" dirty="0" err="1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Luyện</a:t>
                </a:r>
                <a:r>
                  <a:rPr lang="en-US" b="1" dirty="0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b="1" dirty="0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4. 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−2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+4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+1=0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tiếp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𝛥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(C)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1;0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blipFill>
                <a:blip r:embed="rId3"/>
                <a:stretch>
                  <a:fillRect l="-2463" t="-133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b="1" dirty="0" err="1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Lời</a:t>
                </a:r>
                <a:r>
                  <a:rPr lang="en-US" b="1" dirty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dirty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/>
                </a:r>
                <a:b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−2</m:t>
                    </m:r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+4</m:t>
                    </m:r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+1=0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⇔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=4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1;−2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1−1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0+2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=4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(C).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Tiếp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1;0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𝑁𝐼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0;−2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spcAft>
                    <a:spcPts val="0"/>
                  </a:spcAft>
                  <a:buNone/>
                  <a:tabLst>
                    <a:tab pos="2971800" algn="ctr"/>
                    <a:tab pos="5943600" algn="r"/>
                  </a:tabLst>
                </a:pPr>
                <a:r>
                  <a:rPr lang="nl-NL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nl-NL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𝟎</m:t>
                    </m:r>
                    <m:r>
                      <a:rPr lang="nl-NL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.</m:t>
                    </m:r>
                    <m:d>
                      <m:dPr>
                        <m:ctrlP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nl-NL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𝒙</m:t>
                        </m:r>
                        <m:r>
                          <a:rPr lang="nl-NL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r>
                          <a:rPr lang="nl-NL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𝟏</m:t>
                        </m:r>
                      </m:e>
                    </m:d>
                    <m:r>
                      <a:rPr lang="nl-NL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r>
                      <a:rPr lang="nl-NL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𝟐</m:t>
                    </m:r>
                    <m:r>
                      <a:rPr lang="nl-NL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.</m:t>
                    </m:r>
                    <m:d>
                      <m:dPr>
                        <m:ctrlP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nl-NL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𝒚</m:t>
                        </m:r>
                        <m:r>
                          <a:rPr lang="nl-NL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r>
                          <a:rPr lang="nl-NL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𝟎</m:t>
                        </m:r>
                      </m:e>
                    </m:d>
                    <m:r>
                      <a:rPr lang="nl-NL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nl-NL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𝟎</m:t>
                    </m:r>
                    <m:r>
                      <a:rPr lang="nl-NL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⇔</m:t>
                    </m:r>
                    <m:r>
                      <a:rPr lang="nl-NL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𝒚</m:t>
                    </m:r>
                    <m:r>
                      <a:rPr lang="nl-NL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nl-NL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nl-NL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 l="-2260" t="-133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7140290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defTabSz="2177278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US" b="1" dirty="0" err="1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Vận</a:t>
                </a:r>
                <a:r>
                  <a:rPr lang="en-US" b="1" dirty="0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dụng</a:t>
                </a:r>
                <a:r>
                  <a:rPr lang="en-US" b="1" dirty="0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2.</a:t>
                </a:r>
                <a:endParaRPr lang="en-US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lvl="0" indent="0" defTabSz="2177278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phẳng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𝑂𝑥𝑦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vật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chuyển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động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nhanh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=25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tới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trí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3;4</m:t>
                        </m:r>
                      </m:e>
                    </m:d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vật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bị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văng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khỏi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quỹ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đạo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ngay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khoảng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thời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gian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ngắn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bay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tiếp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Hỏi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khoảng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thời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gian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ngắn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ngay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văng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vật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chuyển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động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nào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blipFill>
                <a:blip r:embed="rId3"/>
                <a:stretch>
                  <a:fillRect l="-2463" t="-1174" r="-191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b="1" dirty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Lời </a:t>
                </a:r>
                <a:r>
                  <a:rPr lang="en-US" b="1" dirty="0" err="1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dirty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/>
                </a:r>
                <a:b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=25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O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0;0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khoảng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thời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gian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ngắn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ngay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văng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vật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chuyển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động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tiếp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3;4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Tiếp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3;4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𝑀𝐼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−3;−4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spcAft>
                    <a:spcPts val="0"/>
                  </a:spcAft>
                  <a:buNone/>
                  <a:tabLst>
                    <a:tab pos="2971800" algn="ctr"/>
                    <a:tab pos="5943600" algn="r"/>
                  </a:tabLst>
                </a:pPr>
                <a:r>
                  <a:rPr lang="nl-NL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               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𝟑</m:t>
                    </m:r>
                    <m:d>
                      <m:dPr>
                        <m:ctrlPr>
                          <a:rPr lang="en-US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nl-NL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𝒙</m:t>
                        </m:r>
                        <m:r>
                          <a:rPr lang="nl-NL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r>
                          <a:rPr lang="nl-NL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𝟑</m:t>
                        </m:r>
                      </m:e>
                    </m:d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𝟒</m:t>
                    </m:r>
                    <m:d>
                      <m:dPr>
                        <m:ctrlPr>
                          <a:rPr lang="en-US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nl-NL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𝒚</m:t>
                        </m:r>
                        <m:r>
                          <a:rPr lang="nl-NL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r>
                          <a:rPr lang="nl-NL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𝟒</m:t>
                        </m:r>
                      </m:e>
                    </m:d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𝟎</m:t>
                    </m:r>
                  </m:oMath>
                </a14:m>
                <a:endParaRPr lang="en-US" b="1" i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spcAft>
                    <a:spcPts val="0"/>
                  </a:spcAft>
                  <a:buNone/>
                  <a:tabLst>
                    <a:tab pos="2971800" algn="ctr"/>
                    <a:tab pos="5943600" algn="r"/>
                  </a:tabLst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                     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⇔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𝟑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𝒙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𝟒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𝒚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𝟐𝟓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nl-NL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nl-NL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sz="36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 rotWithShape="1">
                <a:blip r:embed="rId4"/>
                <a:stretch>
                  <a:fillRect l="-2260" t="-1334" r="-143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78922942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73001" y="2790868"/>
                <a:ext cx="11402291" cy="1062827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defTabSz="2177278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b="1" dirty="0" err="1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Lời</a:t>
                </a:r>
                <a:r>
                  <a:rPr lang="en-US" b="1" dirty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dirty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/>
                </a:r>
                <a:b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+3</m:t>
                    </m:r>
                    <m:sSup>
                      <m:sSup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+(</m:t>
                    </m:r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−3</m:t>
                    </m:r>
                    <m:sSup>
                      <m:sSup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=36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−3;3</m:t>
                        </m:r>
                      </m:e>
                    </m:d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=6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3001" y="2790868"/>
                <a:ext cx="11402291" cy="10628272"/>
              </a:xfrm>
              <a:prstGeom prst="rect">
                <a:avLst/>
              </a:prstGeom>
              <a:blipFill>
                <a:blip r:embed="rId3"/>
                <a:stretch>
                  <a:fillRect l="-2404" t="-1433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600" y="2743200"/>
                <a:ext cx="12102737" cy="1060704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b="1" dirty="0" err="1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Bài</a:t>
                </a:r>
                <a:r>
                  <a:rPr lang="en-US" b="1" dirty="0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7.13.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 algn="ctr">
                  <a:spcAft>
                    <a:spcPts val="0"/>
                  </a:spcAft>
                  <a:buNone/>
                  <a:tabLst>
                    <a:tab pos="2971800" algn="ctr"/>
                    <a:tab pos="5943600" algn="r"/>
                  </a:tabLst>
                </a:pPr>
                <a14:m>
                  <m:oMath xmlns:m="http://schemas.openxmlformats.org/officeDocument/2006/math">
                    <m:r>
                      <a:rPr lang="nl-NL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nl-NL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𝒙</m:t>
                    </m:r>
                    <m:r>
                      <a:rPr lang="nl-NL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r>
                      <a:rPr lang="nl-NL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𝟑</m:t>
                    </m:r>
                    <m:sSup>
                      <m:sSupPr>
                        <m:ctrlP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nl-NL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e>
                      <m:sup>
                        <m:r>
                          <a:rPr lang="nl-NL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𝟐</m:t>
                        </m:r>
                      </m:sup>
                    </m:sSup>
                    <m:r>
                      <a:rPr lang="nl-NL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+(</m:t>
                    </m:r>
                    <m:r>
                      <a:rPr lang="nl-NL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𝒚</m:t>
                    </m:r>
                    <m:r>
                      <a:rPr lang="nl-NL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r>
                      <a:rPr lang="nl-NL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𝟑</m:t>
                    </m:r>
                    <m:sSup>
                      <m:sSupPr>
                        <m:ctrlP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nl-NL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e>
                      <m:sup>
                        <m:r>
                          <a:rPr lang="nl-NL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𝟐</m:t>
                        </m:r>
                      </m:sup>
                    </m:sSup>
                    <m:r>
                      <a:rPr lang="nl-NL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nl-NL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𝟑𝟔</m:t>
                    </m:r>
                  </m:oMath>
                </a14:m>
                <a:r>
                  <a:rPr lang="nl-NL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743200"/>
                <a:ext cx="12102737" cy="10607040"/>
              </a:xfrm>
              <a:prstGeom prst="rect">
                <a:avLst/>
              </a:prstGeom>
              <a:blipFill rotWithShape="1">
                <a:blip r:embed="rId4"/>
                <a:stretch>
                  <a:fillRect l="-2265" t="-143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353332" y="1903435"/>
            <a:ext cx="23621960" cy="8635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38562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BÀI TẬP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33537245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887203" y="2790868"/>
                <a:ext cx="12088090" cy="1062827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b="1" dirty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Lời </a:t>
                </a:r>
                <a:r>
                  <a:rPr lang="en-US" b="1" dirty="0" err="1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dirty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𝑥𝑦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+4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−2=0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phải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𝑥𝑦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−2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−4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+5=0</m:t>
                    </m:r>
                  </m:oMath>
                </a14:m>
                <a:endParaRPr lang="en-US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⇔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−2</m:t>
                            </m:r>
                          </m:e>
                        </m:d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phải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173355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+6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−8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+1=0</m:t>
                    </m:r>
                  </m:oMath>
                </a14:m>
                <a:endParaRPr lang="en-US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73355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⇔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+3</m:t>
                            </m:r>
                          </m:e>
                        </m:d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−4</m:t>
                            </m:r>
                          </m:e>
                        </m:d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6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</a:t>
                </a:r>
                <a:r>
                  <a:rPr lang="vi-VN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ư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ơng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−3;4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3" y="2790868"/>
                <a:ext cx="12088090" cy="10628272"/>
              </a:xfrm>
              <a:prstGeom prst="rect">
                <a:avLst/>
              </a:prstGeom>
              <a:blipFill>
                <a:blip r:embed="rId3"/>
                <a:stretch>
                  <a:fillRect l="-2217" t="-1433" r="-60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601" y="2743200"/>
                <a:ext cx="11430000" cy="1060704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b="1" dirty="0" err="1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Bài</a:t>
                </a:r>
                <a:r>
                  <a:rPr lang="en-US" b="1" dirty="0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7.14.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biết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nào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dưới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đây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ứng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b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𝑥𝑦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+4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−2=0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  <a:b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−2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−4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+5=0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  <a:b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+6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−8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+1=0</m:t>
                    </m:r>
                  </m:oMath>
                </a14:m>
                <a:r>
                  <a:rPr lang="en-US" sz="4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1" y="2743200"/>
                <a:ext cx="11430000" cy="10607040"/>
              </a:xfrm>
              <a:prstGeom prst="rect">
                <a:avLst/>
              </a:prstGeom>
              <a:blipFill>
                <a:blip r:embed="rId4"/>
                <a:stretch>
                  <a:fillRect l="-2397" t="-143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353331" y="1903435"/>
            <a:ext cx="23621961" cy="8635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38562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BÀI TẬP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57302770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73001" y="2790868"/>
                <a:ext cx="11402291" cy="1062827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b="1" dirty="0" err="1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Lời</a:t>
                </a:r>
                <a:r>
                  <a:rPr lang="en-US" b="1" dirty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dirty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/>
                </a:r>
                <a:b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−5</m:t>
                            </m:r>
                          </m:e>
                        </m:d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=49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3001" y="2790868"/>
                <a:ext cx="11402291" cy="10628272"/>
              </a:xfrm>
              <a:prstGeom prst="rect">
                <a:avLst/>
              </a:prstGeom>
              <a:blipFill>
                <a:blip r:embed="rId3"/>
                <a:stretch>
                  <a:fillRect l="-2404" t="-1433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600" y="2743200"/>
                <a:ext cx="12102737" cy="1060704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defTabSz="2177278">
                  <a:lnSpc>
                    <a:spcPct val="107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US" b="1" dirty="0" err="1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Bài</a:t>
                </a:r>
                <a:r>
                  <a:rPr lang="en-US" b="1" dirty="0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7.15.</a:t>
                </a:r>
                <a:endParaRPr lang="en-US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173355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mỗi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  <a:b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−2;5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=7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  <a:b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1;−2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qua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−2;2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  <a:b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𝐴𝐵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−1;−3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−3;5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  <a:b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d)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1;3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tiếp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xúc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+2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+3=0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743200"/>
                <a:ext cx="12102737" cy="10607040"/>
              </a:xfrm>
              <a:prstGeom prst="rect">
                <a:avLst/>
              </a:prstGeom>
              <a:blipFill>
                <a:blip r:embed="rId4"/>
                <a:stretch>
                  <a:fillRect l="-2265" t="-143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353332" y="1903435"/>
            <a:ext cx="23621960" cy="8635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38562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BÀI TẬP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57225064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02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73001" y="2790868"/>
                <a:ext cx="11402291" cy="1062827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Lời </a:t>
                </a:r>
                <a:r>
                  <a:rPr lang="en-US" b="1" dirty="0" err="1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b="1" dirty="0">
                  <a:solidFill>
                    <a:srgbClr val="3333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3333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3333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3333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b) Ta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𝐴𝐼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3;−4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bán</a:t>
                </a:r>
                <a:r>
                  <a:rPr lang="en-US" dirty="0"/>
                  <a:t> </a:t>
                </a:r>
                <a:r>
                  <a:rPr lang="en-US" dirty="0" err="1"/>
                  <a:t>kính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đường</a:t>
                </a:r>
                <a:r>
                  <a:rPr lang="en-US" dirty="0"/>
                  <a:t> </a:t>
                </a:r>
                <a:r>
                  <a:rPr lang="en-US" dirty="0" err="1"/>
                  <a:t>tròn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𝐴𝐼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đường</a:t>
                </a:r>
                <a:r>
                  <a:rPr lang="en-US" dirty="0"/>
                  <a:t> </a:t>
                </a:r>
                <a:r>
                  <a:rPr lang="en-US" dirty="0" err="1"/>
                  <a:t>tròn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          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3001" y="2790868"/>
                <a:ext cx="11402291" cy="10628272"/>
              </a:xfrm>
              <a:prstGeom prst="rect">
                <a:avLst/>
              </a:prstGeom>
              <a:blipFill rotWithShape="1">
                <a:blip r:embed="rId3"/>
                <a:stretch>
                  <a:fillRect l="-2404" t="-1948" r="-2030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600" y="2743200"/>
                <a:ext cx="12102737" cy="1060704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defTabSz="2177278">
                  <a:lnSpc>
                    <a:spcPct val="107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US" b="1" dirty="0" err="1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Bài</a:t>
                </a:r>
                <a:r>
                  <a:rPr lang="en-US" b="1" dirty="0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7.15.</a:t>
                </a:r>
                <a:endParaRPr lang="en-US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173355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mỗi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  <a:b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−2;5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=7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  <a:b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1;−2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qua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−2;2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  <a:b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𝐴𝐵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−1;−3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−3;5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  <a:b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d)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1;3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tiếp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xúc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+2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+3=0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743200"/>
                <a:ext cx="12102737" cy="10607040"/>
              </a:xfrm>
              <a:prstGeom prst="rect">
                <a:avLst/>
              </a:prstGeom>
              <a:blipFill>
                <a:blip r:embed="rId4"/>
                <a:stretch>
                  <a:fillRect l="-2265" t="-143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353332" y="1903435"/>
            <a:ext cx="23621960" cy="8635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38562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BÀI TẬP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35400" y="3429000"/>
            <a:ext cx="3861954" cy="3552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ounded Rectangle 1027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Rectangle 102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TextBox 1030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4137268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31337" y="2790868"/>
                <a:ext cx="11643955" cy="1062827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sz="4400" b="1" dirty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Lời </a:t>
                </a:r>
                <a:r>
                  <a:rPr lang="en-US" sz="4400" b="1" dirty="0" err="1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sz="4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𝐴𝐵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𝑅</m:t>
                    </m:r>
                    <m:r>
                      <a:rPr lang="en-US" b="0" i="1" smtClean="0">
                        <a:effectLst/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r>
                      <a:rPr lang="en-US" b="0" i="1" smtClean="0">
                        <a:effectLst/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𝐴𝐼</m:t>
                    </m:r>
                    <m:r>
                      <a:rPr lang="en-US" b="0" i="1" smtClean="0">
                        <a:effectLst/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.</m:t>
                    </m:r>
                  </m:oMath>
                </a14:m>
                <a:endParaRPr lang="en-US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T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−2;1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 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𝐴𝐼</m:t>
                        </m:r>
                      </m:e>
                    </m:acc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−1;4</m:t>
                        </m:r>
                      </m:e>
                    </m:d>
                    <m:r>
                      <a:rPr lang="en-US" b="0" i="0" smtClean="0">
                        <a:effectLst/>
                        <a:latin typeface="Cambria Math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en-US" b="0" i="0" dirty="0">
                  <a:effectLst/>
                  <a:latin typeface="Cambria Math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b="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b="0" i="0" smtClean="0">
                        <a:effectLst/>
                        <a:latin typeface="Cambria Math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b="0" i="1" smtClean="0">
                        <a:effectLst/>
                        <a:latin typeface="Cambria Math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0" i="1" smtClean="0">
                        <a:effectLst/>
                        <a:latin typeface="Cambria Math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𝐴𝐼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17</m:t>
                        </m:r>
                      </m:e>
                    </m:ra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endParaRPr lang="en-US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 algn="ctr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=17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1337" y="2790868"/>
                <a:ext cx="11643955" cy="10628272"/>
              </a:xfrm>
              <a:prstGeom prst="rect">
                <a:avLst/>
              </a:prstGeom>
              <a:blipFill rotWithShape="1">
                <a:blip r:embed="rId3"/>
                <a:stretch>
                  <a:fillRect l="-2354" t="-1261" r="-5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600" y="2743200"/>
                <a:ext cx="12102737" cy="1060704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defTabSz="2177278">
                  <a:lnSpc>
                    <a:spcPct val="107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US" b="1" dirty="0" err="1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Bài</a:t>
                </a:r>
                <a:r>
                  <a:rPr lang="en-US" b="1" dirty="0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7.15.</a:t>
                </a:r>
                <a:endParaRPr lang="en-US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173355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mỗi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  <a:b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−2;5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=7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  <a:b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1;−2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qua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−2;2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  <a:b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𝐴𝐵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−1;−3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−3;5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  <a:b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d)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1;3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tiếp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xúc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+2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+3=0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743200"/>
                <a:ext cx="12102737" cy="10607040"/>
              </a:xfrm>
              <a:prstGeom prst="rect">
                <a:avLst/>
              </a:prstGeom>
              <a:blipFill>
                <a:blip r:embed="rId4"/>
                <a:stretch>
                  <a:fillRect l="-2265" t="-143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353332" y="1903435"/>
            <a:ext cx="23621960" cy="8635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38562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BÀI TẬP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3600" y="3124200"/>
            <a:ext cx="3886200" cy="3108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Rounded Rectangle 2051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3" name="Rectangle 2052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4" name="Rectangle 2053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5" name="TextBox 2054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2056" name="TextBox 2055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23770242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074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31337" y="2790868"/>
                <a:ext cx="11643955" cy="1062827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3355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sz="4400" b="1" dirty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Lời </a:t>
                </a:r>
                <a:r>
                  <a:rPr lang="en-US" sz="4400" b="1" dirty="0" err="1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sz="4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73355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173355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173355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173355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d)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Khoảng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đến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+2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+3=0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𝑅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173355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|1+2.3+3|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173355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</a:t>
                </a:r>
                <a:r>
                  <a:rPr lang="vi-VN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ư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ơng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là</a:t>
                </a:r>
              </a:p>
              <a:p>
                <a:pPr marL="173355" indent="0" algn="ctr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−3</m:t>
                            </m:r>
                          </m:e>
                        </m:d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=20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1337" y="2790868"/>
                <a:ext cx="11643955" cy="10628272"/>
              </a:xfrm>
              <a:prstGeom prst="rect">
                <a:avLst/>
              </a:prstGeom>
              <a:blipFill rotWithShape="1">
                <a:blip r:embed="rId3"/>
                <a:stretch>
                  <a:fillRect l="-889" t="-126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600" y="2743200"/>
                <a:ext cx="12102737" cy="1060704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defTabSz="2177278">
                  <a:lnSpc>
                    <a:spcPct val="107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US" b="1" dirty="0" err="1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Bài</a:t>
                </a:r>
                <a:r>
                  <a:rPr lang="en-US" b="1" dirty="0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7.15.</a:t>
                </a:r>
                <a:endParaRPr lang="en-US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173355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mỗi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  <a:b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−2;5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=7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  <a:b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1;−2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qua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−2;2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  <a:b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𝐴𝐵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−1;−3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−3;5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  <a:b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d)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1;3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tiếp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xúc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+2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+3=0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743200"/>
                <a:ext cx="12102737" cy="10607040"/>
              </a:xfrm>
              <a:prstGeom prst="rect">
                <a:avLst/>
              </a:prstGeom>
              <a:blipFill>
                <a:blip r:embed="rId4"/>
                <a:stretch>
                  <a:fillRect l="-2265" t="-143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353332" y="1903435"/>
            <a:ext cx="23621960" cy="8635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38562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BÀI TẬP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5988" y="2733675"/>
            <a:ext cx="3878011" cy="3928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Rounded Rectangle 3075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7" name="Rectangle 3076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8" name="Rectangle 3077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9" name="TextBox 3078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3080" name="TextBox 3079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64912134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53401" y="1930399"/>
                <a:ext cx="15809859" cy="11785601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4400" b="1" dirty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Lời </a:t>
                </a:r>
                <a:r>
                  <a:rPr lang="en-US" sz="4400" b="1" dirty="0" err="1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sz="4400" b="1" dirty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: </a:t>
                </a:r>
                <a:r>
                  <a:rPr lang="en-US" sz="440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4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400" i="1">
                            <a:latin typeface="Cambria Math" panose="02040503050406030204" pitchFamily="18" charset="0"/>
                            <a:ea typeface="Cascadia Mono"/>
                          </a:rPr>
                        </m:ctrlPr>
                      </m:dPr>
                      <m:e>
                        <m:r>
                          <a:rPr lang="en-US" sz="4400" i="1">
                            <a:latin typeface="Cambria Math" panose="02040503050406030204" pitchFamily="18" charset="0"/>
                            <a:ea typeface="Cascadia Mono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44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ngoại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tiếp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tam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𝐴𝐵𝐶</m:t>
                    </m:r>
                    <m:r>
                      <a:rPr lang="en-US" sz="4400" b="0" i="1" smtClean="0"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.</m:t>
                    </m:r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(</m:t>
                    </m:r>
                    <m:r>
                      <a:rPr lang="en-US" sz="4400" b="0" i="1" smtClean="0"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𝐶</m:t>
                    </m:r>
                    <m:r>
                      <a:rPr lang="en-US" sz="4400" b="0" i="1" smtClean="0"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)</m:t>
                    </m:r>
                  </m:oMath>
                </a14:m>
                <a:r>
                  <a:rPr lang="en-US" sz="44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dạng</a:t>
                </a:r>
                <a:endParaRPr lang="en-US" sz="4400" dirty="0">
                  <a:solidFill>
                    <a:srgbClr val="0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 algn="ctr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44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4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4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US" sz="44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sSup>
                      <m:sSupPr>
                        <m:ctrlPr>
                          <a:rPr lang="en-US" sz="4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4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𝑦</m:t>
                        </m:r>
                      </m:e>
                      <m:sup>
                        <m:r>
                          <a:rPr lang="en-US" sz="4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US" sz="44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−2</m:t>
                    </m:r>
                    <m:r>
                      <a:rPr lang="en-US" sz="44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𝑎𝑥</m:t>
                    </m:r>
                    <m:r>
                      <a:rPr lang="en-US" sz="44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−2</m:t>
                    </m:r>
                    <m:r>
                      <a:rPr lang="en-US" sz="44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𝑏𝑦</m:t>
                    </m:r>
                    <m:r>
                      <a:rPr lang="en-US" sz="44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r>
                      <a:rPr lang="en-US" sz="44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𝑐</m:t>
                    </m:r>
                    <m:r>
                      <a:rPr lang="en-US" sz="44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=0.</m:t>
                    </m:r>
                  </m:oMath>
                </a14:m>
                <a:r>
                  <a:rPr lang="en-US" sz="44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endParaRPr lang="en-US" sz="4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indent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4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qua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ba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  <m:d>
                      <m:dPr>
                        <m:ctrlPr>
                          <a:rPr lang="en-US" sz="4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4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6;−2</m:t>
                        </m:r>
                      </m:e>
                    </m:d>
                  </m:oMath>
                </a14:m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4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  <m:d>
                      <m:dPr>
                        <m:ctrlPr>
                          <a:rPr lang="en-US" sz="4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4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4;2</m:t>
                        </m:r>
                      </m:e>
                    </m:d>
                  </m:oMath>
                </a14:m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4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𝐶</m:t>
                    </m:r>
                    <m:d>
                      <m:dPr>
                        <m:ctrlPr>
                          <a:rPr lang="en-US" sz="4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4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5;−5</m:t>
                        </m:r>
                      </m:e>
                    </m:d>
                  </m:oMath>
                </a14:m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endParaRPr lang="en-US" sz="4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indent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4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&amp;</m:t>
                            </m:r>
                            <m:sSup>
                              <m:sSupPr>
                                <m:ctrlPr>
                                  <a:rPr lang="en-US" sz="4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6</m:t>
                                </m:r>
                              </m:e>
                              <m:sup>
                                <m:r>
                                  <a:rPr lang="en-US" sz="4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4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4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4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−2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4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−2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.6−2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  <m:d>
                              <m:dPr>
                                <m:ctrlPr>
                                  <a:rPr lang="en-US" sz="4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4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e>
                          <m:e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&amp;</m:t>
                            </m:r>
                            <m:sSup>
                              <m:sSupPr>
                                <m:ctrlPr>
                                  <a:rPr lang="en-US" sz="4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US" sz="4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4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−2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.4−2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.2+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e>
                          <m:e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&amp;</m:t>
                            </m:r>
                            <m:sSup>
                              <m:sSupPr>
                                <m:ctrlPr>
                                  <a:rPr lang="en-US" sz="4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en-US" sz="4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4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4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4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−5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4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−2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.5−2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  <m:d>
                              <m:dPr>
                                <m:ctrlPr>
                                  <a:rPr lang="en-US" sz="4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4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−5</m:t>
                                </m:r>
                              </m:e>
                            </m:d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endParaRPr lang="en-US" sz="4400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Cambria Math" panose="02040503050406030204" pitchFamily="18" charset="0"/>
                </a:endParaRPr>
              </a:p>
              <a:p>
                <a:pPr indent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4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⇔</m:t>
                    </m:r>
                    <m:d>
                      <m:dPr>
                        <m:begChr m:val="{"/>
                        <m:endChr m:val=""/>
                        <m:ctrlPr>
                          <a:rPr lang="en-US" sz="4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&amp;−12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+4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=−40</m:t>
                            </m:r>
                          </m:e>
                          <m:e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&amp;−8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−4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=−20</m:t>
                            </m:r>
                          </m:e>
                          <m:e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&amp;−10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+10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=−50</m:t>
                            </m:r>
                          </m:e>
                        </m:eqArr>
                      </m:e>
                    </m:d>
                    <m:r>
                      <a:rPr lang="en-US" sz="4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⇔</m:t>
                    </m:r>
                    <m:d>
                      <m:dPr>
                        <m:begChr m:val="{"/>
                        <m:endChr m:val=""/>
                        <m:ctrlPr>
                          <a:rPr lang="en-US" sz="4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&amp;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&amp;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=−2</m:t>
                            </m:r>
                          </m:e>
                          <m:e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&amp;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=−20.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indent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440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sz="44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4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4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4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sz="44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400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4400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44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:endParaRPr lang="en-US" sz="4400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0" algn="ctr">
                  <a:lnSpc>
                    <a:spcPct val="10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4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4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4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4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4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4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−2</m:t>
                    </m:r>
                    <m:r>
                      <a:rPr lang="en-US" sz="4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4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+4</m:t>
                    </m:r>
                    <m:r>
                      <a:rPr lang="en-US" sz="4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4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−20=0</m:t>
                    </m:r>
                  </m:oMath>
                </a14:m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1" y="1930399"/>
                <a:ext cx="15809859" cy="11785601"/>
              </a:xfrm>
              <a:prstGeom prst="rect">
                <a:avLst/>
              </a:prstGeom>
              <a:blipFill>
                <a:blip r:embed="rId3"/>
                <a:stretch>
                  <a:fillRect l="-1541" t="-1085" b="-310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601" y="1956433"/>
                <a:ext cx="7924800" cy="11759567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3355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b="1" dirty="0" err="1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Bài</a:t>
                </a:r>
                <a:r>
                  <a:rPr lang="en-US" b="1" dirty="0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7.16.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173355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phẳng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toạ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tam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𝐴𝐵𝐶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6;−2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4;2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𝐶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5;−5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ngoại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tiếp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tam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1" y="1956433"/>
                <a:ext cx="7924800" cy="11759567"/>
              </a:xfrm>
              <a:prstGeom prst="rect">
                <a:avLst/>
              </a:prstGeom>
              <a:blipFill>
                <a:blip r:embed="rId4"/>
                <a:stretch>
                  <a:fillRect l="-1306" t="-1295" r="-238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2919866" y="1066800"/>
            <a:ext cx="18544268" cy="8635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38562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BÀI TẬP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2396703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428201" y="2790868"/>
                <a:ext cx="13547092" cy="1062827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sz="4600" b="1" dirty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Lời </a:t>
                </a:r>
                <a:r>
                  <a:rPr lang="en-US" sz="4600" b="1" dirty="0" err="1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sz="46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Ta </a:t>
                </a:r>
                <a:r>
                  <a:rPr lang="en-US" sz="46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4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4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4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4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4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+2</m:t>
                    </m:r>
                    <m:r>
                      <a:rPr lang="en-US" sz="4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4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−4</m:t>
                    </m:r>
                    <m:r>
                      <a:rPr lang="en-US" sz="4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4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+4=0</m:t>
                    </m:r>
                  </m:oMath>
                </a14:m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sz="46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sz="4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⇔</m:t>
                    </m:r>
                  </m:oMath>
                </a14:m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4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4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4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US" sz="4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4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4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4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4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sz="4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−2</m:t>
                            </m:r>
                          </m:e>
                        </m:d>
                      </m:e>
                      <m:sup>
                        <m:r>
                          <a:rPr lang="en-US" sz="4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4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4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có </a:t>
                </a:r>
                <a:r>
                  <a:rPr lang="en-US" sz="46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  <m:d>
                      <m:dPr>
                        <m:ctrlPr>
                          <a:rPr lang="en-US" sz="4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4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−1;2</m:t>
                        </m:r>
                      </m:e>
                    </m:d>
                  </m:oMath>
                </a14:m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Do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4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4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0+1</m:t>
                            </m:r>
                          </m:e>
                        </m:d>
                      </m:e>
                      <m:sup>
                        <m:r>
                          <a:rPr lang="en-US" sz="4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4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4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4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4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2−2</m:t>
                            </m:r>
                          </m:e>
                        </m:d>
                      </m:e>
                      <m:sup>
                        <m:r>
                          <a:rPr lang="en-US" sz="4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4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(C).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</a:t>
                </a:r>
                <a:r>
                  <a:rPr lang="en-US" sz="46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Tiếp</a:t>
                </a:r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4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ctrlPr>
                          <a:rPr lang="en-US" sz="4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4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0;2</m:t>
                        </m:r>
                      </m:e>
                    </m:d>
                  </m:oMath>
                </a14:m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pháp</a:t>
                </a:r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𝑀𝐼</m:t>
                        </m:r>
                      </m:e>
                    </m:acc>
                    <m:r>
                      <a:rPr lang="en-US" sz="4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4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4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−1;0</m:t>
                        </m:r>
                      </m:e>
                    </m:d>
                  </m:oMath>
                </a14:m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6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6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endParaRPr lang="en-US" sz="46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spcAft>
                    <a:spcPts val="0"/>
                  </a:spcAft>
                  <a:buNone/>
                  <a:tabLst>
                    <a:tab pos="2971800" algn="ctr"/>
                    <a:tab pos="5943600" algn="r"/>
                  </a:tabLst>
                </a:pPr>
                <a:r>
                  <a:rPr lang="nl-NL" sz="4600" b="1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	</a:t>
                </a:r>
                <a14:m>
                  <m:oMath xmlns:m="http://schemas.openxmlformats.org/officeDocument/2006/math">
                    <m:r>
                      <a:rPr lang="nl-NL" sz="4600" b="1" i="1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r>
                      <a:rPr lang="nl-NL" sz="4600" b="1" i="1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𝟏</m:t>
                    </m:r>
                    <m:d>
                      <m:dPr>
                        <m:ctrlPr>
                          <a:rPr lang="en-US" sz="46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nl-NL" sz="46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𝒙</m:t>
                        </m:r>
                        <m:r>
                          <a:rPr lang="nl-NL" sz="46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nl-NL" sz="46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𝟏</m:t>
                        </m:r>
                      </m:e>
                    </m:d>
                    <m:r>
                      <a:rPr lang="nl-NL" sz="4600" b="1" i="1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r>
                      <a:rPr lang="nl-NL" sz="4600" b="1" i="1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𝟎</m:t>
                    </m:r>
                    <m:d>
                      <m:dPr>
                        <m:ctrlPr>
                          <a:rPr lang="en-US" sz="46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nl-NL" sz="46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𝒚</m:t>
                        </m:r>
                        <m:r>
                          <a:rPr lang="nl-NL" sz="46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r>
                          <a:rPr lang="nl-NL" sz="46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𝟐</m:t>
                        </m:r>
                      </m:e>
                    </m:d>
                    <m:r>
                      <a:rPr lang="nl-NL" sz="4600" b="1" i="1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nl-NL" sz="4600" b="1" i="1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𝟎</m:t>
                    </m:r>
                    <m:r>
                      <a:rPr lang="nl-NL" sz="4600" b="1" i="1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⇔</m:t>
                    </m:r>
                    <m:r>
                      <a:rPr lang="nl-NL" sz="4600" b="1" i="1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𝒙</m:t>
                    </m:r>
                    <m:r>
                      <a:rPr lang="nl-NL" sz="4600" b="1" i="1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r>
                      <a:rPr lang="nl-NL" sz="4600" b="1" i="1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𝟏</m:t>
                    </m:r>
                    <m:r>
                      <a:rPr lang="nl-NL" sz="4600" b="1" i="1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nl-NL" sz="4600" b="1" i="1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nl-NL" sz="4600" b="1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sz="4600" b="1" dirty="0">
                  <a:solidFill>
                    <a:srgbClr val="0000F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8201" y="2790868"/>
                <a:ext cx="13547092" cy="10628272"/>
              </a:xfrm>
              <a:prstGeom prst="rect">
                <a:avLst/>
              </a:prstGeom>
              <a:blipFill rotWithShape="1">
                <a:blip r:embed="rId3"/>
                <a:stretch>
                  <a:fillRect l="-1888" t="-131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3599" y="2743200"/>
                <a:ext cx="9841002" cy="1060704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b="1" dirty="0" err="1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Bài</a:t>
                </a:r>
                <a:r>
                  <a:rPr lang="en-US" b="1" dirty="0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7.17. 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: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+2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−4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+4=0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tiếp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0;2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99" y="2743200"/>
                <a:ext cx="9841002" cy="10607040"/>
              </a:xfrm>
              <a:prstGeom prst="rect">
                <a:avLst/>
              </a:prstGeom>
              <a:blipFill>
                <a:blip r:embed="rId4"/>
                <a:stretch>
                  <a:fillRect l="-2721" t="-1435" r="-216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353331" y="1903435"/>
            <a:ext cx="23621961" cy="8635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38562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BÀI TẬP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00732337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7864" y="2836163"/>
                <a:ext cx="12102737" cy="1060704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b="1" dirty="0" err="1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Bài</a:t>
                </a:r>
                <a:r>
                  <a:rPr lang="en-US" b="1" dirty="0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7.18.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Chuyển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thể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khoảng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thời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180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phút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thể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phẳng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Theo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thời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0≤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≤180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vật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thể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ở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trí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2+</m:t>
                        </m:r>
                        <m:r>
                          <m:rPr>
                            <m:nor/>
                          </m:rPr>
                          <a:rPr lang="en-US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sin</m:t>
                        </m:r>
                        <m:sSup>
                          <m:sSup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;4+</m:t>
                        </m:r>
                        <m:r>
                          <m:rPr>
                            <m:nor/>
                          </m:rPr>
                          <a:rPr lang="en-US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cos</m:t>
                        </m:r>
                        <m:sSup>
                          <m:sSup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>
                                <a:effectLst/>
                                <a:latin typeface="Tahoma" panose="020B0604030504040204" pitchFamily="34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t</m:t>
                            </m:r>
                          </m:e>
                          <m:sup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b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trí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ban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đầu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trí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kết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thúc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vật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thể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b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quỹ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đạo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chuyển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vật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thể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endParaRPr lang="en-US" sz="4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864" y="2836163"/>
                <a:ext cx="12102737" cy="10607040"/>
              </a:xfrm>
              <a:prstGeom prst="rect">
                <a:avLst/>
              </a:prstGeom>
              <a:blipFill>
                <a:blip r:embed="rId3"/>
                <a:stretch>
                  <a:fillRect l="-2213" t="-1435" r="-105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353332" y="1903435"/>
            <a:ext cx="23649668" cy="8635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38562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BÀI TẬP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600709" y="2872258"/>
                <a:ext cx="11402291" cy="1062827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b="1" dirty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Lời </a:t>
                </a:r>
                <a:r>
                  <a:rPr lang="en-US" b="1" dirty="0" err="1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trí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ban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đầu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thể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thời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2+</m:t>
                        </m:r>
                        <m:r>
                          <m:rPr>
                            <m:nor/>
                          </m:rPr>
                          <a:rPr lang="en-US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sin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;4+</m:t>
                        </m:r>
                        <m:r>
                          <m:rPr>
                            <m:nor/>
                          </m:rPr>
                          <a:rPr lang="en-US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cos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hay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2;5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trí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kết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thúc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vật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thể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thời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=180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là</a:t>
                </a:r>
              </a:p>
              <a:p>
                <a:pPr marL="0" indent="0">
                  <a:buNone/>
                </a:pPr>
                <a:r>
                  <a:rPr lang="en-US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2+</m:t>
                        </m:r>
                        <m:r>
                          <m:rPr>
                            <m:nor/>
                          </m:rPr>
                          <a:rPr lang="en-US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sin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180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;4+</m:t>
                        </m:r>
                        <m:r>
                          <m:rPr>
                            <m:nor/>
                          </m:rPr>
                          <a:rPr lang="en-US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cos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180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hay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2;</m:t>
                        </m:r>
                        <m:r>
                          <a:rPr lang="en-US" b="0" i="1" smtClean="0"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lang="en-US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0709" y="2872258"/>
                <a:ext cx="11402291" cy="10628272"/>
              </a:xfrm>
              <a:prstGeom prst="rect">
                <a:avLst/>
              </a:prstGeom>
              <a:blipFill>
                <a:blip r:embed="rId4"/>
                <a:stretch>
                  <a:fillRect l="-2349" t="-1432" r="-197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ounded Rectangle 39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3677224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600" y="2743200"/>
                <a:ext cx="12102737" cy="1060704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b="1" dirty="0" err="1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Bài</a:t>
                </a:r>
                <a:r>
                  <a:rPr lang="en-US" b="1" dirty="0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7.18.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Chuyển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thể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khoảng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thời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180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phút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thể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phẳng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Theo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thời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0≤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≤180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vật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thể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ở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trí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2+</m:t>
                        </m:r>
                        <m:r>
                          <m:rPr>
                            <m:nor/>
                          </m:rPr>
                          <a:rPr lang="en-US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sin</m:t>
                        </m:r>
                        <m:sSup>
                          <m:sSup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;4+</m:t>
                        </m:r>
                        <m:r>
                          <m:rPr>
                            <m:nor/>
                          </m:rPr>
                          <a:rPr lang="en-US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cos</m:t>
                        </m:r>
                        <m:sSup>
                          <m:sSup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>
                                <a:effectLst/>
                                <a:latin typeface="Tahoma" panose="020B0604030504040204" pitchFamily="34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t</m:t>
                            </m:r>
                          </m:e>
                          <m:sup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b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trí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ban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đầu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trí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kết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thúc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vật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thể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b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quỹ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đạo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chuyển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vật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thể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743200"/>
                <a:ext cx="12102737" cy="10607040"/>
              </a:xfrm>
              <a:prstGeom prst="rect">
                <a:avLst/>
              </a:prstGeom>
              <a:blipFill>
                <a:blip r:embed="rId3"/>
                <a:stretch>
                  <a:fillRect l="-2265" t="-1435" r="-1057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353332" y="1903435"/>
            <a:ext cx="23608896" cy="8635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38562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BÀI TẬP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59937" y="2790869"/>
                <a:ext cx="11402291" cy="1062827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b="1" dirty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Lời </a:t>
                </a:r>
                <a:r>
                  <a:rPr lang="en-US" b="1" dirty="0" err="1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Quỹ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đạo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chuyển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thể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thỏa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mãn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&amp;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𝑥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=2+</m:t>
                            </m:r>
                            <m:func>
                              <m:func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funcPr>
                              <m:fNam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𝑠𝑖𝑛</m:t>
                                </m:r>
                              </m:fName>
                              <m: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𝑡</m:t>
                                </m:r>
                              </m:e>
                            </m:func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°</m:t>
                            </m:r>
                          </m:e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&amp;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𝑦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=4+</m:t>
                            </m:r>
                            <m:func>
                              <m:func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funcPr>
                              <m:fNam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𝑐𝑜𝑠</m:t>
                                </m:r>
                              </m:fName>
                              <m: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𝑡</m:t>
                                </m:r>
                              </m:e>
                            </m:func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°</m:t>
                            </m:r>
                          </m:e>
                        </m:eqArr>
                      </m:e>
                    </m:d>
                  </m:oMath>
                </a14:m>
                <a:endParaRPr lang="en-US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</a:endParaRPr>
              </a:p>
              <a:p>
                <a:pPr marL="0" indent="0" algn="just">
                  <a:lnSpc>
                    <a:spcPct val="150000"/>
                  </a:lnSpc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    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⇔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𝑥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−2</m:t>
                            </m:r>
                          </m:e>
                        </m:d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𝑦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−4</m:t>
                            </m:r>
                          </m:e>
                        </m:d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=1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1200"/>
                  </a:spcAft>
                  <a:buNone/>
                </a:pP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quỹ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đạo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chuyển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vật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thể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: 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−2</m:t>
                            </m:r>
                          </m:e>
                        </m:d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−4</m:t>
                            </m:r>
                          </m:e>
                        </m:d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2;4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9937" y="2790869"/>
                <a:ext cx="11402291" cy="10628272"/>
              </a:xfrm>
              <a:prstGeom prst="rect">
                <a:avLst/>
              </a:prstGeom>
              <a:blipFill rotWithShape="1">
                <a:blip r:embed="rId4"/>
                <a:stretch>
                  <a:fillRect l="-2349" t="-1433" r="-170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6341127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7&quot;/&gt;&lt;/object&gt;&lt;object type=&quot;3&quot; unique_id=&quot;10004&quot;&gt;&lt;property id=&quot;20148&quot; value=&quot;5&quot;/&gt;&lt;property id=&quot;20300&quot; value=&quot;Slide 2&quot;/&gt;&lt;property id=&quot;20307&quot; value=&quot;258&quot;/&gt;&lt;/object&gt;&lt;object type=&quot;3&quot; unique_id=&quot;10005&quot;&gt;&lt;property id=&quot;20148&quot; value=&quot;5&quot;/&gt;&lt;property id=&quot;20300&quot; value=&quot;Slide 3&quot;/&gt;&lt;property id=&quot;20307&quot; value=&quot;259&quot;/&gt;&lt;/object&gt;&lt;object type=&quot;3&quot; unique_id=&quot;10006&quot;&gt;&lt;property id=&quot;20148&quot; value=&quot;5&quot;/&gt;&lt;property id=&quot;20300&quot; value=&quot;Slide 4&quot;/&gt;&lt;property id=&quot;20307&quot; value=&quot;260&quot;/&gt;&lt;/object&gt;&lt;object type=&quot;3&quot; unique_id=&quot;10007&quot;&gt;&lt;property id=&quot;20148&quot; value=&quot;5&quot;/&gt;&lt;property id=&quot;20300&quot; value=&quot;Slide 5&quot;/&gt;&lt;property id=&quot;20307&quot; value=&quot;262&quot;/&gt;&lt;/object&gt;&lt;object type=&quot;3&quot; unique_id=&quot;10008&quot;&gt;&lt;property id=&quot;20148&quot; value=&quot;5&quot;/&gt;&lt;property id=&quot;20300&quot; value=&quot;Slide 6&quot;/&gt;&lt;property id=&quot;20307&quot; value=&quot;263&quot;/&gt;&lt;/object&gt;&lt;object type=&quot;3&quot; unique_id=&quot;10009&quot;&gt;&lt;property id=&quot;20148&quot; value=&quot;5&quot;/&gt;&lt;property id=&quot;20300&quot; value=&quot;Slide 7&quot;/&gt;&lt;property id=&quot;20307&quot; value=&quot;264&quot;/&gt;&lt;/object&gt;&lt;object type=&quot;3&quot; unique_id=&quot;10010&quot;&gt;&lt;property id=&quot;20148&quot; value=&quot;5&quot;/&gt;&lt;property id=&quot;20300&quot; value=&quot;Slide 8&quot;/&gt;&lt;property id=&quot;20307&quot; value=&quot;265&quot;/&gt;&lt;/object&gt;&lt;object type=&quot;3&quot; unique_id=&quot;10011&quot;&gt;&lt;property id=&quot;20148&quot; value=&quot;5&quot;/&gt;&lt;property id=&quot;20300&quot; value=&quot;Slide 9&quot;/&gt;&lt;property id=&quot;20307&quot; value=&quot;266&quot;/&gt;&lt;/object&gt;&lt;object type=&quot;3&quot; unique_id=&quot;10012&quot;&gt;&lt;property id=&quot;20148&quot; value=&quot;5&quot;/&gt;&lt;property id=&quot;20300&quot; value=&quot;Slide 10&quot;/&gt;&lt;property id=&quot;20307&quot; value=&quot;267&quot;/&gt;&lt;/object&gt;&lt;object type=&quot;3&quot; unique_id=&quot;10013&quot;&gt;&lt;property id=&quot;20148&quot; value=&quot;5&quot;/&gt;&lt;property id=&quot;20300&quot; value=&quot;Slide 11&quot;/&gt;&lt;property id=&quot;20307&quot; value=&quot;269&quot;/&gt;&lt;/object&gt;&lt;object type=&quot;3&quot; unique_id=&quot;10014&quot;&gt;&lt;property id=&quot;20148&quot; value=&quot;5&quot;/&gt;&lt;property id=&quot;20300&quot; value=&quot;Slide 12&quot;/&gt;&lt;property id=&quot;20307&quot; value=&quot;270&quot;/&gt;&lt;/object&gt;&lt;object type=&quot;3&quot; unique_id=&quot;10015&quot;&gt;&lt;property id=&quot;20148&quot; value=&quot;5&quot;/&gt;&lt;property id=&quot;20300&quot; value=&quot;Slide 13&quot;/&gt;&lt;property id=&quot;20307&quot; value=&quot;274&quot;/&gt;&lt;/object&gt;&lt;object type=&quot;3&quot; unique_id=&quot;10016&quot;&gt;&lt;property id=&quot;20148&quot; value=&quot;5&quot;/&gt;&lt;property id=&quot;20300&quot; value=&quot;Slide 14&quot;/&gt;&lt;property id=&quot;20307&quot; value=&quot;275&quot;/&gt;&lt;/object&gt;&lt;object type=&quot;3&quot; unique_id=&quot;10017&quot;&gt;&lt;property id=&quot;20148&quot; value=&quot;5&quot;/&gt;&lt;property id=&quot;20300&quot; value=&quot;Slide 15&quot;/&gt;&lt;property id=&quot;20307&quot; value=&quot;276&quot;/&gt;&lt;/object&gt;&lt;object type=&quot;3&quot; unique_id=&quot;10018&quot;&gt;&lt;property id=&quot;20148&quot; value=&quot;5&quot;/&gt;&lt;property id=&quot;20300&quot; value=&quot;Slide 16&quot;/&gt;&lt;property id=&quot;20307&quot; value=&quot;277&quot;/&gt;&lt;/object&gt;&lt;object type=&quot;3&quot; unique_id=&quot;10019&quot;&gt;&lt;property id=&quot;20148&quot; value=&quot;5&quot;/&gt;&lt;property id=&quot;20300&quot; value=&quot;Slide 17&quot;/&gt;&lt;property id=&quot;20307&quot; value=&quot;271&quot;/&gt;&lt;/object&gt;&lt;object type=&quot;3&quot; unique_id=&quot;10020&quot;&gt;&lt;property id=&quot;20148&quot; value=&quot;5&quot;/&gt;&lt;property id=&quot;20300&quot; value=&quot;Slide 18&quot;/&gt;&lt;property id=&quot;20307&quot; value=&quot;278&quot;/&gt;&lt;/object&gt;&lt;object type=&quot;3&quot; unique_id=&quot;10021&quot;&gt;&lt;property id=&quot;20148&quot; value=&quot;5&quot;/&gt;&lt;property id=&quot;20300&quot; value=&quot;Slide 19&quot;/&gt;&lt;property id=&quot;20307&quot; value=&quot;279&quot;/&gt;&lt;/object&gt;&lt;object type=&quot;3&quot; unique_id=&quot;10022&quot;&gt;&lt;property id=&quot;20148&quot; value=&quot;5&quot;/&gt;&lt;property id=&quot;20300&quot; value=&quot;Slide 20&quot;/&gt;&lt;property id=&quot;20307&quot; value=&quot;272&quot;/&gt;&lt;/object&gt;&lt;object type=&quot;3&quot; unique_id=&quot;10023&quot;&gt;&lt;property id=&quot;20148&quot; value=&quot;5&quot;/&gt;&lt;property id=&quot;20300&quot; value=&quot;Slide 21&quot;/&gt;&lt;property id=&quot;20307&quot; value=&quot;273&quot;/&gt;&lt;/object&gt;&lt;object type=&quot;3&quot; unique_id=&quot;10024&quot;&gt;&lt;property id=&quot;20148&quot; value=&quot;5&quot;/&gt;&lt;property id=&quot;20300&quot; value=&quot;Slide 22&quot;/&gt;&lt;property id=&quot;20307&quot; value=&quot;268&quot;/&gt;&lt;/object&gt;&lt;object type=&quot;3&quot; unique_id=&quot;10025&quot;&gt;&lt;property id=&quot;20148&quot; value=&quot;5&quot;/&gt;&lt;property id=&quot;20300&quot; value=&quot;Slide 23&quot;/&gt;&lt;property id=&quot;20307&quot; value=&quot;280&quot;/&gt;&lt;/object&gt;&lt;object type=&quot;3&quot; unique_id=&quot;10026&quot;&gt;&lt;property id=&quot;20148&quot; value=&quot;5&quot;/&gt;&lt;property id=&quot;20300&quot; value=&quot;Slide 24&quot;/&gt;&lt;property id=&quot;20307&quot; value=&quot;281&quot;/&gt;&lt;/object&gt;&lt;object type=&quot;3&quot; unique_id=&quot;10027&quot;&gt;&lt;property id=&quot;20148&quot; value=&quot;5&quot;/&gt;&lt;property id=&quot;20300&quot; value=&quot;Slide 25&quot;/&gt;&lt;property id=&quot;20307&quot; value=&quot;282&quot;/&gt;&lt;/object&gt;&lt;/object&gt;&lt;object type=&quot;8&quot; unique_id=&quot;1005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4373</TotalTime>
  <Words>1121</Words>
  <Application>Microsoft Office PowerPoint</Application>
  <PresentationFormat>Custom</PresentationFormat>
  <Paragraphs>291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4" baseType="lpstr">
      <vt:lpstr>Yu Gothic UI Semilight</vt:lpstr>
      <vt:lpstr>Arial</vt:lpstr>
      <vt:lpstr>Bahnschrift SemiBold SemiConden</vt:lpstr>
      <vt:lpstr>Baumans</vt:lpstr>
      <vt:lpstr>Calibri</vt:lpstr>
      <vt:lpstr>Calibri Light</vt:lpstr>
      <vt:lpstr>Cambria Math</vt:lpstr>
      <vt:lpstr>Cascadia Mono</vt:lpstr>
      <vt:lpstr>Tahoma</vt:lpstr>
      <vt:lpstr>Times New Roman</vt:lpstr>
      <vt:lpstr>Tomaho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9Slide.vn</dc:subject>
  <dc:creator>BINH</dc:creator>
  <dc:description>9Slide.vn</dc:description>
  <cp:lastModifiedBy>Admin</cp:lastModifiedBy>
  <cp:revision>354</cp:revision>
  <dcterms:created xsi:type="dcterms:W3CDTF">2013-08-31T11:42:51Z</dcterms:created>
  <dcterms:modified xsi:type="dcterms:W3CDTF">2022-08-30T02:30:36Z</dcterms:modified>
  <cp:category>9Slide.vn</cp:category>
</cp:coreProperties>
</file>