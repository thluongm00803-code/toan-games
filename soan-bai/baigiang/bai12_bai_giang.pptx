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 id="2147483754" r:id="rId2"/>
  </p:sldMasterIdLst>
  <p:notesMasterIdLst>
    <p:notesMasterId r:id="rId25"/>
  </p:notesMasterIdLst>
  <p:sldIdLst>
    <p:sldId id="313" r:id="rId3"/>
    <p:sldId id="301" r:id="rId4"/>
    <p:sldId id="436" r:id="rId5"/>
    <p:sldId id="316" r:id="rId6"/>
    <p:sldId id="315" r:id="rId7"/>
    <p:sldId id="319" r:id="rId8"/>
    <p:sldId id="320" r:id="rId9"/>
    <p:sldId id="437" r:id="rId10"/>
    <p:sldId id="321" r:id="rId11"/>
    <p:sldId id="438" r:id="rId12"/>
    <p:sldId id="439" r:id="rId13"/>
    <p:sldId id="440" r:id="rId14"/>
    <p:sldId id="442" r:id="rId15"/>
    <p:sldId id="443" r:id="rId16"/>
    <p:sldId id="444" r:id="rId17"/>
    <p:sldId id="445" r:id="rId18"/>
    <p:sldId id="446" r:id="rId19"/>
    <p:sldId id="447" r:id="rId20"/>
    <p:sldId id="448" r:id="rId21"/>
    <p:sldId id="449" r:id="rId22"/>
    <p:sldId id="450" r:id="rId23"/>
    <p:sldId id="451" r:id="rId24"/>
  </p:sldIdLst>
  <p:sldSz cx="24384000" cy="13716000"/>
  <p:notesSz cx="6858000" cy="9144000"/>
  <p:custDataLst>
    <p:tags r:id="rId26"/>
  </p:custDataLst>
  <p:defaultTextStyle>
    <a:defPPr>
      <a:defRPr lang="en-US"/>
    </a:defPPr>
    <a:lvl1pPr marL="0" algn="l" defTabSz="2177278" rtl="0" eaLnBrk="1" latinLnBrk="0" hangingPunct="1">
      <a:defRPr sz="4300" kern="1200">
        <a:solidFill>
          <a:schemeClr val="tx1"/>
        </a:solidFill>
        <a:latin typeface="+mn-lt"/>
        <a:ea typeface="+mn-ea"/>
        <a:cs typeface="+mn-cs"/>
      </a:defRPr>
    </a:lvl1pPr>
    <a:lvl2pPr marL="1088639" algn="l" defTabSz="2177278" rtl="0" eaLnBrk="1" latinLnBrk="0" hangingPunct="1">
      <a:defRPr sz="4300" kern="1200">
        <a:solidFill>
          <a:schemeClr val="tx1"/>
        </a:solidFill>
        <a:latin typeface="+mn-lt"/>
        <a:ea typeface="+mn-ea"/>
        <a:cs typeface="+mn-cs"/>
      </a:defRPr>
    </a:lvl2pPr>
    <a:lvl3pPr marL="2177278" algn="l" defTabSz="2177278" rtl="0" eaLnBrk="1" latinLnBrk="0" hangingPunct="1">
      <a:defRPr sz="4300" kern="1200">
        <a:solidFill>
          <a:schemeClr val="tx1"/>
        </a:solidFill>
        <a:latin typeface="+mn-lt"/>
        <a:ea typeface="+mn-ea"/>
        <a:cs typeface="+mn-cs"/>
      </a:defRPr>
    </a:lvl3pPr>
    <a:lvl4pPr marL="3265917" algn="l" defTabSz="2177278" rtl="0" eaLnBrk="1" latinLnBrk="0" hangingPunct="1">
      <a:defRPr sz="4300" kern="1200">
        <a:solidFill>
          <a:schemeClr val="tx1"/>
        </a:solidFill>
        <a:latin typeface="+mn-lt"/>
        <a:ea typeface="+mn-ea"/>
        <a:cs typeface="+mn-cs"/>
      </a:defRPr>
    </a:lvl4pPr>
    <a:lvl5pPr marL="4354556" algn="l" defTabSz="2177278" rtl="0" eaLnBrk="1" latinLnBrk="0" hangingPunct="1">
      <a:defRPr sz="4300" kern="1200">
        <a:solidFill>
          <a:schemeClr val="tx1"/>
        </a:solidFill>
        <a:latin typeface="+mn-lt"/>
        <a:ea typeface="+mn-ea"/>
        <a:cs typeface="+mn-cs"/>
      </a:defRPr>
    </a:lvl5pPr>
    <a:lvl6pPr marL="5443195" algn="l" defTabSz="2177278" rtl="0" eaLnBrk="1" latinLnBrk="0" hangingPunct="1">
      <a:defRPr sz="4300" kern="1200">
        <a:solidFill>
          <a:schemeClr val="tx1"/>
        </a:solidFill>
        <a:latin typeface="+mn-lt"/>
        <a:ea typeface="+mn-ea"/>
        <a:cs typeface="+mn-cs"/>
      </a:defRPr>
    </a:lvl6pPr>
    <a:lvl7pPr marL="6531834" algn="l" defTabSz="2177278" rtl="0" eaLnBrk="1" latinLnBrk="0" hangingPunct="1">
      <a:defRPr sz="4300" kern="1200">
        <a:solidFill>
          <a:schemeClr val="tx1"/>
        </a:solidFill>
        <a:latin typeface="+mn-lt"/>
        <a:ea typeface="+mn-ea"/>
        <a:cs typeface="+mn-cs"/>
      </a:defRPr>
    </a:lvl7pPr>
    <a:lvl8pPr marL="7620472" algn="l" defTabSz="2177278" rtl="0" eaLnBrk="1" latinLnBrk="0" hangingPunct="1">
      <a:defRPr sz="4300" kern="1200">
        <a:solidFill>
          <a:schemeClr val="tx1"/>
        </a:solidFill>
        <a:latin typeface="+mn-lt"/>
        <a:ea typeface="+mn-ea"/>
        <a:cs typeface="+mn-cs"/>
      </a:defRPr>
    </a:lvl8pPr>
    <a:lvl9pPr marL="8709111" algn="l" defTabSz="2177278" rtl="0" eaLnBrk="1" latinLnBrk="0" hangingPunct="1">
      <a:defRPr sz="43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F7FF"/>
    <a:srgbClr val="D6F7FE"/>
    <a:srgbClr val="EEF7E9"/>
    <a:srgbClr val="0000FF"/>
    <a:srgbClr val="135F82"/>
    <a:srgbClr val="FFFFFF"/>
    <a:srgbClr val="008000"/>
    <a:srgbClr val="242452"/>
    <a:srgbClr val="270F6B"/>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6698" autoAdjust="0"/>
    <p:restoredTop sz="94139" autoAdjust="0"/>
  </p:normalViewPr>
  <p:slideViewPr>
    <p:cSldViewPr>
      <p:cViewPr varScale="1">
        <p:scale>
          <a:sx n="31" d="100"/>
          <a:sy n="31" d="100"/>
        </p:scale>
        <p:origin x="138" y="348"/>
      </p:cViewPr>
      <p:guideLst>
        <p:guide orient="horz" pos="4320"/>
        <p:guide pos="7680"/>
      </p:guideLst>
    </p:cSldViewPr>
  </p:slideViewPr>
  <p:notesTextViewPr>
    <p:cViewPr>
      <p:scale>
        <a:sx n="100" d="100"/>
        <a:sy n="100" d="100"/>
      </p:scale>
      <p:origin x="0" y="0"/>
    </p:cViewPr>
  </p:notesTextViewPr>
  <p:notesViewPr>
    <p:cSldViewPr>
      <p:cViewPr varScale="1">
        <p:scale>
          <a:sx n="56" d="100"/>
          <a:sy n="56" d="100"/>
        </p:scale>
        <p:origin x="-2886"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notesMaster" Target="notesMasters/notesMaster1.xml"/><Relationship Id="rId26" Type="http://schemas.openxmlformats.org/officeDocument/2006/relationships/tags" Target="tags/tag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A3BB293-0719-4B19-A181-EE36FD0623AD}" type="datetimeFigureOut">
              <a:rPr lang="en-US" smtClean="0"/>
              <a:pPr/>
              <a:t>8/30/2022</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2EA8B73-FCCD-4D4C-BC4E-0CE5120A1B5B}" type="slidenum">
              <a:rPr lang="en-US" smtClean="0"/>
              <a:pPr/>
              <a:t>‹#›</a:t>
            </a:fld>
            <a:endParaRPr lang="en-US"/>
          </a:p>
        </p:txBody>
      </p:sp>
    </p:spTree>
    <p:extLst>
      <p:ext uri="{BB962C8B-B14F-4D97-AF65-F5344CB8AC3E}">
        <p14:creationId xmlns:p14="http://schemas.microsoft.com/office/powerpoint/2010/main" val="3059963718"/>
      </p:ext>
    </p:extLst>
  </p:cSld>
  <p:clrMap bg1="lt1" tx1="dk1" bg2="lt2" tx2="dk2" accent1="accent1" accent2="accent2" accent3="accent3" accent4="accent4" accent5="accent5" accent6="accent6" hlink="hlink" folHlink="folHlink"/>
  <p:notesStyle>
    <a:lvl1pPr marL="0" algn="l" defTabSz="2177278" rtl="0" eaLnBrk="1" latinLnBrk="0" hangingPunct="1">
      <a:defRPr sz="2900" kern="1200">
        <a:solidFill>
          <a:schemeClr val="tx1"/>
        </a:solidFill>
        <a:latin typeface="+mn-lt"/>
        <a:ea typeface="+mn-ea"/>
        <a:cs typeface="+mn-cs"/>
      </a:defRPr>
    </a:lvl1pPr>
    <a:lvl2pPr marL="1088639" algn="l" defTabSz="2177278" rtl="0" eaLnBrk="1" latinLnBrk="0" hangingPunct="1">
      <a:defRPr sz="2900" kern="1200">
        <a:solidFill>
          <a:schemeClr val="tx1"/>
        </a:solidFill>
        <a:latin typeface="+mn-lt"/>
        <a:ea typeface="+mn-ea"/>
        <a:cs typeface="+mn-cs"/>
      </a:defRPr>
    </a:lvl2pPr>
    <a:lvl3pPr marL="2177278" algn="l" defTabSz="2177278" rtl="0" eaLnBrk="1" latinLnBrk="0" hangingPunct="1">
      <a:defRPr sz="2900" kern="1200">
        <a:solidFill>
          <a:schemeClr val="tx1"/>
        </a:solidFill>
        <a:latin typeface="+mn-lt"/>
        <a:ea typeface="+mn-ea"/>
        <a:cs typeface="+mn-cs"/>
      </a:defRPr>
    </a:lvl3pPr>
    <a:lvl4pPr marL="3265917" algn="l" defTabSz="2177278" rtl="0" eaLnBrk="1" latinLnBrk="0" hangingPunct="1">
      <a:defRPr sz="2900" kern="1200">
        <a:solidFill>
          <a:schemeClr val="tx1"/>
        </a:solidFill>
        <a:latin typeface="+mn-lt"/>
        <a:ea typeface="+mn-ea"/>
        <a:cs typeface="+mn-cs"/>
      </a:defRPr>
    </a:lvl4pPr>
    <a:lvl5pPr marL="4354556" algn="l" defTabSz="2177278" rtl="0" eaLnBrk="1" latinLnBrk="0" hangingPunct="1">
      <a:defRPr sz="2900" kern="1200">
        <a:solidFill>
          <a:schemeClr val="tx1"/>
        </a:solidFill>
        <a:latin typeface="+mn-lt"/>
        <a:ea typeface="+mn-ea"/>
        <a:cs typeface="+mn-cs"/>
      </a:defRPr>
    </a:lvl5pPr>
    <a:lvl6pPr marL="5443195" algn="l" defTabSz="2177278" rtl="0" eaLnBrk="1" latinLnBrk="0" hangingPunct="1">
      <a:defRPr sz="2900" kern="1200">
        <a:solidFill>
          <a:schemeClr val="tx1"/>
        </a:solidFill>
        <a:latin typeface="+mn-lt"/>
        <a:ea typeface="+mn-ea"/>
        <a:cs typeface="+mn-cs"/>
      </a:defRPr>
    </a:lvl6pPr>
    <a:lvl7pPr marL="6531834" algn="l" defTabSz="2177278" rtl="0" eaLnBrk="1" latinLnBrk="0" hangingPunct="1">
      <a:defRPr sz="2900" kern="1200">
        <a:solidFill>
          <a:schemeClr val="tx1"/>
        </a:solidFill>
        <a:latin typeface="+mn-lt"/>
        <a:ea typeface="+mn-ea"/>
        <a:cs typeface="+mn-cs"/>
      </a:defRPr>
    </a:lvl7pPr>
    <a:lvl8pPr marL="7620472" algn="l" defTabSz="2177278" rtl="0" eaLnBrk="1" latinLnBrk="0" hangingPunct="1">
      <a:defRPr sz="2900" kern="1200">
        <a:solidFill>
          <a:schemeClr val="tx1"/>
        </a:solidFill>
        <a:latin typeface="+mn-lt"/>
        <a:ea typeface="+mn-ea"/>
        <a:cs typeface="+mn-cs"/>
      </a:defRPr>
    </a:lvl8pPr>
    <a:lvl9pPr marL="8709111" algn="l" defTabSz="2177278" rtl="0" eaLnBrk="1" latinLnBrk="0" hangingPunct="1">
      <a:defRPr sz="2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a:t>
            </a:fld>
            <a:endParaRPr lang="en-US"/>
          </a:p>
        </p:txBody>
      </p:sp>
    </p:spTree>
    <p:extLst>
      <p:ext uri="{BB962C8B-B14F-4D97-AF65-F5344CB8AC3E}">
        <p14:creationId xmlns:p14="http://schemas.microsoft.com/office/powerpoint/2010/main" val="34185649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4</a:t>
            </a:fld>
            <a:endParaRPr lang="en-US"/>
          </a:p>
        </p:txBody>
      </p:sp>
    </p:spTree>
    <p:extLst>
      <p:ext uri="{BB962C8B-B14F-4D97-AF65-F5344CB8AC3E}">
        <p14:creationId xmlns:p14="http://schemas.microsoft.com/office/powerpoint/2010/main" val="5398658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5</a:t>
            </a:fld>
            <a:endParaRPr lang="en-US"/>
          </a:p>
        </p:txBody>
      </p:sp>
    </p:spTree>
    <p:extLst>
      <p:ext uri="{BB962C8B-B14F-4D97-AF65-F5344CB8AC3E}">
        <p14:creationId xmlns:p14="http://schemas.microsoft.com/office/powerpoint/2010/main" val="34970113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6</a:t>
            </a:fld>
            <a:endParaRPr lang="en-US"/>
          </a:p>
        </p:txBody>
      </p:sp>
    </p:spTree>
    <p:extLst>
      <p:ext uri="{BB962C8B-B14F-4D97-AF65-F5344CB8AC3E}">
        <p14:creationId xmlns:p14="http://schemas.microsoft.com/office/powerpoint/2010/main" val="19095744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7</a:t>
            </a:fld>
            <a:endParaRPr lang="en-US"/>
          </a:p>
        </p:txBody>
      </p:sp>
    </p:spTree>
    <p:extLst>
      <p:ext uri="{BB962C8B-B14F-4D97-AF65-F5344CB8AC3E}">
        <p14:creationId xmlns:p14="http://schemas.microsoft.com/office/powerpoint/2010/main" val="2286880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8</a:t>
            </a:fld>
            <a:endParaRPr lang="en-US"/>
          </a:p>
        </p:txBody>
      </p:sp>
    </p:spTree>
    <p:extLst>
      <p:ext uri="{BB962C8B-B14F-4D97-AF65-F5344CB8AC3E}">
        <p14:creationId xmlns:p14="http://schemas.microsoft.com/office/powerpoint/2010/main" val="18801073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9</a:t>
            </a:fld>
            <a:endParaRPr lang="en-US"/>
          </a:p>
        </p:txBody>
      </p:sp>
    </p:spTree>
    <p:extLst>
      <p:ext uri="{BB962C8B-B14F-4D97-AF65-F5344CB8AC3E}">
        <p14:creationId xmlns:p14="http://schemas.microsoft.com/office/powerpoint/2010/main" val="14927490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10</a:t>
            </a:fld>
            <a:endParaRPr lang="en-US"/>
          </a:p>
        </p:txBody>
      </p:sp>
    </p:spTree>
    <p:extLst>
      <p:ext uri="{BB962C8B-B14F-4D97-AF65-F5344CB8AC3E}">
        <p14:creationId xmlns:p14="http://schemas.microsoft.com/office/powerpoint/2010/main" val="22132722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11</a:t>
            </a:fld>
            <a:endParaRPr lang="en-US"/>
          </a:p>
        </p:txBody>
      </p:sp>
    </p:spTree>
    <p:extLst>
      <p:ext uri="{BB962C8B-B14F-4D97-AF65-F5344CB8AC3E}">
        <p14:creationId xmlns:p14="http://schemas.microsoft.com/office/powerpoint/2010/main" val="31843277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12</a:t>
            </a:fld>
            <a:endParaRPr lang="en-US"/>
          </a:p>
        </p:txBody>
      </p:sp>
    </p:spTree>
    <p:extLst>
      <p:ext uri="{BB962C8B-B14F-4D97-AF65-F5344CB8AC3E}">
        <p14:creationId xmlns:p14="http://schemas.microsoft.com/office/powerpoint/2010/main" val="35767744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15</a:t>
            </a:fld>
            <a:endParaRPr lang="en-US"/>
          </a:p>
        </p:txBody>
      </p:sp>
    </p:spTree>
    <p:extLst>
      <p:ext uri="{BB962C8B-B14F-4D97-AF65-F5344CB8AC3E}">
        <p14:creationId xmlns:p14="http://schemas.microsoft.com/office/powerpoint/2010/main" val="4360659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16</a:t>
            </a:fld>
            <a:endParaRPr lang="en-US"/>
          </a:p>
        </p:txBody>
      </p:sp>
    </p:spTree>
    <p:extLst>
      <p:ext uri="{BB962C8B-B14F-4D97-AF65-F5344CB8AC3E}">
        <p14:creationId xmlns:p14="http://schemas.microsoft.com/office/powerpoint/2010/main" val="22740001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17</a:t>
            </a:fld>
            <a:endParaRPr lang="en-US"/>
          </a:p>
        </p:txBody>
      </p:sp>
    </p:spTree>
    <p:extLst>
      <p:ext uri="{BB962C8B-B14F-4D97-AF65-F5344CB8AC3E}">
        <p14:creationId xmlns:p14="http://schemas.microsoft.com/office/powerpoint/2010/main" val="9319542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18</a:t>
            </a:fld>
            <a:endParaRPr lang="en-US"/>
          </a:p>
        </p:txBody>
      </p:sp>
    </p:spTree>
    <p:extLst>
      <p:ext uri="{BB962C8B-B14F-4D97-AF65-F5344CB8AC3E}">
        <p14:creationId xmlns:p14="http://schemas.microsoft.com/office/powerpoint/2010/main" val="31286764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19</a:t>
            </a:fld>
            <a:endParaRPr lang="en-US"/>
          </a:p>
        </p:txBody>
      </p:sp>
    </p:spTree>
    <p:extLst>
      <p:ext uri="{BB962C8B-B14F-4D97-AF65-F5344CB8AC3E}">
        <p14:creationId xmlns:p14="http://schemas.microsoft.com/office/powerpoint/2010/main" val="38041015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20</a:t>
            </a:fld>
            <a:endParaRPr lang="en-US"/>
          </a:p>
        </p:txBody>
      </p:sp>
    </p:spTree>
    <p:extLst>
      <p:ext uri="{BB962C8B-B14F-4D97-AF65-F5344CB8AC3E}">
        <p14:creationId xmlns:p14="http://schemas.microsoft.com/office/powerpoint/2010/main" val="563353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21</a:t>
            </a:fld>
            <a:endParaRPr lang="en-US"/>
          </a:p>
        </p:txBody>
      </p:sp>
    </p:spTree>
    <p:extLst>
      <p:ext uri="{BB962C8B-B14F-4D97-AF65-F5344CB8AC3E}">
        <p14:creationId xmlns:p14="http://schemas.microsoft.com/office/powerpoint/2010/main" val="4582829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22</a:t>
            </a:fld>
            <a:endParaRPr lang="en-US"/>
          </a:p>
        </p:txBody>
      </p:sp>
    </p:spTree>
    <p:extLst>
      <p:ext uri="{BB962C8B-B14F-4D97-AF65-F5344CB8AC3E}">
        <p14:creationId xmlns:p14="http://schemas.microsoft.com/office/powerpoint/2010/main" val="25959025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699727" y="1781954"/>
            <a:ext cx="21031200" cy="2651126"/>
          </a:xfrm>
          <a:prstGeom prst="rect">
            <a:avLst/>
          </a:prstGeom>
        </p:spPr>
        <p:txBody>
          <a:bodyPr/>
          <a:lstStyle>
            <a:lvl1pPr algn="l">
              <a:defRPr sz="5400">
                <a:latin typeface="Tomaho"/>
              </a:defRPr>
            </a:lvl1pPr>
          </a:lstStyle>
          <a:p>
            <a:r>
              <a:rPr lang="en-US"/>
              <a:t>Click to edit Master title style</a:t>
            </a:r>
          </a:p>
        </p:txBody>
      </p:sp>
      <p:sp>
        <p:nvSpPr>
          <p:cNvPr id="3" name="Content Placeholder 2"/>
          <p:cNvSpPr>
            <a:spLocks noGrp="1"/>
          </p:cNvSpPr>
          <p:nvPr>
            <p:ph sz="half" idx="1"/>
          </p:nvPr>
        </p:nvSpPr>
        <p:spPr>
          <a:xfrm>
            <a:off x="1699727" y="4702953"/>
            <a:ext cx="10363200" cy="8702676"/>
          </a:xfrm>
          <a:prstGeom prst="rect">
            <a:avLst/>
          </a:prstGeom>
        </p:spPr>
        <p:txBody>
          <a:bodyPr/>
          <a:lstStyle>
            <a:lvl1pPr algn="l">
              <a:defRPr sz="4800">
                <a:latin typeface="Tomaho"/>
              </a:defRPr>
            </a:lvl1pPr>
            <a:lvl2pPr algn="l">
              <a:defRPr sz="4800">
                <a:latin typeface="Tomaho"/>
              </a:defRPr>
            </a:lvl2pPr>
            <a:lvl3pPr algn="l">
              <a:defRPr sz="4800">
                <a:latin typeface="Tomaho"/>
              </a:defRPr>
            </a:lvl3pPr>
            <a:lvl4pPr algn="l">
              <a:defRPr sz="4800">
                <a:latin typeface="Tomaho"/>
              </a:defRPr>
            </a:lvl4pPr>
            <a:lvl5pPr algn="l">
              <a:defRPr sz="4800">
                <a:latin typeface="Tomaho"/>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2367727" y="4702953"/>
            <a:ext cx="10363200" cy="8702676"/>
          </a:xfrm>
          <a:prstGeom prst="rect">
            <a:avLst/>
          </a:prstGeom>
        </p:spPr>
        <p:txBody>
          <a:bodyPr/>
          <a:lstStyle>
            <a:lvl1pPr algn="l">
              <a:defRPr sz="4800">
                <a:latin typeface="Tomaho"/>
              </a:defRPr>
            </a:lvl1pPr>
            <a:lvl2pPr algn="l">
              <a:defRPr sz="4800">
                <a:latin typeface="Tomaho"/>
              </a:defRPr>
            </a:lvl2pPr>
            <a:lvl3pPr algn="l">
              <a:defRPr sz="4800">
                <a:latin typeface="Tomaho"/>
              </a:defRPr>
            </a:lvl3pPr>
            <a:lvl4pPr algn="l">
              <a:defRPr sz="4800">
                <a:latin typeface="Tomaho"/>
              </a:defRPr>
            </a:lvl4pPr>
            <a:lvl5pPr algn="l">
              <a:defRPr sz="4800">
                <a:latin typeface="Tomaho"/>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endParaRPr lang="en-US"/>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96220733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up)">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ipe(up)">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wipe(up)">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wipe(up)">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wipe(up)">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4">
                                            <p:txEl>
                                              <p:pRg st="0" end="0"/>
                                            </p:txEl>
                                          </p:spTgt>
                                        </p:tgtEl>
                                        <p:attrNameLst>
                                          <p:attrName>style.visibility</p:attrName>
                                        </p:attrNameLst>
                                      </p:cBhvr>
                                      <p:to>
                                        <p:strVal val="visible"/>
                                      </p:to>
                                    </p:set>
                                    <p:animEffect transition="in" filter="wipe(up)">
                                      <p:cBhvr>
                                        <p:cTn id="37" dur="500"/>
                                        <p:tgtEl>
                                          <p:spTgt spid="4">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4">
                                            <p:txEl>
                                              <p:pRg st="1" end="1"/>
                                            </p:txEl>
                                          </p:spTgt>
                                        </p:tgtEl>
                                        <p:attrNameLst>
                                          <p:attrName>style.visibility</p:attrName>
                                        </p:attrNameLst>
                                      </p:cBhvr>
                                      <p:to>
                                        <p:strVal val="visible"/>
                                      </p:to>
                                    </p:set>
                                    <p:animEffect transition="in" filter="wipe(up)">
                                      <p:cBhvr>
                                        <p:cTn id="42" dur="500"/>
                                        <p:tgtEl>
                                          <p:spTgt spid="4">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4">
                                            <p:txEl>
                                              <p:pRg st="2" end="2"/>
                                            </p:txEl>
                                          </p:spTgt>
                                        </p:tgtEl>
                                        <p:attrNameLst>
                                          <p:attrName>style.visibility</p:attrName>
                                        </p:attrNameLst>
                                      </p:cBhvr>
                                      <p:to>
                                        <p:strVal val="visible"/>
                                      </p:to>
                                    </p:set>
                                    <p:animEffect transition="in" filter="wipe(up)">
                                      <p:cBhvr>
                                        <p:cTn id="47" dur="500"/>
                                        <p:tgtEl>
                                          <p:spTgt spid="4">
                                            <p:txEl>
                                              <p:pRg st="2" end="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4">
                                            <p:txEl>
                                              <p:pRg st="3" end="3"/>
                                            </p:txEl>
                                          </p:spTgt>
                                        </p:tgtEl>
                                        <p:attrNameLst>
                                          <p:attrName>style.visibility</p:attrName>
                                        </p:attrNameLst>
                                      </p:cBhvr>
                                      <p:to>
                                        <p:strVal val="visible"/>
                                      </p:to>
                                    </p:set>
                                    <p:animEffect transition="in" filter="wipe(up)">
                                      <p:cBhvr>
                                        <p:cTn id="52" dur="500"/>
                                        <p:tgtEl>
                                          <p:spTgt spid="4">
                                            <p:txEl>
                                              <p:pRg st="3" end="3"/>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4">
                                            <p:txEl>
                                              <p:pRg st="4" end="4"/>
                                            </p:txEl>
                                          </p:spTgt>
                                        </p:tgtEl>
                                        <p:attrNameLst>
                                          <p:attrName>style.visibility</p:attrName>
                                        </p:attrNameLst>
                                      </p:cBhvr>
                                      <p:to>
                                        <p:strVal val="visible"/>
                                      </p:to>
                                    </p:set>
                                    <p:animEffect transition="in" filter="wipe(up)">
                                      <p:cBhvr>
                                        <p:cTn id="57"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22" presetClass="entr" presetSubtype="1"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up)">
                      <p:cBhvr>
                        <p:cTn dur="500"/>
                        <p:tgtEl>
                          <p:spTgt spid="3"/>
                        </p:tgtEl>
                      </p:cBhvr>
                    </p:animEffect>
                  </p:childTnLst>
                </p:cTn>
              </p:par>
            </p:tnLst>
          </p:tmpl>
          <p:tmpl lvl="2">
            <p:tnLst>
              <p:par>
                <p:cTn presetID="22" presetClass="entr" presetSubtype="1"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up)">
                      <p:cBhvr>
                        <p:cTn dur="500"/>
                        <p:tgtEl>
                          <p:spTgt spid="3"/>
                        </p:tgtEl>
                      </p:cBhvr>
                    </p:animEffect>
                  </p:childTnLst>
                </p:cTn>
              </p:par>
            </p:tnLst>
          </p:tmpl>
          <p:tmpl lvl="3">
            <p:tnLst>
              <p:par>
                <p:cTn presetID="22" presetClass="entr" presetSubtype="1"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up)">
                      <p:cBhvr>
                        <p:cTn dur="500"/>
                        <p:tgtEl>
                          <p:spTgt spid="3"/>
                        </p:tgtEl>
                      </p:cBhvr>
                    </p:animEffect>
                  </p:childTnLst>
                </p:cTn>
              </p:par>
            </p:tnLst>
          </p:tmpl>
          <p:tmpl lvl="4">
            <p:tnLst>
              <p:par>
                <p:cTn presetID="22" presetClass="entr" presetSubtype="1"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up)">
                      <p:cBhvr>
                        <p:cTn dur="500"/>
                        <p:tgtEl>
                          <p:spTgt spid="3"/>
                        </p:tgtEl>
                      </p:cBhvr>
                    </p:animEffect>
                  </p:childTnLst>
                </p:cTn>
              </p:par>
            </p:tnLst>
          </p:tmpl>
          <p:tmpl lvl="5">
            <p:tnLst>
              <p:par>
                <p:cTn presetID="22" presetClass="entr" presetSubtype="1"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up)">
                      <p:cBhvr>
                        <p:cTn dur="500"/>
                        <p:tgtEl>
                          <p:spTgt spid="3"/>
                        </p:tgtEl>
                      </p:cBhvr>
                    </p:animEffect>
                  </p:childTnLst>
                </p:cTn>
              </p:par>
            </p:tnLst>
          </p:tmpl>
        </p:tmplLst>
      </p:bldP>
      <p:bldP spid="4" grpId="0" build="p">
        <p:tmplLst>
          <p:tmpl lvl="1">
            <p:tnLst>
              <p:par>
                <p:cTn presetID="22" presetClass="entr" presetSubtype="1"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wipe(up)">
                      <p:cBhvr>
                        <p:cTn dur="500"/>
                        <p:tgtEl>
                          <p:spTgt spid="4"/>
                        </p:tgtEl>
                      </p:cBhvr>
                    </p:animEffect>
                  </p:childTnLst>
                </p:cTn>
              </p:par>
            </p:tnLst>
          </p:tmpl>
          <p:tmpl lvl="2">
            <p:tnLst>
              <p:par>
                <p:cTn presetID="22" presetClass="entr" presetSubtype="1"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wipe(up)">
                      <p:cBhvr>
                        <p:cTn dur="500"/>
                        <p:tgtEl>
                          <p:spTgt spid="4"/>
                        </p:tgtEl>
                      </p:cBhvr>
                    </p:animEffect>
                  </p:childTnLst>
                </p:cTn>
              </p:par>
            </p:tnLst>
          </p:tmpl>
          <p:tmpl lvl="3">
            <p:tnLst>
              <p:par>
                <p:cTn presetID="22" presetClass="entr" presetSubtype="1"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wipe(up)">
                      <p:cBhvr>
                        <p:cTn dur="500"/>
                        <p:tgtEl>
                          <p:spTgt spid="4"/>
                        </p:tgtEl>
                      </p:cBhvr>
                    </p:animEffect>
                  </p:childTnLst>
                </p:cTn>
              </p:par>
            </p:tnLst>
          </p:tmpl>
          <p:tmpl lvl="4">
            <p:tnLst>
              <p:par>
                <p:cTn presetID="22" presetClass="entr" presetSubtype="1"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wipe(up)">
                      <p:cBhvr>
                        <p:cTn dur="500"/>
                        <p:tgtEl>
                          <p:spTgt spid="4"/>
                        </p:tgtEl>
                      </p:cBhvr>
                    </p:animEffect>
                  </p:childTnLst>
                </p:cTn>
              </p:par>
            </p:tnLst>
          </p:tmpl>
          <p:tmpl lvl="5">
            <p:tnLst>
              <p:par>
                <p:cTn presetID="22" presetClass="entr" presetSubtype="1"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wipe(up)">
                      <p:cBhvr>
                        <p:cTn dur="500"/>
                        <p:tgtEl>
                          <p:spTgt spid="4"/>
                        </p:tgtEl>
                      </p:cBhvr>
                    </p:animEffect>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79576" y="730251"/>
            <a:ext cx="21031200" cy="2651126"/>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1679577" y="3362326"/>
            <a:ext cx="10315574" cy="1647824"/>
          </a:xfrm>
          <a:prstGeom prst="rect">
            <a:avLst/>
          </a:prstGeo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Edit Master text styles</a:t>
            </a:r>
          </a:p>
        </p:txBody>
      </p:sp>
      <p:sp>
        <p:nvSpPr>
          <p:cNvPr id="4" name="Content Placeholder 3"/>
          <p:cNvSpPr>
            <a:spLocks noGrp="1"/>
          </p:cNvSpPr>
          <p:nvPr>
            <p:ph sz="half" idx="2"/>
          </p:nvPr>
        </p:nvSpPr>
        <p:spPr>
          <a:xfrm>
            <a:off x="1679577" y="5010150"/>
            <a:ext cx="10315574" cy="73691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2344400" y="3362326"/>
            <a:ext cx="10366376" cy="1647824"/>
          </a:xfrm>
          <a:prstGeom prst="rect">
            <a:avLst/>
          </a:prstGeo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Edit Master text styles</a:t>
            </a:r>
          </a:p>
        </p:txBody>
      </p:sp>
      <p:sp>
        <p:nvSpPr>
          <p:cNvPr id="6" name="Content Placeholder 5"/>
          <p:cNvSpPr>
            <a:spLocks noGrp="1"/>
          </p:cNvSpPr>
          <p:nvPr>
            <p:ph sz="quarter" idx="4"/>
          </p:nvPr>
        </p:nvSpPr>
        <p:spPr>
          <a:xfrm>
            <a:off x="12344400" y="5010150"/>
            <a:ext cx="10366376" cy="73691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8" name="Footer Placeholder 7"/>
          <p:cNvSpPr>
            <a:spLocks noGrp="1"/>
          </p:cNvSpPr>
          <p:nvPr>
            <p:ph type="ftr" sz="quarter" idx="11"/>
          </p:nvPr>
        </p:nvSpPr>
        <p:spPr>
          <a:xfrm>
            <a:off x="8077200" y="12712701"/>
            <a:ext cx="8229600" cy="730250"/>
          </a:xfrm>
          <a:prstGeom prst="rect">
            <a:avLst/>
          </a:prstGeom>
        </p:spPr>
        <p:txBody>
          <a:bodyPr/>
          <a:lstStyle/>
          <a:p>
            <a:endParaRPr lang="en-US"/>
          </a:p>
        </p:txBody>
      </p:sp>
      <p:sp>
        <p:nvSpPr>
          <p:cNvPr id="9" name="Slide Number Placeholder 8"/>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02750806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245575104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63700" y="3419477"/>
            <a:ext cx="21031200" cy="5705474"/>
          </a:xfrm>
          <a:prstGeom prst="rect">
            <a:avLst/>
          </a:prstGeom>
        </p:spPr>
        <p:txBody>
          <a:bodyPr anchor="b"/>
          <a:lstStyle>
            <a:lvl1pPr>
              <a:defRPr sz="12000"/>
            </a:lvl1pPr>
          </a:lstStyle>
          <a:p>
            <a:r>
              <a:rPr lang="en-US"/>
              <a:t>Click to edit Master title style</a:t>
            </a:r>
          </a:p>
        </p:txBody>
      </p:sp>
      <p:sp>
        <p:nvSpPr>
          <p:cNvPr id="3" name="Text Placeholder 2"/>
          <p:cNvSpPr>
            <a:spLocks noGrp="1"/>
          </p:cNvSpPr>
          <p:nvPr>
            <p:ph type="body" idx="1"/>
          </p:nvPr>
        </p:nvSpPr>
        <p:spPr>
          <a:xfrm>
            <a:off x="1663700" y="9178927"/>
            <a:ext cx="21031200" cy="3000374"/>
          </a:xfrm>
          <a:prstGeom prst="rect">
            <a:avLst/>
          </a:prstGeom>
        </p:spPr>
        <p:txBody>
          <a:bodyPr/>
          <a:lstStyle>
            <a:lvl1pPr marL="0" indent="0">
              <a:buNone/>
              <a:defRPr sz="4800">
                <a:solidFill>
                  <a:schemeClr val="tx1">
                    <a:tint val="75000"/>
                  </a:schemeClr>
                </a:solidFill>
              </a:defRPr>
            </a:lvl1pPr>
            <a:lvl2pPr marL="914400" indent="0">
              <a:buNone/>
              <a:defRPr sz="4000">
                <a:solidFill>
                  <a:schemeClr val="tx1">
                    <a:tint val="75000"/>
                  </a:schemeClr>
                </a:solidFill>
              </a:defRPr>
            </a:lvl2pPr>
            <a:lvl3pPr marL="1828800" indent="0">
              <a:buNone/>
              <a:defRPr sz="3600">
                <a:solidFill>
                  <a:schemeClr val="tx1">
                    <a:tint val="75000"/>
                  </a:schemeClr>
                </a:solidFill>
              </a:defRPr>
            </a:lvl3pPr>
            <a:lvl4pPr marL="2743200" indent="0">
              <a:buNone/>
              <a:defRPr sz="3200">
                <a:solidFill>
                  <a:schemeClr val="tx1">
                    <a:tint val="75000"/>
                  </a:schemeClr>
                </a:solidFill>
              </a:defRPr>
            </a:lvl4pPr>
            <a:lvl5pPr marL="3657600" indent="0">
              <a:buNone/>
              <a:defRPr sz="3200">
                <a:solidFill>
                  <a:schemeClr val="tx1">
                    <a:tint val="75000"/>
                  </a:schemeClr>
                </a:solidFill>
              </a:defRPr>
            </a:lvl5pPr>
            <a:lvl6pPr marL="4572000" indent="0">
              <a:buNone/>
              <a:defRPr sz="3200">
                <a:solidFill>
                  <a:schemeClr val="tx1">
                    <a:tint val="75000"/>
                  </a:schemeClr>
                </a:solidFill>
              </a:defRPr>
            </a:lvl6pPr>
            <a:lvl7pPr marL="5486400" indent="0">
              <a:buNone/>
              <a:defRPr sz="3200">
                <a:solidFill>
                  <a:schemeClr val="tx1">
                    <a:tint val="75000"/>
                  </a:schemeClr>
                </a:solidFill>
              </a:defRPr>
            </a:lvl7pPr>
            <a:lvl8pPr marL="6400800" indent="0">
              <a:buNone/>
              <a:defRPr sz="3200">
                <a:solidFill>
                  <a:schemeClr val="tx1">
                    <a:tint val="75000"/>
                  </a:schemeClr>
                </a:solidFill>
              </a:defRPr>
            </a:lvl8pPr>
            <a:lvl9pPr marL="7315200" indent="0">
              <a:buNone/>
              <a:defRPr sz="3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182193819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676400" y="730251"/>
            <a:ext cx="21031200" cy="2651126"/>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4" name="Footer Placeholder 3"/>
          <p:cNvSpPr>
            <a:spLocks noGrp="1"/>
          </p:cNvSpPr>
          <p:nvPr>
            <p:ph type="ftr" sz="quarter" idx="11"/>
          </p:nvPr>
        </p:nvSpPr>
        <p:spPr>
          <a:xfrm>
            <a:off x="8077200" y="12712701"/>
            <a:ext cx="8229600" cy="730250"/>
          </a:xfrm>
          <a:prstGeom prst="rect">
            <a:avLst/>
          </a:prstGeom>
        </p:spPr>
        <p:txBody>
          <a:bodyPr/>
          <a:lstStyle/>
          <a:p>
            <a:endParaRPr lang="en-US"/>
          </a:p>
        </p:txBody>
      </p:sp>
      <p:sp>
        <p:nvSpPr>
          <p:cNvPr id="5" name="Slide Number Placeholder 4"/>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47124193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3" name="Footer Placeholder 2"/>
          <p:cNvSpPr>
            <a:spLocks noGrp="1"/>
          </p:cNvSpPr>
          <p:nvPr>
            <p:ph type="ftr" sz="quarter" idx="11"/>
          </p:nvPr>
        </p:nvSpPr>
        <p:spPr>
          <a:xfrm>
            <a:off x="8077200" y="12712701"/>
            <a:ext cx="8229600" cy="730250"/>
          </a:xfrm>
          <a:prstGeom prst="rect">
            <a:avLst/>
          </a:prstGeom>
        </p:spPr>
        <p:txBody>
          <a:bodyPr/>
          <a:lstStyle/>
          <a:p>
            <a:endParaRPr lang="en-US"/>
          </a:p>
        </p:txBody>
      </p:sp>
      <p:sp>
        <p:nvSpPr>
          <p:cNvPr id="4" name="Slide Number Placeholder 3"/>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6245898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7" y="914400"/>
            <a:ext cx="7864474" cy="3200400"/>
          </a:xfrm>
          <a:prstGeom prst="rect">
            <a:avLst/>
          </a:prstGeom>
        </p:spPr>
        <p:txBody>
          <a:bodyPr anchor="b"/>
          <a:lstStyle>
            <a:lvl1pPr>
              <a:defRPr sz="6400"/>
            </a:lvl1pPr>
          </a:lstStyle>
          <a:p>
            <a:r>
              <a:rPr lang="en-US"/>
              <a:t>Click to edit Master title style</a:t>
            </a:r>
          </a:p>
        </p:txBody>
      </p:sp>
      <p:sp>
        <p:nvSpPr>
          <p:cNvPr id="3" name="Content Placeholder 2"/>
          <p:cNvSpPr>
            <a:spLocks noGrp="1"/>
          </p:cNvSpPr>
          <p:nvPr>
            <p:ph idx="1"/>
          </p:nvPr>
        </p:nvSpPr>
        <p:spPr>
          <a:xfrm>
            <a:off x="10366376" y="1974851"/>
            <a:ext cx="12344400" cy="9747250"/>
          </a:xfrm>
          <a:prstGeom prst="rect">
            <a:avLst/>
          </a:prstGeom>
        </p:spPr>
        <p:txBody>
          <a:bodyPr/>
          <a:lstStyle>
            <a:lvl1pPr>
              <a:defRPr sz="6400"/>
            </a:lvl1pPr>
            <a:lvl2pPr>
              <a:defRPr sz="5600"/>
            </a:lvl2pPr>
            <a:lvl3pPr>
              <a:defRPr sz="4800"/>
            </a:lvl3pPr>
            <a:lvl4pPr>
              <a:defRPr sz="4000"/>
            </a:lvl4pPr>
            <a:lvl5pPr>
              <a:defRPr sz="4000"/>
            </a:lvl5pPr>
            <a:lvl6pPr>
              <a:defRPr sz="4000"/>
            </a:lvl6pPr>
            <a:lvl7pPr>
              <a:defRPr sz="4000"/>
            </a:lvl7pPr>
            <a:lvl8pPr>
              <a:defRPr sz="4000"/>
            </a:lvl8pPr>
            <a:lvl9pPr>
              <a:defRPr sz="4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679577" y="4114800"/>
            <a:ext cx="7864474" cy="7623176"/>
          </a:xfrm>
          <a:prstGeom prst="rect">
            <a:avLst/>
          </a:prstGeo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Edit Master text styles</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endParaRPr lang="en-US"/>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400765581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7" y="914400"/>
            <a:ext cx="7864474" cy="3200400"/>
          </a:xfrm>
          <a:prstGeom prst="rect">
            <a:avLst/>
          </a:prstGeom>
        </p:spPr>
        <p:txBody>
          <a:bodyPr anchor="b"/>
          <a:lstStyle>
            <a:lvl1pPr>
              <a:defRPr sz="6400"/>
            </a:lvl1pPr>
          </a:lstStyle>
          <a:p>
            <a:r>
              <a:rPr lang="en-US"/>
              <a:t>Click to edit Master title style</a:t>
            </a:r>
          </a:p>
        </p:txBody>
      </p:sp>
      <p:sp>
        <p:nvSpPr>
          <p:cNvPr id="3" name="Picture Placeholder 2"/>
          <p:cNvSpPr>
            <a:spLocks noGrp="1"/>
          </p:cNvSpPr>
          <p:nvPr>
            <p:ph type="pic" idx="1"/>
          </p:nvPr>
        </p:nvSpPr>
        <p:spPr>
          <a:xfrm>
            <a:off x="10366376" y="1974851"/>
            <a:ext cx="12344400" cy="9747250"/>
          </a:xfrm>
          <a:prstGeom prst="rect">
            <a:avLst/>
          </a:prstGeom>
        </p:spPr>
        <p:txBody>
          <a:bodyPr/>
          <a:lstStyle>
            <a:lvl1pPr marL="0" indent="0">
              <a:buNone/>
              <a:defRPr sz="6400"/>
            </a:lvl1pPr>
            <a:lvl2pPr marL="914400" indent="0">
              <a:buNone/>
              <a:defRPr sz="5600"/>
            </a:lvl2pPr>
            <a:lvl3pPr marL="1828800" indent="0">
              <a:buNone/>
              <a:defRPr sz="4800"/>
            </a:lvl3pPr>
            <a:lvl4pPr marL="2743200" indent="0">
              <a:buNone/>
              <a:defRPr sz="4000"/>
            </a:lvl4pPr>
            <a:lvl5pPr marL="3657600" indent="0">
              <a:buNone/>
              <a:defRPr sz="4000"/>
            </a:lvl5pPr>
            <a:lvl6pPr marL="4572000" indent="0">
              <a:buNone/>
              <a:defRPr sz="4000"/>
            </a:lvl6pPr>
            <a:lvl7pPr marL="5486400" indent="0">
              <a:buNone/>
              <a:defRPr sz="4000"/>
            </a:lvl7pPr>
            <a:lvl8pPr marL="6400800" indent="0">
              <a:buNone/>
              <a:defRPr sz="4000"/>
            </a:lvl8pPr>
            <a:lvl9pPr marL="7315200" indent="0">
              <a:buNone/>
              <a:defRPr sz="4000"/>
            </a:lvl9pPr>
          </a:lstStyle>
          <a:p>
            <a:endParaRPr lang="en-US"/>
          </a:p>
        </p:txBody>
      </p:sp>
      <p:sp>
        <p:nvSpPr>
          <p:cNvPr id="4" name="Text Placeholder 3"/>
          <p:cNvSpPr>
            <a:spLocks noGrp="1"/>
          </p:cNvSpPr>
          <p:nvPr>
            <p:ph type="body" sz="half" idx="2"/>
          </p:nvPr>
        </p:nvSpPr>
        <p:spPr>
          <a:xfrm>
            <a:off x="1679577" y="4114800"/>
            <a:ext cx="7864474" cy="7623176"/>
          </a:xfrm>
          <a:prstGeom prst="rect">
            <a:avLst/>
          </a:prstGeo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Edit Master text styles</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endParaRPr lang="en-US"/>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8209836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676400" y="730251"/>
            <a:ext cx="21031200" cy="2651126"/>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1676400" y="3651250"/>
            <a:ext cx="21031200" cy="8702676"/>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2108855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7449800" y="730250"/>
            <a:ext cx="5257800" cy="11623676"/>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1676400" y="730250"/>
            <a:ext cx="15468600" cy="11623676"/>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18083307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568361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69597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048000" y="2244726"/>
            <a:ext cx="18288000" cy="4775200"/>
          </a:xfrm>
          <a:prstGeom prst="rect">
            <a:avLst/>
          </a:prstGeom>
        </p:spPr>
        <p:txBody>
          <a:bodyPr anchor="b"/>
          <a:lstStyle>
            <a:lvl1pPr algn="ctr">
              <a:defRPr sz="12000"/>
            </a:lvl1pPr>
          </a:lstStyle>
          <a:p>
            <a:r>
              <a:rPr lang="en-US"/>
              <a:t>Click to edit Master title style</a:t>
            </a:r>
          </a:p>
        </p:txBody>
      </p:sp>
      <p:sp>
        <p:nvSpPr>
          <p:cNvPr id="3" name="Subtitle 2"/>
          <p:cNvSpPr>
            <a:spLocks noGrp="1"/>
          </p:cNvSpPr>
          <p:nvPr>
            <p:ph type="subTitle" idx="1"/>
          </p:nvPr>
        </p:nvSpPr>
        <p:spPr>
          <a:xfrm>
            <a:off x="3048000" y="7204076"/>
            <a:ext cx="18288000" cy="3311524"/>
          </a:xfrm>
          <a:prstGeom prst="rect">
            <a:avLst/>
          </a:prstGeom>
        </p:spPr>
        <p:txBody>
          <a:bodyPr/>
          <a:lstStyle>
            <a:lvl1pPr marL="0" indent="0" algn="ctr">
              <a:buNone/>
              <a:defRPr sz="4800"/>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Click to edit Master subtitle style</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20317877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676400" y="730251"/>
            <a:ext cx="21031200" cy="2651126"/>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1676400" y="3651250"/>
            <a:ext cx="21031200" cy="87026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78961529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63700" y="3419477"/>
            <a:ext cx="21031200" cy="5705474"/>
          </a:xfrm>
          <a:prstGeom prst="rect">
            <a:avLst/>
          </a:prstGeom>
        </p:spPr>
        <p:txBody>
          <a:bodyPr anchor="b"/>
          <a:lstStyle>
            <a:lvl1pPr>
              <a:defRPr sz="12000"/>
            </a:lvl1pPr>
          </a:lstStyle>
          <a:p>
            <a:r>
              <a:rPr lang="en-US"/>
              <a:t>Click to edit Master title style</a:t>
            </a:r>
          </a:p>
        </p:txBody>
      </p:sp>
      <p:sp>
        <p:nvSpPr>
          <p:cNvPr id="3" name="Text Placeholder 2"/>
          <p:cNvSpPr>
            <a:spLocks noGrp="1"/>
          </p:cNvSpPr>
          <p:nvPr>
            <p:ph type="body" idx="1"/>
          </p:nvPr>
        </p:nvSpPr>
        <p:spPr>
          <a:xfrm>
            <a:off x="1663700" y="9178927"/>
            <a:ext cx="21031200" cy="3000374"/>
          </a:xfrm>
          <a:prstGeom prst="rect">
            <a:avLst/>
          </a:prstGeom>
        </p:spPr>
        <p:txBody>
          <a:bodyPr/>
          <a:lstStyle>
            <a:lvl1pPr marL="0" indent="0">
              <a:buNone/>
              <a:defRPr sz="4800">
                <a:solidFill>
                  <a:schemeClr val="tx1">
                    <a:tint val="75000"/>
                  </a:schemeClr>
                </a:solidFill>
              </a:defRPr>
            </a:lvl1pPr>
            <a:lvl2pPr marL="914400" indent="0">
              <a:buNone/>
              <a:defRPr sz="4000">
                <a:solidFill>
                  <a:schemeClr val="tx1">
                    <a:tint val="75000"/>
                  </a:schemeClr>
                </a:solidFill>
              </a:defRPr>
            </a:lvl2pPr>
            <a:lvl3pPr marL="1828800" indent="0">
              <a:buNone/>
              <a:defRPr sz="3600">
                <a:solidFill>
                  <a:schemeClr val="tx1">
                    <a:tint val="75000"/>
                  </a:schemeClr>
                </a:solidFill>
              </a:defRPr>
            </a:lvl3pPr>
            <a:lvl4pPr marL="2743200" indent="0">
              <a:buNone/>
              <a:defRPr sz="3200">
                <a:solidFill>
                  <a:schemeClr val="tx1">
                    <a:tint val="75000"/>
                  </a:schemeClr>
                </a:solidFill>
              </a:defRPr>
            </a:lvl4pPr>
            <a:lvl5pPr marL="3657600" indent="0">
              <a:buNone/>
              <a:defRPr sz="3200">
                <a:solidFill>
                  <a:schemeClr val="tx1">
                    <a:tint val="75000"/>
                  </a:schemeClr>
                </a:solidFill>
              </a:defRPr>
            </a:lvl5pPr>
            <a:lvl6pPr marL="4572000" indent="0">
              <a:buNone/>
              <a:defRPr sz="3200">
                <a:solidFill>
                  <a:schemeClr val="tx1">
                    <a:tint val="75000"/>
                  </a:schemeClr>
                </a:solidFill>
              </a:defRPr>
            </a:lvl6pPr>
            <a:lvl7pPr marL="5486400" indent="0">
              <a:buNone/>
              <a:defRPr sz="3200">
                <a:solidFill>
                  <a:schemeClr val="tx1">
                    <a:tint val="75000"/>
                  </a:schemeClr>
                </a:solidFill>
              </a:defRPr>
            </a:lvl7pPr>
            <a:lvl8pPr marL="6400800" indent="0">
              <a:buNone/>
              <a:defRPr sz="3200">
                <a:solidFill>
                  <a:schemeClr val="tx1">
                    <a:tint val="75000"/>
                  </a:schemeClr>
                </a:solidFill>
              </a:defRPr>
            </a:lvl8pPr>
            <a:lvl9pPr marL="7315200" indent="0">
              <a:buNone/>
              <a:defRPr sz="3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238159446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676400" y="730251"/>
            <a:ext cx="21031200" cy="2651126"/>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1676400" y="3651250"/>
            <a:ext cx="10363200" cy="87026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2344400" y="3651250"/>
            <a:ext cx="10363200" cy="87026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endParaRPr lang="en-US"/>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156368330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79576" y="730251"/>
            <a:ext cx="21031200" cy="2651126"/>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1679577" y="3362326"/>
            <a:ext cx="10315574" cy="1647824"/>
          </a:xfrm>
          <a:prstGeom prst="rect">
            <a:avLst/>
          </a:prstGeo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Edit Master text styles</a:t>
            </a:r>
          </a:p>
        </p:txBody>
      </p:sp>
      <p:sp>
        <p:nvSpPr>
          <p:cNvPr id="4" name="Content Placeholder 3"/>
          <p:cNvSpPr>
            <a:spLocks noGrp="1"/>
          </p:cNvSpPr>
          <p:nvPr>
            <p:ph sz="half" idx="2"/>
          </p:nvPr>
        </p:nvSpPr>
        <p:spPr>
          <a:xfrm>
            <a:off x="1679577" y="5010150"/>
            <a:ext cx="10315574" cy="73691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2344400" y="3362326"/>
            <a:ext cx="10366376" cy="1647824"/>
          </a:xfrm>
          <a:prstGeom prst="rect">
            <a:avLst/>
          </a:prstGeo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Edit Master text styles</a:t>
            </a:r>
          </a:p>
        </p:txBody>
      </p:sp>
      <p:sp>
        <p:nvSpPr>
          <p:cNvPr id="6" name="Content Placeholder 5"/>
          <p:cNvSpPr>
            <a:spLocks noGrp="1"/>
          </p:cNvSpPr>
          <p:nvPr>
            <p:ph sz="quarter" idx="4"/>
          </p:nvPr>
        </p:nvSpPr>
        <p:spPr>
          <a:xfrm>
            <a:off x="12344400" y="5010150"/>
            <a:ext cx="10366376" cy="73691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8" name="Footer Placeholder 7"/>
          <p:cNvSpPr>
            <a:spLocks noGrp="1"/>
          </p:cNvSpPr>
          <p:nvPr>
            <p:ph type="ftr" sz="quarter" idx="11"/>
          </p:nvPr>
        </p:nvSpPr>
        <p:spPr>
          <a:xfrm>
            <a:off x="8077200" y="12712701"/>
            <a:ext cx="8229600" cy="730250"/>
          </a:xfrm>
          <a:prstGeom prst="rect">
            <a:avLst/>
          </a:prstGeom>
        </p:spPr>
        <p:txBody>
          <a:bodyPr/>
          <a:lstStyle/>
          <a:p>
            <a:endParaRPr lang="en-US"/>
          </a:p>
        </p:txBody>
      </p:sp>
      <p:sp>
        <p:nvSpPr>
          <p:cNvPr id="9" name="Slide Number Placeholder 8"/>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127777825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676400" y="730251"/>
            <a:ext cx="21031200" cy="2651126"/>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4" name="Footer Placeholder 3"/>
          <p:cNvSpPr>
            <a:spLocks noGrp="1"/>
          </p:cNvSpPr>
          <p:nvPr>
            <p:ph type="ftr" sz="quarter" idx="11"/>
          </p:nvPr>
        </p:nvSpPr>
        <p:spPr>
          <a:xfrm>
            <a:off x="8077200" y="12712701"/>
            <a:ext cx="8229600" cy="730250"/>
          </a:xfrm>
          <a:prstGeom prst="rect">
            <a:avLst/>
          </a:prstGeom>
        </p:spPr>
        <p:txBody>
          <a:bodyPr/>
          <a:lstStyle/>
          <a:p>
            <a:endParaRPr lang="en-US"/>
          </a:p>
        </p:txBody>
      </p:sp>
      <p:sp>
        <p:nvSpPr>
          <p:cNvPr id="5" name="Slide Number Placeholder 4"/>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201951054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3" name="Footer Placeholder 2"/>
          <p:cNvSpPr>
            <a:spLocks noGrp="1"/>
          </p:cNvSpPr>
          <p:nvPr>
            <p:ph type="ftr" sz="quarter" idx="11"/>
          </p:nvPr>
        </p:nvSpPr>
        <p:spPr>
          <a:xfrm>
            <a:off x="8077200" y="12712701"/>
            <a:ext cx="8229600" cy="730250"/>
          </a:xfrm>
          <a:prstGeom prst="rect">
            <a:avLst/>
          </a:prstGeom>
        </p:spPr>
        <p:txBody>
          <a:bodyPr/>
          <a:lstStyle/>
          <a:p>
            <a:endParaRPr lang="en-US"/>
          </a:p>
        </p:txBody>
      </p:sp>
      <p:sp>
        <p:nvSpPr>
          <p:cNvPr id="4" name="Slide Number Placeholder 3"/>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30124628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7" y="914400"/>
            <a:ext cx="7864474" cy="3200400"/>
          </a:xfrm>
          <a:prstGeom prst="rect">
            <a:avLst/>
          </a:prstGeom>
        </p:spPr>
        <p:txBody>
          <a:bodyPr anchor="b"/>
          <a:lstStyle>
            <a:lvl1pPr>
              <a:defRPr sz="6400"/>
            </a:lvl1pPr>
          </a:lstStyle>
          <a:p>
            <a:r>
              <a:rPr lang="en-US"/>
              <a:t>Click to edit Master title style</a:t>
            </a:r>
          </a:p>
        </p:txBody>
      </p:sp>
      <p:sp>
        <p:nvSpPr>
          <p:cNvPr id="3" name="Content Placeholder 2"/>
          <p:cNvSpPr>
            <a:spLocks noGrp="1"/>
          </p:cNvSpPr>
          <p:nvPr>
            <p:ph idx="1"/>
          </p:nvPr>
        </p:nvSpPr>
        <p:spPr>
          <a:xfrm>
            <a:off x="10366376" y="1974851"/>
            <a:ext cx="12344400" cy="9747250"/>
          </a:xfrm>
          <a:prstGeom prst="rect">
            <a:avLst/>
          </a:prstGeom>
        </p:spPr>
        <p:txBody>
          <a:bodyPr/>
          <a:lstStyle>
            <a:lvl1pPr>
              <a:defRPr sz="6400"/>
            </a:lvl1pPr>
            <a:lvl2pPr>
              <a:defRPr sz="5600"/>
            </a:lvl2pPr>
            <a:lvl3pPr>
              <a:defRPr sz="4800"/>
            </a:lvl3pPr>
            <a:lvl4pPr>
              <a:defRPr sz="4000"/>
            </a:lvl4pPr>
            <a:lvl5pPr>
              <a:defRPr sz="4000"/>
            </a:lvl5pPr>
            <a:lvl6pPr>
              <a:defRPr sz="4000"/>
            </a:lvl6pPr>
            <a:lvl7pPr>
              <a:defRPr sz="4000"/>
            </a:lvl7pPr>
            <a:lvl8pPr>
              <a:defRPr sz="4000"/>
            </a:lvl8pPr>
            <a:lvl9pPr>
              <a:defRPr sz="4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679577" y="4114800"/>
            <a:ext cx="7864474" cy="7623176"/>
          </a:xfrm>
          <a:prstGeom prst="rect">
            <a:avLst/>
          </a:prstGeo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Edit Master text styles</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endParaRPr lang="en-US"/>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54048112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7" y="914400"/>
            <a:ext cx="7864474" cy="3200400"/>
          </a:xfrm>
          <a:prstGeom prst="rect">
            <a:avLst/>
          </a:prstGeom>
        </p:spPr>
        <p:txBody>
          <a:bodyPr anchor="b"/>
          <a:lstStyle>
            <a:lvl1pPr>
              <a:defRPr sz="6400"/>
            </a:lvl1pPr>
          </a:lstStyle>
          <a:p>
            <a:r>
              <a:rPr lang="en-US"/>
              <a:t>Click to edit Master title style</a:t>
            </a:r>
          </a:p>
        </p:txBody>
      </p:sp>
      <p:sp>
        <p:nvSpPr>
          <p:cNvPr id="3" name="Picture Placeholder 2"/>
          <p:cNvSpPr>
            <a:spLocks noGrp="1"/>
          </p:cNvSpPr>
          <p:nvPr>
            <p:ph type="pic" idx="1"/>
          </p:nvPr>
        </p:nvSpPr>
        <p:spPr>
          <a:xfrm>
            <a:off x="10366376" y="1974851"/>
            <a:ext cx="12344400" cy="9747250"/>
          </a:xfrm>
          <a:prstGeom prst="rect">
            <a:avLst/>
          </a:prstGeom>
        </p:spPr>
        <p:txBody>
          <a:bodyPr/>
          <a:lstStyle>
            <a:lvl1pPr marL="0" indent="0">
              <a:buNone/>
              <a:defRPr sz="6400"/>
            </a:lvl1pPr>
            <a:lvl2pPr marL="914400" indent="0">
              <a:buNone/>
              <a:defRPr sz="5600"/>
            </a:lvl2pPr>
            <a:lvl3pPr marL="1828800" indent="0">
              <a:buNone/>
              <a:defRPr sz="4800"/>
            </a:lvl3pPr>
            <a:lvl4pPr marL="2743200" indent="0">
              <a:buNone/>
              <a:defRPr sz="4000"/>
            </a:lvl4pPr>
            <a:lvl5pPr marL="3657600" indent="0">
              <a:buNone/>
              <a:defRPr sz="4000"/>
            </a:lvl5pPr>
            <a:lvl6pPr marL="4572000" indent="0">
              <a:buNone/>
              <a:defRPr sz="4000"/>
            </a:lvl6pPr>
            <a:lvl7pPr marL="5486400" indent="0">
              <a:buNone/>
              <a:defRPr sz="4000"/>
            </a:lvl7pPr>
            <a:lvl8pPr marL="6400800" indent="0">
              <a:buNone/>
              <a:defRPr sz="4000"/>
            </a:lvl8pPr>
            <a:lvl9pPr marL="7315200" indent="0">
              <a:buNone/>
              <a:defRPr sz="4000"/>
            </a:lvl9pPr>
          </a:lstStyle>
          <a:p>
            <a:endParaRPr lang="en-US"/>
          </a:p>
        </p:txBody>
      </p:sp>
      <p:sp>
        <p:nvSpPr>
          <p:cNvPr id="4" name="Text Placeholder 3"/>
          <p:cNvSpPr>
            <a:spLocks noGrp="1"/>
          </p:cNvSpPr>
          <p:nvPr>
            <p:ph type="body" sz="half" idx="2"/>
          </p:nvPr>
        </p:nvSpPr>
        <p:spPr>
          <a:xfrm>
            <a:off x="1679577" y="4114800"/>
            <a:ext cx="7864474" cy="7623176"/>
          </a:xfrm>
          <a:prstGeom prst="rect">
            <a:avLst/>
          </a:prstGeo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Edit Master text styles</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endParaRPr lang="en-US"/>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132370736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676400" y="730251"/>
            <a:ext cx="21031200" cy="2651126"/>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1676400" y="3651250"/>
            <a:ext cx="21031200" cy="8702676"/>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213993066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7449800" y="730250"/>
            <a:ext cx="5257800" cy="11623676"/>
          </a:xfrm>
          <a:prstGeom prst="rect">
            <a:avLst/>
          </a:prstGeom>
        </p:spPr>
        <p:txBody>
          <a:bodyPr vert="eaVert"/>
          <a:lstStyle/>
          <a:p>
            <a:r>
              <a:rPr lang="en-US"/>
              <a:t>Click to edit Master title style</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18404850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1219200" y="12712706"/>
            <a:ext cx="5689601" cy="730250"/>
          </a:xfrm>
          <a:prstGeom prst="rect">
            <a:avLst/>
          </a:prstGeom>
        </p:spPr>
        <p:txBody>
          <a:bodyPr lIns="91426" tIns="45713" rIns="91426" bIns="45713"/>
          <a:lstStyle/>
          <a:p>
            <a:fld id="{D15044BE-B3F3-4258-B55D-9238C2EBFDF1}" type="datetimeFigureOut">
              <a:rPr lang="en-US" smtClean="0"/>
              <a:pPr/>
              <a:t>8/30/2022</a:t>
            </a:fld>
            <a:endParaRPr lang="en-US"/>
          </a:p>
        </p:txBody>
      </p:sp>
      <p:sp>
        <p:nvSpPr>
          <p:cNvPr id="5" name="Footer Placeholder 4"/>
          <p:cNvSpPr>
            <a:spLocks noGrp="1"/>
          </p:cNvSpPr>
          <p:nvPr>
            <p:ph type="ftr" sz="quarter" idx="11"/>
          </p:nvPr>
        </p:nvSpPr>
        <p:spPr>
          <a:xfrm>
            <a:off x="8331205" y="12712706"/>
            <a:ext cx="7721601" cy="730250"/>
          </a:xfrm>
          <a:prstGeom prst="rect">
            <a:avLst/>
          </a:prstGeom>
        </p:spPr>
        <p:txBody>
          <a:bodyPr lIns="91426" tIns="45713" rIns="91426" bIns="45713"/>
          <a:lstStyle/>
          <a:p>
            <a:endParaRPr lang="en-US"/>
          </a:p>
        </p:txBody>
      </p:sp>
      <p:sp>
        <p:nvSpPr>
          <p:cNvPr id="6" name="Slide Number Placeholder 5"/>
          <p:cNvSpPr>
            <a:spLocks noGrp="1"/>
          </p:cNvSpPr>
          <p:nvPr>
            <p:ph type="sldNum" sz="quarter" idx="12"/>
          </p:nvPr>
        </p:nvSpPr>
        <p:spPr>
          <a:xfrm>
            <a:off x="17475204" y="12712706"/>
            <a:ext cx="5689601" cy="730250"/>
          </a:xfrm>
          <a:prstGeom prst="rect">
            <a:avLst/>
          </a:prstGeom>
        </p:spPr>
        <p:txBody>
          <a:bodyPr lIns="91426" tIns="45713" rIns="91426" bIns="45713"/>
          <a:lstStyle/>
          <a:p>
            <a:fld id="{E56A0A80-8336-46B1-B89F-89FB7E7362A5}" type="slidenum">
              <a:rPr lang="en-US" smtClean="0"/>
              <a:pPr/>
              <a:t>‹#›</a:t>
            </a:fld>
            <a:endParaRPr lang="en-US"/>
          </a:p>
        </p:txBody>
      </p:sp>
    </p:spTree>
    <p:extLst>
      <p:ext uri="{BB962C8B-B14F-4D97-AF65-F5344CB8AC3E}">
        <p14:creationId xmlns:p14="http://schemas.microsoft.com/office/powerpoint/2010/main" val="294886206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1219202" y="12712702"/>
            <a:ext cx="5689600" cy="730250"/>
          </a:xfrm>
          <a:prstGeom prst="rect">
            <a:avLst/>
          </a:prstGeom>
        </p:spPr>
        <p:txBody>
          <a:bodyPr/>
          <a:lstStyle/>
          <a:p>
            <a:fld id="{D15044BE-B3F3-4258-B55D-9238C2EBFDF1}" type="datetimeFigureOut">
              <a:rPr lang="en-US" smtClean="0"/>
              <a:pPr/>
              <a:t>8/30/2022</a:t>
            </a:fld>
            <a:endParaRPr lang="en-US"/>
          </a:p>
        </p:txBody>
      </p:sp>
      <p:sp>
        <p:nvSpPr>
          <p:cNvPr id="5" name="Footer Placeholder 4"/>
          <p:cNvSpPr>
            <a:spLocks noGrp="1"/>
          </p:cNvSpPr>
          <p:nvPr>
            <p:ph type="ftr" sz="quarter" idx="11"/>
          </p:nvPr>
        </p:nvSpPr>
        <p:spPr>
          <a:xfrm>
            <a:off x="8331200" y="12712702"/>
            <a:ext cx="7721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475201" y="12712702"/>
            <a:ext cx="5689600" cy="730250"/>
          </a:xfrm>
          <a:prstGeom prst="rect">
            <a:avLst/>
          </a:prstGeom>
        </p:spPr>
        <p:txBody>
          <a:bodyPr/>
          <a:lstStyle/>
          <a:p>
            <a:fld id="{E56A0A80-8336-46B1-B89F-89FB7E7362A5}" type="slidenum">
              <a:rPr lang="en-US" smtClean="0"/>
              <a:pPr/>
              <a:t>‹#›</a:t>
            </a:fld>
            <a:endParaRPr lang="en-US"/>
          </a:p>
        </p:txBody>
      </p:sp>
    </p:spTree>
    <p:extLst>
      <p:ext uri="{BB962C8B-B14F-4D97-AF65-F5344CB8AC3E}">
        <p14:creationId xmlns:p14="http://schemas.microsoft.com/office/powerpoint/2010/main" val="342316447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1219201" y="12712701"/>
            <a:ext cx="5689600" cy="730250"/>
          </a:xfrm>
          <a:prstGeom prst="rect">
            <a:avLst/>
          </a:prstGeom>
        </p:spPr>
        <p:txBody>
          <a:bodyPr/>
          <a:lstStyle/>
          <a:p>
            <a:fld id="{D15044BE-B3F3-4258-B55D-9238C2EBFDF1}" type="datetimeFigureOut">
              <a:rPr lang="en-US" smtClean="0"/>
              <a:pPr/>
              <a:t>8/30/2022</a:t>
            </a:fld>
            <a:endParaRPr lang="en-US"/>
          </a:p>
        </p:txBody>
      </p:sp>
      <p:sp>
        <p:nvSpPr>
          <p:cNvPr id="5" name="Footer Placeholder 4"/>
          <p:cNvSpPr>
            <a:spLocks noGrp="1"/>
          </p:cNvSpPr>
          <p:nvPr>
            <p:ph type="ftr" sz="quarter" idx="11"/>
          </p:nvPr>
        </p:nvSpPr>
        <p:spPr>
          <a:xfrm>
            <a:off x="8331200" y="12712701"/>
            <a:ext cx="7721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475200" y="12712701"/>
            <a:ext cx="5689600" cy="730250"/>
          </a:xfrm>
          <a:prstGeom prst="rect">
            <a:avLst/>
          </a:prstGeom>
        </p:spPr>
        <p:txBody>
          <a:bodyPr/>
          <a:lstStyle/>
          <a:p>
            <a:fld id="{E56A0A80-8336-46B1-B89F-89FB7E7362A5}" type="slidenum">
              <a:rPr lang="en-US" smtClean="0"/>
              <a:pPr/>
              <a:t>‹#›</a:t>
            </a:fld>
            <a:endParaRPr lang="en-US"/>
          </a:p>
        </p:txBody>
      </p:sp>
    </p:spTree>
    <p:extLst>
      <p:ext uri="{BB962C8B-B14F-4D97-AF65-F5344CB8AC3E}">
        <p14:creationId xmlns:p14="http://schemas.microsoft.com/office/powerpoint/2010/main" val="44376608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1219201" y="12712701"/>
            <a:ext cx="5689600" cy="730250"/>
          </a:xfrm>
          <a:prstGeom prst="rect">
            <a:avLst/>
          </a:prstGeom>
        </p:spPr>
        <p:txBody>
          <a:bodyPr/>
          <a:lstStyle/>
          <a:p>
            <a:fld id="{D15044BE-B3F3-4258-B55D-9238C2EBFDF1}" type="datetimeFigureOut">
              <a:rPr lang="en-US" smtClean="0"/>
              <a:pPr/>
              <a:t>8/30/2022</a:t>
            </a:fld>
            <a:endParaRPr lang="en-US"/>
          </a:p>
        </p:txBody>
      </p:sp>
      <p:sp>
        <p:nvSpPr>
          <p:cNvPr id="5" name="Footer Placeholder 4"/>
          <p:cNvSpPr>
            <a:spLocks noGrp="1"/>
          </p:cNvSpPr>
          <p:nvPr>
            <p:ph type="ftr" sz="quarter" idx="11"/>
          </p:nvPr>
        </p:nvSpPr>
        <p:spPr>
          <a:xfrm>
            <a:off x="8331200" y="12712701"/>
            <a:ext cx="7721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475200" y="12712701"/>
            <a:ext cx="5689600" cy="730250"/>
          </a:xfrm>
          <a:prstGeom prst="rect">
            <a:avLst/>
          </a:prstGeom>
        </p:spPr>
        <p:txBody>
          <a:bodyPr/>
          <a:lstStyle/>
          <a:p>
            <a:fld id="{E56A0A80-8336-46B1-B89F-89FB7E7362A5}" type="slidenum">
              <a:rPr lang="en-US" smtClean="0"/>
              <a:pPr/>
              <a:t>‹#›</a:t>
            </a:fld>
            <a:endParaRPr lang="en-US"/>
          </a:p>
        </p:txBody>
      </p:sp>
    </p:spTree>
    <p:extLst>
      <p:ext uri="{BB962C8B-B14F-4D97-AF65-F5344CB8AC3E}">
        <p14:creationId xmlns:p14="http://schemas.microsoft.com/office/powerpoint/2010/main" val="182981351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gif"/></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slideLayout" Target="../slideLayouts/slideLayout25.xml"/><Relationship Id="rId14" Type="http://schemas.openxmlformats.org/officeDocument/2006/relationships/slideLayout" Target="../slideLayouts/slideLayout26.xml"/><Relationship Id="rId15" Type="http://schemas.openxmlformats.org/officeDocument/2006/relationships/slideLayout" Target="../slideLayouts/slideLayout27.xml"/><Relationship Id="rId16" Type="http://schemas.openxmlformats.org/officeDocument/2006/relationships/theme" Target="../theme/theme2.xml"/><Relationship Id="rId17" Type="http://schemas.openxmlformats.org/officeDocument/2006/relationships/image" Target="../media/image1.gi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3140210"/>
      </p:ext>
    </p:extLst>
  </p:cSld>
  <p:clrMap bg1="lt1" tx1="dk1" bg2="lt2" tx2="dk2" accent1="accent1" accent2="accent2" accent3="accent3" accent4="accent4" accent5="accent5" accent6="accent6" hlink="hlink" folHlink="folHlink"/>
  <p:sldLayoutIdLst>
    <p:sldLayoutId id="2147483742" r:id="rId1"/>
    <p:sldLayoutId id="2147483743" r:id="rId2"/>
    <p:sldLayoutId id="2147483740" r:id="rId3"/>
    <p:sldLayoutId id="2147483741" r:id="rId4"/>
    <p:sldLayoutId id="2147483744" r:id="rId5"/>
    <p:sldLayoutId id="2147483745" r:id="rId6"/>
    <p:sldLayoutId id="2147483746" r:id="rId7"/>
    <p:sldLayoutId id="2147483747" r:id="rId8"/>
    <p:sldLayoutId id="2147483748" r:id="rId9"/>
    <p:sldLayoutId id="2147483749" r:id="rId10"/>
    <p:sldLayoutId id="2147483750" r:id="rId11"/>
    <p:sldLayoutId id="2147483782" r:id="rId12"/>
  </p:sldLayoutIdLst>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xStyles>
    <p:title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1094257"/>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 id="2147483766" r:id="rId12"/>
    <p:sldLayoutId id="2147483767" r:id="rId13"/>
    <p:sldLayoutId id="2147483768" r:id="rId14"/>
    <p:sldLayoutId id="2147483769" r:id="rId15"/>
  </p:sldLayoutIdLst>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xStyles>
    <p:title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3.emf"/><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7.png"/><Relationship Id="rId5"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16.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18.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20.png"/><Relationship Id="rId4" Type="http://schemas.openxmlformats.org/officeDocument/2006/relationships/image" Target="../media/image15.png"/><Relationship Id="rId5" Type="http://schemas.openxmlformats.org/officeDocument/2006/relationships/image" Target="../media/image2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23.png"/><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25.png"/><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e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19.emf"/><Relationship Id="rId4" Type="http://schemas.openxmlformats.org/officeDocument/2006/relationships/image" Target="../media/image20.emf"/><Relationship Id="rId5" Type="http://schemas.openxmlformats.org/officeDocument/2006/relationships/image" Target="../media/image21.e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22.emf"/><Relationship Id="rId4" Type="http://schemas.openxmlformats.org/officeDocument/2006/relationships/image" Target="../media/image23.emf"/><Relationship Id="rId5" Type="http://schemas.openxmlformats.org/officeDocument/2006/relationships/image" Target="../media/image24.e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25.emf"/><Relationship Id="rId4" Type="http://schemas.openxmlformats.org/officeDocument/2006/relationships/image" Target="../media/image26.e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27.emf"/><Relationship Id="rId4" Type="http://schemas.openxmlformats.org/officeDocument/2006/relationships/image" Target="../media/image28.e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29.emf"/><Relationship Id="rId4" Type="http://schemas.openxmlformats.org/officeDocument/2006/relationships/image" Target="../media/image30.e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31.emf"/><Relationship Id="rId4" Type="http://schemas.openxmlformats.org/officeDocument/2006/relationships/image" Target="../media/image32.e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33.emf"/><Relationship Id="rId4" Type="http://schemas.openxmlformats.org/officeDocument/2006/relationships/image" Target="../media/image34.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6" name="Group 5">
            <a:extLst>
              <a:ext uri="{FF2B5EF4-FFF2-40B4-BE49-F238E27FC236}">
                <a16:creationId xmlns:a16="http://schemas.microsoft.com/office/drawing/2014/main" id="{E3FF6797-9084-4088-B03C-F68BB0D6D29D}"/>
              </a:ext>
            </a:extLst>
          </p:cNvPr>
          <p:cNvGrpSpPr/>
          <p:nvPr/>
        </p:nvGrpSpPr>
        <p:grpSpPr>
          <a:xfrm>
            <a:off x="9677400" y="1676400"/>
            <a:ext cx="13944600" cy="11181523"/>
            <a:chOff x="9851187" y="2126503"/>
            <a:chExt cx="13944600" cy="11181523"/>
          </a:xfrm>
        </p:grpSpPr>
        <p:grpSp>
          <p:nvGrpSpPr>
            <p:cNvPr id="8" name="Group 7"/>
            <p:cNvGrpSpPr/>
            <p:nvPr/>
          </p:nvGrpSpPr>
          <p:grpSpPr>
            <a:xfrm>
              <a:off x="9851187" y="2126503"/>
              <a:ext cx="13944600" cy="11181523"/>
              <a:chOff x="1339699" y="3448230"/>
              <a:chExt cx="13944600" cy="11181523"/>
            </a:xfrm>
          </p:grpSpPr>
          <p:sp>
            <p:nvSpPr>
              <p:cNvPr id="10" name="Right Triangle 9"/>
              <p:cNvSpPr/>
              <p:nvPr/>
            </p:nvSpPr>
            <p:spPr>
              <a:xfrm flipH="1">
                <a:off x="8958821" y="3486542"/>
                <a:ext cx="193377" cy="212342"/>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p:cNvGrpSpPr/>
              <p:nvPr/>
            </p:nvGrpSpPr>
            <p:grpSpPr>
              <a:xfrm>
                <a:off x="1339699" y="3448230"/>
                <a:ext cx="13944600" cy="11181523"/>
                <a:chOff x="1339699" y="3448230"/>
                <a:chExt cx="13944600" cy="11181523"/>
              </a:xfrm>
            </p:grpSpPr>
            <p:sp>
              <p:nvSpPr>
                <p:cNvPr id="12" name="Rounded Rectangle 11"/>
                <p:cNvSpPr/>
                <p:nvPr/>
              </p:nvSpPr>
              <p:spPr>
                <a:xfrm>
                  <a:off x="1339699" y="3696072"/>
                  <a:ext cx="13944600" cy="10933681"/>
                </a:xfrm>
                <a:prstGeom prst="roundRect">
                  <a:avLst>
                    <a:gd name="adj" fmla="val 2374"/>
                  </a:avLst>
                </a:prstGeom>
                <a:solidFill>
                  <a:schemeClr val="accent6">
                    <a:lumMod val="20000"/>
                    <a:lumOff val="80000"/>
                  </a:schemeClr>
                </a:solidFill>
                <a:ln w="28575">
                  <a:solidFill>
                    <a:srgbClr val="0999C8"/>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algn="ctr"/>
                  <a:endParaRPr lang="en-US" sz="4600">
                    <a:latin typeface="Tahoma" pitchFamily="34" charset="0"/>
                    <a:ea typeface="Tahoma" pitchFamily="34" charset="0"/>
                    <a:cs typeface="Tahoma" pitchFamily="34" charset="0"/>
                  </a:endParaRPr>
                </a:p>
              </p:txBody>
            </p:sp>
            <p:sp>
              <p:nvSpPr>
                <p:cNvPr id="14" name="TextBox 13"/>
                <p:cNvSpPr txBox="1"/>
                <p:nvPr/>
              </p:nvSpPr>
              <p:spPr>
                <a:xfrm>
                  <a:off x="5759299" y="3448230"/>
                  <a:ext cx="3890809" cy="923330"/>
                </a:xfrm>
                <a:prstGeom prst="rect">
                  <a:avLst/>
                </a:prstGeom>
                <a:noFill/>
              </p:spPr>
              <p:txBody>
                <a:bodyPr wrap="none" rtlCol="0">
                  <a:spAutoFit/>
                </a:bodyPr>
                <a:lstStyle/>
                <a:p>
                  <a:pPr algn="ctr" fontAlgn="auto">
                    <a:spcBef>
                      <a:spcPct val="50000"/>
                    </a:spcBef>
                    <a:spcAft>
                      <a:spcPts val="0"/>
                    </a:spcAft>
                    <a:defRPr/>
                  </a:pPr>
                  <a:r>
                    <a:rPr lang="en-US" sz="5400" b="1" cap="all" dirty="0">
                      <a:ln w="0"/>
                      <a:solidFill>
                        <a:schemeClr val="bg1"/>
                      </a:solidFill>
                      <a:effectLst>
                        <a:reflection blurRad="12700" stA="50000" endPos="50000" dist="5000" dir="5400000" sy="-100000" rotWithShape="0"/>
                      </a:effectLst>
                      <a:latin typeface="Tahoma" pitchFamily="34" charset="0"/>
                      <a:ea typeface="Tahoma" pitchFamily="34" charset="0"/>
                      <a:cs typeface="Tahoma" pitchFamily="34" charset="0"/>
                    </a:rPr>
                    <a:t>CHƯƠNG I</a:t>
                  </a:r>
                </a:p>
              </p:txBody>
            </p:sp>
          </p:grpSp>
        </p:grpSp>
        <p:sp>
          <p:nvSpPr>
            <p:cNvPr id="15" name="Right Triangle 14"/>
            <p:cNvSpPr/>
            <p:nvPr/>
          </p:nvSpPr>
          <p:spPr>
            <a:xfrm flipH="1">
              <a:off x="11477625" y="2164818"/>
              <a:ext cx="193377" cy="212342"/>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 Same Side Corner Rectangle 15"/>
            <p:cNvSpPr/>
            <p:nvPr/>
          </p:nvSpPr>
          <p:spPr>
            <a:xfrm flipV="1">
              <a:off x="11671001" y="2164810"/>
              <a:ext cx="10807999" cy="2781403"/>
            </a:xfrm>
            <a:prstGeom prst="round2Same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6"/>
            <p:cNvSpPr>
              <a:spLocks noChangeArrowheads="1"/>
            </p:cNvSpPr>
            <p:nvPr/>
          </p:nvSpPr>
          <p:spPr bwMode="auto">
            <a:xfrm>
              <a:off x="11222787" y="5288484"/>
              <a:ext cx="11887200" cy="7582219"/>
            </a:xfrm>
            <a:prstGeom prst="rect">
              <a:avLst/>
            </a:prstGeom>
            <a:noFill/>
            <a:ln w="9525">
              <a:noFill/>
              <a:miter lim="800000"/>
              <a:headEnd/>
              <a:tailEnd/>
            </a:ln>
            <a:effectLst/>
          </p:spPr>
          <p:txBody>
            <a:bodyPr/>
            <a:lstStyle/>
            <a:p>
              <a:pPr algn="just">
                <a:lnSpc>
                  <a:spcPct val="150000"/>
                </a:lnSpc>
                <a:spcBef>
                  <a:spcPct val="20000"/>
                </a:spcBef>
                <a:defRPr/>
              </a:pPr>
              <a:r>
                <a:rPr lang="en-US" sz="6000" b="1">
                  <a:solidFill>
                    <a:srgbClr val="0000FF"/>
                  </a:solidFill>
                  <a:latin typeface="Tahoma" pitchFamily="34" charset="0"/>
                  <a:ea typeface="Tahoma" pitchFamily="34" charset="0"/>
                  <a:cs typeface="Tahoma" pitchFamily="34" charset="0"/>
                </a:rPr>
                <a:t>§12. SỐ GẦN ĐÚNG VÀ SAI SỐ</a:t>
              </a:r>
              <a:endParaRPr lang="en-US" sz="6000" b="1" dirty="0">
                <a:solidFill>
                  <a:srgbClr val="0000FF"/>
                </a:solidFill>
                <a:latin typeface="Tahoma" pitchFamily="34" charset="0"/>
                <a:ea typeface="Tahoma" pitchFamily="34" charset="0"/>
                <a:cs typeface="Tahoma" pitchFamily="34" charset="0"/>
              </a:endParaRPr>
            </a:p>
            <a:p>
              <a:pPr algn="just">
                <a:lnSpc>
                  <a:spcPct val="150000"/>
                </a:lnSpc>
                <a:spcBef>
                  <a:spcPct val="20000"/>
                </a:spcBef>
                <a:defRPr/>
              </a:pPr>
              <a:r>
                <a:rPr lang="en-US" sz="6000" b="1">
                  <a:solidFill>
                    <a:srgbClr val="0000FF"/>
                  </a:solidFill>
                  <a:latin typeface="Tahoma" pitchFamily="34" charset="0"/>
                  <a:ea typeface="Tahoma" pitchFamily="34" charset="0"/>
                  <a:cs typeface="Tahoma" pitchFamily="34" charset="0"/>
                </a:rPr>
                <a:t>§13. CÁC SỐ ĐẶC TRƯNG ĐO    	XU THẾ TRUNG TÂM</a:t>
              </a:r>
              <a:endParaRPr lang="en-US" sz="6000" b="1" dirty="0">
                <a:solidFill>
                  <a:srgbClr val="0000FF"/>
                </a:solidFill>
                <a:latin typeface="Tahoma" pitchFamily="34" charset="0"/>
                <a:ea typeface="Tahoma" pitchFamily="34" charset="0"/>
                <a:cs typeface="Tahoma" pitchFamily="34" charset="0"/>
              </a:endParaRPr>
            </a:p>
            <a:p>
              <a:pPr algn="just">
                <a:lnSpc>
                  <a:spcPct val="150000"/>
                </a:lnSpc>
                <a:spcBef>
                  <a:spcPct val="20000"/>
                </a:spcBef>
                <a:defRPr/>
              </a:pPr>
              <a:r>
                <a:rPr lang="en-US" sz="6000" b="1">
                  <a:solidFill>
                    <a:srgbClr val="0000FF"/>
                  </a:solidFill>
                  <a:latin typeface="Tahoma" pitchFamily="34" charset="0"/>
                  <a:ea typeface="Tahoma" pitchFamily="34" charset="0"/>
                  <a:cs typeface="Tahoma" pitchFamily="34" charset="0"/>
                </a:rPr>
                <a:t>§14. CÁC SỐ ĐẶC TRƯNG ĐO            	ĐỘ PHÂN TÁN</a:t>
              </a:r>
              <a:endParaRPr lang="en-US" sz="6000" b="1" dirty="0">
                <a:solidFill>
                  <a:srgbClr val="0000FF"/>
                </a:solidFill>
                <a:latin typeface="Tahoma" pitchFamily="34" charset="0"/>
                <a:ea typeface="Tahoma" pitchFamily="34" charset="0"/>
                <a:cs typeface="Tahoma" pitchFamily="34" charset="0"/>
              </a:endParaRPr>
            </a:p>
          </p:txBody>
        </p:sp>
        <p:sp>
          <p:nvSpPr>
            <p:cNvPr id="2" name="TextBox 1"/>
            <p:cNvSpPr txBox="1"/>
            <p:nvPr/>
          </p:nvSpPr>
          <p:spPr>
            <a:xfrm>
              <a:off x="11912450" y="2428363"/>
              <a:ext cx="10325100" cy="2308324"/>
            </a:xfrm>
            <a:prstGeom prst="rect">
              <a:avLst/>
            </a:prstGeom>
            <a:noFill/>
          </p:spPr>
          <p:txBody>
            <a:bodyPr wrap="square" rtlCol="0">
              <a:spAutoFit/>
            </a:bodyPr>
            <a:lstStyle/>
            <a:p>
              <a:r>
                <a:rPr lang="vi-VN" sz="4800" b="1">
                  <a:solidFill>
                    <a:schemeClr val="bg1"/>
                  </a:solidFill>
                  <a:latin typeface="+mj-lt"/>
                </a:rPr>
                <a:t>CHƯƠNG V. CÁC SỐ ĐẶC TRƯNG     	         CỦA MẪU SỐ LIỆU       	         KHÔNG GHÉP NHÓM</a:t>
              </a:r>
              <a:endParaRPr lang="vi-VN" sz="4800" b="1" dirty="0">
                <a:solidFill>
                  <a:schemeClr val="bg1"/>
                </a:solidFill>
                <a:latin typeface="+mj-lt"/>
              </a:endParaRPr>
            </a:p>
          </p:txBody>
        </p:sp>
      </p:grpSp>
      <p:pic>
        <p:nvPicPr>
          <p:cNvPr id="3" name="Picture 2">
            <a:extLst>
              <a:ext uri="{FF2B5EF4-FFF2-40B4-BE49-F238E27FC236}">
                <a16:creationId xmlns:a16="http://schemas.microsoft.com/office/drawing/2014/main" id="{54FF52DF-8AC8-4DAD-B751-39601E57B279}"/>
              </a:ext>
            </a:extLst>
          </p:cNvPr>
          <p:cNvPicPr>
            <a:picLocks noChangeAspect="1"/>
          </p:cNvPicPr>
          <p:nvPr/>
        </p:nvPicPr>
        <p:blipFill>
          <a:blip r:embed="rId2"/>
          <a:stretch>
            <a:fillRect/>
          </a:stretch>
        </p:blipFill>
        <p:spPr>
          <a:xfrm>
            <a:off x="776134" y="1924240"/>
            <a:ext cx="8813299" cy="10933681"/>
          </a:xfrm>
          <a:prstGeom prst="rect">
            <a:avLst/>
          </a:prstGeom>
        </p:spPr>
      </p:pic>
      <p:sp>
        <p:nvSpPr>
          <p:cNvPr id="18" name="Rounded Rectangle 17"/>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   ·   BÀI 12</a:t>
            </a:r>
          </a:p>
        </p:txBody>
      </p:sp>
      <p:sp>
        <p:nvSpPr>
          <p:cNvPr id="22" name="TextBox 21"/>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51405188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Rectangle 115"/>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3" name="Group 2">
            <a:extLst>
              <a:ext uri="{FF2B5EF4-FFF2-40B4-BE49-F238E27FC236}">
                <a16:creationId xmlns:a16="http://schemas.microsoft.com/office/drawing/2014/main" id="{708C62C3-3138-4092-86C2-85A1567C6E78}"/>
              </a:ext>
            </a:extLst>
          </p:cNvPr>
          <p:cNvGrpSpPr/>
          <p:nvPr/>
        </p:nvGrpSpPr>
        <p:grpSpPr>
          <a:xfrm>
            <a:off x="990599" y="1692658"/>
            <a:ext cx="22808129" cy="10210211"/>
            <a:chOff x="1447798" y="1676654"/>
            <a:chExt cx="22808129" cy="10210211"/>
          </a:xfrm>
        </p:grpSpPr>
        <p:grpSp>
          <p:nvGrpSpPr>
            <p:cNvPr id="2" name="Group 1">
              <a:extLst>
                <a:ext uri="{FF2B5EF4-FFF2-40B4-BE49-F238E27FC236}">
                  <a16:creationId xmlns:a16="http://schemas.microsoft.com/office/drawing/2014/main" id="{E17C9077-2F0E-4830-9CBB-2CF87E745444}"/>
                </a:ext>
              </a:extLst>
            </p:cNvPr>
            <p:cNvGrpSpPr/>
            <p:nvPr/>
          </p:nvGrpSpPr>
          <p:grpSpPr>
            <a:xfrm>
              <a:off x="1447798" y="1676654"/>
              <a:ext cx="22808129" cy="10210211"/>
              <a:chOff x="1447798" y="1676654"/>
              <a:chExt cx="22808129" cy="10210211"/>
            </a:xfrm>
          </p:grpSpPr>
          <p:grpSp>
            <p:nvGrpSpPr>
              <p:cNvPr id="69" name="Group 68"/>
              <p:cNvGrpSpPr/>
              <p:nvPr/>
            </p:nvGrpSpPr>
            <p:grpSpPr>
              <a:xfrm>
                <a:off x="1575873" y="1797127"/>
                <a:ext cx="22680054" cy="10089738"/>
                <a:chOff x="-3538955" y="3448230"/>
                <a:chExt cx="22680054" cy="10089738"/>
              </a:xfrm>
            </p:grpSpPr>
            <p:sp>
              <p:nvSpPr>
                <p:cNvPr id="70" name="Right Triangle 69"/>
                <p:cNvSpPr/>
                <p:nvPr/>
              </p:nvSpPr>
              <p:spPr>
                <a:xfrm flipH="1">
                  <a:off x="8958821" y="3486542"/>
                  <a:ext cx="193377" cy="212342"/>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1" name="Group 70"/>
                <p:cNvGrpSpPr/>
                <p:nvPr/>
              </p:nvGrpSpPr>
              <p:grpSpPr>
                <a:xfrm>
                  <a:off x="-3538955" y="3448230"/>
                  <a:ext cx="22680054" cy="10089738"/>
                  <a:chOff x="-3538955" y="3448230"/>
                  <a:chExt cx="22680054" cy="10089738"/>
                </a:xfrm>
              </p:grpSpPr>
              <p:sp>
                <p:nvSpPr>
                  <p:cNvPr id="72" name="Rounded Rectangle 71"/>
                  <p:cNvSpPr/>
                  <p:nvPr/>
                </p:nvSpPr>
                <p:spPr>
                  <a:xfrm>
                    <a:off x="-3538955" y="3592713"/>
                    <a:ext cx="22680054" cy="9945255"/>
                  </a:xfrm>
                  <a:prstGeom prst="roundRect">
                    <a:avLst>
                      <a:gd name="adj" fmla="val 2127"/>
                    </a:avLst>
                  </a:prstGeom>
                  <a:solidFill>
                    <a:schemeClr val="bg1"/>
                  </a:solidFill>
                  <a:ln w="28575">
                    <a:solidFill>
                      <a:srgbClr val="0999C8"/>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algn="ctr"/>
                    <a:endParaRPr lang="en-US" sz="4600" dirty="0">
                      <a:latin typeface="Tahoma" pitchFamily="34" charset="0"/>
                      <a:ea typeface="Tahoma" pitchFamily="34" charset="0"/>
                      <a:cs typeface="Tahoma" pitchFamily="34" charset="0"/>
                    </a:endParaRPr>
                  </a:p>
                </p:txBody>
              </p:sp>
              <p:sp>
                <p:nvSpPr>
                  <p:cNvPr id="73" name="TextBox 72"/>
                  <p:cNvSpPr txBox="1"/>
                  <p:nvPr/>
                </p:nvSpPr>
                <p:spPr>
                  <a:xfrm>
                    <a:off x="5759299" y="3448230"/>
                    <a:ext cx="3890809" cy="923330"/>
                  </a:xfrm>
                  <a:prstGeom prst="rect">
                    <a:avLst/>
                  </a:prstGeom>
                  <a:noFill/>
                </p:spPr>
                <p:txBody>
                  <a:bodyPr wrap="none" rtlCol="0">
                    <a:spAutoFit/>
                  </a:bodyPr>
                  <a:lstStyle/>
                  <a:p>
                    <a:pPr algn="ctr" fontAlgn="auto">
                      <a:spcBef>
                        <a:spcPct val="50000"/>
                      </a:spcBef>
                      <a:spcAft>
                        <a:spcPts val="0"/>
                      </a:spcAft>
                      <a:defRPr/>
                    </a:pPr>
                    <a:r>
                      <a:rPr lang="en-US" sz="5400" b="1" cap="all" dirty="0">
                        <a:ln w="0"/>
                        <a:solidFill>
                          <a:schemeClr val="bg1"/>
                        </a:solidFill>
                        <a:effectLst>
                          <a:reflection blurRad="12700" stA="50000" endPos="50000" dist="5000" dir="5400000" sy="-100000" rotWithShape="0"/>
                        </a:effectLst>
                        <a:latin typeface="Tahoma" pitchFamily="34" charset="0"/>
                        <a:ea typeface="Tahoma" pitchFamily="34" charset="0"/>
                        <a:cs typeface="Tahoma" pitchFamily="34" charset="0"/>
                      </a:rPr>
                      <a:t>CHƯƠNG I</a:t>
                    </a:r>
                  </a:p>
                </p:txBody>
              </p:sp>
            </p:grpSp>
          </p:grpSp>
          <p:sp>
            <p:nvSpPr>
              <p:cNvPr id="74" name="Right Triangle 73"/>
              <p:cNvSpPr/>
              <p:nvPr/>
            </p:nvSpPr>
            <p:spPr>
              <a:xfrm flipH="1">
                <a:off x="1600199" y="1676654"/>
                <a:ext cx="193377" cy="212342"/>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ound Same Side Corner Rectangle 95"/>
              <p:cNvSpPr/>
              <p:nvPr/>
            </p:nvSpPr>
            <p:spPr>
              <a:xfrm flipV="1">
                <a:off x="1676399" y="1793811"/>
                <a:ext cx="22479000" cy="1181261"/>
              </a:xfrm>
              <a:prstGeom prst="round2SameRect">
                <a:avLst>
                  <a:gd name="adj1" fmla="val 6458"/>
                  <a:gd name="adj2" fmla="val 0"/>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TextBox 97"/>
              <p:cNvSpPr txBox="1"/>
              <p:nvPr/>
            </p:nvSpPr>
            <p:spPr>
              <a:xfrm>
                <a:off x="1575872" y="1953929"/>
                <a:ext cx="22503327" cy="830997"/>
              </a:xfrm>
              <a:prstGeom prst="rect">
                <a:avLst/>
              </a:prstGeom>
              <a:noFill/>
            </p:spPr>
            <p:txBody>
              <a:bodyPr wrap="square" rtlCol="0">
                <a:spAutoFit/>
              </a:bodyPr>
              <a:lstStyle/>
              <a:p>
                <a:pPr algn="ctr"/>
                <a:r>
                  <a:rPr lang="vi-VN" sz="4800" b="1">
                    <a:solidFill>
                      <a:srgbClr val="C00000"/>
                    </a:solidFill>
                    <a:latin typeface="+mj-lt"/>
                  </a:rPr>
                  <a:t>CHƯƠNG V. CÁC SỐ ĐẶC TRƯNG CỦA MẪU SỐ LIỆU KHÔNG GHÉP NHÓM</a:t>
                </a:r>
                <a:endParaRPr lang="vi-VN" sz="4800" b="1" dirty="0">
                  <a:solidFill>
                    <a:srgbClr val="C00000"/>
                  </a:solidFill>
                  <a:latin typeface="+mj-lt"/>
                </a:endParaRPr>
              </a:p>
            </p:txBody>
          </p:sp>
          <p:pic>
            <p:nvPicPr>
              <p:cNvPr id="104" name="Picture 5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71230" y="2975075"/>
                <a:ext cx="1495424" cy="1495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Rectangle 16"/>
              <p:cNvSpPr/>
              <p:nvPr/>
            </p:nvSpPr>
            <p:spPr>
              <a:xfrm>
                <a:off x="7467544" y="4114018"/>
                <a:ext cx="13632086" cy="8332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10" tIns="45705" rIns="91410" bIns="45705" rtlCol="0" anchor="ctr"/>
              <a:lstStyle/>
              <a:p>
                <a:pPr algn="ctr"/>
                <a:endParaRPr lang="en-US">
                  <a:latin typeface="Tahoma" panose="020B0604030504040204" pitchFamily="34" charset="0"/>
                  <a:ea typeface="Tahoma" panose="020B0604030504040204" pitchFamily="34" charset="0"/>
                  <a:cs typeface="Tahoma" panose="020B0604030504040204" pitchFamily="34" charset="0"/>
                </a:endParaRPr>
              </a:p>
            </p:txBody>
          </p:sp>
          <p:grpSp>
            <p:nvGrpSpPr>
              <p:cNvPr id="56" name="Group 60"/>
              <p:cNvGrpSpPr/>
              <p:nvPr/>
            </p:nvGrpSpPr>
            <p:grpSpPr>
              <a:xfrm>
                <a:off x="1447801" y="5264647"/>
                <a:ext cx="5579511" cy="907184"/>
                <a:chOff x="7459670" y="7086600"/>
                <a:chExt cx="5580157" cy="907289"/>
              </a:xfrm>
            </p:grpSpPr>
            <p:sp>
              <p:nvSpPr>
                <p:cNvPr id="57" name="Rectangle 56"/>
                <p:cNvSpPr/>
                <p:nvPr/>
              </p:nvSpPr>
              <p:spPr>
                <a:xfrm>
                  <a:off x="9092456" y="7178187"/>
                  <a:ext cx="3947371" cy="815702"/>
                </a:xfrm>
                <a:prstGeom prst="rect">
                  <a:avLst/>
                </a:prstGeom>
              </p:spPr>
              <p:txBody>
                <a:bodyPr wrap="none">
                  <a:spAutoFit/>
                </a:bodyPr>
                <a:lstStyle/>
                <a:p>
                  <a:pPr>
                    <a:lnSpc>
                      <a:spcPct val="100000"/>
                    </a:lnSpc>
                    <a:spcBef>
                      <a:spcPct val="0"/>
                    </a:spcBef>
                    <a:buFontTx/>
                    <a:buNone/>
                    <a:defRPr/>
                  </a:pPr>
                  <a:r>
                    <a:rPr lang="en-US" sz="4700" b="1">
                      <a:solidFill>
                        <a:srgbClr val="242452"/>
                      </a:solidFill>
                      <a:latin typeface="Tahoma" panose="020B0604030504040204" pitchFamily="34" charset="0"/>
                      <a:ea typeface="Tahoma" panose="020B0604030504040204" pitchFamily="34" charset="0"/>
                      <a:cs typeface="Tahoma" panose="020B0604030504040204" pitchFamily="34" charset="0"/>
                    </a:rPr>
                    <a:t>Số gần đúng</a:t>
                  </a:r>
                  <a:endParaRPr lang="en-US" sz="4700" b="1" dirty="0">
                    <a:solidFill>
                      <a:srgbClr val="242452"/>
                    </a:solidFill>
                    <a:latin typeface="Tahoma" panose="020B0604030504040204" pitchFamily="34" charset="0"/>
                    <a:ea typeface="Tahoma" panose="020B0604030504040204" pitchFamily="34" charset="0"/>
                    <a:cs typeface="Tahoma" panose="020B0604030504040204" pitchFamily="34" charset="0"/>
                  </a:endParaRPr>
                </a:p>
              </p:txBody>
            </p:sp>
            <p:grpSp>
              <p:nvGrpSpPr>
                <p:cNvPr id="58" name="Group 26"/>
                <p:cNvGrpSpPr/>
                <p:nvPr/>
              </p:nvGrpSpPr>
              <p:grpSpPr>
                <a:xfrm>
                  <a:off x="7459670" y="7086600"/>
                  <a:ext cx="1392615" cy="872846"/>
                  <a:chOff x="7459669" y="7543800"/>
                  <a:chExt cx="1381118" cy="872846"/>
                </a:xfrm>
              </p:grpSpPr>
              <p:sp>
                <p:nvSpPr>
                  <p:cNvPr id="59" name="Isosceles Triangle 44"/>
                  <p:cNvSpPr/>
                  <p:nvPr/>
                </p:nvSpPr>
                <p:spPr>
                  <a:xfrm rot="16200000">
                    <a:off x="7469936" y="7533533"/>
                    <a:ext cx="143688" cy="164221"/>
                  </a:xfrm>
                  <a:custGeom>
                    <a:avLst/>
                    <a:gdLst>
                      <a:gd name="connsiteX0" fmla="*/ 0 w 293725"/>
                      <a:gd name="connsiteY0" fmla="*/ 164224 h 164224"/>
                      <a:gd name="connsiteX1" fmla="*/ 146863 w 293725"/>
                      <a:gd name="connsiteY1" fmla="*/ 0 h 164224"/>
                      <a:gd name="connsiteX2" fmla="*/ 293725 w 293725"/>
                      <a:gd name="connsiteY2" fmla="*/ 164224 h 164224"/>
                      <a:gd name="connsiteX3" fmla="*/ 0 w 293725"/>
                      <a:gd name="connsiteY3" fmla="*/ 164224 h 164224"/>
                      <a:gd name="connsiteX0" fmla="*/ 2363 w 296088"/>
                      <a:gd name="connsiteY0" fmla="*/ 164221 h 164221"/>
                      <a:gd name="connsiteX1" fmla="*/ 0 w 296088"/>
                      <a:gd name="connsiteY1" fmla="*/ 0 h 164221"/>
                      <a:gd name="connsiteX2" fmla="*/ 296088 w 296088"/>
                      <a:gd name="connsiteY2" fmla="*/ 164221 h 164221"/>
                      <a:gd name="connsiteX3" fmla="*/ 2363 w 296088"/>
                      <a:gd name="connsiteY3" fmla="*/ 164221 h 164221"/>
                    </a:gdLst>
                    <a:ahLst/>
                    <a:cxnLst>
                      <a:cxn ang="0">
                        <a:pos x="connsiteX0" y="connsiteY0"/>
                      </a:cxn>
                      <a:cxn ang="0">
                        <a:pos x="connsiteX1" y="connsiteY1"/>
                      </a:cxn>
                      <a:cxn ang="0">
                        <a:pos x="connsiteX2" y="connsiteY2"/>
                      </a:cxn>
                      <a:cxn ang="0">
                        <a:pos x="connsiteX3" y="connsiteY3"/>
                      </a:cxn>
                    </a:cxnLst>
                    <a:rect l="l" t="t" r="r" b="b"/>
                    <a:pathLst>
                      <a:path w="296088" h="164221">
                        <a:moveTo>
                          <a:pt x="2363" y="164221"/>
                        </a:moveTo>
                        <a:cubicBezTo>
                          <a:pt x="1575" y="109481"/>
                          <a:pt x="788" y="54740"/>
                          <a:pt x="0" y="0"/>
                        </a:cubicBezTo>
                        <a:lnTo>
                          <a:pt x="296088" y="164221"/>
                        </a:lnTo>
                        <a:lnTo>
                          <a:pt x="2363" y="164221"/>
                        </a:ln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nvGrpSpPr>
                  <p:cNvPr id="60" name="Group 28"/>
                  <p:cNvGrpSpPr/>
                  <p:nvPr/>
                </p:nvGrpSpPr>
                <p:grpSpPr>
                  <a:xfrm>
                    <a:off x="7469187" y="7685126"/>
                    <a:ext cx="1371600" cy="731520"/>
                    <a:chOff x="7469187" y="7685126"/>
                    <a:chExt cx="1371600" cy="731520"/>
                  </a:xfrm>
                </p:grpSpPr>
                <p:sp>
                  <p:nvSpPr>
                    <p:cNvPr id="61" name="Round Same Side Corner Rectangle 60"/>
                    <p:cNvSpPr/>
                    <p:nvPr/>
                  </p:nvSpPr>
                  <p:spPr>
                    <a:xfrm rot="5400000">
                      <a:off x="7789227" y="7365086"/>
                      <a:ext cx="731520" cy="13716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62" name="TextBox 61"/>
                    <p:cNvSpPr txBox="1"/>
                    <p:nvPr/>
                  </p:nvSpPr>
                  <p:spPr>
                    <a:xfrm>
                      <a:off x="7958807" y="7688759"/>
                      <a:ext cx="507514" cy="707968"/>
                    </a:xfrm>
                    <a:prstGeom prst="rect">
                      <a:avLst/>
                    </a:prstGeom>
                    <a:noFill/>
                  </p:spPr>
                  <p:txBody>
                    <a:bodyPr wrap="none" rtlCol="0">
                      <a:spAutoFit/>
                    </a:bodyPr>
                    <a:lstStyle/>
                    <a:p>
                      <a:pPr algn="ctr"/>
                      <a:r>
                        <a:rPr lang="en-US" sz="4000" b="1">
                          <a:solidFill>
                            <a:prstClr val="white"/>
                          </a:solidFill>
                          <a:latin typeface="Tahoma" panose="020B0604030504040204" pitchFamily="34" charset="0"/>
                          <a:ea typeface="Tahoma" panose="020B0604030504040204" pitchFamily="34" charset="0"/>
                          <a:cs typeface="Tahoma" panose="020B0604030504040204" pitchFamily="34" charset="0"/>
                        </a:rPr>
                        <a:t>1</a:t>
                      </a:r>
                      <a:endPar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grpSp>
          </p:grpSp>
          <p:grpSp>
            <p:nvGrpSpPr>
              <p:cNvPr id="63" name="Group 67"/>
              <p:cNvGrpSpPr/>
              <p:nvPr/>
            </p:nvGrpSpPr>
            <p:grpSpPr>
              <a:xfrm>
                <a:off x="1447800" y="6850721"/>
                <a:ext cx="11661304" cy="883070"/>
                <a:chOff x="7459670" y="6560918"/>
                <a:chExt cx="11662653" cy="883167"/>
              </a:xfrm>
            </p:grpSpPr>
            <p:sp>
              <p:nvSpPr>
                <p:cNvPr id="75" name="Rectangle 74"/>
                <p:cNvSpPr/>
                <p:nvPr/>
              </p:nvSpPr>
              <p:spPr>
                <a:xfrm>
                  <a:off x="9092456" y="6628383"/>
                  <a:ext cx="10029867" cy="815702"/>
                </a:xfrm>
                <a:prstGeom prst="rect">
                  <a:avLst/>
                </a:prstGeom>
              </p:spPr>
              <p:txBody>
                <a:bodyPr wrap="none">
                  <a:spAutoFit/>
                </a:bodyPr>
                <a:lstStyle/>
                <a:p>
                  <a:pPr>
                    <a:lnSpc>
                      <a:spcPct val="100000"/>
                    </a:lnSpc>
                    <a:spcBef>
                      <a:spcPct val="0"/>
                    </a:spcBef>
                    <a:buNone/>
                    <a:defRPr/>
                  </a:pPr>
                  <a:r>
                    <a:rPr lang="en-US" sz="4700" b="1" spc="-150">
                      <a:solidFill>
                        <a:srgbClr val="242452"/>
                      </a:solidFill>
                      <a:latin typeface="Tahoma" panose="020B0604030504040204" pitchFamily="34" charset="0"/>
                      <a:ea typeface="Tahoma" panose="020B0604030504040204" pitchFamily="34" charset="0"/>
                      <a:cs typeface="Tahoma" panose="020B0604030504040204" pitchFamily="34" charset="0"/>
                    </a:rPr>
                    <a:t>Sai số tuyệt đối và sai số tương đối</a:t>
                  </a:r>
                  <a:endParaRPr lang="en-US" sz="4700" b="1" spc="-150" dirty="0">
                    <a:solidFill>
                      <a:srgbClr val="242452"/>
                    </a:solidFill>
                    <a:latin typeface="Tahoma" panose="020B0604030504040204" pitchFamily="34" charset="0"/>
                    <a:ea typeface="Tahoma" panose="020B0604030504040204" pitchFamily="34" charset="0"/>
                    <a:cs typeface="Tahoma" panose="020B0604030504040204" pitchFamily="34" charset="0"/>
                  </a:endParaRPr>
                </a:p>
              </p:txBody>
            </p:sp>
            <p:grpSp>
              <p:nvGrpSpPr>
                <p:cNvPr id="76" name="Group 32"/>
                <p:cNvGrpSpPr/>
                <p:nvPr/>
              </p:nvGrpSpPr>
              <p:grpSpPr>
                <a:xfrm>
                  <a:off x="7459670" y="6560918"/>
                  <a:ext cx="1392615" cy="826202"/>
                  <a:chOff x="7459669" y="5580223"/>
                  <a:chExt cx="1381118" cy="826202"/>
                </a:xfrm>
              </p:grpSpPr>
              <p:sp>
                <p:nvSpPr>
                  <p:cNvPr id="77" name="Isosceles Triangle 44"/>
                  <p:cNvSpPr/>
                  <p:nvPr/>
                </p:nvSpPr>
                <p:spPr>
                  <a:xfrm rot="16200000">
                    <a:off x="7469936" y="5569956"/>
                    <a:ext cx="143688" cy="164221"/>
                  </a:xfrm>
                  <a:custGeom>
                    <a:avLst/>
                    <a:gdLst>
                      <a:gd name="connsiteX0" fmla="*/ 0 w 293725"/>
                      <a:gd name="connsiteY0" fmla="*/ 164224 h 164224"/>
                      <a:gd name="connsiteX1" fmla="*/ 146863 w 293725"/>
                      <a:gd name="connsiteY1" fmla="*/ 0 h 164224"/>
                      <a:gd name="connsiteX2" fmla="*/ 293725 w 293725"/>
                      <a:gd name="connsiteY2" fmla="*/ 164224 h 164224"/>
                      <a:gd name="connsiteX3" fmla="*/ 0 w 293725"/>
                      <a:gd name="connsiteY3" fmla="*/ 164224 h 164224"/>
                      <a:gd name="connsiteX0" fmla="*/ 2363 w 296088"/>
                      <a:gd name="connsiteY0" fmla="*/ 164221 h 164221"/>
                      <a:gd name="connsiteX1" fmla="*/ 0 w 296088"/>
                      <a:gd name="connsiteY1" fmla="*/ 0 h 164221"/>
                      <a:gd name="connsiteX2" fmla="*/ 296088 w 296088"/>
                      <a:gd name="connsiteY2" fmla="*/ 164221 h 164221"/>
                      <a:gd name="connsiteX3" fmla="*/ 2363 w 296088"/>
                      <a:gd name="connsiteY3" fmla="*/ 164221 h 164221"/>
                    </a:gdLst>
                    <a:ahLst/>
                    <a:cxnLst>
                      <a:cxn ang="0">
                        <a:pos x="connsiteX0" y="connsiteY0"/>
                      </a:cxn>
                      <a:cxn ang="0">
                        <a:pos x="connsiteX1" y="connsiteY1"/>
                      </a:cxn>
                      <a:cxn ang="0">
                        <a:pos x="connsiteX2" y="connsiteY2"/>
                      </a:cxn>
                      <a:cxn ang="0">
                        <a:pos x="connsiteX3" y="connsiteY3"/>
                      </a:cxn>
                    </a:cxnLst>
                    <a:rect l="l" t="t" r="r" b="b"/>
                    <a:pathLst>
                      <a:path w="296088" h="164221">
                        <a:moveTo>
                          <a:pt x="2363" y="164221"/>
                        </a:moveTo>
                        <a:cubicBezTo>
                          <a:pt x="1575" y="109481"/>
                          <a:pt x="788" y="54740"/>
                          <a:pt x="0" y="0"/>
                        </a:cubicBezTo>
                        <a:lnTo>
                          <a:pt x="296088" y="164221"/>
                        </a:lnTo>
                        <a:lnTo>
                          <a:pt x="2363" y="164221"/>
                        </a:ln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nvGrpSpPr>
                  <p:cNvPr id="78" name="Group 41"/>
                  <p:cNvGrpSpPr/>
                  <p:nvPr/>
                </p:nvGrpSpPr>
                <p:grpSpPr>
                  <a:xfrm>
                    <a:off x="7469187" y="5674905"/>
                    <a:ext cx="1371600" cy="731520"/>
                    <a:chOff x="7469187" y="5674905"/>
                    <a:chExt cx="1371600" cy="731520"/>
                  </a:xfrm>
                </p:grpSpPr>
                <p:sp>
                  <p:nvSpPr>
                    <p:cNvPr id="79" name="Round Same Side Corner Rectangle 78"/>
                    <p:cNvSpPr/>
                    <p:nvPr/>
                  </p:nvSpPr>
                  <p:spPr>
                    <a:xfrm rot="5400000">
                      <a:off x="7789227" y="5354865"/>
                      <a:ext cx="731520" cy="13716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80" name="TextBox 79"/>
                    <p:cNvSpPr txBox="1"/>
                    <p:nvPr/>
                  </p:nvSpPr>
                  <p:spPr>
                    <a:xfrm>
                      <a:off x="7958806" y="5678544"/>
                      <a:ext cx="507513" cy="707967"/>
                    </a:xfrm>
                    <a:prstGeom prst="rect">
                      <a:avLst/>
                    </a:prstGeom>
                    <a:noFill/>
                  </p:spPr>
                  <p:txBody>
                    <a:bodyPr wrap="none" rtlCol="0">
                      <a:spAutoFit/>
                    </a:bodyPr>
                    <a:lstStyle/>
                    <a:p>
                      <a:pPr algn="ctr"/>
                      <a:r>
                        <a:rPr lang="en-US" sz="4000" b="1">
                          <a:solidFill>
                            <a:prstClr val="white"/>
                          </a:solidFill>
                          <a:latin typeface="Tahoma" panose="020B0604030504040204" pitchFamily="34" charset="0"/>
                          <a:ea typeface="Tahoma" panose="020B0604030504040204" pitchFamily="34" charset="0"/>
                          <a:cs typeface="Tahoma" panose="020B0604030504040204" pitchFamily="34" charset="0"/>
                        </a:rPr>
                        <a:t>2</a:t>
                      </a:r>
                      <a:endPar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grpSp>
          </p:grpSp>
          <p:grpSp>
            <p:nvGrpSpPr>
              <p:cNvPr id="88" name="Group 87"/>
              <p:cNvGrpSpPr/>
              <p:nvPr/>
            </p:nvGrpSpPr>
            <p:grpSpPr>
              <a:xfrm>
                <a:off x="3565316" y="7855174"/>
                <a:ext cx="10379283" cy="890586"/>
                <a:chOff x="-1200358" y="4241657"/>
                <a:chExt cx="10379283" cy="890586"/>
              </a:xfrm>
            </p:grpSpPr>
            <p:sp>
              <p:nvSpPr>
                <p:cNvPr id="89" name="TextBox 88"/>
                <p:cNvSpPr txBox="1"/>
                <p:nvPr/>
              </p:nvSpPr>
              <p:spPr>
                <a:xfrm>
                  <a:off x="187325" y="4301246"/>
                  <a:ext cx="8991600" cy="830997"/>
                </a:xfrm>
                <a:prstGeom prst="rect">
                  <a:avLst/>
                </a:prstGeom>
                <a:noFill/>
              </p:spPr>
              <p:txBody>
                <a:bodyPr wrap="square" rtlCol="0">
                  <a:spAutoFit/>
                </a:bodyPr>
                <a:lstStyle/>
                <a:p>
                  <a:r>
                    <a:rPr lang="en-US" sz="4800" b="1" i="1">
                      <a:solidFill>
                        <a:srgbClr val="242452"/>
                      </a:solidFill>
                      <a:latin typeface="Tahoma" panose="020B0604030504040204" pitchFamily="34" charset="0"/>
                      <a:ea typeface="Tahoma" panose="020B0604030504040204" pitchFamily="34" charset="0"/>
                      <a:cs typeface="Tahoma" panose="020B0604030504040204" pitchFamily="34" charset="0"/>
                    </a:rPr>
                    <a:t>Sai số tuyệt đối</a:t>
                  </a:r>
                  <a:endParaRPr lang="en-US" sz="4800" b="1" i="1" dirty="0">
                    <a:solidFill>
                      <a:srgbClr val="242452"/>
                    </a:solidFill>
                    <a:latin typeface="Tahoma" panose="020B0604030504040204" pitchFamily="34" charset="0"/>
                    <a:ea typeface="Tahoma" panose="020B0604030504040204" pitchFamily="34" charset="0"/>
                    <a:cs typeface="Tahoma" panose="020B0604030504040204" pitchFamily="34" charset="0"/>
                  </a:endParaRPr>
                </a:p>
              </p:txBody>
            </p:sp>
            <p:sp>
              <p:nvSpPr>
                <p:cNvPr id="90" name="Rounded Rectangle 89"/>
                <p:cNvSpPr/>
                <p:nvPr/>
              </p:nvSpPr>
              <p:spPr>
                <a:xfrm>
                  <a:off x="-1200358" y="4244303"/>
                  <a:ext cx="1269206" cy="804672"/>
                </a:xfrm>
                <a:prstGeom prst="roundRect">
                  <a:avLst/>
                </a:prstGeom>
                <a:solidFill>
                  <a:schemeClr val="accent5">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91" name="TextBox 90"/>
                <p:cNvSpPr txBox="1"/>
                <p:nvPr/>
              </p:nvSpPr>
              <p:spPr>
                <a:xfrm>
                  <a:off x="-807523" y="4241657"/>
                  <a:ext cx="522900" cy="769441"/>
                </a:xfrm>
                <a:prstGeom prst="rect">
                  <a:avLst/>
                </a:prstGeom>
                <a:noFill/>
              </p:spPr>
              <p:txBody>
                <a:bodyPr wrap="none" rtlCol="0">
                  <a:spAutoFit/>
                </a:bodyPr>
                <a:lstStyle/>
                <a:p>
                  <a:pPr algn="ctr"/>
                  <a:r>
                    <a:rPr lang="en-US" sz="4400" b="1">
                      <a:solidFill>
                        <a:schemeClr val="bg1"/>
                      </a:solidFill>
                      <a:latin typeface="Tahoma" panose="020B0604030504040204" pitchFamily="34" charset="0"/>
                      <a:ea typeface="Tahoma" panose="020B0604030504040204" pitchFamily="34" charset="0"/>
                      <a:cs typeface="Tahoma" panose="020B0604030504040204" pitchFamily="34" charset="0"/>
                    </a:rPr>
                    <a:t>a</a:t>
                  </a:r>
                </a:p>
              </p:txBody>
            </p:sp>
          </p:grpSp>
          <p:grpSp>
            <p:nvGrpSpPr>
              <p:cNvPr id="92" name="Group 91"/>
              <p:cNvGrpSpPr/>
              <p:nvPr/>
            </p:nvGrpSpPr>
            <p:grpSpPr>
              <a:xfrm>
                <a:off x="3565316" y="9028222"/>
                <a:ext cx="10253661" cy="861774"/>
                <a:chOff x="-1200358" y="4187201"/>
                <a:chExt cx="10253661" cy="861774"/>
              </a:xfrm>
            </p:grpSpPr>
            <p:sp>
              <p:nvSpPr>
                <p:cNvPr id="93" name="TextBox 92"/>
                <p:cNvSpPr txBox="1"/>
                <p:nvPr/>
              </p:nvSpPr>
              <p:spPr>
                <a:xfrm>
                  <a:off x="61703" y="4187201"/>
                  <a:ext cx="8991600" cy="830997"/>
                </a:xfrm>
                <a:prstGeom prst="rect">
                  <a:avLst/>
                </a:prstGeom>
                <a:noFill/>
              </p:spPr>
              <p:txBody>
                <a:bodyPr wrap="square" rtlCol="0">
                  <a:spAutoFit/>
                </a:bodyPr>
                <a:lstStyle/>
                <a:p>
                  <a:r>
                    <a:rPr lang="en-US" sz="4800" b="1" i="1">
                      <a:solidFill>
                        <a:srgbClr val="242452"/>
                      </a:solidFill>
                      <a:latin typeface="Tahoma" panose="020B0604030504040204" pitchFamily="34" charset="0"/>
                      <a:ea typeface="Tahoma" panose="020B0604030504040204" pitchFamily="34" charset="0"/>
                      <a:cs typeface="Tahoma" panose="020B0604030504040204" pitchFamily="34" charset="0"/>
                    </a:rPr>
                    <a:t> Sai số tương đối</a:t>
                  </a:r>
                  <a:endParaRPr lang="en-US" sz="4800" b="1" i="1" dirty="0">
                    <a:solidFill>
                      <a:srgbClr val="242452"/>
                    </a:solidFill>
                    <a:latin typeface="Tahoma" panose="020B0604030504040204" pitchFamily="34" charset="0"/>
                    <a:ea typeface="Tahoma" panose="020B0604030504040204" pitchFamily="34" charset="0"/>
                    <a:cs typeface="Tahoma" panose="020B0604030504040204" pitchFamily="34" charset="0"/>
                  </a:endParaRPr>
                </a:p>
              </p:txBody>
            </p:sp>
            <p:sp>
              <p:nvSpPr>
                <p:cNvPr id="94" name="Rounded Rectangle 93"/>
                <p:cNvSpPr/>
                <p:nvPr/>
              </p:nvSpPr>
              <p:spPr>
                <a:xfrm>
                  <a:off x="-1200358" y="4244303"/>
                  <a:ext cx="1269206" cy="804672"/>
                </a:xfrm>
                <a:prstGeom prst="roundRect">
                  <a:avLst/>
                </a:prstGeom>
                <a:solidFill>
                  <a:schemeClr val="accent5">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95" name="TextBox 94"/>
                <p:cNvSpPr txBox="1"/>
                <p:nvPr/>
              </p:nvSpPr>
              <p:spPr>
                <a:xfrm>
                  <a:off x="-852697" y="4216253"/>
                  <a:ext cx="543740" cy="769441"/>
                </a:xfrm>
                <a:prstGeom prst="rect">
                  <a:avLst/>
                </a:prstGeom>
                <a:noFill/>
              </p:spPr>
              <p:txBody>
                <a:bodyPr wrap="none" rtlCol="0">
                  <a:spAutoFit/>
                </a:bodyPr>
                <a:lstStyle/>
                <a:p>
                  <a:pPr algn="ctr"/>
                  <a:r>
                    <a:rPr lang="en-US" sz="4400" b="1">
                      <a:solidFill>
                        <a:schemeClr val="bg1"/>
                      </a:solidFill>
                      <a:latin typeface="Tahoma" panose="020B0604030504040204" pitchFamily="34" charset="0"/>
                      <a:ea typeface="Tahoma" panose="020B0604030504040204" pitchFamily="34" charset="0"/>
                      <a:cs typeface="Tahoma" panose="020B0604030504040204" pitchFamily="34" charset="0"/>
                    </a:rPr>
                    <a:t>b</a:t>
                  </a:r>
                  <a:endParaRPr lang="en-US" sz="44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grpSp>
          <p:grpSp>
            <p:nvGrpSpPr>
              <p:cNvPr id="47" name="Group 67"/>
              <p:cNvGrpSpPr/>
              <p:nvPr/>
            </p:nvGrpSpPr>
            <p:grpSpPr>
              <a:xfrm>
                <a:off x="1447798" y="10203527"/>
                <a:ext cx="7912565" cy="959286"/>
                <a:chOff x="7459670" y="8745845"/>
                <a:chExt cx="10230299" cy="959396"/>
              </a:xfrm>
            </p:grpSpPr>
            <p:sp>
              <p:nvSpPr>
                <p:cNvPr id="48" name="Rectangle 47"/>
                <p:cNvSpPr/>
                <p:nvPr/>
              </p:nvSpPr>
              <p:spPr>
                <a:xfrm>
                  <a:off x="9529919" y="8889539"/>
                  <a:ext cx="8160050" cy="815702"/>
                </a:xfrm>
                <a:prstGeom prst="rect">
                  <a:avLst/>
                </a:prstGeom>
              </p:spPr>
              <p:txBody>
                <a:bodyPr wrap="none">
                  <a:spAutoFit/>
                </a:bodyPr>
                <a:lstStyle/>
                <a:p>
                  <a:pPr>
                    <a:lnSpc>
                      <a:spcPct val="100000"/>
                    </a:lnSpc>
                    <a:spcBef>
                      <a:spcPct val="0"/>
                    </a:spcBef>
                    <a:buNone/>
                    <a:defRPr/>
                  </a:pPr>
                  <a:r>
                    <a:rPr lang="en-US" sz="4700" b="1" spc="-150">
                      <a:solidFill>
                        <a:srgbClr val="242452"/>
                      </a:solidFill>
                      <a:latin typeface="Tahoma" panose="020B0604030504040204" pitchFamily="34" charset="0"/>
                      <a:ea typeface="Tahoma" panose="020B0604030504040204" pitchFamily="34" charset="0"/>
                      <a:cs typeface="Tahoma" panose="020B0604030504040204" pitchFamily="34" charset="0"/>
                    </a:rPr>
                    <a:t>Quy tròn số gần đúng</a:t>
                  </a:r>
                  <a:endParaRPr lang="en-US" sz="4700" b="1" spc="-150" dirty="0">
                    <a:solidFill>
                      <a:srgbClr val="242452"/>
                    </a:solidFill>
                    <a:latin typeface="Tahoma" panose="020B0604030504040204" pitchFamily="34" charset="0"/>
                    <a:ea typeface="Tahoma" panose="020B0604030504040204" pitchFamily="34" charset="0"/>
                    <a:cs typeface="Tahoma" panose="020B0604030504040204" pitchFamily="34" charset="0"/>
                  </a:endParaRPr>
                </a:p>
              </p:txBody>
            </p:sp>
            <p:grpSp>
              <p:nvGrpSpPr>
                <p:cNvPr id="49" name="Group 32"/>
                <p:cNvGrpSpPr/>
                <p:nvPr/>
              </p:nvGrpSpPr>
              <p:grpSpPr>
                <a:xfrm>
                  <a:off x="7459670" y="8745845"/>
                  <a:ext cx="1800333" cy="932249"/>
                  <a:chOff x="7459669" y="7765150"/>
                  <a:chExt cx="1785470" cy="932249"/>
                </a:xfrm>
              </p:grpSpPr>
              <p:sp>
                <p:nvSpPr>
                  <p:cNvPr id="50" name="Isosceles Triangle 44"/>
                  <p:cNvSpPr/>
                  <p:nvPr/>
                </p:nvSpPr>
                <p:spPr>
                  <a:xfrm rot="16200000">
                    <a:off x="7469936" y="7754883"/>
                    <a:ext cx="143688" cy="164221"/>
                  </a:xfrm>
                  <a:custGeom>
                    <a:avLst/>
                    <a:gdLst>
                      <a:gd name="connsiteX0" fmla="*/ 0 w 293725"/>
                      <a:gd name="connsiteY0" fmla="*/ 164224 h 164224"/>
                      <a:gd name="connsiteX1" fmla="*/ 146863 w 293725"/>
                      <a:gd name="connsiteY1" fmla="*/ 0 h 164224"/>
                      <a:gd name="connsiteX2" fmla="*/ 293725 w 293725"/>
                      <a:gd name="connsiteY2" fmla="*/ 164224 h 164224"/>
                      <a:gd name="connsiteX3" fmla="*/ 0 w 293725"/>
                      <a:gd name="connsiteY3" fmla="*/ 164224 h 164224"/>
                      <a:gd name="connsiteX0" fmla="*/ 2363 w 296088"/>
                      <a:gd name="connsiteY0" fmla="*/ 164221 h 164221"/>
                      <a:gd name="connsiteX1" fmla="*/ 0 w 296088"/>
                      <a:gd name="connsiteY1" fmla="*/ 0 h 164221"/>
                      <a:gd name="connsiteX2" fmla="*/ 296088 w 296088"/>
                      <a:gd name="connsiteY2" fmla="*/ 164221 h 164221"/>
                      <a:gd name="connsiteX3" fmla="*/ 2363 w 296088"/>
                      <a:gd name="connsiteY3" fmla="*/ 164221 h 164221"/>
                    </a:gdLst>
                    <a:ahLst/>
                    <a:cxnLst>
                      <a:cxn ang="0">
                        <a:pos x="connsiteX0" y="connsiteY0"/>
                      </a:cxn>
                      <a:cxn ang="0">
                        <a:pos x="connsiteX1" y="connsiteY1"/>
                      </a:cxn>
                      <a:cxn ang="0">
                        <a:pos x="connsiteX2" y="connsiteY2"/>
                      </a:cxn>
                      <a:cxn ang="0">
                        <a:pos x="connsiteX3" y="connsiteY3"/>
                      </a:cxn>
                    </a:cxnLst>
                    <a:rect l="l" t="t" r="r" b="b"/>
                    <a:pathLst>
                      <a:path w="296088" h="164221">
                        <a:moveTo>
                          <a:pt x="2363" y="164221"/>
                        </a:moveTo>
                        <a:cubicBezTo>
                          <a:pt x="1575" y="109481"/>
                          <a:pt x="788" y="54740"/>
                          <a:pt x="0" y="0"/>
                        </a:cubicBezTo>
                        <a:lnTo>
                          <a:pt x="296088" y="164221"/>
                        </a:lnTo>
                        <a:lnTo>
                          <a:pt x="2363" y="164221"/>
                        </a:ln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nvGrpSpPr>
                  <p:cNvPr id="51" name="Group 41"/>
                  <p:cNvGrpSpPr/>
                  <p:nvPr/>
                </p:nvGrpSpPr>
                <p:grpSpPr>
                  <a:xfrm>
                    <a:off x="7469193" y="7908842"/>
                    <a:ext cx="1775946" cy="788557"/>
                    <a:chOff x="7469193" y="7908842"/>
                    <a:chExt cx="1775946" cy="788557"/>
                  </a:xfrm>
                </p:grpSpPr>
                <p:sp>
                  <p:nvSpPr>
                    <p:cNvPr id="52" name="Round Same Side Corner Rectangle 51"/>
                    <p:cNvSpPr/>
                    <p:nvPr/>
                  </p:nvSpPr>
                  <p:spPr>
                    <a:xfrm rot="5400000">
                      <a:off x="7962887" y="7415148"/>
                      <a:ext cx="788557" cy="1775946"/>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53" name="TextBox 52"/>
                    <p:cNvSpPr txBox="1"/>
                    <p:nvPr/>
                  </p:nvSpPr>
                  <p:spPr>
                    <a:xfrm>
                      <a:off x="8104943" y="7949137"/>
                      <a:ext cx="656096" cy="707968"/>
                    </a:xfrm>
                    <a:prstGeom prst="rect">
                      <a:avLst/>
                    </a:prstGeom>
                    <a:noFill/>
                  </p:spPr>
                  <p:txBody>
                    <a:bodyPr wrap="none" rtlCol="0">
                      <a:spAutoFit/>
                    </a:bodyPr>
                    <a:lstStyle/>
                    <a:p>
                      <a:pPr algn="ctr"/>
                      <a:r>
                        <a:rPr lang="en-US" sz="4000" b="1">
                          <a:solidFill>
                            <a:prstClr val="white"/>
                          </a:solidFill>
                          <a:latin typeface="Tahoma" panose="020B0604030504040204" pitchFamily="34" charset="0"/>
                          <a:ea typeface="Tahoma" panose="020B0604030504040204" pitchFamily="34" charset="0"/>
                          <a:cs typeface="Tahoma" panose="020B0604030504040204" pitchFamily="34" charset="0"/>
                        </a:rPr>
                        <a:t>3</a:t>
                      </a:r>
                      <a:endPar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grpSp>
          </p:grpSp>
        </p:grpSp>
        <p:sp>
          <p:nvSpPr>
            <p:cNvPr id="103" name="Google Shape;122;p14">
              <a:extLst>
                <a:ext uri="{FF2B5EF4-FFF2-40B4-BE49-F238E27FC236}">
                  <a16:creationId xmlns:a16="http://schemas.microsoft.com/office/drawing/2014/main" id="{FAF7E6E7-D68E-4774-9801-54F6529B128E}"/>
                </a:ext>
              </a:extLst>
            </p:cNvPr>
            <p:cNvSpPr/>
            <p:nvPr/>
          </p:nvSpPr>
          <p:spPr>
            <a:xfrm>
              <a:off x="3165290" y="3009806"/>
              <a:ext cx="4418523" cy="882637"/>
            </a:xfrm>
            <a:prstGeom prst="rect">
              <a:avLst/>
            </a:prstGeom>
            <a:noFill/>
            <a:ln>
              <a:noFill/>
            </a:ln>
            <a:effectLst>
              <a:outerShdw blurRad="152400" dist="317500" dir="5400000" sx="90000" sy="-19000" rotWithShape="0">
                <a:srgbClr val="000000">
                  <a:alpha val="14901"/>
                </a:srgbClr>
              </a:outerShdw>
            </a:effectLst>
          </p:spPr>
          <p:txBody>
            <a:bodyPr spcFirstLastPara="1" wrap="square" lIns="91425" tIns="45700" rIns="91425" bIns="45700" anchor="t" anchorCtr="0">
              <a:noAutofit/>
              <a:scene3d>
                <a:camera prst="orthographicFront"/>
                <a:lightRig rig="threePt" dir="t"/>
              </a:scene3d>
              <a:sp3d prstMaterial="metal"/>
            </a:bodyPr>
            <a:lstStyle/>
            <a:p>
              <a:pPr marL="0" marR="0" lvl="0" indent="0" algn="ctr" rtl="0">
                <a:spcBef>
                  <a:spcPts val="0"/>
                </a:spcBef>
                <a:spcAft>
                  <a:spcPts val="0"/>
                </a:spcAft>
                <a:buNone/>
              </a:pPr>
              <a:r>
                <a:rPr lang="en-US" sz="6000">
                  <a:solidFill>
                    <a:srgbClr val="FF0000"/>
                  </a:solidFill>
                  <a:effectLst>
                    <a:glow rad="76200">
                      <a:srgbClr val="FFFF00">
                        <a:alpha val="47000"/>
                      </a:srgbClr>
                    </a:glow>
                    <a:outerShdw blurRad="50800" dist="38100" dir="18900000" algn="bl" rotWithShape="0">
                      <a:srgbClr val="0000CC">
                        <a:alpha val="40000"/>
                      </a:srgbClr>
                    </a:outerShdw>
                  </a:effectLst>
                  <a:latin typeface="Bahnschrift SemiBold SemiConden" panose="020B0502040204020203" pitchFamily="34" charset="0"/>
                  <a:sym typeface="Baumans"/>
                </a:rPr>
                <a:t>TOÁN ĐẠI SỐ  </a:t>
              </a:r>
              <a:endParaRPr sz="6000" dirty="0">
                <a:solidFill>
                  <a:srgbClr val="FF0000"/>
                </a:solidFill>
                <a:effectLst>
                  <a:glow rad="76200">
                    <a:srgbClr val="FFFF00">
                      <a:alpha val="47000"/>
                    </a:srgbClr>
                  </a:glow>
                  <a:outerShdw blurRad="50800" dist="38100" dir="18900000" algn="bl" rotWithShape="0">
                    <a:srgbClr val="0000CC">
                      <a:alpha val="40000"/>
                    </a:srgbClr>
                  </a:outerShdw>
                </a:effectLst>
                <a:latin typeface="Bahnschrift SemiBold SemiConden" panose="020B0502040204020203" pitchFamily="34" charset="0"/>
              </a:endParaRPr>
            </a:p>
          </p:txBody>
        </p:sp>
        <p:grpSp>
          <p:nvGrpSpPr>
            <p:cNvPr id="105" name="Group 104">
              <a:extLst>
                <a:ext uri="{FF2B5EF4-FFF2-40B4-BE49-F238E27FC236}">
                  <a16:creationId xmlns:a16="http://schemas.microsoft.com/office/drawing/2014/main" id="{7EC462C3-097E-478F-9154-33220765427C}"/>
                </a:ext>
              </a:extLst>
            </p:cNvPr>
            <p:cNvGrpSpPr/>
            <p:nvPr/>
          </p:nvGrpSpPr>
          <p:grpSpPr>
            <a:xfrm>
              <a:off x="4441592" y="3900043"/>
              <a:ext cx="1316269" cy="1323399"/>
              <a:chOff x="4902568" y="2922072"/>
              <a:chExt cx="1316269" cy="1323399"/>
            </a:xfrm>
          </p:grpSpPr>
          <p:grpSp>
            <p:nvGrpSpPr>
              <p:cNvPr id="106" name="Group 105">
                <a:extLst>
                  <a:ext uri="{FF2B5EF4-FFF2-40B4-BE49-F238E27FC236}">
                    <a16:creationId xmlns:a16="http://schemas.microsoft.com/office/drawing/2014/main" id="{392A2278-170A-49E8-B48D-301797CCDF5E}"/>
                  </a:ext>
                </a:extLst>
              </p:cNvPr>
              <p:cNvGrpSpPr/>
              <p:nvPr/>
            </p:nvGrpSpPr>
            <p:grpSpPr>
              <a:xfrm>
                <a:off x="5015148" y="2971696"/>
                <a:ext cx="1175009" cy="1143519"/>
                <a:chOff x="5015148" y="2971695"/>
                <a:chExt cx="1175009" cy="1143520"/>
              </a:xfrm>
            </p:grpSpPr>
            <p:sp>
              <p:nvSpPr>
                <p:cNvPr id="108" name="Oval 107">
                  <a:extLst>
                    <a:ext uri="{FF2B5EF4-FFF2-40B4-BE49-F238E27FC236}">
                      <a16:creationId xmlns:a16="http://schemas.microsoft.com/office/drawing/2014/main" id="{4E1041DC-D475-450B-91E9-794165D6DE77}"/>
                    </a:ext>
                  </a:extLst>
                </p:cNvPr>
                <p:cNvSpPr/>
                <p:nvPr/>
              </p:nvSpPr>
              <p:spPr>
                <a:xfrm>
                  <a:off x="5015148" y="2971695"/>
                  <a:ext cx="1175009" cy="1143520"/>
                </a:xfrm>
                <a:prstGeom prst="ellipse">
                  <a:avLst/>
                </a:prstGeom>
                <a:solidFill>
                  <a:srgbClr val="FFFF00"/>
                </a:solidFill>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1BBB2B80-ECD5-421E-A4F7-BBA59D5C9CDF}"/>
                    </a:ext>
                  </a:extLst>
                </p:cNvPr>
                <p:cNvSpPr/>
                <p:nvPr/>
              </p:nvSpPr>
              <p:spPr>
                <a:xfrm>
                  <a:off x="5015148" y="2993775"/>
                  <a:ext cx="1091111" cy="1121440"/>
                </a:xfrm>
                <a:prstGeom prst="ellipse">
                  <a:avLst/>
                </a:prstGeom>
                <a:solidFill>
                  <a:srgbClr val="3333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7" name="Google Shape;123;p14">
                <a:extLst>
                  <a:ext uri="{FF2B5EF4-FFF2-40B4-BE49-F238E27FC236}">
                    <a16:creationId xmlns:a16="http://schemas.microsoft.com/office/drawing/2014/main" id="{F38EB064-8955-4FC1-9AF5-C49985002268}"/>
                  </a:ext>
                </a:extLst>
              </p:cNvPr>
              <p:cNvSpPr txBox="1"/>
              <p:nvPr/>
            </p:nvSpPr>
            <p:spPr>
              <a:xfrm>
                <a:off x="4902568" y="2922072"/>
                <a:ext cx="1316269" cy="1323399"/>
              </a:xfrm>
              <a:prstGeom prst="rect">
                <a:avLst/>
              </a:prstGeom>
              <a:noFill/>
              <a:ln>
                <a:noFill/>
              </a:ln>
              <a:effectLst>
                <a:innerShdw blurRad="63500" dist="50800">
                  <a:prstClr val="black">
                    <a:alpha val="50000"/>
                  </a:prstClr>
                </a:innerShdw>
              </a:effectLst>
            </p:spPr>
            <p:txBody>
              <a:bodyPr spcFirstLastPara="1" wrap="square" lIns="91425" tIns="45700" rIns="91425" bIns="45700" anchor="t" anchorCtr="0">
                <a:spAutoFit/>
              </a:bodyPr>
              <a:lstStyle/>
              <a:p>
                <a:pPr marL="0" marR="0" lvl="0" indent="0" algn="ctr" rtl="0">
                  <a:spcBef>
                    <a:spcPts val="0"/>
                  </a:spcBef>
                  <a:spcAft>
                    <a:spcPts val="0"/>
                  </a:spcAft>
                  <a:buNone/>
                </a:pPr>
                <a:r>
                  <a:rPr lang="en-US" sz="8000">
                    <a:solidFill>
                      <a:schemeClr val="bg1"/>
                    </a:solidFill>
                    <a:latin typeface="Yu Gothic UI Semilight" panose="020B0400000000000000" pitchFamily="34" charset="-128"/>
                    <a:ea typeface="Yu Gothic UI Semilight" panose="020B0400000000000000" pitchFamily="34" charset="-128"/>
                  </a:rPr>
                  <a:t>➉</a:t>
                </a:r>
                <a:endParaRPr sz="8000" dirty="0">
                  <a:solidFill>
                    <a:schemeClr val="bg1"/>
                  </a:solidFill>
                </a:endParaRPr>
              </a:p>
            </p:txBody>
          </p:sp>
        </p:grpSp>
      </p:grpSp>
      <p:grpSp>
        <p:nvGrpSpPr>
          <p:cNvPr id="112" name="Group 111">
            <a:extLst>
              <a:ext uri="{FF2B5EF4-FFF2-40B4-BE49-F238E27FC236}">
                <a16:creationId xmlns:a16="http://schemas.microsoft.com/office/drawing/2014/main" id="{1F6311BF-A4CF-4E55-85D0-0A86514BB33B}"/>
              </a:ext>
            </a:extLst>
          </p:cNvPr>
          <p:cNvGrpSpPr/>
          <p:nvPr/>
        </p:nvGrpSpPr>
        <p:grpSpPr>
          <a:xfrm>
            <a:off x="7279296" y="3347059"/>
            <a:ext cx="11110068" cy="1275969"/>
            <a:chOff x="71819" y="108752"/>
            <a:chExt cx="6395438" cy="872484"/>
          </a:xfrm>
        </p:grpSpPr>
        <p:pic>
          <p:nvPicPr>
            <p:cNvPr id="113" name="Picture 112">
              <a:extLst>
                <a:ext uri="{FF2B5EF4-FFF2-40B4-BE49-F238E27FC236}">
                  <a16:creationId xmlns:a16="http://schemas.microsoft.com/office/drawing/2014/main" id="{E248C2BE-8566-4C92-B9DC-0F7EBDD761BF}"/>
                </a:ext>
              </a:extLst>
            </p:cNvPr>
            <p:cNvPicPr>
              <a:picLocks noChangeAspect="1"/>
            </p:cNvPicPr>
            <p:nvPr/>
          </p:nvPicPr>
          <p:blipFill>
            <a:blip r:embed="rId4"/>
            <a:stretch>
              <a:fillRect/>
            </a:stretch>
          </p:blipFill>
          <p:spPr>
            <a:xfrm>
              <a:off x="71819" y="148683"/>
              <a:ext cx="6395438" cy="824094"/>
            </a:xfrm>
            <a:prstGeom prst="rect">
              <a:avLst/>
            </a:prstGeom>
          </p:spPr>
        </p:pic>
        <p:sp>
          <p:nvSpPr>
            <p:cNvPr id="114" name="TextBox 321">
              <a:extLst>
                <a:ext uri="{FF2B5EF4-FFF2-40B4-BE49-F238E27FC236}">
                  <a16:creationId xmlns:a16="http://schemas.microsoft.com/office/drawing/2014/main" id="{39A246B9-3D0B-4A2B-A2B0-AD412E909BB4}"/>
                </a:ext>
              </a:extLst>
            </p:cNvPr>
            <p:cNvSpPr txBox="1"/>
            <p:nvPr/>
          </p:nvSpPr>
          <p:spPr>
            <a:xfrm>
              <a:off x="1236809" y="245789"/>
              <a:ext cx="4239341" cy="595896"/>
            </a:xfrm>
            <a:prstGeom prst="rect">
              <a:avLst/>
            </a:prstGeom>
            <a:noFill/>
          </p:spPr>
          <p:txBody>
            <a:bodyPr wrap="square" rtlCol="0">
              <a:noAutofit/>
            </a:bodyPr>
            <a:lstStyle/>
            <a:p>
              <a:pPr marL="0" marR="0" algn="ctr">
                <a:lnSpc>
                  <a:spcPct val="106000"/>
                </a:lnSpc>
                <a:spcBef>
                  <a:spcPts val="0"/>
                </a:spcBef>
                <a:spcAft>
                  <a:spcPts val="800"/>
                </a:spcAft>
              </a:pPr>
              <a:r>
                <a:rPr lang="en-US" sz="5400" b="1" kern="1200">
                  <a:solidFill>
                    <a:srgbClr val="FCFFEF"/>
                  </a:solidFill>
                  <a:effectLst/>
                  <a:latin typeface="Calibri" panose="020F0502020204030204" pitchFamily="34" charset="0"/>
                  <a:ea typeface="Cascadia Mono" panose="020B0609020000020004" pitchFamily="49" charset="0"/>
                  <a:cs typeface="Times New Roman" panose="02020603050405020304" pitchFamily="18" charset="0"/>
                </a:rPr>
                <a:t>SỐ GẦN ĐÚNG VÀ SAI SỐ</a:t>
              </a:r>
              <a:endParaRPr lang="en-US" sz="54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15" name="TextBox 321">
              <a:extLst>
                <a:ext uri="{FF2B5EF4-FFF2-40B4-BE49-F238E27FC236}">
                  <a16:creationId xmlns:a16="http://schemas.microsoft.com/office/drawing/2014/main" id="{EFE5FD9A-8DAE-41E9-BE5B-4B8636094028}"/>
                </a:ext>
              </a:extLst>
            </p:cNvPr>
            <p:cNvSpPr txBox="1"/>
            <p:nvPr/>
          </p:nvSpPr>
          <p:spPr>
            <a:xfrm>
              <a:off x="366091" y="108752"/>
              <a:ext cx="715323" cy="872484"/>
            </a:xfrm>
            <a:prstGeom prst="rect">
              <a:avLst/>
            </a:prstGeom>
            <a:noFill/>
          </p:spPr>
          <p:txBody>
            <a:bodyPr wrap="square" rtlCol="0">
              <a:noAutofit/>
            </a:bodyPr>
            <a:lstStyle/>
            <a:p>
              <a:pPr marL="0" marR="0" algn="ctr">
                <a:lnSpc>
                  <a:spcPct val="106000"/>
                </a:lnSpc>
                <a:spcBef>
                  <a:spcPts val="0"/>
                </a:spcBef>
                <a:spcAft>
                  <a:spcPts val="800"/>
                </a:spcAft>
              </a:pPr>
              <a:r>
                <a:rPr lang="en-US" sz="6000" b="1" kern="1200">
                  <a:solidFill>
                    <a:srgbClr val="FFFFFF"/>
                  </a:solidFill>
                  <a:effectLst/>
                  <a:latin typeface="Calibri" panose="020F0502020204030204" pitchFamily="34" charset="0"/>
                  <a:ea typeface="Cascadia Mono" panose="020B0609020000020004" pitchFamily="49" charset="0"/>
                  <a:cs typeface="Times New Roman" panose="02020603050405020304" pitchFamily="18" charset="0"/>
                </a:rPr>
                <a:t>12</a:t>
              </a:r>
              <a:endParaRPr lang="en-US" sz="6000">
                <a:effectLst/>
                <a:latin typeface="Times New Roman" panose="02020603050405020304" pitchFamily="18" charset="0"/>
                <a:ea typeface="Calibri" panose="020F0502020204030204" pitchFamily="34" charset="0"/>
                <a:cs typeface="Times New Roman" panose="02020603050405020304" pitchFamily="18" charset="0"/>
              </a:endParaRPr>
            </a:p>
          </p:txBody>
        </p:sp>
      </p:grpSp>
      <p:sp>
        <p:nvSpPr>
          <p:cNvPr id="117" name="Rounded Rectangle 116"/>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   ·   BÀI 12</a:t>
            </a:r>
          </a:p>
        </p:txBody>
      </p:sp>
      <p:sp>
        <p:nvSpPr>
          <p:cNvPr id="121" name="TextBox 120"/>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21842548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a:extLst>
              <a:ext uri="{FF2B5EF4-FFF2-40B4-BE49-F238E27FC236}">
                <a16:creationId xmlns:a16="http://schemas.microsoft.com/office/drawing/2014/main" id="{496014E7-6975-4CA7-86B3-340093E31C79}"/>
              </a:ext>
            </a:extLst>
          </p:cNvPr>
          <p:cNvSpPr>
            <a:spLocks noGrp="1"/>
          </p:cNvSpPr>
          <p:nvPr>
            <p:ph type="title"/>
          </p:nvPr>
        </p:nvSpPr>
        <p:spPr>
          <a:xfrm>
            <a:off x="1566878" y="1587727"/>
            <a:ext cx="21395598" cy="1384073"/>
          </a:xfrm>
        </p:spPr>
        <p:txBody>
          <a:bodyPr anchor="ctr" anchorCtr="0"/>
          <a:lstStyle/>
          <a:p>
            <a:pPr algn="ctr">
              <a:lnSpc>
                <a:spcPct val="120000"/>
              </a:lnSpc>
            </a:pPr>
            <a:r>
              <a:rPr lang="en-US" sz="4400" b="1">
                <a:solidFill>
                  <a:srgbClr val="FF0000"/>
                </a:solidFill>
                <a:effectLst/>
                <a:latin typeface="Tahoma" panose="020B0604030504040204" pitchFamily="34" charset="0"/>
                <a:ea typeface="Tahoma" panose="020B0604030504040204" pitchFamily="34" charset="0"/>
                <a:cs typeface="Tahoma" panose="020B0604030504040204" pitchFamily="34" charset="0"/>
                <a:sym typeface="Symbol" panose="05050102010706020507" pitchFamily="18" charset="2"/>
              </a:rPr>
              <a:t>§12. </a:t>
            </a:r>
            <a:r>
              <a:rPr lang="en-US" sz="4400" b="1">
                <a:solidFill>
                  <a:srgbClr val="FF0000"/>
                </a:solidFill>
                <a:effectLst/>
                <a:latin typeface="Tahoma" panose="020B0604030504040204" pitchFamily="34" charset="0"/>
                <a:ea typeface="Calibri" panose="020F0502020204030204" pitchFamily="34" charset="0"/>
              </a:rPr>
              <a:t>SỐ GẦN ĐÚNG VÀ SAI SỐ</a:t>
            </a:r>
            <a:endParaRPr lang="vi-VN" sz="4400" b="1">
              <a:solidFill>
                <a:srgbClr val="FF0000"/>
              </a:solidFill>
              <a:latin typeface="Tahoma" panose="020B0604030504040204" pitchFamily="34" charset="0"/>
            </a:endParaRPr>
          </a:p>
        </p:txBody>
      </p:sp>
      <p:sp>
        <p:nvSpPr>
          <p:cNvPr id="4" name="Text Placeholder 3">
            <a:extLst>
              <a:ext uri="{FF2B5EF4-FFF2-40B4-BE49-F238E27FC236}">
                <a16:creationId xmlns:a16="http://schemas.microsoft.com/office/drawing/2014/main" id="{E16C2E9B-F09E-41BB-9E21-1E1A8C3998C8}"/>
              </a:ext>
            </a:extLst>
          </p:cNvPr>
          <p:cNvSpPr>
            <a:spLocks noGrp="1"/>
          </p:cNvSpPr>
          <p:nvPr>
            <p:ph type="body" sz="half" idx="2"/>
          </p:nvPr>
        </p:nvSpPr>
        <p:spPr>
          <a:xfrm>
            <a:off x="381001" y="3492726"/>
            <a:ext cx="5257800" cy="8394474"/>
          </a:xfrm>
        </p:spPr>
        <p:txBody>
          <a:bodyPr/>
          <a:lstStyle/>
          <a:p>
            <a:pPr algn="ctr">
              <a:lnSpc>
                <a:spcPct val="200000"/>
              </a:lnSpc>
              <a:spcBef>
                <a:spcPts val="0"/>
              </a:spcBef>
              <a:spcAft>
                <a:spcPct val="0"/>
              </a:spcAft>
            </a:pPr>
            <a:r>
              <a:rPr lang="en-US" sz="4400" b="1"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THUẬT NGỮ</a:t>
            </a:r>
            <a:endParaRPr lang="vi-VN" sz="4400" b="1"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p>
            <a:pPr lvl="0">
              <a:lnSpc>
                <a:spcPct val="200000"/>
              </a:lnSpc>
              <a:spcBef>
                <a:spcPts val="0"/>
              </a:spcBef>
              <a:spcAft>
                <a:spcPct val="0"/>
              </a:spcAft>
            </a:pPr>
            <a:r>
              <a:rPr lang="vi-VN" sz="4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Số gần đúng</a:t>
            </a:r>
          </a:p>
          <a:p>
            <a:pPr lvl="0">
              <a:lnSpc>
                <a:spcPct val="200000"/>
              </a:lnSpc>
              <a:spcBef>
                <a:spcPts val="0"/>
              </a:spcBef>
              <a:spcAft>
                <a:spcPct val="0"/>
              </a:spcAft>
            </a:pPr>
            <a:r>
              <a:rPr lang="vi-VN" sz="4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Sai số tuyệt đối</a:t>
            </a:r>
          </a:p>
          <a:p>
            <a:pPr lvl="0">
              <a:lnSpc>
                <a:spcPct val="200000"/>
              </a:lnSpc>
              <a:spcBef>
                <a:spcPts val="0"/>
              </a:spcBef>
              <a:spcAft>
                <a:spcPct val="0"/>
              </a:spcAft>
            </a:pPr>
            <a:r>
              <a:rPr lang="vi-VN" sz="4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Độ chính xác</a:t>
            </a:r>
          </a:p>
          <a:p>
            <a:pPr lvl="0">
              <a:lnSpc>
                <a:spcPct val="200000"/>
              </a:lnSpc>
              <a:spcBef>
                <a:spcPts val="0"/>
              </a:spcBef>
              <a:spcAft>
                <a:spcPct val="0"/>
              </a:spcAft>
            </a:pPr>
            <a:r>
              <a:rPr lang="vi-VN" sz="4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Sai số tương đối</a:t>
            </a:r>
          </a:p>
          <a:p>
            <a:pPr lvl="0">
              <a:lnSpc>
                <a:spcPct val="200000"/>
              </a:lnSpc>
              <a:spcBef>
                <a:spcPts val="0"/>
              </a:spcBef>
              <a:spcAft>
                <a:spcPct val="0"/>
              </a:spcAft>
            </a:pPr>
            <a:r>
              <a:rPr lang="vi-VN" sz="4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Số quy tròn</a:t>
            </a:r>
          </a:p>
        </p:txBody>
      </p:sp>
      <p:sp>
        <p:nvSpPr>
          <p:cNvPr id="6" name="Content Placeholder 5">
            <a:extLst>
              <a:ext uri="{FF2B5EF4-FFF2-40B4-BE49-F238E27FC236}">
                <a16:creationId xmlns:a16="http://schemas.microsoft.com/office/drawing/2014/main" id="{4FD002E4-3814-492C-A705-69F9B00A7E36}"/>
              </a:ext>
            </a:extLst>
          </p:cNvPr>
          <p:cNvSpPr>
            <a:spLocks noGrp="1"/>
          </p:cNvSpPr>
          <p:nvPr>
            <p:ph idx="1"/>
          </p:nvPr>
        </p:nvSpPr>
        <p:spPr>
          <a:xfrm>
            <a:off x="5867401" y="3505200"/>
            <a:ext cx="18516600" cy="8254548"/>
          </a:xfrm>
        </p:spPr>
        <p:txBody>
          <a:bodyPr/>
          <a:lstStyle/>
          <a:p>
            <a:pPr marL="0" indent="0" algn="ctr">
              <a:lnSpc>
                <a:spcPct val="200000"/>
              </a:lnSpc>
              <a:spcBef>
                <a:spcPts val="0"/>
              </a:spcBef>
              <a:spcAft>
                <a:spcPct val="0"/>
              </a:spcAft>
              <a:buNone/>
            </a:pPr>
            <a:r>
              <a:rPr lang="en-US" sz="4400" b="1"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rPr>
              <a:t>KIẾN THỨC, KỸ NĂNG</a:t>
            </a:r>
            <a:endParaRPr lang="vi-VN" sz="4400" b="1"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lvl="0" indent="0">
              <a:lnSpc>
                <a:spcPct val="200000"/>
              </a:lnSpc>
              <a:spcBef>
                <a:spcPts val="0"/>
              </a:spcBef>
              <a:spcAft>
                <a:spcPct val="0"/>
              </a:spcAft>
              <a:buNone/>
            </a:pPr>
            <a:r>
              <a:rPr lang="vi-VN" sz="4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Hiểu khái niệm số gần đúng, sai số tuyệt đối.</a:t>
            </a:r>
          </a:p>
          <a:p>
            <a:pPr marL="0" lvl="0" indent="0">
              <a:lnSpc>
                <a:spcPct val="200000"/>
              </a:lnSpc>
              <a:spcBef>
                <a:spcPts val="0"/>
              </a:spcBef>
              <a:spcAft>
                <a:spcPct val="0"/>
              </a:spcAft>
              <a:buNone/>
            </a:pPr>
            <a:r>
              <a:rPr lang="vi-VN" sz="4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Xác định số gần đúng của một số với độ chính xác cho trước.</a:t>
            </a:r>
          </a:p>
          <a:p>
            <a:pPr marL="0" lvl="0" indent="0">
              <a:lnSpc>
                <a:spcPct val="200000"/>
              </a:lnSpc>
              <a:spcBef>
                <a:spcPts val="0"/>
              </a:spcBef>
              <a:spcAft>
                <a:spcPct val="0"/>
              </a:spcAft>
              <a:buNone/>
            </a:pPr>
            <a:r>
              <a:rPr lang="vi-VN" sz="4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Xác định sai số tương đối của số gần đúng.</a:t>
            </a:r>
          </a:p>
          <a:p>
            <a:pPr marL="0" lvl="0" indent="0">
              <a:lnSpc>
                <a:spcPct val="200000"/>
              </a:lnSpc>
              <a:spcBef>
                <a:spcPts val="0"/>
              </a:spcBef>
              <a:spcAft>
                <a:spcPct val="0"/>
              </a:spcAft>
              <a:buNone/>
            </a:pPr>
            <a:r>
              <a:rPr lang="vi-VN" sz="4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Xác định số quy tròn của số gần đúng với độ chính xác cho trước.</a:t>
            </a:r>
          </a:p>
          <a:p>
            <a:pPr marL="0" lvl="0" indent="0">
              <a:lnSpc>
                <a:spcPct val="200000"/>
              </a:lnSpc>
              <a:spcBef>
                <a:spcPts val="0"/>
              </a:spcBef>
              <a:spcAft>
                <a:spcPct val="0"/>
              </a:spcAft>
              <a:buNone/>
            </a:pPr>
            <a:r>
              <a:rPr lang="vi-VN" sz="4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Biết sử dụng máy tính cầm tay đề tính toán với các số gần đúng.</a:t>
            </a:r>
          </a:p>
        </p:txBody>
      </p:sp>
      <p:cxnSp>
        <p:nvCxnSpPr>
          <p:cNvPr id="10" name="Straight Connector 9">
            <a:extLst>
              <a:ext uri="{FF2B5EF4-FFF2-40B4-BE49-F238E27FC236}">
                <a16:creationId xmlns:a16="http://schemas.microsoft.com/office/drawing/2014/main" id="{8A18CAF6-8343-4366-B6FB-DF3151CFDF62}"/>
              </a:ext>
            </a:extLst>
          </p:cNvPr>
          <p:cNvCxnSpPr>
            <a:cxnSpLocks/>
          </p:cNvCxnSpPr>
          <p:nvPr/>
        </p:nvCxnSpPr>
        <p:spPr>
          <a:xfrm>
            <a:off x="5638800" y="4051075"/>
            <a:ext cx="0" cy="7772399"/>
          </a:xfrm>
          <a:prstGeom prst="line">
            <a:avLst/>
          </a:prstGeom>
          <a:ln w="152400" cmpd="dbl">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Rounded Rectangle 11"/>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   ·   BÀI 12</a:t>
            </a:r>
          </a:p>
        </p:txBody>
      </p:sp>
      <p:sp>
        <p:nvSpPr>
          <p:cNvPr id="16" name="TextBox 15"/>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99561971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00100" y="1981200"/>
                <a:ext cx="22783800" cy="11411749"/>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a:latin typeface="Times New Roman" panose="02020603050405020304" pitchFamily="18" charset="0"/>
                    <a:cs typeface="Times New Roman" panose="02020603050405020304" pitchFamily="18" charset="0"/>
                  </a:rPr>
                  <a:t>Đỉnh Everest được mệnh danh là "nóc nhà của thế giới", bởi đây là đỉnh núi cao nhất trên Trái Đất so với mực nước biển. Có rất nhiều con số khác nhau đã từng được công bố về chiều cao của đỉnh Everest:</a:t>
                </a:r>
                <a:endParaRPr lang="vi-VN">
                  <a:latin typeface="Times New Roman" panose="020206030504050203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8848</m:t>
                      </m:r>
                      <m:r>
                        <a:rPr lang="en-US" i="1">
                          <a:latin typeface="Cambria Math" panose="02040503050406030204" pitchFamily="18" charset="0"/>
                        </a:rPr>
                        <m:t>𝑚</m:t>
                      </m:r>
                      <m:r>
                        <a:rPr lang="en-US" i="1">
                          <a:latin typeface="Cambria Math" panose="02040503050406030204" pitchFamily="18" charset="0"/>
                        </a:rPr>
                        <m:t>;8848,13</m:t>
                      </m:r>
                      <m:r>
                        <a:rPr lang="en-US" i="1">
                          <a:latin typeface="Cambria Math" panose="02040503050406030204" pitchFamily="18" charset="0"/>
                        </a:rPr>
                        <m:t>𝑚</m:t>
                      </m:r>
                      <m:r>
                        <a:rPr lang="en-US" i="1">
                          <a:latin typeface="Cambria Math" panose="02040503050406030204" pitchFamily="18" charset="0"/>
                        </a:rPr>
                        <m:t>;8844,43</m:t>
                      </m:r>
                      <m:r>
                        <a:rPr lang="en-US" i="1">
                          <a:latin typeface="Cambria Math" panose="02040503050406030204" pitchFamily="18" charset="0"/>
                        </a:rPr>
                        <m:t>𝑚</m:t>
                      </m:r>
                      <m:r>
                        <a:rPr lang="en-US" i="1">
                          <a:latin typeface="Cambria Math" panose="02040503050406030204" pitchFamily="18" charset="0"/>
                        </a:rPr>
                        <m:t>;8850</m:t>
                      </m:r>
                      <m:r>
                        <a:rPr lang="en-US" i="1">
                          <a:latin typeface="Cambria Math" panose="02040503050406030204" pitchFamily="18" charset="0"/>
                        </a:rPr>
                        <m:t>𝑚</m:t>
                      </m:r>
                      <m:r>
                        <a:rPr lang="en-US" i="1">
                          <a:latin typeface="Cambria Math" panose="02040503050406030204" pitchFamily="18" charset="0"/>
                        </a:rPr>
                        <m:t>;…</m:t>
                      </m:r>
                    </m:oMath>
                  </m:oMathPara>
                </a14:m>
                <a:endParaRPr lang="vi-VN">
                  <a:latin typeface="Times New Roman" panose="02020603050405020304" pitchFamily="18" charset="0"/>
                  <a:cs typeface="Times New Roman" panose="02020603050405020304" pitchFamily="18" charset="0"/>
                </a:endParaRPr>
              </a:p>
              <a:p>
                <a:pPr marL="0" indent="0">
                  <a:buNone/>
                </a:pPr>
                <a:r>
                  <a:rPr lang="en-US">
                    <a:latin typeface="Times New Roman" panose="02020603050405020304" pitchFamily="18" charset="0"/>
                    <a:cs typeface="Times New Roman" panose="02020603050405020304" pitchFamily="18" charset="0"/>
                  </a:rPr>
                  <a:t>Vì sao lại có nhiều kết quả khác nhau như vậy và đâu là con số chính xác? Chúng ta sẽ cùng tìm câu trả lời trong bài học này, sau khi tìm hiểu về số gần đúng và sai số. </a:t>
                </a:r>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800100" y="1981200"/>
                <a:ext cx="22783800" cy="11411749"/>
              </a:xfrm>
              <a:prstGeom prst="rect">
                <a:avLst/>
              </a:prstGeom>
              <a:blipFill>
                <a:blip r:embed="rId3"/>
                <a:stretch>
                  <a:fillRect l="-1176" t="-1761" r="-1310"/>
                </a:stretch>
              </a:blipFill>
              <a:ln>
                <a:solidFill>
                  <a:srgbClr val="00B0F0"/>
                </a:solidFill>
              </a:ln>
            </p:spPr>
            <p:txBody>
              <a:bodyPr/>
              <a:lstStyle/>
              <a:p>
                <a:r>
                  <a:rPr lang="en-US">
                    <a:noFill/>
                  </a:rPr>
                  <a:t> </a:t>
                </a:r>
              </a:p>
            </p:txBody>
          </p:sp>
        </mc:Fallback>
      </mc:AlternateContent>
      <p:pic>
        <p:nvPicPr>
          <p:cNvPr id="5" name="Picture 4">
            <a:extLst>
              <a:ext uri="{FF2B5EF4-FFF2-40B4-BE49-F238E27FC236}">
                <a16:creationId xmlns:a16="http://schemas.microsoft.com/office/drawing/2014/main" id="{5CDD15BD-D352-4D8E-9F81-3D91FCAB69C2}"/>
              </a:ext>
            </a:extLst>
          </p:cNvPr>
          <p:cNvPicPr/>
          <p:nvPr/>
        </p:nvPicPr>
        <p:blipFill>
          <a:blip r:embed="rId4"/>
          <a:stretch>
            <a:fillRect/>
          </a:stretch>
        </p:blipFill>
        <p:spPr>
          <a:xfrm>
            <a:off x="6172200" y="7037832"/>
            <a:ext cx="12039600" cy="6068568"/>
          </a:xfrm>
          <a:prstGeom prst="rect">
            <a:avLst/>
          </a:prstGeom>
        </p:spPr>
      </p:pic>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   ·   BÀI 12</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15866508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wipe(up)">
                                      <p:cBhvr>
                                        <p:cTn id="7" dur="500"/>
                                        <p:tgtEl>
                                          <p:spTgt spid="9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99">
                                            <p:txEl>
                                              <p:pRg st="0" end="0"/>
                                            </p:txEl>
                                          </p:spTgt>
                                        </p:tgtEl>
                                        <p:attrNameLst>
                                          <p:attrName>style.visibility</p:attrName>
                                        </p:attrNameLst>
                                      </p:cBhvr>
                                      <p:to>
                                        <p:strVal val="visible"/>
                                      </p:to>
                                    </p:set>
                                    <p:animEffect transition="in" filter="wipe(up)">
                                      <p:cBhvr>
                                        <p:cTn id="12" dur="500"/>
                                        <p:tgtEl>
                                          <p:spTgt spid="9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99">
                                            <p:txEl>
                                              <p:pRg st="1" end="1"/>
                                            </p:txEl>
                                          </p:spTgt>
                                        </p:tgtEl>
                                        <p:attrNameLst>
                                          <p:attrName>style.visibility</p:attrName>
                                        </p:attrNameLst>
                                      </p:cBhvr>
                                      <p:to>
                                        <p:strVal val="visible"/>
                                      </p:to>
                                    </p:set>
                                    <p:animEffect transition="in" filter="wipe(up)">
                                      <p:cBhvr>
                                        <p:cTn id="17" dur="500"/>
                                        <p:tgtEl>
                                          <p:spTgt spid="99">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99">
                                            <p:txEl>
                                              <p:pRg st="2" end="2"/>
                                            </p:txEl>
                                          </p:spTgt>
                                        </p:tgtEl>
                                        <p:attrNameLst>
                                          <p:attrName>style.visibility</p:attrName>
                                        </p:attrNameLst>
                                      </p:cBhvr>
                                      <p:to>
                                        <p:strVal val="visible"/>
                                      </p:to>
                                    </p:set>
                                    <p:animEffect transition="in" filter="wipe(up)">
                                      <p:cBhvr>
                                        <p:cTn id="22" dur="500"/>
                                        <p:tgtEl>
                                          <p:spTgt spid="99">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838200" y="1879601"/>
            <a:ext cx="6781800" cy="1015999"/>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b="1" dirty="0">
                <a:solidFill>
                  <a:schemeClr val="accent6">
                    <a:lumMod val="75000"/>
                  </a:schemeClr>
                </a:solidFill>
              </a:rPr>
              <a:t>1. SỐ GẦN ĐÚNG. </a:t>
            </a:r>
            <a:endParaRPr lang="vi-VN" dirty="0">
              <a:solidFill>
                <a:schemeClr val="accent6">
                  <a:lumMod val="75000"/>
                </a:schemeClr>
              </a:solidFill>
            </a:endParaRP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38200" y="3581400"/>
                <a:ext cx="23164800" cy="2827336"/>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b="1">
                    <a:solidFill>
                      <a:srgbClr val="FF0000"/>
                    </a:solidFill>
                  </a:rPr>
                  <a:t> HĐ1:  </a:t>
                </a:r>
                <a:r>
                  <a:rPr lang="en-US"/>
                  <a:t>Ngày 8-12-2020, Trung Quốc và Nepal ra thông cáo chung khẳng định chiều cao mới đo được của đỉnh núi cao nhất thế giới Everest là </a:t>
                </a:r>
                <a14:m>
                  <m:oMath xmlns:m="http://schemas.openxmlformats.org/officeDocument/2006/math">
                    <m:r>
                      <a:rPr lang="en-US" i="1">
                        <a:latin typeface="Cambria Math" panose="02040503050406030204" pitchFamily="18" charset="0"/>
                      </a:rPr>
                      <m:t>8848,86</m:t>
                    </m:r>
                    <m:r>
                      <a:rPr lang="en-US" i="1">
                        <a:latin typeface="Cambria Math" panose="02040503050406030204" pitchFamily="18" charset="0"/>
                      </a:rPr>
                      <m:t>𝑚</m:t>
                    </m:r>
                  </m:oMath>
                </a14:m>
                <a:r>
                  <a:rPr lang="en-US"/>
                  <a:t>.   (Theo Tuoitre.vn)</a:t>
                </a:r>
                <a:endParaRPr lang="vi-VN"/>
              </a:p>
              <a:p>
                <a:pPr marL="0" indent="0">
                  <a:buNone/>
                </a:pPr>
                <a:r>
                  <a:rPr lang="en-US"/>
                  <a:t>Trong các số được đưa ra ở tình huống mở đầu, số nào gần nhất với số được công bố ở trên?</a:t>
                </a:r>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838200" y="3581400"/>
                <a:ext cx="23164800" cy="2827336"/>
              </a:xfrm>
              <a:prstGeom prst="rect">
                <a:avLst/>
              </a:prstGeom>
              <a:blipFill>
                <a:blip r:embed="rId3"/>
                <a:stretch>
                  <a:fillRect l="-1184" t="-7097" r="-1052"/>
                </a:stretch>
              </a:blipFill>
              <a:ln>
                <a:solidFill>
                  <a:srgbClr val="00B0F0"/>
                </a:solidFill>
              </a:ln>
            </p:spPr>
            <p:txBody>
              <a:bodyPr/>
              <a:lstStyle/>
              <a:p>
                <a:r>
                  <a:rPr lang="vi-VN">
                    <a:noFill/>
                  </a:rPr>
                  <a:t> </a:t>
                </a:r>
              </a:p>
            </p:txBody>
          </p:sp>
        </mc:Fallback>
      </mc:AlternateContent>
      <p:sp>
        <p:nvSpPr>
          <p:cNvPr id="8" name="Content Placeholder 2">
            <a:extLst>
              <a:ext uri="{FF2B5EF4-FFF2-40B4-BE49-F238E27FC236}">
                <a16:creationId xmlns:a16="http://schemas.microsoft.com/office/drawing/2014/main" id="{B270A3F8-6865-499A-9514-932AD5586A0D}"/>
              </a:ext>
            </a:extLst>
          </p:cNvPr>
          <p:cNvSpPr txBox="1">
            <a:spLocks/>
          </p:cNvSpPr>
          <p:nvPr/>
        </p:nvSpPr>
        <p:spPr>
          <a:xfrm>
            <a:off x="832104" y="6976268"/>
            <a:ext cx="16306800" cy="2209800"/>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b="1">
                <a:solidFill>
                  <a:srgbClr val="FF0000"/>
                </a:solidFill>
              </a:rPr>
              <a:t> HĐ2:  </a:t>
            </a:r>
            <a:r>
              <a:rPr lang="en-US"/>
              <a:t>Trang và Hoà thực hiện đo thể tích một cốc nước bằng hai ống đong có vạch chia được kết quả như Hình 5.1. Hãy cho biết số đo thể tích trên mỗi ống.</a:t>
            </a:r>
          </a:p>
        </p:txBody>
      </p:sp>
      <p:pic>
        <p:nvPicPr>
          <p:cNvPr id="9" name="Picture 8">
            <a:extLst>
              <a:ext uri="{FF2B5EF4-FFF2-40B4-BE49-F238E27FC236}">
                <a16:creationId xmlns:a16="http://schemas.microsoft.com/office/drawing/2014/main" id="{D8A32351-A465-461E-8802-593C4C1A7370}"/>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17303496" y="7924800"/>
            <a:ext cx="6248400" cy="4628582"/>
          </a:xfrm>
          <a:prstGeom prst="rect">
            <a:avLst/>
          </a:prstGeom>
        </p:spPr>
      </p:pic>
      <mc:AlternateContent xmlns:mc="http://schemas.openxmlformats.org/markup-compatibility/2006" xmlns:a14="http://schemas.microsoft.com/office/drawing/2010/main">
        <mc:Choice Requires="a14">
          <p:sp>
            <p:nvSpPr>
              <p:cNvPr id="10" name="Content Placeholder 2">
                <a:extLst>
                  <a:ext uri="{FF2B5EF4-FFF2-40B4-BE49-F238E27FC236}">
                    <a16:creationId xmlns:a16="http://schemas.microsoft.com/office/drawing/2014/main" id="{976E4E03-2B2C-4978-9D2D-B1D4B9C759D2}"/>
                  </a:ext>
                </a:extLst>
              </p:cNvPr>
              <p:cNvSpPr txBox="1">
                <a:spLocks/>
              </p:cNvSpPr>
              <p:nvPr/>
            </p:nvSpPr>
            <p:spPr>
              <a:xfrm>
                <a:off x="832104" y="9753600"/>
                <a:ext cx="16306800" cy="3581400"/>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a:t>Trong nhiều trường hợp, ta không biết hoặc khó biết số đúng (kí hiệu là </a:t>
                </a:r>
                <a14:m>
                  <m:oMath xmlns:m="http://schemas.openxmlformats.org/officeDocument/2006/math">
                    <m:acc>
                      <m:accPr>
                        <m:chr m:val="̄"/>
                        <m:ctrlPr>
                          <a:rPr lang="vi-VN" i="1">
                            <a:latin typeface="Cambria Math" panose="02040503050406030204" pitchFamily="18" charset="0"/>
                          </a:rPr>
                        </m:ctrlPr>
                      </m:accPr>
                      <m:e>
                        <m:r>
                          <a:rPr lang="en-US" i="1">
                            <a:latin typeface="Cambria Math" panose="02040503050406030204" pitchFamily="18" charset="0"/>
                          </a:rPr>
                          <m:t>𝑎</m:t>
                        </m:r>
                      </m:e>
                    </m:acc>
                  </m:oMath>
                </a14:m>
                <a:r>
                  <a:rPr lang="en-US"/>
                  <a:t>) mà chỉ tìm được giá trị khác xấp xỉ nó. Giá trị này được gọi là </a:t>
                </a:r>
                <a:r>
                  <a:rPr lang="en-US" b="1"/>
                  <a:t>số gần đúng</a:t>
                </a:r>
                <a:r>
                  <a:rPr lang="en-US"/>
                  <a:t>, kí hiệu là </a:t>
                </a:r>
                <a14:m>
                  <m:oMath xmlns:m="http://schemas.openxmlformats.org/officeDocument/2006/math">
                    <m:r>
                      <a:rPr lang="en-US" i="1">
                        <a:latin typeface="Cambria Math" panose="02040503050406030204" pitchFamily="18" charset="0"/>
                      </a:rPr>
                      <m:t>𝑎</m:t>
                    </m:r>
                  </m:oMath>
                </a14:m>
                <a:r>
                  <a:rPr lang="en-US"/>
                  <a:t>. </a:t>
                </a:r>
              </a:p>
              <a:p>
                <a:pPr marL="0" indent="0">
                  <a:buNone/>
                </a:pPr>
                <a:r>
                  <a:rPr lang="en-US"/>
                  <a:t>Chẳng hạn, các số đo khác nhau về chiều cao của đỉnh Everest trong tình huống mở đầu đều là các số gần đúng.</a:t>
                </a:r>
                <a:endParaRPr lang="vi-VN"/>
              </a:p>
              <a:p>
                <a:pPr marL="0" indent="0">
                  <a:buNone/>
                </a:pPr>
                <a:endParaRPr lang="en-US"/>
              </a:p>
            </p:txBody>
          </p:sp>
        </mc:Choice>
        <mc:Fallback xmlns="">
          <p:sp>
            <p:nvSpPr>
              <p:cNvPr id="10" name="Content Placeholder 2">
                <a:extLst>
                  <a:ext uri="{FF2B5EF4-FFF2-40B4-BE49-F238E27FC236}">
                    <a16:creationId xmlns:a16="http://schemas.microsoft.com/office/drawing/2014/main" id="{976E4E03-2B2C-4978-9D2D-B1D4B9C759D2}"/>
                  </a:ext>
                </a:extLst>
              </p:cNvPr>
              <p:cNvSpPr txBox="1">
                <a:spLocks noRot="1" noChangeAspect="1" noMove="1" noResize="1" noEditPoints="1" noAdjustHandles="1" noChangeArrowheads="1" noChangeShapeType="1" noTextEdit="1"/>
              </p:cNvSpPr>
              <p:nvPr/>
            </p:nvSpPr>
            <p:spPr>
              <a:xfrm>
                <a:off x="832104" y="9753600"/>
                <a:ext cx="16306800" cy="3581400"/>
              </a:xfrm>
              <a:prstGeom prst="rect">
                <a:avLst/>
              </a:prstGeom>
              <a:blipFill>
                <a:blip r:embed="rId5"/>
                <a:stretch>
                  <a:fillRect l="-1681" t="-5593" r="-1494" b="-10339"/>
                </a:stretch>
              </a:blipFill>
              <a:ln>
                <a:solidFill>
                  <a:srgbClr val="00B0F0"/>
                </a:solidFill>
              </a:ln>
            </p:spPr>
            <p:txBody>
              <a:bodyPr/>
              <a:lstStyle/>
              <a:p>
                <a:r>
                  <a:rPr lang="vi-VN">
                    <a:noFill/>
                  </a:rPr>
                  <a:t> </a:t>
                </a:r>
              </a:p>
            </p:txBody>
          </p:sp>
        </mc:Fallback>
      </mc:AlternateContent>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   ·   BÀI 12</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78169890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up)">
                                      <p:cBhvr>
                                        <p:cTn id="7" dur="1000"/>
                                        <p:tgtEl>
                                          <p:spTgt spid="9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99"/>
                                        </p:tgtEl>
                                        <p:attrNameLst>
                                          <p:attrName>style.visibility</p:attrName>
                                        </p:attrNameLst>
                                      </p:cBhvr>
                                      <p:to>
                                        <p:strVal val="visible"/>
                                      </p:to>
                                    </p:set>
                                    <p:animEffect transition="in" filter="wipe(up)">
                                      <p:cBhvr>
                                        <p:cTn id="12" dur="500"/>
                                        <p:tgtEl>
                                          <p:spTgt spid="9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99">
                                            <p:txEl>
                                              <p:pRg st="0" end="0"/>
                                            </p:txEl>
                                          </p:spTgt>
                                        </p:tgtEl>
                                        <p:attrNameLst>
                                          <p:attrName>style.visibility</p:attrName>
                                        </p:attrNameLst>
                                      </p:cBhvr>
                                      <p:to>
                                        <p:strVal val="visible"/>
                                      </p:to>
                                    </p:set>
                                    <p:animEffect transition="in" filter="wipe(up)">
                                      <p:cBhvr>
                                        <p:cTn id="17" dur="500"/>
                                        <p:tgtEl>
                                          <p:spTgt spid="99">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99">
                                            <p:txEl>
                                              <p:pRg st="1" end="1"/>
                                            </p:txEl>
                                          </p:spTgt>
                                        </p:tgtEl>
                                        <p:attrNameLst>
                                          <p:attrName>style.visibility</p:attrName>
                                        </p:attrNameLst>
                                      </p:cBhvr>
                                      <p:to>
                                        <p:strVal val="visible"/>
                                      </p:to>
                                    </p:set>
                                    <p:animEffect transition="in" filter="wipe(up)">
                                      <p:cBhvr>
                                        <p:cTn id="22" dur="500"/>
                                        <p:tgtEl>
                                          <p:spTgt spid="99">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up)">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8">
                                            <p:txEl>
                                              <p:pRg st="0" end="0"/>
                                            </p:txEl>
                                          </p:spTgt>
                                        </p:tgtEl>
                                        <p:attrNameLst>
                                          <p:attrName>style.visibility</p:attrName>
                                        </p:attrNameLst>
                                      </p:cBhvr>
                                      <p:to>
                                        <p:strVal val="visible"/>
                                      </p:to>
                                    </p:set>
                                    <p:animEffect transition="in" filter="wipe(up)">
                                      <p:cBhvr>
                                        <p:cTn id="32" dur="500"/>
                                        <p:tgtEl>
                                          <p:spTgt spid="8">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grpId="0" nodeType="click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up)">
                                      <p:cBhvr>
                                        <p:cTn id="41" dur="500"/>
                                        <p:tgtEl>
                                          <p:spTgt spid="10"/>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nodeType="clickEffect">
                                  <p:stCondLst>
                                    <p:cond delay="0"/>
                                  </p:stCondLst>
                                  <p:childTnLst>
                                    <p:set>
                                      <p:cBhvr>
                                        <p:cTn id="45" dur="1" fill="hold">
                                          <p:stCondLst>
                                            <p:cond delay="0"/>
                                          </p:stCondLst>
                                        </p:cTn>
                                        <p:tgtEl>
                                          <p:spTgt spid="10">
                                            <p:txEl>
                                              <p:pRg st="0" end="0"/>
                                            </p:txEl>
                                          </p:spTgt>
                                        </p:tgtEl>
                                        <p:attrNameLst>
                                          <p:attrName>style.visibility</p:attrName>
                                        </p:attrNameLst>
                                      </p:cBhvr>
                                      <p:to>
                                        <p:strVal val="visible"/>
                                      </p:to>
                                    </p:set>
                                    <p:animEffect transition="in" filter="wipe(up)">
                                      <p:cBhvr>
                                        <p:cTn id="46" dur="500"/>
                                        <p:tgtEl>
                                          <p:spTgt spid="10">
                                            <p:txEl>
                                              <p:pRg st="0" end="0"/>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nodeType="clickEffect">
                                  <p:stCondLst>
                                    <p:cond delay="0"/>
                                  </p:stCondLst>
                                  <p:childTnLst>
                                    <p:set>
                                      <p:cBhvr>
                                        <p:cTn id="50" dur="1" fill="hold">
                                          <p:stCondLst>
                                            <p:cond delay="0"/>
                                          </p:stCondLst>
                                        </p:cTn>
                                        <p:tgtEl>
                                          <p:spTgt spid="10">
                                            <p:txEl>
                                              <p:pRg st="1" end="1"/>
                                            </p:txEl>
                                          </p:spTgt>
                                        </p:tgtEl>
                                        <p:attrNameLst>
                                          <p:attrName>style.visibility</p:attrName>
                                        </p:attrNameLst>
                                      </p:cBhvr>
                                      <p:to>
                                        <p:strVal val="visible"/>
                                      </p:to>
                                    </p:set>
                                    <p:animEffect transition="in" filter="wipe(up)">
                                      <p:cBhvr>
                                        <p:cTn id="51" dur="500"/>
                                        <p:tgtEl>
                                          <p:spTgt spid="1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99" grpId="0" animBg="1"/>
      <p:bldP spid="8" grpId="0" animBg="1"/>
      <p:bldP spid="1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732597" y="2733946"/>
            <a:ext cx="22783800" cy="990599"/>
          </a:xfrm>
          <a:prstGeom prst="rect">
            <a:avLst/>
          </a:prstGeom>
          <a:solidFill>
            <a:schemeClr val="accent4">
              <a:lumMod val="20000"/>
              <a:lumOff val="80000"/>
            </a:schemeClr>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a:t>Hãy lấy một ví dụ khác về số gần đúng.</a:t>
            </a:r>
            <a:endParaRPr lang="vi-VN"/>
          </a:p>
          <a:p>
            <a:pPr lvl="4"/>
            <a:endParaRPr lang="en-US"/>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762000" y="4831280"/>
                <a:ext cx="22936200" cy="4800600"/>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a:t>Gọi </a:t>
                </a:r>
                <a14:m>
                  <m:oMath xmlns:m="http://schemas.openxmlformats.org/officeDocument/2006/math">
                    <m:r>
                      <a:rPr lang="en-US" i="1">
                        <a:latin typeface="Cambria Math" panose="02040503050406030204" pitchFamily="18" charset="0"/>
                      </a:rPr>
                      <m:t>𝑑</m:t>
                    </m:r>
                  </m:oMath>
                </a14:m>
                <a:r>
                  <a:rPr lang="en-US"/>
                  <a:t> là độ dài đường chéo của hình vuông cạnh bằng 1. Trong hai số </a:t>
                </a:r>
                <a14:m>
                  <m:oMath xmlns:m="http://schemas.openxmlformats.org/officeDocument/2006/math">
                    <m:rad>
                      <m:radPr>
                        <m:degHide m:val="on"/>
                        <m:ctrlPr>
                          <a:rPr lang="vi-VN" i="1">
                            <a:latin typeface="Cambria Math" panose="02040503050406030204" pitchFamily="18" charset="0"/>
                          </a:rPr>
                        </m:ctrlPr>
                      </m:radPr>
                      <m:deg/>
                      <m:e>
                        <m:r>
                          <a:rPr lang="en-US" i="1">
                            <a:latin typeface="Cambria Math" panose="02040503050406030204" pitchFamily="18" charset="0"/>
                          </a:rPr>
                          <m:t>2</m:t>
                        </m:r>
                      </m:e>
                    </m:rad>
                  </m:oMath>
                </a14:m>
                <a:r>
                  <a:rPr lang="en-US"/>
                  <a:t> và </a:t>
                </a:r>
                <a14:m>
                  <m:oMath xmlns:m="http://schemas.openxmlformats.org/officeDocument/2006/math">
                    <m:r>
                      <a:rPr lang="en-US" i="1">
                        <a:latin typeface="Cambria Math" panose="02040503050406030204" pitchFamily="18" charset="0"/>
                      </a:rPr>
                      <m:t>1,41</m:t>
                    </m:r>
                  </m:oMath>
                </a14:m>
                <a:r>
                  <a:rPr lang="en-US"/>
                  <a:t>, số nào là số đúng, số nào là số gần đúng của </a:t>
                </a:r>
                <a14:m>
                  <m:oMath xmlns:m="http://schemas.openxmlformats.org/officeDocument/2006/math">
                    <m:r>
                      <a:rPr lang="en-US" i="1">
                        <a:latin typeface="Cambria Math" panose="02040503050406030204" pitchFamily="18" charset="0"/>
                      </a:rPr>
                      <m:t>𝑑</m:t>
                    </m:r>
                  </m:oMath>
                </a14:m>
                <a:r>
                  <a:rPr lang="en-US"/>
                  <a:t>?</a:t>
                </a:r>
                <a:endParaRPr lang="vi-VN"/>
              </a:p>
              <a:p>
                <a:pPr marL="0" indent="0" algn="ctr">
                  <a:buNone/>
                </a:pPr>
                <a:r>
                  <a:rPr lang="en-US" b="1">
                    <a:solidFill>
                      <a:srgbClr val="FF0000"/>
                    </a:solidFill>
                  </a:rPr>
                  <a:t>Giải</a:t>
                </a:r>
                <a:endParaRPr lang="vi-VN">
                  <a:solidFill>
                    <a:srgbClr val="FF0000"/>
                  </a:solidFill>
                </a:endParaRPr>
              </a:p>
              <a:p>
                <a:pPr marL="0" indent="0">
                  <a:buNone/>
                </a:pPr>
                <a:r>
                  <a:rPr lang="en-US"/>
                  <a:t>Hình vuông có cạnh bằng 1 có độ dài của đường chéo là </a:t>
                </a:r>
                <a14:m>
                  <m:oMath xmlns:m="http://schemas.openxmlformats.org/officeDocument/2006/math">
                    <m:r>
                      <a:rPr lang="en-US" i="1">
                        <a:latin typeface="Cambria Math" panose="02040503050406030204" pitchFamily="18" charset="0"/>
                      </a:rPr>
                      <m:t>𝑑</m:t>
                    </m:r>
                    <m:r>
                      <a:rPr lang="en-US" i="1">
                        <a:latin typeface="Cambria Math" panose="02040503050406030204" pitchFamily="18" charset="0"/>
                      </a:rPr>
                      <m:t>=1⋅</m:t>
                    </m:r>
                    <m:rad>
                      <m:radPr>
                        <m:degHide m:val="on"/>
                        <m:ctrlPr>
                          <a:rPr lang="vi-VN" i="1">
                            <a:latin typeface="Cambria Math" panose="02040503050406030204" pitchFamily="18" charset="0"/>
                          </a:rPr>
                        </m:ctrlPr>
                      </m:radPr>
                      <m:deg/>
                      <m:e>
                        <m:r>
                          <a:rPr lang="en-US" i="1">
                            <a:latin typeface="Cambria Math" panose="02040503050406030204" pitchFamily="18" charset="0"/>
                          </a:rPr>
                          <m:t>2</m:t>
                        </m:r>
                      </m:e>
                    </m:rad>
                    <m:r>
                      <a:rPr lang="en-US" i="1">
                        <a:latin typeface="Cambria Math" panose="02040503050406030204" pitchFamily="18" charset="0"/>
                      </a:rPr>
                      <m:t>=</m:t>
                    </m:r>
                    <m:rad>
                      <m:radPr>
                        <m:degHide m:val="on"/>
                        <m:ctrlPr>
                          <a:rPr lang="vi-VN" i="1">
                            <a:latin typeface="Cambria Math" panose="02040503050406030204" pitchFamily="18" charset="0"/>
                          </a:rPr>
                        </m:ctrlPr>
                      </m:radPr>
                      <m:deg/>
                      <m:e>
                        <m:r>
                          <a:rPr lang="en-US" i="1">
                            <a:latin typeface="Cambria Math" panose="02040503050406030204" pitchFamily="18" charset="0"/>
                          </a:rPr>
                          <m:t>2</m:t>
                        </m:r>
                      </m:e>
                    </m:rad>
                  </m:oMath>
                </a14:m>
                <a:r>
                  <a:rPr lang="en-US"/>
                  <a:t>. Vậy </a:t>
                </a:r>
                <a14:m>
                  <m:oMath xmlns:m="http://schemas.openxmlformats.org/officeDocument/2006/math">
                    <m:rad>
                      <m:radPr>
                        <m:degHide m:val="on"/>
                        <m:ctrlPr>
                          <a:rPr lang="vi-VN" i="1">
                            <a:latin typeface="Cambria Math" panose="02040503050406030204" pitchFamily="18" charset="0"/>
                          </a:rPr>
                        </m:ctrlPr>
                      </m:radPr>
                      <m:deg/>
                      <m:e>
                        <m:r>
                          <a:rPr lang="en-US" i="1">
                            <a:latin typeface="Cambria Math" panose="02040503050406030204" pitchFamily="18" charset="0"/>
                          </a:rPr>
                          <m:t>2</m:t>
                        </m:r>
                      </m:e>
                    </m:rad>
                  </m:oMath>
                </a14:m>
                <a:r>
                  <a:rPr lang="en-US"/>
                  <a:t> là số đúng; 1,41 là số gần đúng của </a:t>
                </a:r>
                <a14:m>
                  <m:oMath xmlns:m="http://schemas.openxmlformats.org/officeDocument/2006/math">
                    <m:r>
                      <a:rPr lang="en-US" i="1">
                        <a:latin typeface="Cambria Math" panose="02040503050406030204" pitchFamily="18" charset="0"/>
                      </a:rPr>
                      <m:t>𝑑</m:t>
                    </m:r>
                  </m:oMath>
                </a14:m>
                <a:r>
                  <a:rPr lang="en-US"/>
                  <a:t>.</a:t>
                </a:r>
                <a:endParaRPr lang="vi-VN"/>
              </a:p>
            </p:txBody>
          </p:sp>
        </mc:Choice>
        <mc:Fallback xmlns="">
          <p:sp>
            <p:nvSpPr>
              <p:cNvPr id="7" name="Content Placeholder 2">
                <a:extLst>
                  <a:ext uri="{FF2B5EF4-FFF2-40B4-BE49-F238E27FC236}">
                    <a16:creationId xmlns:a16="http://schemas.microsoft.com/office/drawing/2014/main" id="{08B49A2E-2A9D-46FD-AE9C-29462A33F0E6}"/>
                  </a:ext>
                </a:extLst>
              </p:cNvPr>
              <p:cNvSpPr txBox="1">
                <a:spLocks noRot="1" noChangeAspect="1" noMove="1" noResize="1" noEditPoints="1" noAdjustHandles="1" noChangeArrowheads="1" noChangeShapeType="1" noTextEdit="1"/>
              </p:cNvSpPr>
              <p:nvPr/>
            </p:nvSpPr>
            <p:spPr>
              <a:xfrm>
                <a:off x="762000" y="4831280"/>
                <a:ext cx="22936200" cy="4800600"/>
              </a:xfrm>
              <a:prstGeom prst="rect">
                <a:avLst/>
              </a:prstGeom>
              <a:blipFill>
                <a:blip r:embed="rId3"/>
                <a:stretch>
                  <a:fillRect l="-1169" t="-2788" r="-292"/>
                </a:stretch>
              </a:blipFill>
              <a:ln>
                <a:solidFill>
                  <a:srgbClr val="00B0F0"/>
                </a:solidFill>
              </a:ln>
            </p:spPr>
            <p:txBody>
              <a:bodyPr/>
              <a:lstStyle/>
              <a:p>
                <a:r>
                  <a:rPr lang="vi-VN">
                    <a:noFill/>
                  </a:rPr>
                  <a:t> </a:t>
                </a:r>
              </a:p>
            </p:txBody>
          </p:sp>
        </mc:Fallback>
      </mc:AlternateContent>
      <p:grpSp>
        <p:nvGrpSpPr>
          <p:cNvPr id="25" name="Group 24">
            <a:extLst>
              <a:ext uri="{FF2B5EF4-FFF2-40B4-BE49-F238E27FC236}">
                <a16:creationId xmlns:a16="http://schemas.microsoft.com/office/drawing/2014/main" id="{14F91184-2F1F-4A63-BA19-F30231CF2926}"/>
              </a:ext>
            </a:extLst>
          </p:cNvPr>
          <p:cNvGrpSpPr/>
          <p:nvPr/>
        </p:nvGrpSpPr>
        <p:grpSpPr>
          <a:xfrm>
            <a:off x="0" y="4267200"/>
            <a:ext cx="3352800" cy="838200"/>
            <a:chOff x="22440" y="16831"/>
            <a:chExt cx="850471" cy="230002"/>
          </a:xfrm>
        </p:grpSpPr>
        <p:grpSp>
          <p:nvGrpSpPr>
            <p:cNvPr id="26" name="Group 25">
              <a:extLst>
                <a:ext uri="{FF2B5EF4-FFF2-40B4-BE49-F238E27FC236}">
                  <a16:creationId xmlns:a16="http://schemas.microsoft.com/office/drawing/2014/main" id="{32D5B377-1436-4B62-93EA-EE499A946867}"/>
                </a:ext>
              </a:extLst>
            </p:cNvPr>
            <p:cNvGrpSpPr/>
            <p:nvPr/>
          </p:nvGrpSpPr>
          <p:grpSpPr>
            <a:xfrm>
              <a:off x="22440" y="59287"/>
              <a:ext cx="850471" cy="159855"/>
              <a:chOff x="31572" y="60276"/>
              <a:chExt cx="1196628" cy="197828"/>
            </a:xfrm>
          </p:grpSpPr>
          <p:sp>
            <p:nvSpPr>
              <p:cNvPr id="28" name="Arrow: Pentagon 27">
                <a:extLst>
                  <a:ext uri="{FF2B5EF4-FFF2-40B4-BE49-F238E27FC236}">
                    <a16:creationId xmlns:a16="http://schemas.microsoft.com/office/drawing/2014/main" id="{E4D1CBD8-FD8A-4CD6-883A-A4FB5275EBE7}"/>
                  </a:ext>
                </a:extLst>
              </p:cNvPr>
              <p:cNvSpPr/>
              <p:nvPr/>
            </p:nvSpPr>
            <p:spPr>
              <a:xfrm>
                <a:off x="204585" y="62042"/>
                <a:ext cx="1023615" cy="196062"/>
              </a:xfrm>
              <a:prstGeom prst="homePlate">
                <a:avLst/>
              </a:prstGeom>
              <a:solidFill>
                <a:srgbClr val="FCFFEF"/>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06000"/>
                  </a:lnSpc>
                  <a:spcAft>
                    <a:spcPts val="800"/>
                  </a:spcAft>
                </a:pPr>
                <a:r>
                  <a:rPr lang="vi-VN" sz="4800" b="1" kern="1200">
                    <a:solidFill>
                      <a:srgbClr val="0000CC"/>
                    </a:solidFill>
                    <a:effectLst/>
                    <a:ea typeface="Calibri" panose="020F0502020204030204" pitchFamily="34" charset="0"/>
                    <a:cs typeface="Times New Roman" panose="02020603050405020304" pitchFamily="18" charset="0"/>
                  </a:rPr>
                  <a:t> </a:t>
                </a:r>
                <a:endParaRPr lang="vi-VN" sz="48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9" name="Arrow: Chevron 28">
                <a:extLst>
                  <a:ext uri="{FF2B5EF4-FFF2-40B4-BE49-F238E27FC236}">
                    <a16:creationId xmlns:a16="http://schemas.microsoft.com/office/drawing/2014/main" id="{96F898B1-B998-4739-9221-289137EA5FA4}"/>
                  </a:ext>
                </a:extLst>
              </p:cNvPr>
              <p:cNvSpPr/>
              <p:nvPr/>
            </p:nvSpPr>
            <p:spPr>
              <a:xfrm>
                <a:off x="31572" y="60341"/>
                <a:ext cx="162630" cy="196062"/>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4800">
                    <a:effectLst/>
                    <a:latin typeface="Times New Roman" panose="02020603050405020304" pitchFamily="18" charset="0"/>
                    <a:ea typeface="Calibri" panose="020F0502020204030204" pitchFamily="34" charset="0"/>
                    <a:cs typeface="Times New Roman" panose="02020603050405020304" pitchFamily="18" charset="0"/>
                  </a:rPr>
                  <a:t> </a:t>
                </a:r>
                <a:endParaRPr lang="vi-VN" sz="48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0" name="Arrow: Chevron 29">
                <a:extLst>
                  <a:ext uri="{FF2B5EF4-FFF2-40B4-BE49-F238E27FC236}">
                    <a16:creationId xmlns:a16="http://schemas.microsoft.com/office/drawing/2014/main" id="{42018734-1BC0-4113-815C-E6C560AC80B8}"/>
                  </a:ext>
                </a:extLst>
              </p:cNvPr>
              <p:cNvSpPr/>
              <p:nvPr/>
            </p:nvSpPr>
            <p:spPr>
              <a:xfrm>
                <a:off x="116273" y="60276"/>
                <a:ext cx="176766" cy="196062"/>
              </a:xfrm>
              <a:prstGeom prst="chevr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4800">
                    <a:effectLst/>
                    <a:latin typeface="Times New Roman" panose="02020603050405020304" pitchFamily="18" charset="0"/>
                    <a:ea typeface="Calibri" panose="020F0502020204030204" pitchFamily="34" charset="0"/>
                    <a:cs typeface="Times New Roman" panose="02020603050405020304" pitchFamily="18" charset="0"/>
                  </a:rPr>
                  <a:t> </a:t>
                </a:r>
                <a:endParaRPr lang="vi-VN" sz="4800">
                  <a:effectLst/>
                  <a:latin typeface="Times New Roman" panose="02020603050405020304" pitchFamily="18" charset="0"/>
                  <a:ea typeface="Calibri" panose="020F0502020204030204" pitchFamily="34" charset="0"/>
                  <a:cs typeface="Times New Roman" panose="02020603050405020304" pitchFamily="18" charset="0"/>
                </a:endParaRPr>
              </a:p>
            </p:txBody>
          </p:sp>
        </p:grpSp>
        <p:sp>
          <p:nvSpPr>
            <p:cNvPr id="27" name="TextBox 56">
              <a:extLst>
                <a:ext uri="{FF2B5EF4-FFF2-40B4-BE49-F238E27FC236}">
                  <a16:creationId xmlns:a16="http://schemas.microsoft.com/office/drawing/2014/main" id="{B63211C2-C699-4B0C-9934-389DE2ECEED8}"/>
                </a:ext>
              </a:extLst>
            </p:cNvPr>
            <p:cNvSpPr txBox="1"/>
            <p:nvPr/>
          </p:nvSpPr>
          <p:spPr>
            <a:xfrm>
              <a:off x="188148" y="16831"/>
              <a:ext cx="591618" cy="230002"/>
            </a:xfrm>
            <a:prstGeom prst="rect">
              <a:avLst/>
            </a:prstGeom>
            <a:noFill/>
          </p:spPr>
          <p:txBody>
            <a:bodyPr wrap="square">
              <a:noAutofit/>
            </a:bodyPr>
            <a:lstStyle/>
            <a:p>
              <a:pPr>
                <a:lnSpc>
                  <a:spcPct val="107000"/>
                </a:lnSpc>
                <a:spcAft>
                  <a:spcPts val="800"/>
                </a:spcAft>
              </a:pPr>
              <a:r>
                <a:rPr lang="en-US" sz="4800" b="1" kern="1200">
                  <a:solidFill>
                    <a:srgbClr val="0000CC"/>
                  </a:solidFill>
                  <a:effectLst/>
                  <a:latin typeface="Calibri" panose="020F0502020204030204" pitchFamily="34" charset="0"/>
                  <a:ea typeface="Calibri" panose="020F0502020204030204" pitchFamily="34" charset="0"/>
                  <a:cs typeface="Times New Roman" panose="02020603050405020304" pitchFamily="18" charset="0"/>
                </a:rPr>
                <a:t>Ví dụ 1.</a:t>
              </a:r>
              <a:endParaRPr lang="vi-VN" sz="4800">
                <a:effectLst/>
                <a:latin typeface="Times New Roman" panose="02020603050405020304" pitchFamily="18" charset="0"/>
                <a:ea typeface="Calibri" panose="020F0502020204030204" pitchFamily="34" charset="0"/>
                <a:cs typeface="Times New Roman" panose="02020603050405020304" pitchFamily="18" charset="0"/>
              </a:endParaRPr>
            </a:p>
          </p:txBody>
        </p:sp>
      </p:grpSp>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   ·   BÀI 12</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40918919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wipe(up)">
                                      <p:cBhvr>
                                        <p:cTn id="7" dur="500"/>
                                        <p:tgtEl>
                                          <p:spTgt spid="9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99">
                                            <p:txEl>
                                              <p:pRg st="0" end="0"/>
                                            </p:txEl>
                                          </p:spTgt>
                                        </p:tgtEl>
                                        <p:attrNameLst>
                                          <p:attrName>style.visibility</p:attrName>
                                        </p:attrNameLst>
                                      </p:cBhvr>
                                      <p:to>
                                        <p:strVal val="visible"/>
                                      </p:to>
                                    </p:set>
                                    <p:animEffect transition="in" filter="wipe(up)">
                                      <p:cBhvr>
                                        <p:cTn id="12" dur="500"/>
                                        <p:tgtEl>
                                          <p:spTgt spid="9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up)">
                                      <p:cBhvr>
                                        <p:cTn id="21" dur="5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7">
                                            <p:txEl>
                                              <p:pRg st="0" end="0"/>
                                            </p:txEl>
                                          </p:spTgt>
                                        </p:tgtEl>
                                        <p:attrNameLst>
                                          <p:attrName>style.visibility</p:attrName>
                                        </p:attrNameLst>
                                      </p:cBhvr>
                                      <p:to>
                                        <p:strVal val="visible"/>
                                      </p:to>
                                    </p:set>
                                    <p:animEffect transition="in" filter="wipe(up)">
                                      <p:cBhvr>
                                        <p:cTn id="26" dur="500"/>
                                        <p:tgtEl>
                                          <p:spTgt spid="7">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7">
                                            <p:txEl>
                                              <p:pRg st="1" end="1"/>
                                            </p:txEl>
                                          </p:spTgt>
                                        </p:tgtEl>
                                        <p:attrNameLst>
                                          <p:attrName>style.visibility</p:attrName>
                                        </p:attrNameLst>
                                      </p:cBhvr>
                                      <p:to>
                                        <p:strVal val="visible"/>
                                      </p:to>
                                    </p:set>
                                    <p:animEffect transition="in" filter="wipe(up)">
                                      <p:cBhvr>
                                        <p:cTn id="31" dur="500"/>
                                        <p:tgtEl>
                                          <p:spTgt spid="7">
                                            <p:txEl>
                                              <p:pRg st="1" end="1"/>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nodeType="clickEffect">
                                  <p:stCondLst>
                                    <p:cond delay="0"/>
                                  </p:stCondLst>
                                  <p:childTnLst>
                                    <p:set>
                                      <p:cBhvr>
                                        <p:cTn id="35" dur="1" fill="hold">
                                          <p:stCondLst>
                                            <p:cond delay="0"/>
                                          </p:stCondLst>
                                        </p:cTn>
                                        <p:tgtEl>
                                          <p:spTgt spid="7">
                                            <p:txEl>
                                              <p:pRg st="2" end="2"/>
                                            </p:txEl>
                                          </p:spTgt>
                                        </p:tgtEl>
                                        <p:attrNameLst>
                                          <p:attrName>style.visibility</p:attrName>
                                        </p:attrNameLst>
                                      </p:cBhvr>
                                      <p:to>
                                        <p:strVal val="visible"/>
                                      </p:to>
                                    </p:set>
                                    <p:animEffect transition="in" filter="wipe(up)">
                                      <p:cBhvr>
                                        <p:cTn id="36"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533400" y="4971251"/>
                <a:ext cx="23518091" cy="5391949"/>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gn="ctr">
                  <a:buNone/>
                </a:pPr>
                <a:r>
                  <a:rPr lang="en-US" b="1">
                    <a:solidFill>
                      <a:srgbClr val="FF0000"/>
                    </a:solidFill>
                  </a:rPr>
                  <a:t>Giải</a:t>
                </a:r>
                <a:endParaRPr lang="vi-VN">
                  <a:solidFill>
                    <a:srgbClr val="FF0000"/>
                  </a:solidFill>
                </a:endParaRPr>
              </a:p>
              <a:p>
                <a:pPr marL="0" indent="0">
                  <a:buNone/>
                </a:pPr>
                <a:r>
                  <a:rPr lang="en-US"/>
                  <a:t>Chu vi của đường tròn bán kính </a:t>
                </a:r>
                <a14:m>
                  <m:oMath xmlns:m="http://schemas.openxmlformats.org/officeDocument/2006/math">
                    <m:r>
                      <a:rPr lang="en-US" i="1">
                        <a:latin typeface="Cambria Math" panose="02040503050406030204" pitchFamily="18" charset="0"/>
                      </a:rPr>
                      <m:t>1</m:t>
                    </m:r>
                    <m:r>
                      <m:rPr>
                        <m:nor/>
                      </m:rPr>
                      <a:rPr lang="en-US"/>
                      <m:t>cm</m:t>
                    </m:r>
                  </m:oMath>
                </a14:m>
                <a:r>
                  <a:rPr lang="en-US"/>
                  <a:t> là </a:t>
                </a:r>
                <a14:m>
                  <m:oMath xmlns:m="http://schemas.openxmlformats.org/officeDocument/2006/math">
                    <m:r>
                      <a:rPr lang="en-US" i="1">
                        <a:latin typeface="Cambria Math" panose="02040503050406030204" pitchFamily="18" charset="0"/>
                      </a:rPr>
                      <m:t>𝑃</m:t>
                    </m:r>
                    <m:r>
                      <a:rPr lang="en-US" i="1">
                        <a:latin typeface="Cambria Math" panose="02040503050406030204" pitchFamily="18" charset="0"/>
                      </a:rPr>
                      <m:t>=2</m:t>
                    </m:r>
                    <m:r>
                      <a:rPr lang="en-US" i="1">
                        <a:latin typeface="Cambria Math" panose="02040503050406030204" pitchFamily="18" charset="0"/>
                      </a:rPr>
                      <m:t>𝜋</m:t>
                    </m:r>
                    <m:r>
                      <a:rPr lang="en-US" i="1">
                        <a:latin typeface="Cambria Math" panose="02040503050406030204" pitchFamily="18" charset="0"/>
                      </a:rPr>
                      <m:t>.</m:t>
                    </m:r>
                    <m:r>
                      <a:rPr lang="en-US" i="1">
                        <a:latin typeface="Cambria Math" panose="02040503050406030204" pitchFamily="18" charset="0"/>
                      </a:rPr>
                      <m:t>𝑟</m:t>
                    </m:r>
                    <m:r>
                      <a:rPr lang="en-US" i="1">
                        <a:latin typeface="Cambria Math" panose="02040503050406030204" pitchFamily="18" charset="0"/>
                      </a:rPr>
                      <m:t>=2.3,14.1=6,28</m:t>
                    </m:r>
                    <m:d>
                      <m:dPr>
                        <m:ctrlPr>
                          <a:rPr lang="vi-VN" i="1">
                            <a:latin typeface="Cambria Math" panose="02040503050406030204" pitchFamily="18" charset="0"/>
                          </a:rPr>
                        </m:ctrlPr>
                      </m:dPr>
                      <m:e>
                        <m:r>
                          <m:rPr>
                            <m:nor/>
                          </m:rPr>
                          <a:rPr lang="en-US"/>
                          <m:t>cm</m:t>
                        </m:r>
                      </m:e>
                    </m:d>
                  </m:oMath>
                </a14:m>
                <a:r>
                  <a:rPr lang="en-US"/>
                  <a:t>. Vậy </a:t>
                </a:r>
                <a14:m>
                  <m:oMath xmlns:m="http://schemas.openxmlformats.org/officeDocument/2006/math">
                    <m:r>
                      <a:rPr lang="en-US" i="1">
                        <a:latin typeface="Cambria Math" panose="02040503050406030204" pitchFamily="18" charset="0"/>
                      </a:rPr>
                      <m:t>6,28</m:t>
                    </m:r>
                  </m:oMath>
                </a14:m>
                <a:r>
                  <a:rPr lang="en-US"/>
                  <a:t> là một giá trị gần đúng của </a:t>
                </a:r>
                <a14:m>
                  <m:oMath xmlns:m="http://schemas.openxmlformats.org/officeDocument/2006/math">
                    <m:r>
                      <a:rPr lang="en-US" i="1">
                        <a:latin typeface="Cambria Math" panose="02040503050406030204" pitchFamily="18" charset="0"/>
                      </a:rPr>
                      <m:t>𝑃</m:t>
                    </m:r>
                  </m:oMath>
                </a14:m>
                <a:r>
                  <a:rPr lang="en-US"/>
                  <a:t>.</a:t>
                </a:r>
                <a:endParaRPr lang="vi-VN"/>
              </a:p>
              <a:p>
                <a:pPr marL="0" indent="0">
                  <a:buNone/>
                </a:pPr>
                <a:r>
                  <a:rPr lang="en-US"/>
                  <a:t>Chú ý. Ta có thể sử dụng máy tính cầm tay để tìm giá trị gần đúng của các biểu thức chứa các số vô tỉ như </a:t>
                </a:r>
                <a14:m>
                  <m:oMath xmlns:m="http://schemas.openxmlformats.org/officeDocument/2006/math">
                    <m:r>
                      <a:rPr lang="en-US" i="1">
                        <a:latin typeface="Cambria Math" panose="02040503050406030204" pitchFamily="18" charset="0"/>
                      </a:rPr>
                      <m:t>𝜋</m:t>
                    </m:r>
                    <m:r>
                      <a:rPr lang="en-US" i="1">
                        <a:latin typeface="Cambria Math" panose="02040503050406030204" pitchFamily="18" charset="0"/>
                      </a:rPr>
                      <m:t>,</m:t>
                    </m:r>
                    <m:rad>
                      <m:radPr>
                        <m:degHide m:val="on"/>
                        <m:ctrlPr>
                          <a:rPr lang="vi-VN" i="1">
                            <a:latin typeface="Cambria Math" panose="02040503050406030204" pitchFamily="18" charset="0"/>
                          </a:rPr>
                        </m:ctrlPr>
                      </m:radPr>
                      <m:deg/>
                      <m:e>
                        <m:r>
                          <a:rPr lang="en-US" i="1">
                            <a:latin typeface="Cambria Math" panose="02040503050406030204" pitchFamily="18" charset="0"/>
                          </a:rPr>
                          <m:t>𝑎</m:t>
                        </m:r>
                      </m:e>
                    </m:rad>
                    <m:r>
                      <a:rPr lang="en-US" i="1">
                        <a:latin typeface="Cambria Math" panose="02040503050406030204" pitchFamily="18" charset="0"/>
                      </a:rPr>
                      <m:t>,</m:t>
                    </m:r>
                    <m:rad>
                      <m:radPr>
                        <m:ctrlPr>
                          <a:rPr lang="vi-VN" i="1">
                            <a:latin typeface="Cambria Math" panose="02040503050406030204" pitchFamily="18" charset="0"/>
                          </a:rPr>
                        </m:ctrlPr>
                      </m:radPr>
                      <m:deg>
                        <m:r>
                          <a:rPr lang="en-US" i="1">
                            <a:latin typeface="Cambria Math" panose="02040503050406030204" pitchFamily="18" charset="0"/>
                          </a:rPr>
                          <m:t>3</m:t>
                        </m:r>
                      </m:deg>
                      <m:e>
                        <m:r>
                          <a:rPr lang="en-US" i="1">
                            <a:latin typeface="Cambria Math" panose="02040503050406030204" pitchFamily="18" charset="0"/>
                          </a:rPr>
                          <m:t>𝑎</m:t>
                        </m:r>
                      </m:e>
                    </m:rad>
                    <m:r>
                      <a:rPr lang="en-US" i="1">
                        <a:latin typeface="Cambria Math" panose="02040503050406030204" pitchFamily="18" charset="0"/>
                      </a:rPr>
                      <m:t>,…</m:t>
                    </m:r>
                  </m:oMath>
                </a14:m>
                <a:r>
                  <a:rPr lang="en-US"/>
                  <a:t> Chẳng hạn, dùng máy tính cầm tay để tính </a:t>
                </a:r>
                <a14:m>
                  <m:oMath xmlns:m="http://schemas.openxmlformats.org/officeDocument/2006/math">
                    <m:sSup>
                      <m:sSupPr>
                        <m:ctrlPr>
                          <a:rPr lang="vi-VN" i="1">
                            <a:latin typeface="Cambria Math" panose="02040503050406030204" pitchFamily="18" charset="0"/>
                          </a:rPr>
                        </m:ctrlPr>
                      </m:sSupPr>
                      <m:e>
                        <m:r>
                          <a:rPr lang="en-US" i="1">
                            <a:latin typeface="Cambria Math" panose="02040503050406030204" pitchFamily="18" charset="0"/>
                          </a:rPr>
                          <m:t>2</m:t>
                        </m:r>
                      </m:e>
                      <m:sup>
                        <m:r>
                          <a:rPr lang="en-US" i="1">
                            <a:latin typeface="Cambria Math" panose="02040503050406030204" pitchFamily="18" charset="0"/>
                          </a:rPr>
                          <m:t>9</m:t>
                        </m:r>
                      </m:sup>
                    </m:sSup>
                    <m:r>
                      <a:rPr lang="en-US" i="1">
                        <a:latin typeface="Cambria Math" panose="02040503050406030204" pitchFamily="18" charset="0"/>
                      </a:rPr>
                      <m:t>⋅</m:t>
                    </m:r>
                    <m:rad>
                      <m:radPr>
                        <m:degHide m:val="on"/>
                        <m:ctrlPr>
                          <a:rPr lang="vi-VN" i="1">
                            <a:latin typeface="Cambria Math" panose="02040503050406030204" pitchFamily="18" charset="0"/>
                          </a:rPr>
                        </m:ctrlPr>
                      </m:radPr>
                      <m:deg/>
                      <m:e>
                        <m:r>
                          <a:rPr lang="en-US" i="1">
                            <a:latin typeface="Cambria Math" panose="02040503050406030204" pitchFamily="18" charset="0"/>
                          </a:rPr>
                          <m:t>3</m:t>
                        </m:r>
                      </m:e>
                    </m:rad>
                  </m:oMath>
                </a14:m>
                <a:r>
                  <a:rPr lang="en-US"/>
                  <a:t>, bấm các phím như sau:</a:t>
                </a:r>
                <a:endParaRPr lang="vi-VN"/>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533400" y="4971251"/>
                <a:ext cx="23518091" cy="5391949"/>
              </a:xfrm>
              <a:prstGeom prst="rect">
                <a:avLst/>
              </a:prstGeom>
              <a:blipFill>
                <a:blip r:embed="rId3"/>
                <a:stretch>
                  <a:fillRect l="-1166" t="-3720" r="-1244"/>
                </a:stretch>
              </a:blipFill>
              <a:ln>
                <a:solidFill>
                  <a:srgbClr val="00B0F0"/>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533400" y="2831763"/>
                <a:ext cx="23518091" cy="1156969"/>
              </a:xfrm>
              <a:prstGeom prst="rect">
                <a:avLst/>
              </a:prstGeom>
              <a:solidFill>
                <a:schemeClr val="accent4">
                  <a:lumMod val="20000"/>
                  <a:lumOff val="80000"/>
                </a:schemeClr>
              </a:solidFill>
              <a:ln>
                <a:solidFill>
                  <a:schemeClr val="accent4">
                    <a:lumMod val="20000"/>
                    <a:lumOff val="80000"/>
                  </a:schemeClr>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a:t>Gọi </a:t>
                </a:r>
                <a14:m>
                  <m:oMath xmlns:m="http://schemas.openxmlformats.org/officeDocument/2006/math">
                    <m:r>
                      <a:rPr lang="en-US" i="1">
                        <a:latin typeface="Cambria Math" panose="02040503050406030204" pitchFamily="18" charset="0"/>
                      </a:rPr>
                      <m:t>𝑃</m:t>
                    </m:r>
                  </m:oMath>
                </a14:m>
                <a:r>
                  <a:rPr lang="en-US"/>
                  <a:t> là chu vi của đường tròn bán kính </a:t>
                </a:r>
                <a14:m>
                  <m:oMath xmlns:m="http://schemas.openxmlformats.org/officeDocument/2006/math">
                    <m:r>
                      <a:rPr lang="en-US" i="1">
                        <a:latin typeface="Cambria Math" panose="02040503050406030204" pitchFamily="18" charset="0"/>
                      </a:rPr>
                      <m:t>1</m:t>
                    </m:r>
                    <m:r>
                      <m:rPr>
                        <m:nor/>
                      </m:rPr>
                      <a:rPr lang="en-US"/>
                      <m:t>cm</m:t>
                    </m:r>
                  </m:oMath>
                </a14:m>
                <a:r>
                  <a:rPr lang="en-US"/>
                  <a:t>. Hãy tìm một giá trị gần đúng của </a:t>
                </a:r>
                <a14:m>
                  <m:oMath xmlns:m="http://schemas.openxmlformats.org/officeDocument/2006/math">
                    <m:r>
                      <a:rPr lang="en-US" i="1">
                        <a:latin typeface="Cambria Math" panose="02040503050406030204" pitchFamily="18" charset="0"/>
                      </a:rPr>
                      <m:t>𝑃</m:t>
                    </m:r>
                  </m:oMath>
                </a14:m>
                <a:r>
                  <a:rPr lang="en-US"/>
                  <a:t>.</a:t>
                </a:r>
                <a:endParaRPr lang="vi-VN"/>
              </a:p>
            </p:txBody>
          </p:sp>
        </mc:Choice>
        <mc:Fallback xmlns="">
          <p:sp>
            <p:nvSpPr>
              <p:cNvPr id="7" name="Content Placeholder 2">
                <a:extLst>
                  <a:ext uri="{FF2B5EF4-FFF2-40B4-BE49-F238E27FC236}">
                    <a16:creationId xmlns:a16="http://schemas.microsoft.com/office/drawing/2014/main" id="{08B49A2E-2A9D-46FD-AE9C-29462A33F0E6}"/>
                  </a:ext>
                </a:extLst>
              </p:cNvPr>
              <p:cNvSpPr txBox="1">
                <a:spLocks noRot="1" noChangeAspect="1" noMove="1" noResize="1" noEditPoints="1" noAdjustHandles="1" noChangeArrowheads="1" noChangeShapeType="1" noTextEdit="1"/>
              </p:cNvSpPr>
              <p:nvPr/>
            </p:nvSpPr>
            <p:spPr>
              <a:xfrm>
                <a:off x="533400" y="2831763"/>
                <a:ext cx="23518091" cy="1156969"/>
              </a:xfrm>
              <a:prstGeom prst="rect">
                <a:avLst/>
              </a:prstGeom>
              <a:blipFill>
                <a:blip r:embed="rId4"/>
                <a:stretch>
                  <a:fillRect l="-1166" t="-17277"/>
                </a:stretch>
              </a:blipFill>
              <a:ln>
                <a:solidFill>
                  <a:schemeClr val="accent4">
                    <a:lumMod val="20000"/>
                    <a:lumOff val="80000"/>
                  </a:schemeClr>
                </a:solidFill>
              </a:ln>
            </p:spPr>
            <p:txBody>
              <a:bodyPr/>
              <a:lstStyle/>
              <a:p>
                <a:r>
                  <a:rPr lang="vi-VN">
                    <a:noFill/>
                  </a:rPr>
                  <a:t> </a:t>
                </a:r>
              </a:p>
            </p:txBody>
          </p:sp>
        </mc:Fallback>
      </mc:AlternateContent>
      <p:pic>
        <p:nvPicPr>
          <p:cNvPr id="6" name="Picture 5">
            <a:extLst>
              <a:ext uri="{FF2B5EF4-FFF2-40B4-BE49-F238E27FC236}">
                <a16:creationId xmlns:a16="http://schemas.microsoft.com/office/drawing/2014/main" id="{1F520273-9151-4593-9200-A322CB322A2E}"/>
              </a:ext>
            </a:extLst>
          </p:cNvPr>
          <p:cNvPicPr/>
          <p:nvPr/>
        </p:nvPicPr>
        <p:blipFill>
          <a:blip r:embed="rId5"/>
          <a:stretch>
            <a:fillRect/>
          </a:stretch>
        </p:blipFill>
        <p:spPr>
          <a:xfrm>
            <a:off x="8267700" y="10563821"/>
            <a:ext cx="7848600" cy="1563795"/>
          </a:xfrm>
          <a:prstGeom prst="rect">
            <a:avLst/>
          </a:prstGeom>
        </p:spPr>
      </p:pic>
      <p:grpSp>
        <p:nvGrpSpPr>
          <p:cNvPr id="8" name="Group 7">
            <a:extLst>
              <a:ext uri="{FF2B5EF4-FFF2-40B4-BE49-F238E27FC236}">
                <a16:creationId xmlns:a16="http://schemas.microsoft.com/office/drawing/2014/main" id="{C170679A-242B-4495-A6AA-87C2A490DEE2}"/>
              </a:ext>
            </a:extLst>
          </p:cNvPr>
          <p:cNvGrpSpPr/>
          <p:nvPr/>
        </p:nvGrpSpPr>
        <p:grpSpPr>
          <a:xfrm>
            <a:off x="76200" y="2057400"/>
            <a:ext cx="5105123" cy="838200"/>
            <a:chOff x="22440" y="16831"/>
            <a:chExt cx="850471" cy="230002"/>
          </a:xfrm>
        </p:grpSpPr>
        <p:grpSp>
          <p:nvGrpSpPr>
            <p:cNvPr id="9" name="Group 8">
              <a:extLst>
                <a:ext uri="{FF2B5EF4-FFF2-40B4-BE49-F238E27FC236}">
                  <a16:creationId xmlns:a16="http://schemas.microsoft.com/office/drawing/2014/main" id="{DC2BE062-D76F-484D-85A9-31A35614F0C2}"/>
                </a:ext>
              </a:extLst>
            </p:cNvPr>
            <p:cNvGrpSpPr/>
            <p:nvPr/>
          </p:nvGrpSpPr>
          <p:grpSpPr>
            <a:xfrm>
              <a:off x="22440" y="59287"/>
              <a:ext cx="850471" cy="159855"/>
              <a:chOff x="31572" y="60276"/>
              <a:chExt cx="1196628" cy="197828"/>
            </a:xfrm>
          </p:grpSpPr>
          <p:sp>
            <p:nvSpPr>
              <p:cNvPr id="11" name="Arrow: Pentagon 10">
                <a:extLst>
                  <a:ext uri="{FF2B5EF4-FFF2-40B4-BE49-F238E27FC236}">
                    <a16:creationId xmlns:a16="http://schemas.microsoft.com/office/drawing/2014/main" id="{DE96BE6A-257E-4F40-B7D9-B1D5135CB38A}"/>
                  </a:ext>
                </a:extLst>
              </p:cNvPr>
              <p:cNvSpPr/>
              <p:nvPr/>
            </p:nvSpPr>
            <p:spPr>
              <a:xfrm>
                <a:off x="204585" y="62042"/>
                <a:ext cx="1023615" cy="196062"/>
              </a:xfrm>
              <a:prstGeom prst="homePlate">
                <a:avLst/>
              </a:prstGeom>
              <a:solidFill>
                <a:srgbClr val="FCFFEF"/>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06000"/>
                  </a:lnSpc>
                  <a:spcAft>
                    <a:spcPts val="800"/>
                  </a:spcAft>
                </a:pPr>
                <a:r>
                  <a:rPr lang="vi-VN" sz="4800" b="1" kern="1200">
                    <a:solidFill>
                      <a:srgbClr val="0000CC"/>
                    </a:solidFill>
                    <a:effectLst/>
                    <a:ea typeface="Calibri" panose="020F0502020204030204" pitchFamily="34" charset="0"/>
                    <a:cs typeface="Times New Roman" panose="02020603050405020304" pitchFamily="18" charset="0"/>
                  </a:rPr>
                  <a:t> </a:t>
                </a:r>
                <a:endParaRPr lang="vi-VN" sz="48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2" name="Arrow: Chevron 11">
                <a:extLst>
                  <a:ext uri="{FF2B5EF4-FFF2-40B4-BE49-F238E27FC236}">
                    <a16:creationId xmlns:a16="http://schemas.microsoft.com/office/drawing/2014/main" id="{E39EE14B-937A-449E-9477-E4B712882A71}"/>
                  </a:ext>
                </a:extLst>
              </p:cNvPr>
              <p:cNvSpPr/>
              <p:nvPr/>
            </p:nvSpPr>
            <p:spPr>
              <a:xfrm>
                <a:off x="31572" y="60341"/>
                <a:ext cx="162630" cy="196062"/>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4800">
                    <a:effectLst/>
                    <a:latin typeface="Times New Roman" panose="02020603050405020304" pitchFamily="18" charset="0"/>
                    <a:ea typeface="Calibri" panose="020F0502020204030204" pitchFamily="34" charset="0"/>
                    <a:cs typeface="Times New Roman" panose="02020603050405020304" pitchFamily="18" charset="0"/>
                  </a:rPr>
                  <a:t> </a:t>
                </a:r>
                <a:endParaRPr lang="vi-VN" sz="48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3" name="Arrow: Chevron 12">
                <a:extLst>
                  <a:ext uri="{FF2B5EF4-FFF2-40B4-BE49-F238E27FC236}">
                    <a16:creationId xmlns:a16="http://schemas.microsoft.com/office/drawing/2014/main" id="{3906BBB3-2A34-4CA8-A088-AFCF8F2E5C82}"/>
                  </a:ext>
                </a:extLst>
              </p:cNvPr>
              <p:cNvSpPr/>
              <p:nvPr/>
            </p:nvSpPr>
            <p:spPr>
              <a:xfrm>
                <a:off x="116273" y="60276"/>
                <a:ext cx="176766" cy="196062"/>
              </a:xfrm>
              <a:prstGeom prst="chevr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4800">
                    <a:effectLst/>
                    <a:latin typeface="Times New Roman" panose="02020603050405020304" pitchFamily="18" charset="0"/>
                    <a:ea typeface="Calibri" panose="020F0502020204030204" pitchFamily="34" charset="0"/>
                    <a:cs typeface="Times New Roman" panose="02020603050405020304" pitchFamily="18" charset="0"/>
                  </a:rPr>
                  <a:t> </a:t>
                </a:r>
                <a:endParaRPr lang="vi-VN" sz="4800">
                  <a:effectLst/>
                  <a:latin typeface="Times New Roman" panose="02020603050405020304" pitchFamily="18" charset="0"/>
                  <a:ea typeface="Calibri" panose="020F0502020204030204" pitchFamily="34" charset="0"/>
                  <a:cs typeface="Times New Roman" panose="02020603050405020304" pitchFamily="18" charset="0"/>
                </a:endParaRPr>
              </a:p>
            </p:txBody>
          </p:sp>
        </p:grpSp>
        <p:sp>
          <p:nvSpPr>
            <p:cNvPr id="10" name="TextBox 56">
              <a:extLst>
                <a:ext uri="{FF2B5EF4-FFF2-40B4-BE49-F238E27FC236}">
                  <a16:creationId xmlns:a16="http://schemas.microsoft.com/office/drawing/2014/main" id="{41372051-7E11-4D36-ADED-EADAABF9D935}"/>
                </a:ext>
              </a:extLst>
            </p:cNvPr>
            <p:cNvSpPr txBox="1"/>
            <p:nvPr/>
          </p:nvSpPr>
          <p:spPr>
            <a:xfrm>
              <a:off x="188148" y="16831"/>
              <a:ext cx="591618" cy="230002"/>
            </a:xfrm>
            <a:prstGeom prst="rect">
              <a:avLst/>
            </a:prstGeom>
            <a:noFill/>
          </p:spPr>
          <p:txBody>
            <a:bodyPr wrap="square">
              <a:noAutofit/>
            </a:bodyPr>
            <a:lstStyle/>
            <a:p>
              <a:pPr>
                <a:lnSpc>
                  <a:spcPct val="107000"/>
                </a:lnSpc>
                <a:spcAft>
                  <a:spcPts val="800"/>
                </a:spcAft>
              </a:pPr>
              <a:r>
                <a:rPr lang="en-US" sz="4800" b="1">
                  <a:solidFill>
                    <a:srgbClr val="0000CC"/>
                  </a:solidFill>
                  <a:latin typeface="Calibri" panose="020F0502020204030204" pitchFamily="34" charset="0"/>
                  <a:ea typeface="Calibri" panose="020F0502020204030204" pitchFamily="34" charset="0"/>
                  <a:cs typeface="Times New Roman" panose="02020603050405020304" pitchFamily="18" charset="0"/>
                </a:rPr>
                <a:t>Luyện tập</a:t>
              </a:r>
              <a:r>
                <a:rPr lang="en-US" sz="4800" b="1" kern="1200">
                  <a:solidFill>
                    <a:srgbClr val="0000CC"/>
                  </a:solidFill>
                  <a:effectLst/>
                  <a:latin typeface="Calibri" panose="020F0502020204030204" pitchFamily="34" charset="0"/>
                  <a:ea typeface="Calibri" panose="020F0502020204030204" pitchFamily="34" charset="0"/>
                  <a:cs typeface="Times New Roman" panose="02020603050405020304" pitchFamily="18" charset="0"/>
                </a:rPr>
                <a:t> 1.</a:t>
              </a:r>
              <a:endParaRPr lang="vi-VN" sz="4800">
                <a:effectLst/>
                <a:latin typeface="Times New Roman" panose="02020603050405020304" pitchFamily="18" charset="0"/>
                <a:ea typeface="Calibri" panose="020F0502020204030204" pitchFamily="34" charset="0"/>
                <a:cs typeface="Times New Roman" panose="02020603050405020304" pitchFamily="18" charset="0"/>
              </a:endParaRPr>
            </a:p>
          </p:txBody>
        </p:sp>
      </p:grpSp>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   ·   BÀI 12</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87106219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up)">
                                      <p:cBhvr>
                                        <p:cTn id="11" dur="500"/>
                                        <p:tgtEl>
                                          <p:spTgt spid="7">
                                            <p:txEl>
                                              <p:pRg st="0" end="0"/>
                                            </p:txEl>
                                          </p:spTgt>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99"/>
                                        </p:tgtEl>
                                        <p:attrNameLst>
                                          <p:attrName>style.visibility</p:attrName>
                                        </p:attrNameLst>
                                      </p:cBhvr>
                                      <p:to>
                                        <p:strVal val="visible"/>
                                      </p:to>
                                    </p:set>
                                    <p:animEffect transition="in" filter="wipe(up)">
                                      <p:cBhvr>
                                        <p:cTn id="15" dur="500"/>
                                        <p:tgtEl>
                                          <p:spTgt spid="99"/>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99">
                                            <p:txEl>
                                              <p:pRg st="0" end="0"/>
                                            </p:txEl>
                                          </p:spTgt>
                                        </p:tgtEl>
                                        <p:attrNameLst>
                                          <p:attrName>style.visibility</p:attrName>
                                        </p:attrNameLst>
                                      </p:cBhvr>
                                      <p:to>
                                        <p:strVal val="visible"/>
                                      </p:to>
                                    </p:set>
                                    <p:animEffect transition="in" filter="wipe(up)">
                                      <p:cBhvr>
                                        <p:cTn id="19" dur="500"/>
                                        <p:tgtEl>
                                          <p:spTgt spid="99">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nodeType="clickEffect">
                                  <p:stCondLst>
                                    <p:cond delay="0"/>
                                  </p:stCondLst>
                                  <p:childTnLst>
                                    <p:set>
                                      <p:cBhvr>
                                        <p:cTn id="23" dur="1" fill="hold">
                                          <p:stCondLst>
                                            <p:cond delay="0"/>
                                          </p:stCondLst>
                                        </p:cTn>
                                        <p:tgtEl>
                                          <p:spTgt spid="99">
                                            <p:txEl>
                                              <p:pRg st="1" end="1"/>
                                            </p:txEl>
                                          </p:spTgt>
                                        </p:tgtEl>
                                        <p:attrNameLst>
                                          <p:attrName>style.visibility</p:attrName>
                                        </p:attrNameLst>
                                      </p:cBhvr>
                                      <p:to>
                                        <p:strVal val="visible"/>
                                      </p:to>
                                    </p:set>
                                    <p:animEffect transition="in" filter="wipe(up)">
                                      <p:cBhvr>
                                        <p:cTn id="24" dur="500"/>
                                        <p:tgtEl>
                                          <p:spTgt spid="99">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nodeType="clickEffect">
                                  <p:stCondLst>
                                    <p:cond delay="0"/>
                                  </p:stCondLst>
                                  <p:childTnLst>
                                    <p:set>
                                      <p:cBhvr>
                                        <p:cTn id="28" dur="1" fill="hold">
                                          <p:stCondLst>
                                            <p:cond delay="0"/>
                                          </p:stCondLst>
                                        </p:cTn>
                                        <p:tgtEl>
                                          <p:spTgt spid="99">
                                            <p:txEl>
                                              <p:pRg st="2" end="2"/>
                                            </p:txEl>
                                          </p:spTgt>
                                        </p:tgtEl>
                                        <p:attrNameLst>
                                          <p:attrName>style.visibility</p:attrName>
                                        </p:attrNameLst>
                                      </p:cBhvr>
                                      <p:to>
                                        <p:strVal val="visible"/>
                                      </p:to>
                                    </p:set>
                                    <p:animEffect transition="in" filter="wipe(up)">
                                      <p:cBhvr>
                                        <p:cTn id="29" dur="500"/>
                                        <p:tgtEl>
                                          <p:spTgt spid="99">
                                            <p:txEl>
                                              <p:pRg st="2" end="2"/>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819912" y="1993904"/>
            <a:ext cx="16096488" cy="838200"/>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b="1" dirty="0">
                <a:solidFill>
                  <a:schemeClr val="accent6">
                    <a:lumMod val="75000"/>
                  </a:schemeClr>
                </a:solidFill>
              </a:rPr>
              <a:t>2</a:t>
            </a:r>
            <a:r>
              <a:rPr lang="en-US" b="1" dirty="0" smtClean="0">
                <a:solidFill>
                  <a:schemeClr val="accent6">
                    <a:lumMod val="75000"/>
                  </a:schemeClr>
                </a:solidFill>
              </a:rPr>
              <a:t>. </a:t>
            </a:r>
            <a:r>
              <a:rPr lang="en-US" b="1" dirty="0">
                <a:solidFill>
                  <a:schemeClr val="accent6">
                    <a:lumMod val="75000"/>
                  </a:schemeClr>
                </a:solidFill>
              </a:rPr>
              <a:t>SAI SỐ TUYỆT ĐỐI VÀ SAI SỐ TƯƠNG ĐỐI. </a:t>
            </a:r>
            <a:endParaRPr lang="vi-VN" dirty="0">
              <a:solidFill>
                <a:schemeClr val="accent6">
                  <a:lumMod val="75000"/>
                </a:schemeClr>
              </a:solidFill>
            </a:endParaRPr>
          </a:p>
        </p:txBody>
      </p:sp>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38200" y="3276601"/>
            <a:ext cx="6705600" cy="838200"/>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b="1" dirty="0">
                <a:solidFill>
                  <a:srgbClr val="FF0000"/>
                </a:solidFill>
              </a:rPr>
              <a:t> </a:t>
            </a:r>
            <a:r>
              <a:rPr lang="en-US" b="1" dirty="0">
                <a:solidFill>
                  <a:schemeClr val="accent1">
                    <a:lumMod val="75000"/>
                  </a:schemeClr>
                </a:solidFill>
              </a:rPr>
              <a:t>a. Sai </a:t>
            </a:r>
            <a:r>
              <a:rPr lang="en-US" b="1" dirty="0" err="1">
                <a:solidFill>
                  <a:schemeClr val="accent1">
                    <a:lumMod val="75000"/>
                  </a:schemeClr>
                </a:solidFill>
              </a:rPr>
              <a:t>số</a:t>
            </a:r>
            <a:r>
              <a:rPr lang="en-US" b="1" dirty="0">
                <a:solidFill>
                  <a:schemeClr val="accent1">
                    <a:lumMod val="75000"/>
                  </a:schemeClr>
                </a:solidFill>
              </a:rPr>
              <a:t> </a:t>
            </a:r>
            <a:r>
              <a:rPr lang="en-US" b="1" dirty="0" err="1">
                <a:solidFill>
                  <a:schemeClr val="accent1">
                    <a:lumMod val="75000"/>
                  </a:schemeClr>
                </a:solidFill>
              </a:rPr>
              <a:t>tuyệt</a:t>
            </a:r>
            <a:r>
              <a:rPr lang="en-US" b="1" dirty="0">
                <a:solidFill>
                  <a:schemeClr val="accent1">
                    <a:lumMod val="75000"/>
                  </a:schemeClr>
                </a:solidFill>
              </a:rPr>
              <a:t> </a:t>
            </a:r>
            <a:r>
              <a:rPr lang="en-US" b="1" dirty="0" err="1">
                <a:solidFill>
                  <a:schemeClr val="accent1">
                    <a:lumMod val="75000"/>
                  </a:schemeClr>
                </a:solidFill>
              </a:rPr>
              <a:t>đối</a:t>
            </a:r>
            <a:r>
              <a:rPr lang="en-US" b="1" dirty="0">
                <a:solidFill>
                  <a:schemeClr val="accent1">
                    <a:lumMod val="75000"/>
                  </a:schemeClr>
                </a:solidFill>
              </a:rPr>
              <a:t>: </a:t>
            </a:r>
            <a:endParaRPr lang="vi-VN" dirty="0">
              <a:solidFill>
                <a:schemeClr val="accent1">
                  <a:lumMod val="75000"/>
                </a:schemeClr>
              </a:solidFill>
            </a:endParaRPr>
          </a:p>
        </p:txBody>
      </p:sp>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B270A3F8-6865-499A-9514-932AD5586A0D}"/>
                  </a:ext>
                </a:extLst>
              </p:cNvPr>
              <p:cNvSpPr txBox="1">
                <a:spLocks/>
              </p:cNvSpPr>
              <p:nvPr/>
            </p:nvSpPr>
            <p:spPr>
              <a:xfrm>
                <a:off x="832104" y="4648200"/>
                <a:ext cx="23164800" cy="3543302"/>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b="1">
                    <a:solidFill>
                      <a:srgbClr val="FF0000"/>
                    </a:solidFill>
                  </a:rPr>
                  <a:t>HĐ3:  </a:t>
                </a:r>
                <a:r>
                  <a:rPr lang="en-US"/>
                  <a:t>Trong HĐ 2, Hòa dùng kính lúp để quan sát mực nước trên ống đo thứ hai được hình ảnh như Hình 5.2. Kì hiệu </a:t>
                </a:r>
                <a14:m>
                  <m:oMath xmlns:m="http://schemas.openxmlformats.org/officeDocument/2006/math">
                    <m:acc>
                      <m:accPr>
                        <m:chr m:val="̄"/>
                        <m:ctrlPr>
                          <a:rPr lang="vi-VN" i="1">
                            <a:latin typeface="Cambria Math" panose="02040503050406030204" pitchFamily="18" charset="0"/>
                          </a:rPr>
                        </m:ctrlPr>
                      </m:accPr>
                      <m:e>
                        <m:r>
                          <a:rPr lang="en-US" i="1">
                            <a:latin typeface="Cambria Math" panose="02040503050406030204" pitchFamily="18" charset="0"/>
                          </a:rPr>
                          <m:t>𝑎</m:t>
                        </m:r>
                      </m:e>
                    </m:acc>
                    <m:d>
                      <m:dPr>
                        <m:ctrlPr>
                          <a:rPr lang="vi-VN" i="1">
                            <a:latin typeface="Cambria Math" panose="02040503050406030204" pitchFamily="18" charset="0"/>
                          </a:rPr>
                        </m:ctrlPr>
                      </m:dPr>
                      <m:e>
                        <m:r>
                          <m:rPr>
                            <m:nor/>
                          </m:rPr>
                          <a:rPr lang="en-US"/>
                          <m:t>c</m:t>
                        </m:r>
                        <m:sSup>
                          <m:sSupPr>
                            <m:ctrlPr>
                              <a:rPr lang="vi-VN" i="1">
                                <a:latin typeface="Cambria Math" panose="02040503050406030204" pitchFamily="18" charset="0"/>
                              </a:rPr>
                            </m:ctrlPr>
                          </m:sSupPr>
                          <m:e>
                            <m:r>
                              <m:rPr>
                                <m:nor/>
                              </m:rPr>
                              <a:rPr lang="en-US"/>
                              <m:t>m</m:t>
                            </m:r>
                          </m:e>
                          <m:sup>
                            <m:r>
                              <a:rPr lang="en-US" i="1">
                                <a:latin typeface="Cambria Math" panose="02040503050406030204" pitchFamily="18" charset="0"/>
                              </a:rPr>
                              <m:t>3</m:t>
                            </m:r>
                          </m:sup>
                        </m:sSup>
                      </m:e>
                    </m:d>
                  </m:oMath>
                </a14:m>
                <a:r>
                  <a:rPr lang="en-US"/>
                  <a:t> là số đo thể tích của nước.</a:t>
                </a:r>
                <a:endParaRPr lang="vi-VN"/>
              </a:p>
              <a:p>
                <a:pPr marL="0" indent="0">
                  <a:buNone/>
                </a:pPr>
                <a:r>
                  <a:rPr lang="en-US"/>
                  <a:t>Quan sát hình vẽ để so sánh </a:t>
                </a:r>
                <a14:m>
                  <m:oMath xmlns:m="http://schemas.openxmlformats.org/officeDocument/2006/math">
                    <m:d>
                      <m:dPr>
                        <m:begChr m:val="|"/>
                        <m:endChr m:val="|"/>
                        <m:ctrlPr>
                          <a:rPr lang="vi-VN" i="1">
                            <a:latin typeface="Cambria Math" panose="02040503050406030204" pitchFamily="18" charset="0"/>
                          </a:rPr>
                        </m:ctrlPr>
                      </m:dPr>
                      <m:e>
                        <m:r>
                          <a:rPr lang="en-US" i="1">
                            <a:latin typeface="Cambria Math" panose="02040503050406030204" pitchFamily="18" charset="0"/>
                          </a:rPr>
                          <m:t>13−</m:t>
                        </m:r>
                        <m:acc>
                          <m:accPr>
                            <m:chr m:val="̄"/>
                            <m:ctrlPr>
                              <a:rPr lang="vi-VN" i="1">
                                <a:latin typeface="Cambria Math" panose="02040503050406030204" pitchFamily="18" charset="0"/>
                              </a:rPr>
                            </m:ctrlPr>
                          </m:accPr>
                          <m:e>
                            <m:r>
                              <a:rPr lang="en-US" i="1">
                                <a:latin typeface="Cambria Math" panose="02040503050406030204" pitchFamily="18" charset="0"/>
                              </a:rPr>
                              <m:t>𝑎</m:t>
                            </m:r>
                          </m:e>
                        </m:acc>
                      </m:e>
                    </m:d>
                  </m:oMath>
                </a14:m>
                <a:r>
                  <a:rPr lang="en-US"/>
                  <a:t> và </a:t>
                </a:r>
                <a14:m>
                  <m:oMath xmlns:m="http://schemas.openxmlformats.org/officeDocument/2006/math">
                    <m:d>
                      <m:dPr>
                        <m:begChr m:val="|"/>
                        <m:endChr m:val="|"/>
                        <m:ctrlPr>
                          <a:rPr lang="vi-VN" i="1">
                            <a:latin typeface="Cambria Math" panose="02040503050406030204" pitchFamily="18" charset="0"/>
                          </a:rPr>
                        </m:ctrlPr>
                      </m:dPr>
                      <m:e>
                        <m:r>
                          <a:rPr lang="en-US" i="1">
                            <a:latin typeface="Cambria Math" panose="02040503050406030204" pitchFamily="18" charset="0"/>
                          </a:rPr>
                          <m:t>13,1−</m:t>
                        </m:r>
                        <m:acc>
                          <m:accPr>
                            <m:chr m:val="̄"/>
                            <m:ctrlPr>
                              <a:rPr lang="vi-VN" i="1">
                                <a:latin typeface="Cambria Math" panose="02040503050406030204" pitchFamily="18" charset="0"/>
                              </a:rPr>
                            </m:ctrlPr>
                          </m:accPr>
                          <m:e>
                            <m:r>
                              <a:rPr lang="en-US" i="1">
                                <a:latin typeface="Cambria Math" panose="02040503050406030204" pitchFamily="18" charset="0"/>
                              </a:rPr>
                              <m:t>𝑎</m:t>
                            </m:r>
                          </m:e>
                        </m:acc>
                      </m:e>
                    </m:d>
                  </m:oMath>
                </a14:m>
                <a:r>
                  <a:rPr lang="en-US"/>
                  <a:t> rồi cho biết trong hai số đo thể tích </a:t>
                </a:r>
                <a14:m>
                  <m:oMath xmlns:m="http://schemas.openxmlformats.org/officeDocument/2006/math">
                    <m:r>
                      <a:rPr lang="en-US" i="1">
                        <a:latin typeface="Cambria Math" panose="02040503050406030204" pitchFamily="18" charset="0"/>
                      </a:rPr>
                      <m:t>13​</m:t>
                    </m:r>
                    <m:r>
                      <m:rPr>
                        <m:nor/>
                      </m:rPr>
                      <a:rPr lang="en-US"/>
                      <m:t>c</m:t>
                    </m:r>
                    <m:sSup>
                      <m:sSupPr>
                        <m:ctrlPr>
                          <a:rPr lang="vi-VN" i="1">
                            <a:latin typeface="Cambria Math" panose="02040503050406030204" pitchFamily="18" charset="0"/>
                          </a:rPr>
                        </m:ctrlPr>
                      </m:sSupPr>
                      <m:e>
                        <m:r>
                          <m:rPr>
                            <m:nor/>
                          </m:rPr>
                          <a:rPr lang="en-US"/>
                          <m:t>m</m:t>
                        </m:r>
                      </m:e>
                      <m:sup>
                        <m:r>
                          <a:rPr lang="en-US" i="1">
                            <a:latin typeface="Cambria Math" panose="02040503050406030204" pitchFamily="18" charset="0"/>
                          </a:rPr>
                          <m:t>3</m:t>
                        </m:r>
                      </m:sup>
                    </m:sSup>
                  </m:oMath>
                </a14:m>
                <a:r>
                  <a:rPr lang="en-US"/>
                  <a:t> và </a:t>
                </a:r>
                <a14:m>
                  <m:oMath xmlns:m="http://schemas.openxmlformats.org/officeDocument/2006/math">
                    <m:r>
                      <a:rPr lang="en-US" i="1">
                        <a:latin typeface="Cambria Math" panose="02040503050406030204" pitchFamily="18" charset="0"/>
                      </a:rPr>
                      <m:t>13​,1</m:t>
                    </m:r>
                    <m:r>
                      <m:rPr>
                        <m:nor/>
                      </m:rPr>
                      <a:rPr lang="en-US"/>
                      <m:t>c</m:t>
                    </m:r>
                    <m:sSup>
                      <m:sSupPr>
                        <m:ctrlPr>
                          <a:rPr lang="vi-VN" i="1">
                            <a:latin typeface="Cambria Math" panose="02040503050406030204" pitchFamily="18" charset="0"/>
                          </a:rPr>
                        </m:ctrlPr>
                      </m:sSupPr>
                      <m:e>
                        <m:r>
                          <m:rPr>
                            <m:nor/>
                          </m:rPr>
                          <a:rPr lang="en-US"/>
                          <m:t>m</m:t>
                        </m:r>
                      </m:e>
                      <m:sup>
                        <m:r>
                          <a:rPr lang="en-US" i="1">
                            <a:latin typeface="Cambria Math" panose="02040503050406030204" pitchFamily="18" charset="0"/>
                          </a:rPr>
                          <m:t>3</m:t>
                        </m:r>
                      </m:sup>
                    </m:sSup>
                  </m:oMath>
                </a14:m>
                <a:r>
                  <a:rPr lang="en-US"/>
                  <a:t>. Số đo nào gần với thể tích của cốc nước hơn.</a:t>
                </a:r>
                <a:endParaRPr lang="vi-VN"/>
              </a:p>
              <a:p>
                <a:pPr marL="0" indent="0">
                  <a:buNone/>
                </a:pPr>
                <a:endParaRPr lang="en-US"/>
              </a:p>
            </p:txBody>
          </p:sp>
        </mc:Choice>
        <mc:Fallback xmlns="">
          <p:sp>
            <p:nvSpPr>
              <p:cNvPr id="8" name="Content Placeholder 2">
                <a:extLst>
                  <a:ext uri="{FF2B5EF4-FFF2-40B4-BE49-F238E27FC236}">
                    <a16:creationId xmlns:a16="http://schemas.microsoft.com/office/drawing/2014/main" id="{B270A3F8-6865-499A-9514-932AD5586A0D}"/>
                  </a:ext>
                </a:extLst>
              </p:cNvPr>
              <p:cNvSpPr txBox="1">
                <a:spLocks noRot="1" noChangeAspect="1" noMove="1" noResize="1" noEditPoints="1" noAdjustHandles="1" noChangeArrowheads="1" noChangeShapeType="1" noTextEdit="1"/>
              </p:cNvSpPr>
              <p:nvPr/>
            </p:nvSpPr>
            <p:spPr>
              <a:xfrm>
                <a:off x="832104" y="4648200"/>
                <a:ext cx="23164800" cy="3543302"/>
              </a:xfrm>
              <a:prstGeom prst="rect">
                <a:avLst/>
              </a:prstGeom>
              <a:blipFill>
                <a:blip r:embed="rId3"/>
                <a:stretch>
                  <a:fillRect l="-1184" t="-5660"/>
                </a:stretch>
              </a:blipFill>
              <a:ln>
                <a:solidFill>
                  <a:srgbClr val="00B0F0"/>
                </a:solidFill>
              </a:ln>
            </p:spPr>
            <p:txBody>
              <a:bodyPr/>
              <a:lstStyle/>
              <a:p>
                <a:r>
                  <a:rPr lang="vi-VN">
                    <a:noFill/>
                  </a:rPr>
                  <a:t> </a:t>
                </a:r>
              </a:p>
            </p:txBody>
          </p:sp>
        </mc:Fallback>
      </mc:AlternateContent>
      <p:pic>
        <p:nvPicPr>
          <p:cNvPr id="11" name="Picture 10">
            <a:extLst>
              <a:ext uri="{FF2B5EF4-FFF2-40B4-BE49-F238E27FC236}">
                <a16:creationId xmlns:a16="http://schemas.microsoft.com/office/drawing/2014/main" id="{421FB6B3-10B9-4700-B262-ADBBBED6EB6E}"/>
              </a:ext>
            </a:extLst>
          </p:cNvPr>
          <p:cNvPicPr/>
          <p:nvPr/>
        </p:nvPicPr>
        <p:blipFill>
          <a:blip r:embed="rId4"/>
          <a:stretch>
            <a:fillRect/>
          </a:stretch>
        </p:blipFill>
        <p:spPr>
          <a:xfrm>
            <a:off x="7543800" y="9055099"/>
            <a:ext cx="9829799" cy="3810000"/>
          </a:xfrm>
          <a:prstGeom prst="rect">
            <a:avLst/>
          </a:prstGeom>
        </p:spPr>
      </p:pic>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   ·   BÀI 12</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03719847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up)">
                                      <p:cBhvr>
                                        <p:cTn id="7" dur="1000"/>
                                        <p:tgtEl>
                                          <p:spTgt spid="97"/>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99"/>
                                        </p:tgtEl>
                                        <p:attrNameLst>
                                          <p:attrName>style.visibility</p:attrName>
                                        </p:attrNameLst>
                                      </p:cBhvr>
                                      <p:to>
                                        <p:strVal val="visible"/>
                                      </p:to>
                                    </p:set>
                                    <p:animEffect transition="in" filter="wipe(up)">
                                      <p:cBhvr>
                                        <p:cTn id="11" dur="500"/>
                                        <p:tgtEl>
                                          <p:spTgt spid="99"/>
                                        </p:tgtEl>
                                      </p:cBhvr>
                                    </p:animEffect>
                                  </p:childTnLst>
                                </p:cTn>
                              </p:par>
                            </p:childTnLst>
                          </p:cTn>
                        </p:par>
                        <p:par>
                          <p:cTn id="12" fill="hold">
                            <p:stCondLst>
                              <p:cond delay="1500"/>
                            </p:stCondLst>
                            <p:childTnLst>
                              <p:par>
                                <p:cTn id="13" presetID="22" presetClass="entr" presetSubtype="1" fill="hold" nodeType="afterEffect">
                                  <p:stCondLst>
                                    <p:cond delay="0"/>
                                  </p:stCondLst>
                                  <p:childTnLst>
                                    <p:set>
                                      <p:cBhvr>
                                        <p:cTn id="14" dur="1" fill="hold">
                                          <p:stCondLst>
                                            <p:cond delay="0"/>
                                          </p:stCondLst>
                                        </p:cTn>
                                        <p:tgtEl>
                                          <p:spTgt spid="99">
                                            <p:txEl>
                                              <p:pRg st="0" end="0"/>
                                            </p:txEl>
                                          </p:spTgt>
                                        </p:tgtEl>
                                        <p:attrNameLst>
                                          <p:attrName>style.visibility</p:attrName>
                                        </p:attrNameLst>
                                      </p:cBhvr>
                                      <p:to>
                                        <p:strVal val="visible"/>
                                      </p:to>
                                    </p:set>
                                    <p:animEffect transition="in" filter="wipe(up)">
                                      <p:cBhvr>
                                        <p:cTn id="15" dur="500"/>
                                        <p:tgtEl>
                                          <p:spTgt spid="99">
                                            <p:txEl>
                                              <p:pRg st="0" end="0"/>
                                            </p:txEl>
                                          </p:spTgt>
                                        </p:tgtEl>
                                      </p:cBhvr>
                                    </p:animEffect>
                                  </p:childTnLst>
                                </p:cTn>
                              </p:par>
                            </p:childTnLst>
                          </p:cTn>
                        </p:par>
                        <p:par>
                          <p:cTn id="16" fill="hold">
                            <p:stCondLst>
                              <p:cond delay="2000"/>
                            </p:stCondLst>
                            <p:childTnLst>
                              <p:par>
                                <p:cTn id="17" presetID="22" presetClass="entr" presetSubtype="1"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up)">
                                      <p:cBhvr>
                                        <p:cTn id="19" dur="500"/>
                                        <p:tgtEl>
                                          <p:spTgt spid="8"/>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nodeType="clickEffect">
                                  <p:stCondLst>
                                    <p:cond delay="0"/>
                                  </p:stCondLst>
                                  <p:childTnLst>
                                    <p:set>
                                      <p:cBhvr>
                                        <p:cTn id="23" dur="1" fill="hold">
                                          <p:stCondLst>
                                            <p:cond delay="0"/>
                                          </p:stCondLst>
                                        </p:cTn>
                                        <p:tgtEl>
                                          <p:spTgt spid="8">
                                            <p:txEl>
                                              <p:pRg st="0" end="0"/>
                                            </p:txEl>
                                          </p:spTgt>
                                        </p:tgtEl>
                                        <p:attrNameLst>
                                          <p:attrName>style.visibility</p:attrName>
                                        </p:attrNameLst>
                                      </p:cBhvr>
                                      <p:to>
                                        <p:strVal val="visible"/>
                                      </p:to>
                                    </p:set>
                                    <p:animEffect transition="in" filter="wipe(up)">
                                      <p:cBhvr>
                                        <p:cTn id="24" dur="500"/>
                                        <p:tgtEl>
                                          <p:spTgt spid="8">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nodeType="clickEffect">
                                  <p:stCondLst>
                                    <p:cond delay="0"/>
                                  </p:stCondLst>
                                  <p:childTnLst>
                                    <p:set>
                                      <p:cBhvr>
                                        <p:cTn id="28" dur="1" fill="hold">
                                          <p:stCondLst>
                                            <p:cond delay="0"/>
                                          </p:stCondLst>
                                        </p:cTn>
                                        <p:tgtEl>
                                          <p:spTgt spid="8">
                                            <p:txEl>
                                              <p:pRg st="1" end="1"/>
                                            </p:txEl>
                                          </p:spTgt>
                                        </p:tgtEl>
                                        <p:attrNameLst>
                                          <p:attrName>style.visibility</p:attrName>
                                        </p:attrNameLst>
                                      </p:cBhvr>
                                      <p:to>
                                        <p:strVal val="visible"/>
                                      </p:to>
                                    </p:set>
                                    <p:animEffect transition="in" filter="wipe(up)">
                                      <p:cBhvr>
                                        <p:cTn id="29" dur="500"/>
                                        <p:tgtEl>
                                          <p:spTgt spid="8">
                                            <p:txEl>
                                              <p:pRg st="1" end="1"/>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99" grpId="0" animBg="1"/>
      <p:bldP spid="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38200" y="1981201"/>
                <a:ext cx="22707600" cy="2666999"/>
              </a:xfrm>
              <a:prstGeom prst="rect">
                <a:avLst/>
              </a:prstGeom>
              <a:solidFill>
                <a:schemeClr val="accent4">
                  <a:lumMod val="20000"/>
                  <a:lumOff val="80000"/>
                </a:schemeClr>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a:t>Giá trị </a:t>
                </a:r>
                <a14:m>
                  <m:oMath xmlns:m="http://schemas.openxmlformats.org/officeDocument/2006/math">
                    <m:d>
                      <m:dPr>
                        <m:begChr m:val="|"/>
                        <m:endChr m:val="|"/>
                        <m:ctrlPr>
                          <a:rPr lang="vi-VN" i="1">
                            <a:latin typeface="Cambria Math" panose="02040503050406030204" pitchFamily="18" charset="0"/>
                          </a:rPr>
                        </m:ctrlPr>
                      </m:dPr>
                      <m:e>
                        <m:r>
                          <a:rPr lang="en-US" i="1">
                            <a:latin typeface="Cambria Math" panose="02040503050406030204" pitchFamily="18" charset="0"/>
                          </a:rPr>
                          <m:t>𝑎</m:t>
                        </m:r>
                        <m:r>
                          <a:rPr lang="en-US" i="1">
                            <a:latin typeface="Cambria Math" panose="02040503050406030204" pitchFamily="18" charset="0"/>
                          </a:rPr>
                          <m:t>−</m:t>
                        </m:r>
                        <m:acc>
                          <m:accPr>
                            <m:chr m:val="̄"/>
                            <m:ctrlPr>
                              <a:rPr lang="vi-VN" i="1">
                                <a:latin typeface="Cambria Math" panose="02040503050406030204" pitchFamily="18" charset="0"/>
                              </a:rPr>
                            </m:ctrlPr>
                          </m:accPr>
                          <m:e>
                            <m:r>
                              <a:rPr lang="en-US" i="1">
                                <a:latin typeface="Cambria Math" panose="02040503050406030204" pitchFamily="18" charset="0"/>
                              </a:rPr>
                              <m:t>𝑎</m:t>
                            </m:r>
                          </m:e>
                        </m:acc>
                      </m:e>
                    </m:d>
                  </m:oMath>
                </a14:m>
                <a:r>
                  <a:rPr lang="en-US"/>
                  <a:t> phản ánh mức độ sai lệch giữa số đúng </a:t>
                </a:r>
                <a14:m>
                  <m:oMath xmlns:m="http://schemas.openxmlformats.org/officeDocument/2006/math">
                    <m:acc>
                      <m:accPr>
                        <m:chr m:val="̄"/>
                        <m:ctrlPr>
                          <a:rPr lang="vi-VN" i="1">
                            <a:latin typeface="Cambria Math" panose="02040503050406030204" pitchFamily="18" charset="0"/>
                          </a:rPr>
                        </m:ctrlPr>
                      </m:accPr>
                      <m:e>
                        <m:r>
                          <a:rPr lang="en-US" i="1">
                            <a:latin typeface="Cambria Math" panose="02040503050406030204" pitchFamily="18" charset="0"/>
                          </a:rPr>
                          <m:t>𝑎</m:t>
                        </m:r>
                      </m:e>
                    </m:acc>
                  </m:oMath>
                </a14:m>
                <a:r>
                  <a:rPr lang="en-US"/>
                  <a:t> và số gần đúng </a:t>
                </a:r>
                <a14:m>
                  <m:oMath xmlns:m="http://schemas.openxmlformats.org/officeDocument/2006/math">
                    <m:r>
                      <a:rPr lang="en-US" i="1">
                        <a:latin typeface="Cambria Math" panose="02040503050406030204" pitchFamily="18" charset="0"/>
                      </a:rPr>
                      <m:t>𝑎</m:t>
                    </m:r>
                  </m:oMath>
                </a14:m>
                <a:r>
                  <a:rPr lang="en-US"/>
                  <a:t>, được gọi là sai số tuyệt đối của số gần đúng </a:t>
                </a:r>
                <a14:m>
                  <m:oMath xmlns:m="http://schemas.openxmlformats.org/officeDocument/2006/math">
                    <m:r>
                      <a:rPr lang="en-US" i="1">
                        <a:latin typeface="Cambria Math" panose="02040503050406030204" pitchFamily="18" charset="0"/>
                      </a:rPr>
                      <m:t>𝑎</m:t>
                    </m:r>
                  </m:oMath>
                </a14:m>
                <a:r>
                  <a:rPr lang="en-US"/>
                  <a:t>, kí hiệu là </a:t>
                </a:r>
                <a14:m>
                  <m:oMath xmlns:m="http://schemas.openxmlformats.org/officeDocument/2006/math">
                    <m:sSub>
                      <m:sSubPr>
                        <m:ctrlPr>
                          <a:rPr lang="vi-VN" i="1">
                            <a:latin typeface="Cambria Math" panose="02040503050406030204" pitchFamily="18" charset="0"/>
                          </a:rPr>
                        </m:ctrlPr>
                      </m:sSubPr>
                      <m:e>
                        <m:r>
                          <a:rPr lang="en-US" i="1">
                            <a:latin typeface="Cambria Math" panose="02040503050406030204" pitchFamily="18" charset="0"/>
                          </a:rPr>
                          <m:t>𝛥</m:t>
                        </m:r>
                      </m:e>
                      <m:sub>
                        <m:r>
                          <a:rPr lang="en-US" i="1">
                            <a:latin typeface="Cambria Math" panose="02040503050406030204" pitchFamily="18" charset="0"/>
                          </a:rPr>
                          <m:t>𝑎</m:t>
                        </m:r>
                      </m:sub>
                    </m:sSub>
                  </m:oMath>
                </a14:m>
                <a:r>
                  <a:rPr lang="en-US"/>
                  <a:t>, tức là:</a:t>
                </a:r>
                <a:endParaRPr lang="vi-VN"/>
              </a:p>
              <a:p>
                <a:pPr marL="0" indent="0" algn="ctr">
                  <a:buNone/>
                </a:pPr>
                <a14:m>
                  <m:oMath xmlns:m="http://schemas.openxmlformats.org/officeDocument/2006/math">
                    <m:sSub>
                      <m:sSubPr>
                        <m:ctrlPr>
                          <a:rPr lang="vi-VN" i="1">
                            <a:latin typeface="Cambria Math" panose="02040503050406030204" pitchFamily="18" charset="0"/>
                          </a:rPr>
                        </m:ctrlPr>
                      </m:sSubPr>
                      <m:e>
                        <m:r>
                          <a:rPr lang="en-US" i="1">
                            <a:latin typeface="Cambria Math" panose="02040503050406030204" pitchFamily="18" charset="0"/>
                          </a:rPr>
                          <m:t>𝛥</m:t>
                        </m:r>
                      </m:e>
                      <m:sub>
                        <m:r>
                          <a:rPr lang="en-US" i="1">
                            <a:latin typeface="Cambria Math" panose="02040503050406030204" pitchFamily="18" charset="0"/>
                          </a:rPr>
                          <m:t>𝑎</m:t>
                        </m:r>
                      </m:sub>
                    </m:sSub>
                    <m:r>
                      <a:rPr lang="en-US" i="1">
                        <a:latin typeface="Cambria Math" panose="02040503050406030204" pitchFamily="18" charset="0"/>
                      </a:rPr>
                      <m:t>=</m:t>
                    </m:r>
                    <m:d>
                      <m:dPr>
                        <m:begChr m:val="|"/>
                        <m:endChr m:val="|"/>
                        <m:ctrlPr>
                          <a:rPr lang="vi-VN" i="1">
                            <a:latin typeface="Cambria Math" panose="02040503050406030204" pitchFamily="18" charset="0"/>
                          </a:rPr>
                        </m:ctrlPr>
                      </m:dPr>
                      <m:e>
                        <m:r>
                          <a:rPr lang="en-US" i="1">
                            <a:latin typeface="Cambria Math" panose="02040503050406030204" pitchFamily="18" charset="0"/>
                          </a:rPr>
                          <m:t>𝑎</m:t>
                        </m:r>
                        <m:r>
                          <a:rPr lang="en-US" i="1">
                            <a:latin typeface="Cambria Math" panose="02040503050406030204" pitchFamily="18" charset="0"/>
                          </a:rPr>
                          <m:t>−</m:t>
                        </m:r>
                        <m:acc>
                          <m:accPr>
                            <m:chr m:val="̄"/>
                            <m:ctrlPr>
                              <a:rPr lang="vi-VN" i="1">
                                <a:latin typeface="Cambria Math" panose="02040503050406030204" pitchFamily="18" charset="0"/>
                              </a:rPr>
                            </m:ctrlPr>
                          </m:accPr>
                          <m:e>
                            <m:r>
                              <a:rPr lang="en-US" i="1">
                                <a:latin typeface="Cambria Math" panose="02040503050406030204" pitchFamily="18" charset="0"/>
                              </a:rPr>
                              <m:t>𝑎</m:t>
                            </m:r>
                          </m:e>
                        </m:acc>
                      </m:e>
                    </m:d>
                  </m:oMath>
                </a14:m>
                <a:r>
                  <a:rPr lang="en-US"/>
                  <a:t>.</a:t>
                </a:r>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838200" y="1981201"/>
                <a:ext cx="22707600" cy="2666999"/>
              </a:xfrm>
              <a:prstGeom prst="rect">
                <a:avLst/>
              </a:prstGeom>
              <a:blipFill>
                <a:blip r:embed="rId3"/>
                <a:stretch>
                  <a:fillRect l="-1207" t="-7500"/>
                </a:stretch>
              </a:blipFill>
              <a:ln>
                <a:solidFill>
                  <a:srgbClr val="00B0F0"/>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838200" y="5714999"/>
                <a:ext cx="22707600" cy="6896101"/>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b="1">
                    <a:solidFill>
                      <a:srgbClr val="FF0000"/>
                    </a:solidFill>
                  </a:rPr>
                  <a:t>Chú ý</a:t>
                </a:r>
                <a:endParaRPr lang="en-US">
                  <a:solidFill>
                    <a:srgbClr val="FF0000"/>
                  </a:solidFill>
                </a:endParaRPr>
              </a:p>
              <a:p>
                <a:pPr marL="0" indent="0">
                  <a:buNone/>
                </a:pPr>
                <a:r>
                  <a:rPr lang="en-US"/>
                  <a:t>Trên thực tế, nhiều khi ta không biết </a:t>
                </a:r>
                <a14:m>
                  <m:oMath xmlns:m="http://schemas.openxmlformats.org/officeDocument/2006/math">
                    <m:acc>
                      <m:accPr>
                        <m:chr m:val="̄"/>
                        <m:ctrlPr>
                          <a:rPr lang="vi-VN" i="1">
                            <a:latin typeface="Cambria Math" panose="02040503050406030204" pitchFamily="18" charset="0"/>
                          </a:rPr>
                        </m:ctrlPr>
                      </m:accPr>
                      <m:e>
                        <m:r>
                          <a:rPr lang="en-US" i="1">
                            <a:latin typeface="Cambria Math" panose="02040503050406030204" pitchFamily="18" charset="0"/>
                          </a:rPr>
                          <m:t>𝑎</m:t>
                        </m:r>
                      </m:e>
                    </m:acc>
                  </m:oMath>
                </a14:m>
                <a:r>
                  <a:rPr lang="en-US"/>
                  <a:t> nên cũng không biết </a:t>
                </a:r>
                <a14:m>
                  <m:oMath xmlns:m="http://schemas.openxmlformats.org/officeDocument/2006/math">
                    <m:sSub>
                      <m:sSubPr>
                        <m:ctrlPr>
                          <a:rPr lang="vi-VN" i="1">
                            <a:latin typeface="Cambria Math" panose="02040503050406030204" pitchFamily="18" charset="0"/>
                          </a:rPr>
                        </m:ctrlPr>
                      </m:sSubPr>
                      <m:e>
                        <m:r>
                          <a:rPr lang="en-US" i="1">
                            <a:latin typeface="Cambria Math" panose="02040503050406030204" pitchFamily="18" charset="0"/>
                          </a:rPr>
                          <m:t>𝛥</m:t>
                        </m:r>
                      </m:e>
                      <m:sub>
                        <m:r>
                          <a:rPr lang="en-US" i="1">
                            <a:latin typeface="Cambria Math" panose="02040503050406030204" pitchFamily="18" charset="0"/>
                          </a:rPr>
                          <m:t>𝑎</m:t>
                        </m:r>
                      </m:sub>
                    </m:sSub>
                  </m:oMath>
                </a14:m>
                <a:r>
                  <a:rPr lang="en-US"/>
                  <a:t>. Tuy nhiên, ta có thể đánh giá được </a:t>
                </a:r>
                <a14:m>
                  <m:oMath xmlns:m="http://schemas.openxmlformats.org/officeDocument/2006/math">
                    <m:sSub>
                      <m:sSubPr>
                        <m:ctrlPr>
                          <a:rPr lang="vi-VN" i="1">
                            <a:latin typeface="Cambria Math" panose="02040503050406030204" pitchFamily="18" charset="0"/>
                          </a:rPr>
                        </m:ctrlPr>
                      </m:sSubPr>
                      <m:e>
                        <m:r>
                          <a:rPr lang="en-US" i="1">
                            <a:latin typeface="Cambria Math" panose="02040503050406030204" pitchFamily="18" charset="0"/>
                          </a:rPr>
                          <m:t>𝛥</m:t>
                        </m:r>
                      </m:e>
                      <m:sub>
                        <m:r>
                          <a:rPr lang="en-US" i="1">
                            <a:latin typeface="Cambria Math" panose="02040503050406030204" pitchFamily="18" charset="0"/>
                          </a:rPr>
                          <m:t>𝑎</m:t>
                        </m:r>
                      </m:sub>
                    </m:sSub>
                  </m:oMath>
                </a14:m>
                <a:r>
                  <a:rPr lang="en-US"/>
                  <a:t> không vượt quá một số dương </a:t>
                </a:r>
                <a14:m>
                  <m:oMath xmlns:m="http://schemas.openxmlformats.org/officeDocument/2006/math">
                    <m:r>
                      <a:rPr lang="en-US" i="1">
                        <a:latin typeface="Cambria Math" panose="02040503050406030204" pitchFamily="18" charset="0"/>
                      </a:rPr>
                      <m:t>𝑑</m:t>
                    </m:r>
                  </m:oMath>
                </a14:m>
                <a:r>
                  <a:rPr lang="en-US"/>
                  <a:t> nào đó.</a:t>
                </a:r>
                <a:endParaRPr lang="vi-VN"/>
              </a:p>
              <a:p>
                <a:pPr marL="0" indent="0">
                  <a:buNone/>
                </a:pPr>
                <a:r>
                  <a:rPr lang="en-US"/>
                  <a:t>Chẳng hạn, trong HĐ3, ta thấy </a:t>
                </a:r>
                <a14:m>
                  <m:oMath xmlns:m="http://schemas.openxmlformats.org/officeDocument/2006/math">
                    <m:d>
                      <m:dPr>
                        <m:begChr m:val="|"/>
                        <m:endChr m:val="|"/>
                        <m:ctrlPr>
                          <a:rPr lang="vi-VN" i="1">
                            <a:latin typeface="Cambria Math" panose="02040503050406030204" pitchFamily="18" charset="0"/>
                          </a:rPr>
                        </m:ctrlPr>
                      </m:dPr>
                      <m:e>
                        <m:r>
                          <a:rPr lang="en-US" i="1">
                            <a:latin typeface="Cambria Math" panose="02040503050406030204" pitchFamily="18" charset="0"/>
                          </a:rPr>
                          <m:t>13,1−</m:t>
                        </m:r>
                        <m:acc>
                          <m:accPr>
                            <m:chr m:val="̄"/>
                            <m:ctrlPr>
                              <a:rPr lang="vi-VN" i="1">
                                <a:latin typeface="Cambria Math" panose="02040503050406030204" pitchFamily="18" charset="0"/>
                              </a:rPr>
                            </m:ctrlPr>
                          </m:accPr>
                          <m:e>
                            <m:r>
                              <a:rPr lang="en-US" i="1">
                                <a:latin typeface="Cambria Math" panose="02040503050406030204" pitchFamily="18" charset="0"/>
                              </a:rPr>
                              <m:t>𝑎</m:t>
                            </m:r>
                          </m:e>
                        </m:acc>
                      </m:e>
                    </m:d>
                    <m:r>
                      <a:rPr lang="en-US" i="1">
                        <a:latin typeface="Cambria Math" panose="02040503050406030204" pitchFamily="18" charset="0"/>
                      </a:rPr>
                      <m:t>&lt;</m:t>
                    </m:r>
                    <m:d>
                      <m:dPr>
                        <m:begChr m:val="|"/>
                        <m:endChr m:val="|"/>
                        <m:ctrlPr>
                          <a:rPr lang="vi-VN" i="1">
                            <a:latin typeface="Cambria Math" panose="02040503050406030204" pitchFamily="18" charset="0"/>
                          </a:rPr>
                        </m:ctrlPr>
                      </m:dPr>
                      <m:e>
                        <m:r>
                          <a:rPr lang="en-US" i="1">
                            <a:latin typeface="Cambria Math" panose="02040503050406030204" pitchFamily="18" charset="0"/>
                          </a:rPr>
                          <m:t>13,1−13</m:t>
                        </m:r>
                      </m:e>
                    </m:d>
                    <m:r>
                      <a:rPr lang="en-US" i="1">
                        <a:latin typeface="Cambria Math" panose="02040503050406030204" pitchFamily="18" charset="0"/>
                      </a:rPr>
                      <m:t>=0,1</m:t>
                    </m:r>
                    <m:d>
                      <m:dPr>
                        <m:ctrlPr>
                          <a:rPr lang="vi-VN" i="1">
                            <a:latin typeface="Cambria Math" panose="02040503050406030204" pitchFamily="18" charset="0"/>
                          </a:rPr>
                        </m:ctrlPr>
                      </m:dPr>
                      <m:e>
                        <m:r>
                          <m:rPr>
                            <m:nor/>
                          </m:rPr>
                          <a:rPr lang="en-US"/>
                          <m:t>c</m:t>
                        </m:r>
                        <m:sSup>
                          <m:sSupPr>
                            <m:ctrlPr>
                              <a:rPr lang="vi-VN" i="1">
                                <a:latin typeface="Cambria Math" panose="02040503050406030204" pitchFamily="18" charset="0"/>
                              </a:rPr>
                            </m:ctrlPr>
                          </m:sSupPr>
                          <m:e>
                            <m:r>
                              <m:rPr>
                                <m:nor/>
                              </m:rPr>
                              <a:rPr lang="en-US"/>
                              <m:t>m</m:t>
                            </m:r>
                          </m:e>
                          <m:sup>
                            <m:r>
                              <a:rPr lang="en-US" i="1">
                                <a:latin typeface="Cambria Math" panose="02040503050406030204" pitchFamily="18" charset="0"/>
                              </a:rPr>
                              <m:t>3</m:t>
                            </m:r>
                          </m:sup>
                        </m:sSup>
                      </m:e>
                    </m:d>
                  </m:oMath>
                </a14:m>
                <a:r>
                  <a:rPr lang="en-US"/>
                  <a:t>.</a:t>
                </a:r>
                <a:endParaRPr lang="vi-VN"/>
              </a:p>
              <a:p>
                <a:pPr marL="0" indent="0">
                  <a:buNone/>
                </a:pPr>
                <a:r>
                  <a:rPr lang="en-US"/>
                  <a:t>Vậy với </a:t>
                </a:r>
                <a14:m>
                  <m:oMath xmlns:m="http://schemas.openxmlformats.org/officeDocument/2006/math">
                    <m:r>
                      <a:rPr lang="en-US" i="1">
                        <a:latin typeface="Cambria Math" panose="02040503050406030204" pitchFamily="18" charset="0"/>
                      </a:rPr>
                      <m:t>𝑎</m:t>
                    </m:r>
                    <m:r>
                      <a:rPr lang="en-US" i="1">
                        <a:latin typeface="Cambria Math" panose="02040503050406030204" pitchFamily="18" charset="0"/>
                      </a:rPr>
                      <m:t>=13,1</m:t>
                    </m:r>
                    <m:d>
                      <m:dPr>
                        <m:ctrlPr>
                          <a:rPr lang="vi-VN" i="1">
                            <a:latin typeface="Cambria Math" panose="02040503050406030204" pitchFamily="18" charset="0"/>
                          </a:rPr>
                        </m:ctrlPr>
                      </m:dPr>
                      <m:e>
                        <m:r>
                          <m:rPr>
                            <m:nor/>
                          </m:rPr>
                          <a:rPr lang="en-US"/>
                          <m:t>c</m:t>
                        </m:r>
                        <m:sSup>
                          <m:sSupPr>
                            <m:ctrlPr>
                              <a:rPr lang="vi-VN" i="1">
                                <a:latin typeface="Cambria Math" panose="02040503050406030204" pitchFamily="18" charset="0"/>
                              </a:rPr>
                            </m:ctrlPr>
                          </m:sSupPr>
                          <m:e>
                            <m:r>
                              <m:rPr>
                                <m:nor/>
                              </m:rPr>
                              <a:rPr lang="en-US"/>
                              <m:t>m</m:t>
                            </m:r>
                          </m:e>
                          <m:sup>
                            <m:r>
                              <a:rPr lang="en-US" i="1">
                                <a:latin typeface="Cambria Math" panose="02040503050406030204" pitchFamily="18" charset="0"/>
                              </a:rPr>
                              <m:t>3</m:t>
                            </m:r>
                          </m:sup>
                        </m:sSup>
                      </m:e>
                    </m:d>
                  </m:oMath>
                </a14:m>
                <a:r>
                  <a:rPr lang="en-US"/>
                  <a:t>, sai số tuyệt đối của </a:t>
                </a:r>
                <a14:m>
                  <m:oMath xmlns:m="http://schemas.openxmlformats.org/officeDocument/2006/math">
                    <m:r>
                      <a:rPr lang="en-US" i="1">
                        <a:latin typeface="Cambria Math" panose="02040503050406030204" pitchFamily="18" charset="0"/>
                      </a:rPr>
                      <m:t>𝑎</m:t>
                    </m:r>
                  </m:oMath>
                </a14:m>
                <a:r>
                  <a:rPr lang="en-US"/>
                  <a:t> không vượt quá </a:t>
                </a:r>
                <a14:m>
                  <m:oMath xmlns:m="http://schemas.openxmlformats.org/officeDocument/2006/math">
                    <m:r>
                      <a:rPr lang="en-US" i="1">
                        <a:latin typeface="Cambria Math" panose="02040503050406030204" pitchFamily="18" charset="0"/>
                      </a:rPr>
                      <m:t>0,1</m:t>
                    </m:r>
                    <m:r>
                      <m:rPr>
                        <m:nor/>
                      </m:rPr>
                      <a:rPr lang="en-US"/>
                      <m:t>c</m:t>
                    </m:r>
                    <m:sSup>
                      <m:sSupPr>
                        <m:ctrlPr>
                          <a:rPr lang="vi-VN" i="1">
                            <a:latin typeface="Cambria Math" panose="02040503050406030204" pitchFamily="18" charset="0"/>
                          </a:rPr>
                        </m:ctrlPr>
                      </m:sSupPr>
                      <m:e>
                        <m:r>
                          <m:rPr>
                            <m:nor/>
                          </m:rPr>
                          <a:rPr lang="en-US"/>
                          <m:t>m</m:t>
                        </m:r>
                      </m:e>
                      <m:sup>
                        <m:r>
                          <a:rPr lang="en-US" i="1">
                            <a:latin typeface="Cambria Math" panose="02040503050406030204" pitchFamily="18" charset="0"/>
                          </a:rPr>
                          <m:t>3</m:t>
                        </m:r>
                      </m:sup>
                    </m:sSup>
                  </m:oMath>
                </a14:m>
                <a:r>
                  <a:rPr lang="en-US"/>
                  <a:t>.</a:t>
                </a:r>
                <a:endParaRPr lang="vi-VN"/>
              </a:p>
              <a:p>
                <a:pPr marL="0" indent="0">
                  <a:buNone/>
                </a:pPr>
                <a:r>
                  <a:rPr lang="en-US"/>
                  <a:t>Nếu </a:t>
                </a:r>
                <a14:m>
                  <m:oMath xmlns:m="http://schemas.openxmlformats.org/officeDocument/2006/math">
                    <m:sSub>
                      <m:sSubPr>
                        <m:ctrlPr>
                          <a:rPr lang="vi-VN" i="1">
                            <a:latin typeface="Cambria Math" panose="02040503050406030204" pitchFamily="18" charset="0"/>
                          </a:rPr>
                        </m:ctrlPr>
                      </m:sSubPr>
                      <m:e>
                        <m:r>
                          <a:rPr lang="en-US" i="1">
                            <a:latin typeface="Cambria Math" panose="02040503050406030204" pitchFamily="18" charset="0"/>
                          </a:rPr>
                          <m:t>𝛥</m:t>
                        </m:r>
                      </m:e>
                      <m:sub>
                        <m:r>
                          <a:rPr lang="en-US" i="1">
                            <a:latin typeface="Cambria Math" panose="02040503050406030204" pitchFamily="18" charset="0"/>
                          </a:rPr>
                          <m:t>𝑎</m:t>
                        </m:r>
                      </m:sub>
                    </m:sSub>
                    <m:r>
                      <a:rPr lang="en-US" i="1">
                        <a:latin typeface="Cambria Math" panose="02040503050406030204" pitchFamily="18" charset="0"/>
                      </a:rPr>
                      <m:t>≤</m:t>
                    </m:r>
                    <m:r>
                      <a:rPr lang="en-US" i="1">
                        <a:latin typeface="Cambria Math" panose="02040503050406030204" pitchFamily="18" charset="0"/>
                      </a:rPr>
                      <m:t>𝑑</m:t>
                    </m:r>
                  </m:oMath>
                </a14:m>
                <a:r>
                  <a:rPr lang="en-US"/>
                  <a:t> thì </a:t>
                </a:r>
                <a14:m>
                  <m:oMath xmlns:m="http://schemas.openxmlformats.org/officeDocument/2006/math">
                    <m:r>
                      <a:rPr lang="en-US" i="1">
                        <a:latin typeface="Cambria Math" panose="02040503050406030204" pitchFamily="18" charset="0"/>
                      </a:rPr>
                      <m:t>𝑎</m:t>
                    </m:r>
                    <m:r>
                      <a:rPr lang="en-US" i="1">
                        <a:latin typeface="Cambria Math" panose="02040503050406030204" pitchFamily="18" charset="0"/>
                      </a:rPr>
                      <m:t>−</m:t>
                    </m:r>
                    <m:r>
                      <a:rPr lang="en-US" i="1">
                        <a:latin typeface="Cambria Math" panose="02040503050406030204" pitchFamily="18" charset="0"/>
                      </a:rPr>
                      <m:t>𝑑</m:t>
                    </m:r>
                    <m:r>
                      <a:rPr lang="en-US" i="1">
                        <a:latin typeface="Cambria Math" panose="02040503050406030204" pitchFamily="18" charset="0"/>
                      </a:rPr>
                      <m:t>≤</m:t>
                    </m:r>
                    <m:acc>
                      <m:accPr>
                        <m:chr m:val="̄"/>
                        <m:ctrlPr>
                          <a:rPr lang="vi-VN" i="1">
                            <a:latin typeface="Cambria Math" panose="02040503050406030204" pitchFamily="18" charset="0"/>
                          </a:rPr>
                        </m:ctrlPr>
                      </m:accPr>
                      <m:e>
                        <m:r>
                          <a:rPr lang="en-US" i="1">
                            <a:latin typeface="Cambria Math" panose="02040503050406030204" pitchFamily="18" charset="0"/>
                          </a:rPr>
                          <m:t>𝑎</m:t>
                        </m:r>
                      </m:e>
                    </m:acc>
                    <m:r>
                      <a:rPr lang="en-US" i="1">
                        <a:latin typeface="Cambria Math" panose="02040503050406030204" pitchFamily="18" charset="0"/>
                      </a:rPr>
                      <m:t>≤</m:t>
                    </m:r>
                    <m:r>
                      <a:rPr lang="en-US" i="1">
                        <a:latin typeface="Cambria Math" panose="02040503050406030204" pitchFamily="18" charset="0"/>
                      </a:rPr>
                      <m:t>𝑎</m:t>
                    </m:r>
                    <m:r>
                      <a:rPr lang="en-US" i="1">
                        <a:latin typeface="Cambria Math" panose="02040503050406030204" pitchFamily="18" charset="0"/>
                      </a:rPr>
                      <m:t>+</m:t>
                    </m:r>
                    <m:r>
                      <a:rPr lang="en-US" i="1">
                        <a:latin typeface="Cambria Math" panose="02040503050406030204" pitchFamily="18" charset="0"/>
                      </a:rPr>
                      <m:t>𝑑</m:t>
                    </m:r>
                  </m:oMath>
                </a14:m>
                <a:r>
                  <a:rPr lang="en-US"/>
                  <a:t>, khi đó ta viết </a:t>
                </a:r>
                <a14:m>
                  <m:oMath xmlns:m="http://schemas.openxmlformats.org/officeDocument/2006/math">
                    <m:acc>
                      <m:accPr>
                        <m:chr m:val="̄"/>
                        <m:ctrlPr>
                          <a:rPr lang="vi-VN" i="1">
                            <a:latin typeface="Cambria Math" panose="02040503050406030204" pitchFamily="18" charset="0"/>
                          </a:rPr>
                        </m:ctrlPr>
                      </m:accPr>
                      <m:e>
                        <m:r>
                          <a:rPr lang="en-US" i="1">
                            <a:latin typeface="Cambria Math" panose="02040503050406030204" pitchFamily="18" charset="0"/>
                          </a:rPr>
                          <m:t>𝑎</m:t>
                        </m:r>
                      </m:e>
                    </m:acc>
                    <m:r>
                      <a:rPr lang="en-US" i="1">
                        <a:latin typeface="Cambria Math" panose="02040503050406030204" pitchFamily="18" charset="0"/>
                      </a:rPr>
                      <m:t>=</m:t>
                    </m:r>
                    <m:r>
                      <a:rPr lang="en-US" i="1">
                        <a:latin typeface="Cambria Math" panose="02040503050406030204" pitchFamily="18" charset="0"/>
                      </a:rPr>
                      <m:t>𝑎</m:t>
                    </m:r>
                    <m:r>
                      <a:rPr lang="en-US" i="1">
                        <a:latin typeface="Cambria Math" panose="02040503050406030204" pitchFamily="18" charset="0"/>
                      </a:rPr>
                      <m:t>±</m:t>
                    </m:r>
                    <m:r>
                      <a:rPr lang="en-US" i="1">
                        <a:latin typeface="Cambria Math" panose="02040503050406030204" pitchFamily="18" charset="0"/>
                      </a:rPr>
                      <m:t>𝑑</m:t>
                    </m:r>
                  </m:oMath>
                </a14:m>
                <a:r>
                  <a:rPr lang="en-US"/>
                  <a:t> và hiểu là số đúng </a:t>
                </a:r>
                <a14:m>
                  <m:oMath xmlns:m="http://schemas.openxmlformats.org/officeDocument/2006/math">
                    <m:acc>
                      <m:accPr>
                        <m:chr m:val="̄"/>
                        <m:ctrlPr>
                          <a:rPr lang="vi-VN" i="1">
                            <a:latin typeface="Cambria Math" panose="02040503050406030204" pitchFamily="18" charset="0"/>
                          </a:rPr>
                        </m:ctrlPr>
                      </m:accPr>
                      <m:e>
                        <m:r>
                          <a:rPr lang="en-US" i="1">
                            <a:latin typeface="Cambria Math" panose="02040503050406030204" pitchFamily="18" charset="0"/>
                          </a:rPr>
                          <m:t>𝑎</m:t>
                        </m:r>
                      </m:e>
                    </m:acc>
                  </m:oMath>
                </a14:m>
                <a:r>
                  <a:rPr lang="en-US"/>
                  <a:t> nằm trong đoạn </a:t>
                </a:r>
                <a14:m>
                  <m:oMath xmlns:m="http://schemas.openxmlformats.org/officeDocument/2006/math">
                    <m:d>
                      <m:dPr>
                        <m:begChr m:val="["/>
                        <m:endChr m:val="]"/>
                        <m:ctrlPr>
                          <a:rPr lang="vi-VN" i="1">
                            <a:latin typeface="Cambria Math" panose="02040503050406030204" pitchFamily="18" charset="0"/>
                          </a:rPr>
                        </m:ctrlPr>
                      </m:dPr>
                      <m:e>
                        <m:r>
                          <a:rPr lang="en-US" i="1">
                            <a:latin typeface="Cambria Math" panose="02040503050406030204" pitchFamily="18" charset="0"/>
                          </a:rPr>
                          <m:t>𝑎</m:t>
                        </m:r>
                        <m:r>
                          <a:rPr lang="en-US" i="1">
                            <a:latin typeface="Cambria Math" panose="02040503050406030204" pitchFamily="18" charset="0"/>
                          </a:rPr>
                          <m:t>−</m:t>
                        </m:r>
                        <m:r>
                          <a:rPr lang="en-US" i="1">
                            <a:latin typeface="Cambria Math" panose="02040503050406030204" pitchFamily="18" charset="0"/>
                          </a:rPr>
                          <m:t>𝑑</m:t>
                        </m:r>
                        <m:r>
                          <a:rPr lang="en-US" i="1">
                            <a:latin typeface="Cambria Math" panose="02040503050406030204" pitchFamily="18" charset="0"/>
                          </a:rPr>
                          <m:t>;</m:t>
                        </m:r>
                        <m:r>
                          <a:rPr lang="en-US" i="1">
                            <a:latin typeface="Cambria Math" panose="02040503050406030204" pitchFamily="18" charset="0"/>
                          </a:rPr>
                          <m:t>𝑎</m:t>
                        </m:r>
                        <m:r>
                          <a:rPr lang="en-US" i="1">
                            <a:latin typeface="Cambria Math" panose="02040503050406030204" pitchFamily="18" charset="0"/>
                          </a:rPr>
                          <m:t>+</m:t>
                        </m:r>
                        <m:r>
                          <a:rPr lang="en-US" i="1">
                            <a:latin typeface="Cambria Math" panose="02040503050406030204" pitchFamily="18" charset="0"/>
                          </a:rPr>
                          <m:t>𝑑</m:t>
                        </m:r>
                      </m:e>
                    </m:d>
                  </m:oMath>
                </a14:m>
                <a:r>
                  <a:rPr lang="en-US"/>
                  <a:t>. Do </a:t>
                </a:r>
                <a14:m>
                  <m:oMath xmlns:m="http://schemas.openxmlformats.org/officeDocument/2006/math">
                    <m:r>
                      <a:rPr lang="en-US" i="1">
                        <a:latin typeface="Cambria Math" panose="02040503050406030204" pitchFamily="18" charset="0"/>
                      </a:rPr>
                      <m:t>𝑑</m:t>
                    </m:r>
                  </m:oMath>
                </a14:m>
                <a:r>
                  <a:rPr lang="en-US"/>
                  <a:t> càng nhỏ thì </a:t>
                </a:r>
                <a14:m>
                  <m:oMath xmlns:m="http://schemas.openxmlformats.org/officeDocument/2006/math">
                    <m:r>
                      <a:rPr lang="en-US" i="1">
                        <a:latin typeface="Cambria Math" panose="02040503050406030204" pitchFamily="18" charset="0"/>
                      </a:rPr>
                      <m:t>𝑎</m:t>
                    </m:r>
                  </m:oMath>
                </a14:m>
                <a:r>
                  <a:rPr lang="en-US"/>
                  <a:t> càng gần </a:t>
                </a:r>
                <a14:m>
                  <m:oMath xmlns:m="http://schemas.openxmlformats.org/officeDocument/2006/math">
                    <m:acc>
                      <m:accPr>
                        <m:chr m:val="̄"/>
                        <m:ctrlPr>
                          <a:rPr lang="vi-VN" i="1">
                            <a:latin typeface="Cambria Math" panose="02040503050406030204" pitchFamily="18" charset="0"/>
                          </a:rPr>
                        </m:ctrlPr>
                      </m:accPr>
                      <m:e>
                        <m:r>
                          <a:rPr lang="en-US" i="1">
                            <a:latin typeface="Cambria Math" panose="02040503050406030204" pitchFamily="18" charset="0"/>
                          </a:rPr>
                          <m:t>𝑎</m:t>
                        </m:r>
                      </m:e>
                    </m:acc>
                  </m:oMath>
                </a14:m>
                <a:r>
                  <a:rPr lang="en-US"/>
                  <a:t> nên </a:t>
                </a:r>
                <a14:m>
                  <m:oMath xmlns:m="http://schemas.openxmlformats.org/officeDocument/2006/math">
                    <m:r>
                      <a:rPr lang="en-US" i="1">
                        <a:latin typeface="Cambria Math" panose="02040503050406030204" pitchFamily="18" charset="0"/>
                      </a:rPr>
                      <m:t>𝑑</m:t>
                    </m:r>
                  </m:oMath>
                </a14:m>
                <a:r>
                  <a:rPr lang="en-US"/>
                  <a:t> được gọi là độ chính xác của số gần đúng.</a:t>
                </a:r>
                <a:endParaRPr lang="vi-VN"/>
              </a:p>
            </p:txBody>
          </p:sp>
        </mc:Choice>
        <mc:Fallback xmlns="">
          <p:sp>
            <p:nvSpPr>
              <p:cNvPr id="7" name="Content Placeholder 2">
                <a:extLst>
                  <a:ext uri="{FF2B5EF4-FFF2-40B4-BE49-F238E27FC236}">
                    <a16:creationId xmlns:a16="http://schemas.microsoft.com/office/drawing/2014/main" id="{08B49A2E-2A9D-46FD-AE9C-29462A33F0E6}"/>
                  </a:ext>
                </a:extLst>
              </p:cNvPr>
              <p:cNvSpPr txBox="1">
                <a:spLocks noRot="1" noChangeAspect="1" noMove="1" noResize="1" noEditPoints="1" noAdjustHandles="1" noChangeArrowheads="1" noChangeShapeType="1" noTextEdit="1"/>
              </p:cNvSpPr>
              <p:nvPr/>
            </p:nvSpPr>
            <p:spPr>
              <a:xfrm>
                <a:off x="838200" y="5714999"/>
                <a:ext cx="22707600" cy="6896101"/>
              </a:xfrm>
              <a:prstGeom prst="rect">
                <a:avLst/>
              </a:prstGeom>
              <a:blipFill>
                <a:blip r:embed="rId4"/>
                <a:stretch>
                  <a:fillRect l="-1207" t="-2822" r="-402"/>
                </a:stretch>
              </a:blipFill>
              <a:ln>
                <a:solidFill>
                  <a:srgbClr val="00B0F0"/>
                </a:solidFill>
              </a:ln>
            </p:spPr>
            <p:txBody>
              <a:bodyPr/>
              <a:lstStyle/>
              <a:p>
                <a:r>
                  <a:rPr lang="vi-VN">
                    <a:noFill/>
                  </a:rPr>
                  <a:t> </a:t>
                </a:r>
              </a:p>
            </p:txBody>
          </p:sp>
        </mc:Fallback>
      </mc:AlternateContent>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   ·   BÀI 12</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98904716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wipe(up)">
                                      <p:cBhvr>
                                        <p:cTn id="7" dur="500"/>
                                        <p:tgtEl>
                                          <p:spTgt spid="9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99">
                                            <p:txEl>
                                              <p:pRg st="0" end="0"/>
                                            </p:txEl>
                                          </p:spTgt>
                                        </p:tgtEl>
                                        <p:attrNameLst>
                                          <p:attrName>style.visibility</p:attrName>
                                        </p:attrNameLst>
                                      </p:cBhvr>
                                      <p:to>
                                        <p:strVal val="visible"/>
                                      </p:to>
                                    </p:set>
                                    <p:animEffect transition="in" filter="wipe(up)">
                                      <p:cBhvr>
                                        <p:cTn id="12" dur="500"/>
                                        <p:tgtEl>
                                          <p:spTgt spid="9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99">
                                            <p:txEl>
                                              <p:pRg st="1" end="1"/>
                                            </p:txEl>
                                          </p:spTgt>
                                        </p:tgtEl>
                                        <p:attrNameLst>
                                          <p:attrName>style.visibility</p:attrName>
                                        </p:attrNameLst>
                                      </p:cBhvr>
                                      <p:to>
                                        <p:strVal val="visible"/>
                                      </p:to>
                                    </p:set>
                                    <p:animEffect transition="in" filter="wipe(up)">
                                      <p:cBhvr>
                                        <p:cTn id="17" dur="500"/>
                                        <p:tgtEl>
                                          <p:spTgt spid="99">
                                            <p:txEl>
                                              <p:pRg st="1" end="1"/>
                                            </p:txEl>
                                          </p:spTgt>
                                        </p:tgtEl>
                                      </p:cBhvr>
                                    </p:animEffect>
                                  </p:childTnLst>
                                </p:cTn>
                              </p:par>
                            </p:childTnLst>
                          </p:cTn>
                        </p:par>
                        <p:par>
                          <p:cTn id="18" fill="hold">
                            <p:stCondLst>
                              <p:cond delay="500"/>
                            </p:stCondLst>
                            <p:childTnLst>
                              <p:par>
                                <p:cTn id="19" presetID="22" presetClass="entr" presetSubtype="1" fill="hold" grpId="0" nodeType="after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up)">
                                      <p:cBhvr>
                                        <p:cTn id="21" dur="5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7">
                                            <p:txEl>
                                              <p:pRg st="1" end="1"/>
                                            </p:txEl>
                                          </p:spTgt>
                                        </p:tgtEl>
                                        <p:attrNameLst>
                                          <p:attrName>style.visibility</p:attrName>
                                        </p:attrNameLst>
                                      </p:cBhvr>
                                      <p:to>
                                        <p:strVal val="visible"/>
                                      </p:to>
                                    </p:set>
                                    <p:animEffect transition="in" filter="wipe(up)">
                                      <p:cBhvr>
                                        <p:cTn id="26" dur="500"/>
                                        <p:tgtEl>
                                          <p:spTgt spid="7">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7">
                                            <p:txEl>
                                              <p:pRg st="0" end="0"/>
                                            </p:txEl>
                                          </p:spTgt>
                                        </p:tgtEl>
                                        <p:attrNameLst>
                                          <p:attrName>style.visibility</p:attrName>
                                        </p:attrNameLst>
                                      </p:cBhvr>
                                      <p:to>
                                        <p:strVal val="visible"/>
                                      </p:to>
                                    </p:set>
                                    <p:animEffect transition="in" filter="wipe(up)">
                                      <p:cBhvr>
                                        <p:cTn id="31" dur="500"/>
                                        <p:tgtEl>
                                          <p:spTgt spid="7">
                                            <p:txEl>
                                              <p:pRg st="0" end="0"/>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nodeType="clickEffect">
                                  <p:stCondLst>
                                    <p:cond delay="0"/>
                                  </p:stCondLst>
                                  <p:childTnLst>
                                    <p:set>
                                      <p:cBhvr>
                                        <p:cTn id="35" dur="1" fill="hold">
                                          <p:stCondLst>
                                            <p:cond delay="0"/>
                                          </p:stCondLst>
                                        </p:cTn>
                                        <p:tgtEl>
                                          <p:spTgt spid="7">
                                            <p:txEl>
                                              <p:pRg st="2" end="2"/>
                                            </p:txEl>
                                          </p:spTgt>
                                        </p:tgtEl>
                                        <p:attrNameLst>
                                          <p:attrName>style.visibility</p:attrName>
                                        </p:attrNameLst>
                                      </p:cBhvr>
                                      <p:to>
                                        <p:strVal val="visible"/>
                                      </p:to>
                                    </p:set>
                                    <p:animEffect transition="in" filter="wipe(up)">
                                      <p:cBhvr>
                                        <p:cTn id="36" dur="500"/>
                                        <p:tgtEl>
                                          <p:spTgt spid="7">
                                            <p:txEl>
                                              <p:pRg st="2" end="2"/>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nodeType="clickEffect">
                                  <p:stCondLst>
                                    <p:cond delay="0"/>
                                  </p:stCondLst>
                                  <p:childTnLst>
                                    <p:set>
                                      <p:cBhvr>
                                        <p:cTn id="40" dur="1" fill="hold">
                                          <p:stCondLst>
                                            <p:cond delay="0"/>
                                          </p:stCondLst>
                                        </p:cTn>
                                        <p:tgtEl>
                                          <p:spTgt spid="7">
                                            <p:txEl>
                                              <p:pRg st="3" end="3"/>
                                            </p:txEl>
                                          </p:spTgt>
                                        </p:tgtEl>
                                        <p:attrNameLst>
                                          <p:attrName>style.visibility</p:attrName>
                                        </p:attrNameLst>
                                      </p:cBhvr>
                                      <p:to>
                                        <p:strVal val="visible"/>
                                      </p:to>
                                    </p:set>
                                    <p:animEffect transition="in" filter="wipe(up)">
                                      <p:cBhvr>
                                        <p:cTn id="41" dur="500"/>
                                        <p:tgtEl>
                                          <p:spTgt spid="7">
                                            <p:txEl>
                                              <p:pRg st="3" end="3"/>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nodeType="clickEffect">
                                  <p:stCondLst>
                                    <p:cond delay="0"/>
                                  </p:stCondLst>
                                  <p:childTnLst>
                                    <p:set>
                                      <p:cBhvr>
                                        <p:cTn id="45" dur="1" fill="hold">
                                          <p:stCondLst>
                                            <p:cond delay="0"/>
                                          </p:stCondLst>
                                        </p:cTn>
                                        <p:tgtEl>
                                          <p:spTgt spid="7">
                                            <p:txEl>
                                              <p:pRg st="4" end="4"/>
                                            </p:txEl>
                                          </p:spTgt>
                                        </p:tgtEl>
                                        <p:attrNameLst>
                                          <p:attrName>style.visibility</p:attrName>
                                        </p:attrNameLst>
                                      </p:cBhvr>
                                      <p:to>
                                        <p:strVal val="visible"/>
                                      </p:to>
                                    </p:set>
                                    <p:animEffect transition="in" filter="wipe(up)">
                                      <p:cBhvr>
                                        <p:cTn id="46"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40"/>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762000" y="2895600"/>
                <a:ext cx="22936200" cy="4335877"/>
              </a:xfrm>
              <a:prstGeom prst="rect">
                <a:avLst/>
              </a:prstGeom>
              <a:solidFill>
                <a:schemeClr val="accent4">
                  <a:lumMod val="20000"/>
                  <a:lumOff val="80000"/>
                </a:schemeClr>
              </a:solidFill>
              <a:ln>
                <a:solidFill>
                  <a:schemeClr val="accent4">
                    <a:lumMod val="20000"/>
                    <a:lumOff val="80000"/>
                  </a:schemeClr>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a:t>Một công ty sử dụng dây chuyền A để đóng gạo vào bao với khối lượng mong muốn là</a:t>
                </a:r>
                <a14:m>
                  <m:oMath xmlns:m="http://schemas.openxmlformats.org/officeDocument/2006/math">
                    <m:r>
                      <a:rPr lang="en-US" i="1">
                        <a:latin typeface="Cambria Math" panose="02040503050406030204" pitchFamily="18" charset="0"/>
                      </a:rPr>
                      <m:t>5</m:t>
                    </m:r>
                    <m:r>
                      <m:rPr>
                        <m:nor/>
                      </m:rPr>
                      <a:rPr lang="en-US"/>
                      <m:t>kg</m:t>
                    </m:r>
                  </m:oMath>
                </a14:m>
                <a:r>
                  <a:rPr lang="en-US"/>
                  <a:t>. Trên bao bì ghi thông tin khối lượng là </a:t>
                </a:r>
                <a14:m>
                  <m:oMath xmlns:m="http://schemas.openxmlformats.org/officeDocument/2006/math">
                    <m:r>
                      <a:rPr lang="en-US" i="1">
                        <a:latin typeface="Cambria Math" panose="02040503050406030204" pitchFamily="18" charset="0"/>
                      </a:rPr>
                      <m:t>5±0,2</m:t>
                    </m:r>
                    <m:r>
                      <m:rPr>
                        <m:nor/>
                      </m:rPr>
                      <a:rPr lang="en-US"/>
                      <m:t>kg</m:t>
                    </m:r>
                  </m:oMath>
                </a14:m>
                <a:r>
                  <a:rPr lang="en-US"/>
                  <a:t>. Gọi </a:t>
                </a:r>
                <a14:m>
                  <m:oMath xmlns:m="http://schemas.openxmlformats.org/officeDocument/2006/math">
                    <m:acc>
                      <m:accPr>
                        <m:chr m:val="̄"/>
                        <m:ctrlPr>
                          <a:rPr lang="vi-VN" i="1">
                            <a:latin typeface="Cambria Math" panose="02040503050406030204" pitchFamily="18" charset="0"/>
                          </a:rPr>
                        </m:ctrlPr>
                      </m:accPr>
                      <m:e>
                        <m:r>
                          <a:rPr lang="en-US" i="1">
                            <a:latin typeface="Cambria Math" panose="02040503050406030204" pitchFamily="18" charset="0"/>
                          </a:rPr>
                          <m:t>𝑎</m:t>
                        </m:r>
                      </m:e>
                    </m:acc>
                  </m:oMath>
                </a14:m>
                <a:r>
                  <a:rPr lang="en-US"/>
                  <a:t> là khối lượng thực của một bao gạo do dây chuyền </a:t>
                </a:r>
                <a14:m>
                  <m:oMath xmlns:m="http://schemas.openxmlformats.org/officeDocument/2006/math">
                    <m:r>
                      <a:rPr lang="en-US" i="1">
                        <a:latin typeface="Cambria Math" panose="02040503050406030204" pitchFamily="18" charset="0"/>
                      </a:rPr>
                      <m:t>𝐴</m:t>
                    </m:r>
                  </m:oMath>
                </a14:m>
                <a:r>
                  <a:rPr lang="en-US"/>
                  <a:t> đóng gói. </a:t>
                </a:r>
              </a:p>
              <a:p>
                <a:pPr marL="0" indent="0">
                  <a:buNone/>
                </a:pPr>
                <a:r>
                  <a:rPr lang="en-US"/>
                  <a:t>	a) Xác định số đúng, số gần đúng và độ chính xác.</a:t>
                </a:r>
                <a:endParaRPr lang="vi-VN"/>
              </a:p>
              <a:p>
                <a:pPr marL="0" indent="0">
                  <a:buNone/>
                </a:pPr>
                <a:r>
                  <a:rPr lang="en-US"/>
                  <a:t>	b) Giá trị của </a:t>
                </a:r>
                <a14:m>
                  <m:oMath xmlns:m="http://schemas.openxmlformats.org/officeDocument/2006/math">
                    <m:acc>
                      <m:accPr>
                        <m:chr m:val="̄"/>
                        <m:ctrlPr>
                          <a:rPr lang="vi-VN" i="1">
                            <a:latin typeface="Cambria Math" panose="02040503050406030204" pitchFamily="18" charset="0"/>
                          </a:rPr>
                        </m:ctrlPr>
                      </m:accPr>
                      <m:e>
                        <m:r>
                          <a:rPr lang="en-US" i="1">
                            <a:latin typeface="Cambria Math" panose="02040503050406030204" pitchFamily="18" charset="0"/>
                          </a:rPr>
                          <m:t>𝑎</m:t>
                        </m:r>
                      </m:e>
                    </m:acc>
                  </m:oMath>
                </a14:m>
                <a:r>
                  <a:rPr lang="en-US"/>
                  <a:t> nằm trong đoạn nào?</a:t>
                </a:r>
                <a:endParaRPr lang="vi-VN"/>
              </a:p>
            </p:txBody>
          </p:sp>
        </mc:Choice>
        <mc:Fallback xmlns="">
          <p:sp>
            <p:nvSpPr>
              <p:cNvPr id="7" name="Content Placeholder 2">
                <a:extLst>
                  <a:ext uri="{FF2B5EF4-FFF2-40B4-BE49-F238E27FC236}">
                    <a16:creationId xmlns:a16="http://schemas.microsoft.com/office/drawing/2014/main" id="{08B49A2E-2A9D-46FD-AE9C-29462A33F0E6}"/>
                  </a:ext>
                </a:extLst>
              </p:cNvPr>
              <p:cNvSpPr txBox="1">
                <a:spLocks noRot="1" noChangeAspect="1" noMove="1" noResize="1" noEditPoints="1" noAdjustHandles="1" noChangeArrowheads="1" noChangeShapeType="1" noTextEdit="1"/>
              </p:cNvSpPr>
              <p:nvPr/>
            </p:nvSpPr>
            <p:spPr>
              <a:xfrm>
                <a:off x="762000" y="2895600"/>
                <a:ext cx="22936200" cy="4335877"/>
              </a:xfrm>
              <a:prstGeom prst="rect">
                <a:avLst/>
              </a:prstGeom>
              <a:blipFill>
                <a:blip r:embed="rId3"/>
                <a:stretch>
                  <a:fillRect l="-1169" t="-4628" r="-823"/>
                </a:stretch>
              </a:blipFill>
              <a:ln>
                <a:solidFill>
                  <a:schemeClr val="accent4">
                    <a:lumMod val="20000"/>
                    <a:lumOff val="80000"/>
                  </a:schemeClr>
                </a:solidFill>
              </a:ln>
            </p:spPr>
            <p:txBody>
              <a:bodyPr/>
              <a:lstStyle/>
              <a:p>
                <a:r>
                  <a:rPr lang="vi-VN">
                    <a:noFill/>
                  </a:rPr>
                  <a:t> </a:t>
                </a:r>
              </a:p>
            </p:txBody>
          </p:sp>
        </mc:Fallback>
      </mc:AlternateContent>
      <p:grpSp>
        <p:nvGrpSpPr>
          <p:cNvPr id="25" name="Group 24">
            <a:extLst>
              <a:ext uri="{FF2B5EF4-FFF2-40B4-BE49-F238E27FC236}">
                <a16:creationId xmlns:a16="http://schemas.microsoft.com/office/drawing/2014/main" id="{14F91184-2F1F-4A63-BA19-F30231CF2926}"/>
              </a:ext>
            </a:extLst>
          </p:cNvPr>
          <p:cNvGrpSpPr/>
          <p:nvPr/>
        </p:nvGrpSpPr>
        <p:grpSpPr>
          <a:xfrm>
            <a:off x="0" y="2209800"/>
            <a:ext cx="3352800" cy="838200"/>
            <a:chOff x="22440" y="16831"/>
            <a:chExt cx="850471" cy="230002"/>
          </a:xfrm>
        </p:grpSpPr>
        <p:grpSp>
          <p:nvGrpSpPr>
            <p:cNvPr id="26" name="Group 25">
              <a:extLst>
                <a:ext uri="{FF2B5EF4-FFF2-40B4-BE49-F238E27FC236}">
                  <a16:creationId xmlns:a16="http://schemas.microsoft.com/office/drawing/2014/main" id="{32D5B377-1436-4B62-93EA-EE499A946867}"/>
                </a:ext>
              </a:extLst>
            </p:cNvPr>
            <p:cNvGrpSpPr/>
            <p:nvPr/>
          </p:nvGrpSpPr>
          <p:grpSpPr>
            <a:xfrm>
              <a:off x="22440" y="59287"/>
              <a:ext cx="850471" cy="159855"/>
              <a:chOff x="31572" y="60276"/>
              <a:chExt cx="1196628" cy="197828"/>
            </a:xfrm>
          </p:grpSpPr>
          <p:sp>
            <p:nvSpPr>
              <p:cNvPr id="28" name="Arrow: Pentagon 27">
                <a:extLst>
                  <a:ext uri="{FF2B5EF4-FFF2-40B4-BE49-F238E27FC236}">
                    <a16:creationId xmlns:a16="http://schemas.microsoft.com/office/drawing/2014/main" id="{E4D1CBD8-FD8A-4CD6-883A-A4FB5275EBE7}"/>
                  </a:ext>
                </a:extLst>
              </p:cNvPr>
              <p:cNvSpPr/>
              <p:nvPr/>
            </p:nvSpPr>
            <p:spPr>
              <a:xfrm>
                <a:off x="204585" y="62042"/>
                <a:ext cx="1023615" cy="196062"/>
              </a:xfrm>
              <a:prstGeom prst="homePlate">
                <a:avLst/>
              </a:prstGeom>
              <a:solidFill>
                <a:srgbClr val="FCFFEF"/>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06000"/>
                  </a:lnSpc>
                  <a:spcAft>
                    <a:spcPts val="800"/>
                  </a:spcAft>
                </a:pPr>
                <a:r>
                  <a:rPr lang="vi-VN" sz="4800" b="1" kern="1200">
                    <a:solidFill>
                      <a:srgbClr val="0000CC"/>
                    </a:solidFill>
                    <a:effectLst/>
                    <a:ea typeface="Calibri" panose="020F0502020204030204" pitchFamily="34" charset="0"/>
                    <a:cs typeface="Times New Roman" panose="02020603050405020304" pitchFamily="18" charset="0"/>
                  </a:rPr>
                  <a:t> </a:t>
                </a:r>
                <a:endParaRPr lang="vi-VN" sz="48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9" name="Arrow: Chevron 28">
                <a:extLst>
                  <a:ext uri="{FF2B5EF4-FFF2-40B4-BE49-F238E27FC236}">
                    <a16:creationId xmlns:a16="http://schemas.microsoft.com/office/drawing/2014/main" id="{96F898B1-B998-4739-9221-289137EA5FA4}"/>
                  </a:ext>
                </a:extLst>
              </p:cNvPr>
              <p:cNvSpPr/>
              <p:nvPr/>
            </p:nvSpPr>
            <p:spPr>
              <a:xfrm>
                <a:off x="31572" y="60341"/>
                <a:ext cx="162630" cy="196062"/>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4800">
                    <a:effectLst/>
                    <a:latin typeface="Times New Roman" panose="02020603050405020304" pitchFamily="18" charset="0"/>
                    <a:ea typeface="Calibri" panose="020F0502020204030204" pitchFamily="34" charset="0"/>
                    <a:cs typeface="Times New Roman" panose="02020603050405020304" pitchFamily="18" charset="0"/>
                  </a:rPr>
                  <a:t> </a:t>
                </a:r>
                <a:endParaRPr lang="vi-VN" sz="48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0" name="Arrow: Chevron 29">
                <a:extLst>
                  <a:ext uri="{FF2B5EF4-FFF2-40B4-BE49-F238E27FC236}">
                    <a16:creationId xmlns:a16="http://schemas.microsoft.com/office/drawing/2014/main" id="{42018734-1BC0-4113-815C-E6C560AC80B8}"/>
                  </a:ext>
                </a:extLst>
              </p:cNvPr>
              <p:cNvSpPr/>
              <p:nvPr/>
            </p:nvSpPr>
            <p:spPr>
              <a:xfrm>
                <a:off x="116273" y="60276"/>
                <a:ext cx="176766" cy="196062"/>
              </a:xfrm>
              <a:prstGeom prst="chevr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4800">
                    <a:effectLst/>
                    <a:latin typeface="Times New Roman" panose="02020603050405020304" pitchFamily="18" charset="0"/>
                    <a:ea typeface="Calibri" panose="020F0502020204030204" pitchFamily="34" charset="0"/>
                    <a:cs typeface="Times New Roman" panose="02020603050405020304" pitchFamily="18" charset="0"/>
                  </a:rPr>
                  <a:t> </a:t>
                </a:r>
                <a:endParaRPr lang="vi-VN" sz="4800">
                  <a:effectLst/>
                  <a:latin typeface="Times New Roman" panose="02020603050405020304" pitchFamily="18" charset="0"/>
                  <a:ea typeface="Calibri" panose="020F0502020204030204" pitchFamily="34" charset="0"/>
                  <a:cs typeface="Times New Roman" panose="02020603050405020304" pitchFamily="18" charset="0"/>
                </a:endParaRPr>
              </a:p>
            </p:txBody>
          </p:sp>
        </p:grpSp>
        <p:sp>
          <p:nvSpPr>
            <p:cNvPr id="27" name="TextBox 56">
              <a:extLst>
                <a:ext uri="{FF2B5EF4-FFF2-40B4-BE49-F238E27FC236}">
                  <a16:creationId xmlns:a16="http://schemas.microsoft.com/office/drawing/2014/main" id="{B63211C2-C699-4B0C-9934-389DE2ECEED8}"/>
                </a:ext>
              </a:extLst>
            </p:cNvPr>
            <p:cNvSpPr txBox="1"/>
            <p:nvPr/>
          </p:nvSpPr>
          <p:spPr>
            <a:xfrm>
              <a:off x="188148" y="16831"/>
              <a:ext cx="591618" cy="230002"/>
            </a:xfrm>
            <a:prstGeom prst="rect">
              <a:avLst/>
            </a:prstGeom>
            <a:noFill/>
          </p:spPr>
          <p:txBody>
            <a:bodyPr wrap="square">
              <a:noAutofit/>
            </a:bodyPr>
            <a:lstStyle/>
            <a:p>
              <a:pPr>
                <a:lnSpc>
                  <a:spcPct val="107000"/>
                </a:lnSpc>
                <a:spcAft>
                  <a:spcPts val="800"/>
                </a:spcAft>
              </a:pPr>
              <a:r>
                <a:rPr lang="en-US" sz="4800" b="1" kern="1200">
                  <a:solidFill>
                    <a:srgbClr val="0000CC"/>
                  </a:solidFill>
                  <a:effectLst/>
                  <a:latin typeface="Calibri" panose="020F0502020204030204" pitchFamily="34" charset="0"/>
                  <a:ea typeface="Calibri" panose="020F0502020204030204" pitchFamily="34" charset="0"/>
                  <a:cs typeface="Times New Roman" panose="02020603050405020304" pitchFamily="18" charset="0"/>
                </a:rPr>
                <a:t>Ví dụ 2.</a:t>
              </a:r>
              <a:endParaRPr lang="vi-VN" sz="4800">
                <a:effectLst/>
                <a:latin typeface="Times New Roman" panose="02020603050405020304" pitchFamily="18" charset="0"/>
                <a:ea typeface="Calibri" panose="020F0502020204030204" pitchFamily="34" charset="0"/>
                <a:cs typeface="Times New Roman" panose="02020603050405020304" pitchFamily="18" charset="0"/>
              </a:endParaRPr>
            </a:p>
          </p:txBody>
        </p:sp>
      </p:grpSp>
      <p:pic>
        <p:nvPicPr>
          <p:cNvPr id="12" name="Picture 11">
            <a:extLst>
              <a:ext uri="{FF2B5EF4-FFF2-40B4-BE49-F238E27FC236}">
                <a16:creationId xmlns:a16="http://schemas.microsoft.com/office/drawing/2014/main" id="{59F7B93F-E70A-4665-B7DF-3BDEBC40D3D4}"/>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19717512" y="8073438"/>
            <a:ext cx="3886200" cy="4038600"/>
          </a:xfrm>
          <a:prstGeom prst="rect">
            <a:avLst/>
          </a:prstGeom>
        </p:spPr>
      </p:pic>
      <mc:AlternateContent xmlns:mc="http://schemas.openxmlformats.org/markup-compatibility/2006" xmlns:a14="http://schemas.microsoft.com/office/drawing/2010/main">
        <mc:Choice Requires="a14">
          <p:sp>
            <p:nvSpPr>
              <p:cNvPr id="13" name="Content Placeholder 2">
                <a:extLst>
                  <a:ext uri="{FF2B5EF4-FFF2-40B4-BE49-F238E27FC236}">
                    <a16:creationId xmlns:a16="http://schemas.microsoft.com/office/drawing/2014/main" id="{65E2262F-1773-4135-82F5-AADBCE3D155D}"/>
                  </a:ext>
                </a:extLst>
              </p:cNvPr>
              <p:cNvSpPr txBox="1">
                <a:spLocks/>
              </p:cNvSpPr>
              <p:nvPr/>
            </p:nvSpPr>
            <p:spPr>
              <a:xfrm>
                <a:off x="762000" y="7924800"/>
                <a:ext cx="18592800" cy="4335877"/>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gn="ctr">
                  <a:buNone/>
                </a:pPr>
                <a:r>
                  <a:rPr lang="en-US" b="1">
                    <a:solidFill>
                      <a:srgbClr val="FF0000"/>
                    </a:solidFill>
                  </a:rPr>
                  <a:t>Giải:</a:t>
                </a:r>
                <a:endParaRPr lang="vi-VN">
                  <a:solidFill>
                    <a:srgbClr val="FF0000"/>
                  </a:solidFill>
                </a:endParaRPr>
              </a:p>
              <a:p>
                <a:pPr marL="0" indent="0">
                  <a:buNone/>
                </a:pPr>
                <a:r>
                  <a:rPr lang="en-US"/>
                  <a:t>a) Khối lượng thực của bao gạo </a:t>
                </a:r>
                <a14:m>
                  <m:oMath xmlns:m="http://schemas.openxmlformats.org/officeDocument/2006/math">
                    <m:acc>
                      <m:accPr>
                        <m:chr m:val="̄"/>
                        <m:ctrlPr>
                          <a:rPr lang="vi-VN" i="1">
                            <a:latin typeface="Cambria Math" panose="02040503050406030204" pitchFamily="18" charset="0"/>
                          </a:rPr>
                        </m:ctrlPr>
                      </m:accPr>
                      <m:e>
                        <m:r>
                          <a:rPr lang="en-US" i="1">
                            <a:latin typeface="Cambria Math" panose="02040503050406030204" pitchFamily="18" charset="0"/>
                          </a:rPr>
                          <m:t>𝑎</m:t>
                        </m:r>
                      </m:e>
                    </m:acc>
                  </m:oMath>
                </a14:m>
                <a:r>
                  <a:rPr lang="en-US"/>
                  <a:t> là số đúng. Tuy không biết </a:t>
                </a:r>
                <a14:m>
                  <m:oMath xmlns:m="http://schemas.openxmlformats.org/officeDocument/2006/math">
                    <m:acc>
                      <m:accPr>
                        <m:chr m:val="̄"/>
                        <m:ctrlPr>
                          <a:rPr lang="vi-VN" i="1">
                            <a:latin typeface="Cambria Math" panose="02040503050406030204" pitchFamily="18" charset="0"/>
                          </a:rPr>
                        </m:ctrlPr>
                      </m:accPr>
                      <m:e>
                        <m:r>
                          <a:rPr lang="en-US" i="1">
                            <a:latin typeface="Cambria Math" panose="02040503050406030204" pitchFamily="18" charset="0"/>
                          </a:rPr>
                          <m:t>𝑎</m:t>
                        </m:r>
                      </m:e>
                    </m:acc>
                  </m:oMath>
                </a14:m>
                <a:r>
                  <a:rPr lang="en-US"/>
                  <a:t> nhưng ta xem khối lượng bao gạo là </a:t>
                </a:r>
                <a14:m>
                  <m:oMath xmlns:m="http://schemas.openxmlformats.org/officeDocument/2006/math">
                    <m:r>
                      <a:rPr lang="en-US" i="1">
                        <a:latin typeface="Cambria Math" panose="02040503050406030204" pitchFamily="18" charset="0"/>
                      </a:rPr>
                      <m:t>5</m:t>
                    </m:r>
                    <m:r>
                      <m:rPr>
                        <m:nor/>
                      </m:rPr>
                      <a:rPr lang="en-US"/>
                      <m:t>kg</m:t>
                    </m:r>
                  </m:oMath>
                </a14:m>
                <a:r>
                  <a:rPr lang="en-US"/>
                  <a:t> nên 5 là số gần đúng cho </a:t>
                </a:r>
                <a14:m>
                  <m:oMath xmlns:m="http://schemas.openxmlformats.org/officeDocument/2006/math">
                    <m:acc>
                      <m:accPr>
                        <m:chr m:val="̄"/>
                        <m:ctrlPr>
                          <a:rPr lang="vi-VN" i="1">
                            <a:latin typeface="Cambria Math" panose="02040503050406030204" pitchFamily="18" charset="0"/>
                          </a:rPr>
                        </m:ctrlPr>
                      </m:accPr>
                      <m:e>
                        <m:r>
                          <a:rPr lang="en-US" i="1">
                            <a:latin typeface="Cambria Math" panose="02040503050406030204" pitchFamily="18" charset="0"/>
                          </a:rPr>
                          <m:t>𝑎</m:t>
                        </m:r>
                      </m:e>
                    </m:acc>
                  </m:oMath>
                </a14:m>
                <a:r>
                  <a:rPr lang="en-US"/>
                  <a:t>. Độ chính xác là </a:t>
                </a:r>
                <a14:m>
                  <m:oMath xmlns:m="http://schemas.openxmlformats.org/officeDocument/2006/math">
                    <m:r>
                      <a:rPr lang="en-US" i="1">
                        <a:latin typeface="Cambria Math" panose="02040503050406030204" pitchFamily="18" charset="0"/>
                      </a:rPr>
                      <m:t>𝑑</m:t>
                    </m:r>
                    <m:r>
                      <a:rPr lang="en-US" i="1">
                        <a:latin typeface="Cambria Math" panose="02040503050406030204" pitchFamily="18" charset="0"/>
                      </a:rPr>
                      <m:t>=0,2</m:t>
                    </m:r>
                    <m:d>
                      <m:dPr>
                        <m:ctrlPr>
                          <a:rPr lang="vi-VN" i="1">
                            <a:latin typeface="Cambria Math" panose="02040503050406030204" pitchFamily="18" charset="0"/>
                          </a:rPr>
                        </m:ctrlPr>
                      </m:dPr>
                      <m:e>
                        <m:r>
                          <m:rPr>
                            <m:nor/>
                          </m:rPr>
                          <a:rPr lang="en-US"/>
                          <m:t>kg</m:t>
                        </m:r>
                      </m:e>
                    </m:d>
                  </m:oMath>
                </a14:m>
                <a:r>
                  <a:rPr lang="en-US"/>
                  <a:t>.</a:t>
                </a:r>
                <a:endParaRPr lang="vi-VN"/>
              </a:p>
              <a:p>
                <a:pPr marL="0" indent="0">
                  <a:buNone/>
                </a:pPr>
                <a:r>
                  <a:rPr lang="en-US"/>
                  <a:t>b) Giá trị của </a:t>
                </a:r>
                <a14:m>
                  <m:oMath xmlns:m="http://schemas.openxmlformats.org/officeDocument/2006/math">
                    <m:acc>
                      <m:accPr>
                        <m:chr m:val="̄"/>
                        <m:ctrlPr>
                          <a:rPr lang="vi-VN" i="1">
                            <a:latin typeface="Cambria Math" panose="02040503050406030204" pitchFamily="18" charset="0"/>
                          </a:rPr>
                        </m:ctrlPr>
                      </m:accPr>
                      <m:e>
                        <m:r>
                          <a:rPr lang="en-US" i="1">
                            <a:latin typeface="Cambria Math" panose="02040503050406030204" pitchFamily="18" charset="0"/>
                          </a:rPr>
                          <m:t>𝑎</m:t>
                        </m:r>
                      </m:e>
                    </m:acc>
                  </m:oMath>
                </a14:m>
                <a:r>
                  <a:rPr lang="en-US"/>
                  <a:t> nằm trong đoạn </a:t>
                </a:r>
                <a14:m>
                  <m:oMath xmlns:m="http://schemas.openxmlformats.org/officeDocument/2006/math">
                    <m:d>
                      <m:dPr>
                        <m:begChr m:val="["/>
                        <m:endChr m:val="]"/>
                        <m:ctrlPr>
                          <a:rPr lang="vi-VN" i="1">
                            <a:latin typeface="Cambria Math" panose="02040503050406030204" pitchFamily="18" charset="0"/>
                          </a:rPr>
                        </m:ctrlPr>
                      </m:dPr>
                      <m:e>
                        <m:r>
                          <a:rPr lang="en-US" i="1">
                            <a:latin typeface="Cambria Math" panose="02040503050406030204" pitchFamily="18" charset="0"/>
                          </a:rPr>
                          <m:t>5−0,2;5+0,2</m:t>
                        </m:r>
                      </m:e>
                    </m:d>
                  </m:oMath>
                </a14:m>
                <a:r>
                  <a:rPr lang="en-US"/>
                  <a:t> hay </a:t>
                </a:r>
                <a14:m>
                  <m:oMath xmlns:m="http://schemas.openxmlformats.org/officeDocument/2006/math">
                    <m:d>
                      <m:dPr>
                        <m:begChr m:val="["/>
                        <m:endChr m:val="]"/>
                        <m:ctrlPr>
                          <a:rPr lang="vi-VN" i="1">
                            <a:latin typeface="Cambria Math" panose="02040503050406030204" pitchFamily="18" charset="0"/>
                          </a:rPr>
                        </m:ctrlPr>
                      </m:dPr>
                      <m:e>
                        <m:r>
                          <a:rPr lang="en-US" i="1">
                            <a:latin typeface="Cambria Math" panose="02040503050406030204" pitchFamily="18" charset="0"/>
                          </a:rPr>
                          <m:t>4,8;5,2</m:t>
                        </m:r>
                      </m:e>
                    </m:d>
                  </m:oMath>
                </a14:m>
                <a:r>
                  <a:rPr lang="en-US"/>
                  <a:t>.</a:t>
                </a:r>
                <a:endParaRPr lang="vi-VN"/>
              </a:p>
            </p:txBody>
          </p:sp>
        </mc:Choice>
        <mc:Fallback xmlns="">
          <p:sp>
            <p:nvSpPr>
              <p:cNvPr id="13" name="Content Placeholder 2">
                <a:extLst>
                  <a:ext uri="{FF2B5EF4-FFF2-40B4-BE49-F238E27FC236}">
                    <a16:creationId xmlns:a16="http://schemas.microsoft.com/office/drawing/2014/main" id="{65E2262F-1773-4135-82F5-AADBCE3D155D}"/>
                  </a:ext>
                </a:extLst>
              </p:cNvPr>
              <p:cNvSpPr txBox="1">
                <a:spLocks noRot="1" noChangeAspect="1" noMove="1" noResize="1" noEditPoints="1" noAdjustHandles="1" noChangeArrowheads="1" noChangeShapeType="1" noTextEdit="1"/>
              </p:cNvSpPr>
              <p:nvPr/>
            </p:nvSpPr>
            <p:spPr>
              <a:xfrm>
                <a:off x="762000" y="7924800"/>
                <a:ext cx="18592800" cy="4335877"/>
              </a:xfrm>
              <a:prstGeom prst="rect">
                <a:avLst/>
              </a:prstGeom>
              <a:blipFill>
                <a:blip r:embed="rId5"/>
                <a:stretch>
                  <a:fillRect l="-1442" t="-4628" r="-1671"/>
                </a:stretch>
              </a:blipFill>
              <a:ln>
                <a:solidFill>
                  <a:srgbClr val="00B0F0"/>
                </a:solidFill>
              </a:ln>
            </p:spPr>
            <p:txBody>
              <a:bodyPr/>
              <a:lstStyle/>
              <a:p>
                <a:r>
                  <a:rPr lang="vi-VN">
                    <a:noFill/>
                  </a:rPr>
                  <a:t> </a:t>
                </a:r>
              </a:p>
            </p:txBody>
          </p:sp>
        </mc:Fallback>
      </mc:AlternateContent>
      <p:sp>
        <p:nvSpPr>
          <p:cNvPr id="42" name="Rounded Rectangle 41"/>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   ·   BÀI 12</a:t>
            </a:r>
          </a:p>
        </p:txBody>
      </p:sp>
      <p:sp>
        <p:nvSpPr>
          <p:cNvPr id="46" name="TextBox 45"/>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36577628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up)">
                                      <p:cBhvr>
                                        <p:cTn id="11" dur="500"/>
                                        <p:tgtEl>
                                          <p:spTgt spid="7">
                                            <p:txEl>
                                              <p:pRg st="0" end="0"/>
                                            </p:txEl>
                                          </p:spTgt>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animEffect transition="in" filter="wipe(up)">
                                      <p:cBhvr>
                                        <p:cTn id="15" dur="500"/>
                                        <p:tgtEl>
                                          <p:spTgt spid="7">
                                            <p:txEl>
                                              <p:pRg st="1" end="1"/>
                                            </p:txEl>
                                          </p:spTgt>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Effect transition="in" filter="wipe(up)">
                                      <p:cBhvr>
                                        <p:cTn id="19" dur="500"/>
                                        <p:tgtEl>
                                          <p:spTgt spid="7">
                                            <p:txEl>
                                              <p:pRg st="2" end="2"/>
                                            </p:txEl>
                                          </p:spTgt>
                                        </p:tgtEl>
                                      </p:cBhvr>
                                    </p:animEffect>
                                  </p:childTnLst>
                                </p:cTn>
                              </p:par>
                            </p:childTnLst>
                          </p:cTn>
                        </p:par>
                        <p:par>
                          <p:cTn id="20" fill="hold">
                            <p:stCondLst>
                              <p:cond delay="2000"/>
                            </p:stCondLst>
                            <p:childTnLst>
                              <p:par>
                                <p:cTn id="21" presetID="1" presetClass="entr" presetSubtype="0" fill="hold" nodeType="after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par>
                          <p:cTn id="23" fill="hold">
                            <p:stCondLst>
                              <p:cond delay="2000"/>
                            </p:stCondLst>
                            <p:childTnLst>
                              <p:par>
                                <p:cTn id="24" presetID="22" presetClass="entr" presetSubtype="1" fill="hold" grpId="0" nodeType="after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wipe(up)">
                                      <p:cBhvr>
                                        <p:cTn id="26" dur="500"/>
                                        <p:tgtEl>
                                          <p:spTgt spid="13"/>
                                        </p:tgtEl>
                                      </p:cBhvr>
                                    </p:animEffect>
                                  </p:childTnLst>
                                </p:cTn>
                              </p:par>
                            </p:childTnLst>
                          </p:cTn>
                        </p:par>
                        <p:par>
                          <p:cTn id="27" fill="hold">
                            <p:stCondLst>
                              <p:cond delay="2500"/>
                            </p:stCondLst>
                            <p:childTnLst>
                              <p:par>
                                <p:cTn id="28" presetID="22" presetClass="entr" presetSubtype="1" fill="hold" nodeType="afterEffect">
                                  <p:stCondLst>
                                    <p:cond delay="0"/>
                                  </p:stCondLst>
                                  <p:childTnLst>
                                    <p:set>
                                      <p:cBhvr>
                                        <p:cTn id="29" dur="1" fill="hold">
                                          <p:stCondLst>
                                            <p:cond delay="0"/>
                                          </p:stCondLst>
                                        </p:cTn>
                                        <p:tgtEl>
                                          <p:spTgt spid="13">
                                            <p:txEl>
                                              <p:pRg st="0" end="0"/>
                                            </p:txEl>
                                          </p:spTgt>
                                        </p:tgtEl>
                                        <p:attrNameLst>
                                          <p:attrName>style.visibility</p:attrName>
                                        </p:attrNameLst>
                                      </p:cBhvr>
                                      <p:to>
                                        <p:strVal val="visible"/>
                                      </p:to>
                                    </p:set>
                                    <p:animEffect transition="in" filter="wipe(up)">
                                      <p:cBhvr>
                                        <p:cTn id="30" dur="500"/>
                                        <p:tgtEl>
                                          <p:spTgt spid="13">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nodeType="clickEffect">
                                  <p:stCondLst>
                                    <p:cond delay="0"/>
                                  </p:stCondLst>
                                  <p:childTnLst>
                                    <p:set>
                                      <p:cBhvr>
                                        <p:cTn id="34" dur="1" fill="hold">
                                          <p:stCondLst>
                                            <p:cond delay="0"/>
                                          </p:stCondLst>
                                        </p:cTn>
                                        <p:tgtEl>
                                          <p:spTgt spid="13">
                                            <p:txEl>
                                              <p:pRg st="1" end="1"/>
                                            </p:txEl>
                                          </p:spTgt>
                                        </p:tgtEl>
                                        <p:attrNameLst>
                                          <p:attrName>style.visibility</p:attrName>
                                        </p:attrNameLst>
                                      </p:cBhvr>
                                      <p:to>
                                        <p:strVal val="visible"/>
                                      </p:to>
                                    </p:set>
                                    <p:animEffect transition="in" filter="wipe(up)">
                                      <p:cBhvr>
                                        <p:cTn id="35" dur="500"/>
                                        <p:tgtEl>
                                          <p:spTgt spid="13">
                                            <p:txEl>
                                              <p:pRg st="1" end="1"/>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nodeType="clickEffect">
                                  <p:stCondLst>
                                    <p:cond delay="0"/>
                                  </p:stCondLst>
                                  <p:childTnLst>
                                    <p:set>
                                      <p:cBhvr>
                                        <p:cTn id="39" dur="1" fill="hold">
                                          <p:stCondLst>
                                            <p:cond delay="0"/>
                                          </p:stCondLst>
                                        </p:cTn>
                                        <p:tgtEl>
                                          <p:spTgt spid="13">
                                            <p:txEl>
                                              <p:pRg st="2" end="2"/>
                                            </p:txEl>
                                          </p:spTgt>
                                        </p:tgtEl>
                                        <p:attrNameLst>
                                          <p:attrName>style.visibility</p:attrName>
                                        </p:attrNameLst>
                                      </p:cBhvr>
                                      <p:to>
                                        <p:strVal val="visible"/>
                                      </p:to>
                                    </p:set>
                                    <p:animEffect transition="in" filter="wipe(up)">
                                      <p:cBhvr>
                                        <p:cTn id="40" dur="500"/>
                                        <p:tgtEl>
                                          <p:spTgt spid="1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533400" y="5359774"/>
                <a:ext cx="23518091" cy="6527426"/>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gn="ctr">
                  <a:buNone/>
                </a:pPr>
                <a:r>
                  <a:rPr lang="en-US" b="1">
                    <a:solidFill>
                      <a:srgbClr val="FF0000"/>
                    </a:solidFill>
                  </a:rPr>
                  <a:t>Giải</a:t>
                </a:r>
                <a:endParaRPr lang="vi-VN">
                  <a:solidFill>
                    <a:srgbClr val="FF0000"/>
                  </a:solidFill>
                </a:endParaRPr>
              </a:p>
              <a:p>
                <a:pPr marL="0" indent="0">
                  <a:buNone/>
                </a:pPr>
                <a:r>
                  <a:rPr lang="en-US"/>
                  <a:t>Đường kính thực của nhân tế bào </a:t>
                </a:r>
                <a14:m>
                  <m:oMath xmlns:m="http://schemas.openxmlformats.org/officeDocument/2006/math">
                    <m:acc>
                      <m:accPr>
                        <m:chr m:val="̄"/>
                        <m:ctrlPr>
                          <a:rPr lang="vi-VN" i="1">
                            <a:latin typeface="Cambria Math" panose="02040503050406030204" pitchFamily="18" charset="0"/>
                          </a:rPr>
                        </m:ctrlPr>
                      </m:accPr>
                      <m:e>
                        <m:r>
                          <a:rPr lang="en-US" i="1">
                            <a:latin typeface="Cambria Math" panose="02040503050406030204" pitchFamily="18" charset="0"/>
                          </a:rPr>
                          <m:t>𝑎</m:t>
                        </m:r>
                      </m:e>
                    </m:acc>
                  </m:oMath>
                </a14:m>
                <a:r>
                  <a:rPr lang="en-US"/>
                  <a:t> là số đúng. Tuy không biết </a:t>
                </a:r>
                <a14:m>
                  <m:oMath xmlns:m="http://schemas.openxmlformats.org/officeDocument/2006/math">
                    <m:acc>
                      <m:accPr>
                        <m:chr m:val="̄"/>
                        <m:ctrlPr>
                          <a:rPr lang="vi-VN" i="1">
                            <a:latin typeface="Cambria Math" panose="02040503050406030204" pitchFamily="18" charset="0"/>
                          </a:rPr>
                        </m:ctrlPr>
                      </m:accPr>
                      <m:e>
                        <m:r>
                          <a:rPr lang="en-US" i="1">
                            <a:latin typeface="Cambria Math" panose="02040503050406030204" pitchFamily="18" charset="0"/>
                          </a:rPr>
                          <m:t>𝑎</m:t>
                        </m:r>
                      </m:e>
                    </m:acc>
                  </m:oMath>
                </a14:m>
                <a:r>
                  <a:rPr lang="en-US"/>
                  <a:t> nhưng ta xem đường kính thực của nhân tế bào là </a:t>
                </a:r>
                <a14:m>
                  <m:oMath xmlns:m="http://schemas.openxmlformats.org/officeDocument/2006/math">
                    <m:r>
                      <a:rPr lang="en-US" i="1">
                        <a:latin typeface="Cambria Math" panose="02040503050406030204" pitchFamily="18" charset="0"/>
                      </a:rPr>
                      <m:t>5</m:t>
                    </m:r>
                    <m:r>
                      <m:rPr>
                        <m:nor/>
                      </m:rPr>
                      <a:rPr lang="en-US"/>
                      <m:t>μmm</m:t>
                    </m:r>
                  </m:oMath>
                </a14:m>
                <a:r>
                  <a:rPr lang="en-US"/>
                  <a:t> nên 5 là số gần đúng cho </a:t>
                </a:r>
                <a14:m>
                  <m:oMath xmlns:m="http://schemas.openxmlformats.org/officeDocument/2006/math">
                    <m:acc>
                      <m:accPr>
                        <m:chr m:val="̄"/>
                        <m:ctrlPr>
                          <a:rPr lang="vi-VN" i="1">
                            <a:latin typeface="Cambria Math" panose="02040503050406030204" pitchFamily="18" charset="0"/>
                          </a:rPr>
                        </m:ctrlPr>
                      </m:accPr>
                      <m:e>
                        <m:r>
                          <a:rPr lang="en-US" i="1">
                            <a:latin typeface="Cambria Math" panose="02040503050406030204" pitchFamily="18" charset="0"/>
                          </a:rPr>
                          <m:t>𝑎</m:t>
                        </m:r>
                      </m:e>
                    </m:acc>
                  </m:oMath>
                </a14:m>
                <a:r>
                  <a:rPr lang="en-US"/>
                  <a:t>. Độ chính xác là </a:t>
                </a:r>
                <a14:m>
                  <m:oMath xmlns:m="http://schemas.openxmlformats.org/officeDocument/2006/math">
                    <m:r>
                      <a:rPr lang="en-US" i="1">
                        <a:latin typeface="Cambria Math" panose="02040503050406030204" pitchFamily="18" charset="0"/>
                      </a:rPr>
                      <m:t>𝑑</m:t>
                    </m:r>
                    <m:r>
                      <a:rPr lang="en-US" i="1">
                        <a:latin typeface="Cambria Math" panose="02040503050406030204" pitchFamily="18" charset="0"/>
                      </a:rPr>
                      <m:t>=0,3</m:t>
                    </m:r>
                    <m:d>
                      <m:dPr>
                        <m:ctrlPr>
                          <a:rPr lang="vi-VN" i="1">
                            <a:latin typeface="Cambria Math" panose="02040503050406030204" pitchFamily="18" charset="0"/>
                          </a:rPr>
                        </m:ctrlPr>
                      </m:dPr>
                      <m:e>
                        <m:r>
                          <m:rPr>
                            <m:nor/>
                          </m:rPr>
                          <a:rPr lang="en-US"/>
                          <m:t>μmm</m:t>
                        </m:r>
                      </m:e>
                    </m:d>
                  </m:oMath>
                </a14:m>
                <a:r>
                  <a:rPr lang="en-US"/>
                  <a:t>.</a:t>
                </a:r>
                <a:endParaRPr lang="vi-VN"/>
              </a:p>
              <a:p>
                <a:pPr marL="0" indent="0">
                  <a:buNone/>
                </a:pPr>
                <a:r>
                  <a:rPr lang="en-US"/>
                  <a:t>Vaayj Giá trị của </a:t>
                </a:r>
                <a14:m>
                  <m:oMath xmlns:m="http://schemas.openxmlformats.org/officeDocument/2006/math">
                    <m:acc>
                      <m:accPr>
                        <m:chr m:val="̄"/>
                        <m:ctrlPr>
                          <a:rPr lang="vi-VN" i="1">
                            <a:latin typeface="Cambria Math" panose="02040503050406030204" pitchFamily="18" charset="0"/>
                          </a:rPr>
                        </m:ctrlPr>
                      </m:accPr>
                      <m:e>
                        <m:r>
                          <a:rPr lang="en-US" i="1">
                            <a:latin typeface="Cambria Math" panose="02040503050406030204" pitchFamily="18" charset="0"/>
                          </a:rPr>
                          <m:t>𝑎</m:t>
                        </m:r>
                      </m:e>
                    </m:acc>
                  </m:oMath>
                </a14:m>
                <a:r>
                  <a:rPr lang="en-US"/>
                  <a:t> nằm trong đoạn </a:t>
                </a:r>
                <a14:m>
                  <m:oMath xmlns:m="http://schemas.openxmlformats.org/officeDocument/2006/math">
                    <m:d>
                      <m:dPr>
                        <m:begChr m:val="["/>
                        <m:endChr m:val="]"/>
                        <m:ctrlPr>
                          <a:rPr lang="vi-VN" i="1">
                            <a:latin typeface="Cambria Math" panose="02040503050406030204" pitchFamily="18" charset="0"/>
                          </a:rPr>
                        </m:ctrlPr>
                      </m:dPr>
                      <m:e>
                        <m:r>
                          <a:rPr lang="en-US" i="1">
                            <a:latin typeface="Cambria Math" panose="02040503050406030204" pitchFamily="18" charset="0"/>
                          </a:rPr>
                          <m:t>5−0,3;5+0,3</m:t>
                        </m:r>
                      </m:e>
                    </m:d>
                  </m:oMath>
                </a14:m>
                <a:r>
                  <a:rPr lang="en-US"/>
                  <a:t> hay </a:t>
                </a:r>
                <a14:m>
                  <m:oMath xmlns:m="http://schemas.openxmlformats.org/officeDocument/2006/math">
                    <m:d>
                      <m:dPr>
                        <m:begChr m:val="["/>
                        <m:endChr m:val="]"/>
                        <m:ctrlPr>
                          <a:rPr lang="vi-VN" i="1">
                            <a:latin typeface="Cambria Math" panose="02040503050406030204" pitchFamily="18" charset="0"/>
                          </a:rPr>
                        </m:ctrlPr>
                      </m:dPr>
                      <m:e>
                        <m:r>
                          <a:rPr lang="en-US" i="1">
                            <a:latin typeface="Cambria Math" panose="02040503050406030204" pitchFamily="18" charset="0"/>
                          </a:rPr>
                          <m:t>4,7;5,3</m:t>
                        </m:r>
                      </m:e>
                    </m:d>
                  </m:oMath>
                </a14:m>
                <a:r>
                  <a:rPr lang="en-US"/>
                  <a:t>.</a:t>
                </a:r>
                <a:endParaRPr lang="vi-VN"/>
              </a:p>
              <a:p>
                <a:pPr marL="0" indent="0">
                  <a:buNone/>
                </a:pPr>
                <a:r>
                  <a:rPr lang="en-US"/>
                  <a:t>Chú ý. Trong các phép đo, độ chính xác </a:t>
                </a:r>
                <a14:m>
                  <m:oMath xmlns:m="http://schemas.openxmlformats.org/officeDocument/2006/math">
                    <m:r>
                      <a:rPr lang="en-US" i="1">
                        <a:latin typeface="Cambria Math" panose="02040503050406030204" pitchFamily="18" charset="0"/>
                      </a:rPr>
                      <m:t>𝑑</m:t>
                    </m:r>
                  </m:oMath>
                </a14:m>
                <a:r>
                  <a:rPr lang="en-US"/>
                  <a:t> của số gần đúng bằng một nửa đơn vị của thước đo. Chẳng hạn, một thước đo có chia vạch đến xentimét thì mọi giá trị đo nằm giữa </a:t>
                </a:r>
                <a14:m>
                  <m:oMath xmlns:m="http://schemas.openxmlformats.org/officeDocument/2006/math">
                    <m:r>
                      <a:rPr lang="en-US" i="1">
                        <a:latin typeface="Cambria Math" panose="02040503050406030204" pitchFamily="18" charset="0"/>
                      </a:rPr>
                      <m:t>6,5</m:t>
                    </m:r>
                    <m:r>
                      <m:rPr>
                        <m:nor/>
                      </m:rPr>
                      <a:rPr lang="en-US"/>
                      <m:t>cm</m:t>
                    </m:r>
                  </m:oMath>
                </a14:m>
                <a:r>
                  <a:rPr lang="en-US"/>
                  <a:t> và </a:t>
                </a:r>
                <a14:m>
                  <m:oMath xmlns:m="http://schemas.openxmlformats.org/officeDocument/2006/math">
                    <m:r>
                      <a:rPr lang="en-US" i="1">
                        <a:latin typeface="Cambria Math" panose="02040503050406030204" pitchFamily="18" charset="0"/>
                      </a:rPr>
                      <m:t>7,5</m:t>
                    </m:r>
                    <m:r>
                      <m:rPr>
                        <m:nor/>
                      </m:rPr>
                      <a:rPr lang="en-US"/>
                      <m:t>cm</m:t>
                    </m:r>
                  </m:oMath>
                </a14:m>
                <a:r>
                  <a:rPr lang="en-US"/>
                  <a:t> đều được coi là</a:t>
                </a:r>
                <a14:m>
                  <m:oMath xmlns:m="http://schemas.openxmlformats.org/officeDocument/2006/math">
                    <m:r>
                      <a:rPr lang="en-US" i="1">
                        <a:latin typeface="Cambria Math" panose="02040503050406030204" pitchFamily="18" charset="0"/>
                      </a:rPr>
                      <m:t>7</m:t>
                    </m:r>
                    <m:r>
                      <m:rPr>
                        <m:nor/>
                      </m:rPr>
                      <a:rPr lang="en-US"/>
                      <m:t>cm</m:t>
                    </m:r>
                  </m:oMath>
                </a14:m>
                <a:r>
                  <a:rPr lang="en-US"/>
                  <a:t>. Vì vậy, thước đo có thang đo càng nhỏ thì cho giá trị đo càng chính xác.</a:t>
                </a:r>
                <a:endParaRPr lang="vi-VN"/>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533400" y="5359774"/>
                <a:ext cx="23518091" cy="6527426"/>
              </a:xfrm>
              <a:prstGeom prst="rect">
                <a:avLst/>
              </a:prstGeom>
              <a:blipFill>
                <a:blip r:embed="rId3"/>
                <a:stretch>
                  <a:fillRect l="-1166" t="-3075" r="-829"/>
                </a:stretch>
              </a:blipFill>
              <a:ln>
                <a:solidFill>
                  <a:srgbClr val="00B0F0"/>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533400" y="3220286"/>
                <a:ext cx="23518091" cy="1511637"/>
              </a:xfrm>
              <a:prstGeom prst="rect">
                <a:avLst/>
              </a:prstGeom>
              <a:solidFill>
                <a:schemeClr val="accent4">
                  <a:lumMod val="20000"/>
                  <a:lumOff val="80000"/>
                </a:schemeClr>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a:t>Một phép đo đường kính nhân tế bào cho kết quả là </a:t>
                </a:r>
                <a14:m>
                  <m:oMath xmlns:m="http://schemas.openxmlformats.org/officeDocument/2006/math">
                    <m:r>
                      <a:rPr lang="en-US" i="1">
                        <a:latin typeface="Cambria Math" panose="02040503050406030204" pitchFamily="18" charset="0"/>
                      </a:rPr>
                      <m:t>5±0,3</m:t>
                    </m:r>
                  </m:oMath>
                </a14:m>
                <a:r>
                  <a:rPr lang="en-US"/>
                  <a:t>μmm. Đường kính thực của nhân tế bào thuộc đoạn nào?</a:t>
                </a:r>
                <a:endParaRPr lang="vi-VN"/>
              </a:p>
            </p:txBody>
          </p:sp>
        </mc:Choice>
        <mc:Fallback xmlns="">
          <p:sp>
            <p:nvSpPr>
              <p:cNvPr id="7" name="Content Placeholder 2">
                <a:extLst>
                  <a:ext uri="{FF2B5EF4-FFF2-40B4-BE49-F238E27FC236}">
                    <a16:creationId xmlns:a16="http://schemas.microsoft.com/office/drawing/2014/main" id="{08B49A2E-2A9D-46FD-AE9C-29462A33F0E6}"/>
                  </a:ext>
                </a:extLst>
              </p:cNvPr>
              <p:cNvSpPr txBox="1">
                <a:spLocks noRot="1" noChangeAspect="1" noMove="1" noResize="1" noEditPoints="1" noAdjustHandles="1" noChangeArrowheads="1" noChangeShapeType="1" noTextEdit="1"/>
              </p:cNvSpPr>
              <p:nvPr/>
            </p:nvSpPr>
            <p:spPr>
              <a:xfrm>
                <a:off x="533400" y="3220286"/>
                <a:ext cx="23518091" cy="1511637"/>
              </a:xfrm>
              <a:prstGeom prst="rect">
                <a:avLst/>
              </a:prstGeom>
              <a:blipFill>
                <a:blip r:embed="rId4"/>
                <a:stretch>
                  <a:fillRect l="-1166" t="-13200" r="-881" b="-14400"/>
                </a:stretch>
              </a:blipFill>
              <a:ln>
                <a:solidFill>
                  <a:srgbClr val="00B0F0"/>
                </a:solidFill>
              </a:ln>
            </p:spPr>
            <p:txBody>
              <a:bodyPr/>
              <a:lstStyle/>
              <a:p>
                <a:r>
                  <a:rPr lang="vi-VN">
                    <a:noFill/>
                  </a:rPr>
                  <a:t> </a:t>
                </a:r>
              </a:p>
            </p:txBody>
          </p:sp>
        </mc:Fallback>
      </mc:AlternateContent>
      <p:grpSp>
        <p:nvGrpSpPr>
          <p:cNvPr id="8" name="Group 7">
            <a:extLst>
              <a:ext uri="{FF2B5EF4-FFF2-40B4-BE49-F238E27FC236}">
                <a16:creationId xmlns:a16="http://schemas.microsoft.com/office/drawing/2014/main" id="{C170679A-242B-4495-A6AA-87C2A490DEE2}"/>
              </a:ext>
            </a:extLst>
          </p:cNvPr>
          <p:cNvGrpSpPr/>
          <p:nvPr/>
        </p:nvGrpSpPr>
        <p:grpSpPr>
          <a:xfrm>
            <a:off x="76200" y="2445923"/>
            <a:ext cx="5105123" cy="838200"/>
            <a:chOff x="22440" y="16831"/>
            <a:chExt cx="850471" cy="230002"/>
          </a:xfrm>
        </p:grpSpPr>
        <p:grpSp>
          <p:nvGrpSpPr>
            <p:cNvPr id="9" name="Group 8">
              <a:extLst>
                <a:ext uri="{FF2B5EF4-FFF2-40B4-BE49-F238E27FC236}">
                  <a16:creationId xmlns:a16="http://schemas.microsoft.com/office/drawing/2014/main" id="{DC2BE062-D76F-484D-85A9-31A35614F0C2}"/>
                </a:ext>
              </a:extLst>
            </p:cNvPr>
            <p:cNvGrpSpPr/>
            <p:nvPr/>
          </p:nvGrpSpPr>
          <p:grpSpPr>
            <a:xfrm>
              <a:off x="22440" y="59287"/>
              <a:ext cx="850471" cy="159855"/>
              <a:chOff x="31572" y="60276"/>
              <a:chExt cx="1196628" cy="197828"/>
            </a:xfrm>
          </p:grpSpPr>
          <p:sp>
            <p:nvSpPr>
              <p:cNvPr id="11" name="Arrow: Pentagon 10">
                <a:extLst>
                  <a:ext uri="{FF2B5EF4-FFF2-40B4-BE49-F238E27FC236}">
                    <a16:creationId xmlns:a16="http://schemas.microsoft.com/office/drawing/2014/main" id="{DE96BE6A-257E-4F40-B7D9-B1D5135CB38A}"/>
                  </a:ext>
                </a:extLst>
              </p:cNvPr>
              <p:cNvSpPr/>
              <p:nvPr/>
            </p:nvSpPr>
            <p:spPr>
              <a:xfrm>
                <a:off x="204585" y="62042"/>
                <a:ext cx="1023615" cy="196062"/>
              </a:xfrm>
              <a:prstGeom prst="homePlate">
                <a:avLst/>
              </a:prstGeom>
              <a:solidFill>
                <a:srgbClr val="FCFFEF"/>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06000"/>
                  </a:lnSpc>
                  <a:spcAft>
                    <a:spcPts val="800"/>
                  </a:spcAft>
                </a:pPr>
                <a:r>
                  <a:rPr lang="vi-VN" sz="4800" b="1" kern="1200">
                    <a:solidFill>
                      <a:srgbClr val="0000CC"/>
                    </a:solidFill>
                    <a:effectLst/>
                    <a:ea typeface="Calibri" panose="020F0502020204030204" pitchFamily="34" charset="0"/>
                    <a:cs typeface="Times New Roman" panose="02020603050405020304" pitchFamily="18" charset="0"/>
                  </a:rPr>
                  <a:t> </a:t>
                </a:r>
                <a:endParaRPr lang="vi-VN" sz="48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2" name="Arrow: Chevron 11">
                <a:extLst>
                  <a:ext uri="{FF2B5EF4-FFF2-40B4-BE49-F238E27FC236}">
                    <a16:creationId xmlns:a16="http://schemas.microsoft.com/office/drawing/2014/main" id="{E39EE14B-937A-449E-9477-E4B712882A71}"/>
                  </a:ext>
                </a:extLst>
              </p:cNvPr>
              <p:cNvSpPr/>
              <p:nvPr/>
            </p:nvSpPr>
            <p:spPr>
              <a:xfrm>
                <a:off x="31572" y="60341"/>
                <a:ext cx="162630" cy="196062"/>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4800">
                    <a:effectLst/>
                    <a:latin typeface="Times New Roman" panose="02020603050405020304" pitchFamily="18" charset="0"/>
                    <a:ea typeface="Calibri" panose="020F0502020204030204" pitchFamily="34" charset="0"/>
                    <a:cs typeface="Times New Roman" panose="02020603050405020304" pitchFamily="18" charset="0"/>
                  </a:rPr>
                  <a:t> </a:t>
                </a:r>
                <a:endParaRPr lang="vi-VN" sz="48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3" name="Arrow: Chevron 12">
                <a:extLst>
                  <a:ext uri="{FF2B5EF4-FFF2-40B4-BE49-F238E27FC236}">
                    <a16:creationId xmlns:a16="http://schemas.microsoft.com/office/drawing/2014/main" id="{3906BBB3-2A34-4CA8-A088-AFCF8F2E5C82}"/>
                  </a:ext>
                </a:extLst>
              </p:cNvPr>
              <p:cNvSpPr/>
              <p:nvPr/>
            </p:nvSpPr>
            <p:spPr>
              <a:xfrm>
                <a:off x="116273" y="60276"/>
                <a:ext cx="176766" cy="196062"/>
              </a:xfrm>
              <a:prstGeom prst="chevr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4800">
                    <a:effectLst/>
                    <a:latin typeface="Times New Roman" panose="02020603050405020304" pitchFamily="18" charset="0"/>
                    <a:ea typeface="Calibri" panose="020F0502020204030204" pitchFamily="34" charset="0"/>
                    <a:cs typeface="Times New Roman" panose="02020603050405020304" pitchFamily="18" charset="0"/>
                  </a:rPr>
                  <a:t> </a:t>
                </a:r>
                <a:endParaRPr lang="vi-VN" sz="4800">
                  <a:effectLst/>
                  <a:latin typeface="Times New Roman" panose="02020603050405020304" pitchFamily="18" charset="0"/>
                  <a:ea typeface="Calibri" panose="020F0502020204030204" pitchFamily="34" charset="0"/>
                  <a:cs typeface="Times New Roman" panose="02020603050405020304" pitchFamily="18" charset="0"/>
                </a:endParaRPr>
              </a:p>
            </p:txBody>
          </p:sp>
        </p:grpSp>
        <p:sp>
          <p:nvSpPr>
            <p:cNvPr id="10" name="TextBox 56">
              <a:extLst>
                <a:ext uri="{FF2B5EF4-FFF2-40B4-BE49-F238E27FC236}">
                  <a16:creationId xmlns:a16="http://schemas.microsoft.com/office/drawing/2014/main" id="{41372051-7E11-4D36-ADED-EADAABF9D935}"/>
                </a:ext>
              </a:extLst>
            </p:cNvPr>
            <p:cNvSpPr txBox="1"/>
            <p:nvPr/>
          </p:nvSpPr>
          <p:spPr>
            <a:xfrm>
              <a:off x="188148" y="16831"/>
              <a:ext cx="591618" cy="230002"/>
            </a:xfrm>
            <a:prstGeom prst="rect">
              <a:avLst/>
            </a:prstGeom>
            <a:noFill/>
          </p:spPr>
          <p:txBody>
            <a:bodyPr wrap="square">
              <a:noAutofit/>
            </a:bodyPr>
            <a:lstStyle/>
            <a:p>
              <a:pPr>
                <a:lnSpc>
                  <a:spcPct val="107000"/>
                </a:lnSpc>
                <a:spcAft>
                  <a:spcPts val="800"/>
                </a:spcAft>
              </a:pPr>
              <a:r>
                <a:rPr lang="en-US" sz="4800" b="1">
                  <a:solidFill>
                    <a:srgbClr val="0000CC"/>
                  </a:solidFill>
                  <a:latin typeface="Calibri" panose="020F0502020204030204" pitchFamily="34" charset="0"/>
                  <a:ea typeface="Calibri" panose="020F0502020204030204" pitchFamily="34" charset="0"/>
                  <a:cs typeface="Times New Roman" panose="02020603050405020304" pitchFamily="18" charset="0"/>
                </a:rPr>
                <a:t>Luyện tập</a:t>
              </a:r>
              <a:r>
                <a:rPr lang="en-US" sz="4800" b="1" kern="1200">
                  <a:solidFill>
                    <a:srgbClr val="0000CC"/>
                  </a:solidFill>
                  <a:effectLst/>
                  <a:latin typeface="Calibri" panose="020F0502020204030204" pitchFamily="34" charset="0"/>
                  <a:ea typeface="Calibri" panose="020F0502020204030204" pitchFamily="34" charset="0"/>
                  <a:cs typeface="Times New Roman" panose="02020603050405020304" pitchFamily="18" charset="0"/>
                </a:rPr>
                <a:t> </a:t>
              </a:r>
              <a:r>
                <a:rPr lang="en-US" sz="4800" b="1">
                  <a:solidFill>
                    <a:srgbClr val="0000CC"/>
                  </a:solidFill>
                  <a:latin typeface="Calibri" panose="020F0502020204030204" pitchFamily="34" charset="0"/>
                  <a:ea typeface="Calibri" panose="020F0502020204030204" pitchFamily="34" charset="0"/>
                  <a:cs typeface="Times New Roman" panose="02020603050405020304" pitchFamily="18" charset="0"/>
                </a:rPr>
                <a:t>2</a:t>
              </a:r>
              <a:r>
                <a:rPr lang="en-US" sz="4800" b="1" kern="1200">
                  <a:solidFill>
                    <a:srgbClr val="0000CC"/>
                  </a:solidFill>
                  <a:effectLst/>
                  <a:latin typeface="Calibri" panose="020F0502020204030204" pitchFamily="34" charset="0"/>
                  <a:ea typeface="Calibri" panose="020F0502020204030204" pitchFamily="34" charset="0"/>
                  <a:cs typeface="Times New Roman" panose="02020603050405020304" pitchFamily="18" charset="0"/>
                </a:rPr>
                <a:t>.</a:t>
              </a:r>
              <a:endParaRPr lang="vi-VN" sz="4800">
                <a:effectLst/>
                <a:latin typeface="Times New Roman" panose="02020603050405020304" pitchFamily="18" charset="0"/>
                <a:ea typeface="Calibri" panose="020F0502020204030204" pitchFamily="34" charset="0"/>
                <a:cs typeface="Times New Roman" panose="02020603050405020304" pitchFamily="18" charset="0"/>
              </a:endParaRPr>
            </a:p>
          </p:txBody>
        </p:sp>
      </p:grpSp>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   ·   BÀI 12</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27827304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up)">
                                      <p:cBhvr>
                                        <p:cTn id="11" dur="500"/>
                                        <p:tgtEl>
                                          <p:spTgt spid="7">
                                            <p:txEl>
                                              <p:pRg st="0" end="0"/>
                                            </p:txEl>
                                          </p:spTgt>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99"/>
                                        </p:tgtEl>
                                        <p:attrNameLst>
                                          <p:attrName>style.visibility</p:attrName>
                                        </p:attrNameLst>
                                      </p:cBhvr>
                                      <p:to>
                                        <p:strVal val="visible"/>
                                      </p:to>
                                    </p:set>
                                    <p:animEffect transition="in" filter="wipe(up)">
                                      <p:cBhvr>
                                        <p:cTn id="15" dur="500"/>
                                        <p:tgtEl>
                                          <p:spTgt spid="99"/>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99">
                                            <p:txEl>
                                              <p:pRg st="0" end="0"/>
                                            </p:txEl>
                                          </p:spTgt>
                                        </p:tgtEl>
                                        <p:attrNameLst>
                                          <p:attrName>style.visibility</p:attrName>
                                        </p:attrNameLst>
                                      </p:cBhvr>
                                      <p:to>
                                        <p:strVal val="visible"/>
                                      </p:to>
                                    </p:set>
                                    <p:animEffect transition="in" filter="wipe(up)">
                                      <p:cBhvr>
                                        <p:cTn id="19" dur="500"/>
                                        <p:tgtEl>
                                          <p:spTgt spid="99">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99">
                                            <p:txEl>
                                              <p:pRg st="1" end="1"/>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99">
                                            <p:txEl>
                                              <p:pRg st="2" end="2"/>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9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795528" y="2209800"/>
            <a:ext cx="6367272" cy="838200"/>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b="1" dirty="0">
                <a:solidFill>
                  <a:schemeClr val="accent5">
                    <a:lumMod val="75000"/>
                  </a:schemeClr>
                </a:solidFill>
              </a:rPr>
              <a:t> b. Sai </a:t>
            </a:r>
            <a:r>
              <a:rPr lang="en-US" b="1" dirty="0" err="1">
                <a:solidFill>
                  <a:schemeClr val="accent5">
                    <a:lumMod val="75000"/>
                  </a:schemeClr>
                </a:solidFill>
              </a:rPr>
              <a:t>số</a:t>
            </a:r>
            <a:r>
              <a:rPr lang="en-US" b="1" dirty="0">
                <a:solidFill>
                  <a:schemeClr val="accent5">
                    <a:lumMod val="75000"/>
                  </a:schemeClr>
                </a:solidFill>
              </a:rPr>
              <a:t> </a:t>
            </a:r>
            <a:r>
              <a:rPr lang="en-US" b="1" dirty="0" err="1">
                <a:solidFill>
                  <a:schemeClr val="accent5">
                    <a:lumMod val="75000"/>
                  </a:schemeClr>
                </a:solidFill>
              </a:rPr>
              <a:t>tương</a:t>
            </a:r>
            <a:r>
              <a:rPr lang="en-US" b="1" dirty="0">
                <a:solidFill>
                  <a:schemeClr val="accent5">
                    <a:lumMod val="75000"/>
                  </a:schemeClr>
                </a:solidFill>
              </a:rPr>
              <a:t> </a:t>
            </a:r>
            <a:r>
              <a:rPr lang="en-US" b="1" dirty="0" err="1">
                <a:solidFill>
                  <a:schemeClr val="accent5">
                    <a:lumMod val="75000"/>
                  </a:schemeClr>
                </a:solidFill>
              </a:rPr>
              <a:t>đối</a:t>
            </a:r>
            <a:r>
              <a:rPr lang="en-US" b="1" dirty="0">
                <a:solidFill>
                  <a:schemeClr val="accent5">
                    <a:lumMod val="75000"/>
                  </a:schemeClr>
                </a:solidFill>
              </a:rPr>
              <a:t>: </a:t>
            </a:r>
            <a:endParaRPr lang="vi-VN" dirty="0">
              <a:solidFill>
                <a:schemeClr val="accent5">
                  <a:lumMod val="75000"/>
                </a:schemeClr>
              </a:solidFill>
            </a:endParaRPr>
          </a:p>
        </p:txBody>
      </p:sp>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B270A3F8-6865-499A-9514-932AD5586A0D}"/>
                  </a:ext>
                </a:extLst>
              </p:cNvPr>
              <p:cNvSpPr txBox="1">
                <a:spLocks/>
              </p:cNvSpPr>
              <p:nvPr/>
            </p:nvSpPr>
            <p:spPr>
              <a:xfrm>
                <a:off x="795528" y="3810000"/>
                <a:ext cx="23164800" cy="2667000"/>
              </a:xfrm>
              <a:prstGeom prst="rect">
                <a:avLst/>
              </a:prstGeom>
              <a:solidFill>
                <a:schemeClr val="accent4">
                  <a:lumMod val="20000"/>
                  <a:lumOff val="80000"/>
                </a:schemeClr>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b="1">
                    <a:solidFill>
                      <a:srgbClr val="FF0000"/>
                    </a:solidFill>
                  </a:rPr>
                  <a:t>HĐ4</a:t>
                </a:r>
                <a:r>
                  <a:rPr lang="en-US" b="1"/>
                  <a:t>:  </a:t>
                </a:r>
                <a:r>
                  <a:rPr lang="en-US"/>
                  <a:t>Công ty (trong Ví dụ 2) cũng sử dụng dây chuyền </a:t>
                </a:r>
                <a14:m>
                  <m:oMath xmlns:m="http://schemas.openxmlformats.org/officeDocument/2006/math">
                    <m:r>
                      <a:rPr lang="en-US" i="1">
                        <a:latin typeface="Cambria Math" panose="02040503050406030204" pitchFamily="18" charset="0"/>
                      </a:rPr>
                      <m:t>𝐵</m:t>
                    </m:r>
                  </m:oMath>
                </a14:m>
                <a:r>
                  <a:rPr lang="en-US"/>
                  <a:t> để đóng gạo với khối lượng chính xác là </a:t>
                </a:r>
                <a14:m>
                  <m:oMath xmlns:m="http://schemas.openxmlformats.org/officeDocument/2006/math">
                    <m:r>
                      <a:rPr lang="en-US" i="1">
                        <a:latin typeface="Cambria Math" panose="02040503050406030204" pitchFamily="18" charset="0"/>
                      </a:rPr>
                      <m:t>20</m:t>
                    </m:r>
                    <m:r>
                      <m:rPr>
                        <m:nor/>
                      </m:rPr>
                      <a:rPr lang="en-US"/>
                      <m:t>kg</m:t>
                    </m:r>
                  </m:oMath>
                </a14:m>
                <a:r>
                  <a:rPr lang="en-US"/>
                  <a:t>. Trên bao bì ghi thông tin khối lượng là </a:t>
                </a:r>
                <a14:m>
                  <m:oMath xmlns:m="http://schemas.openxmlformats.org/officeDocument/2006/math">
                    <m:r>
                      <a:rPr lang="en-US" i="1">
                        <a:latin typeface="Cambria Math" panose="02040503050406030204" pitchFamily="18" charset="0"/>
                      </a:rPr>
                      <m:t>20±0,5</m:t>
                    </m:r>
                    <m:r>
                      <m:rPr>
                        <m:nor/>
                      </m:rPr>
                      <a:rPr lang="en-US"/>
                      <m:t>kg</m:t>
                    </m:r>
                  </m:oMath>
                </a14:m>
                <a:r>
                  <a:rPr lang="en-US"/>
                  <a:t>.</a:t>
                </a:r>
                <a:endParaRPr lang="vi-VN"/>
              </a:p>
              <a:p>
                <a:pPr marL="0" indent="0">
                  <a:buNone/>
                </a:pPr>
                <a:r>
                  <a:rPr lang="en-US"/>
                  <a:t>Khẳng định "Dây chuyền </a:t>
                </a:r>
                <a14:m>
                  <m:oMath xmlns:m="http://schemas.openxmlformats.org/officeDocument/2006/math">
                    <m:r>
                      <a:rPr lang="en-US" i="1">
                        <a:latin typeface="Cambria Math" panose="02040503050406030204" pitchFamily="18" charset="0"/>
                      </a:rPr>
                      <m:t>𝐴</m:t>
                    </m:r>
                  </m:oMath>
                </a14:m>
                <a:r>
                  <a:rPr lang="en-US"/>
                  <a:t> tốt hơn dây chuyền </a:t>
                </a:r>
                <a14:m>
                  <m:oMath xmlns:m="http://schemas.openxmlformats.org/officeDocument/2006/math">
                    <m:r>
                      <a:rPr lang="en-US" i="1">
                        <a:latin typeface="Cambria Math" panose="02040503050406030204" pitchFamily="18" charset="0"/>
                      </a:rPr>
                      <m:t>𝐵</m:t>
                    </m:r>
                  </m:oMath>
                </a14:m>
                <a:r>
                  <a:rPr lang="en-US"/>
                  <a:t> "là đúng hay sai?</a:t>
                </a:r>
                <a:endParaRPr lang="vi-VN"/>
              </a:p>
              <a:p>
                <a:pPr marL="0" indent="0">
                  <a:buNone/>
                </a:pPr>
                <a:endParaRPr lang="en-US"/>
              </a:p>
            </p:txBody>
          </p:sp>
        </mc:Choice>
        <mc:Fallback xmlns="">
          <p:sp>
            <p:nvSpPr>
              <p:cNvPr id="8" name="Content Placeholder 2">
                <a:extLst>
                  <a:ext uri="{FF2B5EF4-FFF2-40B4-BE49-F238E27FC236}">
                    <a16:creationId xmlns:a16="http://schemas.microsoft.com/office/drawing/2014/main" id="{B270A3F8-6865-499A-9514-932AD5586A0D}"/>
                  </a:ext>
                </a:extLst>
              </p:cNvPr>
              <p:cNvSpPr txBox="1">
                <a:spLocks noRot="1" noChangeAspect="1" noMove="1" noResize="1" noEditPoints="1" noAdjustHandles="1" noChangeArrowheads="1" noChangeShapeType="1" noTextEdit="1"/>
              </p:cNvSpPr>
              <p:nvPr/>
            </p:nvSpPr>
            <p:spPr>
              <a:xfrm>
                <a:off x="795528" y="3810000"/>
                <a:ext cx="23164800" cy="2667000"/>
              </a:xfrm>
              <a:prstGeom prst="rect">
                <a:avLst/>
              </a:prstGeom>
              <a:blipFill>
                <a:blip r:embed="rId3"/>
                <a:stretch>
                  <a:fillRect l="-1184" t="-7500"/>
                </a:stretch>
              </a:blipFill>
              <a:ln>
                <a:solidFill>
                  <a:srgbClr val="00B0F0"/>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9" name="Content Placeholder 2">
                <a:extLst>
                  <a:ext uri="{FF2B5EF4-FFF2-40B4-BE49-F238E27FC236}">
                    <a16:creationId xmlns:a16="http://schemas.microsoft.com/office/drawing/2014/main" id="{B5DEA170-E82B-46A4-9438-6CF8FBD6750F}"/>
                  </a:ext>
                </a:extLst>
              </p:cNvPr>
              <p:cNvSpPr txBox="1">
                <a:spLocks/>
              </p:cNvSpPr>
              <p:nvPr/>
            </p:nvSpPr>
            <p:spPr>
              <a:xfrm>
                <a:off x="795528" y="7239000"/>
                <a:ext cx="23198328" cy="2667001"/>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a:t>Mặc dù độ chính xác của khối lượng bao gạo đóng bằng dây chuyền </a:t>
                </a:r>
                <a14:m>
                  <m:oMath xmlns:m="http://schemas.openxmlformats.org/officeDocument/2006/math">
                    <m:r>
                      <a:rPr lang="en-US" i="1">
                        <a:latin typeface="Cambria Math" panose="02040503050406030204" pitchFamily="18" charset="0"/>
                      </a:rPr>
                      <m:t>𝐴</m:t>
                    </m:r>
                  </m:oMath>
                </a14:m>
                <a:r>
                  <a:rPr lang="en-US"/>
                  <a:t> nhỏ hơn nhưng do bao gạo đóng bằng dây chuyền </a:t>
                </a:r>
                <a14:m>
                  <m:oMath xmlns:m="http://schemas.openxmlformats.org/officeDocument/2006/math">
                    <m:r>
                      <a:rPr lang="en-US" i="1">
                        <a:latin typeface="Cambria Math" panose="02040503050406030204" pitchFamily="18" charset="0"/>
                      </a:rPr>
                      <m:t>𝐵</m:t>
                    </m:r>
                  </m:oMath>
                </a14:m>
                <a:r>
                  <a:rPr lang="en-US"/>
                  <a:t> nặng hơn nhiều nên ta không dựa vào sai số tuyệt đối mà dựa vào sai số tương đối để so sánh.</a:t>
                </a:r>
                <a:endParaRPr lang="vi-VN"/>
              </a:p>
            </p:txBody>
          </p:sp>
        </mc:Choice>
        <mc:Fallback xmlns="">
          <p:sp>
            <p:nvSpPr>
              <p:cNvPr id="9" name="Content Placeholder 2">
                <a:extLst>
                  <a:ext uri="{FF2B5EF4-FFF2-40B4-BE49-F238E27FC236}">
                    <a16:creationId xmlns:a16="http://schemas.microsoft.com/office/drawing/2014/main" id="{B5DEA170-E82B-46A4-9438-6CF8FBD6750F}"/>
                  </a:ext>
                </a:extLst>
              </p:cNvPr>
              <p:cNvSpPr txBox="1">
                <a:spLocks noRot="1" noChangeAspect="1" noMove="1" noResize="1" noEditPoints="1" noAdjustHandles="1" noChangeArrowheads="1" noChangeShapeType="1" noTextEdit="1"/>
              </p:cNvSpPr>
              <p:nvPr/>
            </p:nvSpPr>
            <p:spPr>
              <a:xfrm>
                <a:off x="795528" y="7239000"/>
                <a:ext cx="23198328" cy="2667001"/>
              </a:xfrm>
              <a:prstGeom prst="rect">
                <a:avLst/>
              </a:prstGeom>
              <a:blipFill>
                <a:blip r:embed="rId4"/>
                <a:stretch>
                  <a:fillRect l="-1182" t="-7517"/>
                </a:stretch>
              </a:blipFill>
              <a:ln>
                <a:solidFill>
                  <a:srgbClr val="00B0F0"/>
                </a:solidFill>
              </a:ln>
            </p:spPr>
            <p:txBody>
              <a:bodyPr/>
              <a:lstStyle/>
              <a:p>
                <a:r>
                  <a:rPr lang="vi-VN">
                    <a:noFill/>
                  </a:rPr>
                  <a:t> </a:t>
                </a:r>
              </a:p>
            </p:txBody>
          </p:sp>
        </mc:Fallback>
      </mc:AlternateContent>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   ·   BÀI 12</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22370997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wipe(up)">
                                      <p:cBhvr>
                                        <p:cTn id="7" dur="500"/>
                                        <p:tgtEl>
                                          <p:spTgt spid="99"/>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99">
                                            <p:txEl>
                                              <p:pRg st="0" end="0"/>
                                            </p:txEl>
                                          </p:spTgt>
                                        </p:tgtEl>
                                        <p:attrNameLst>
                                          <p:attrName>style.visibility</p:attrName>
                                        </p:attrNameLst>
                                      </p:cBhvr>
                                      <p:to>
                                        <p:strVal val="visible"/>
                                      </p:to>
                                    </p:set>
                                    <p:animEffect transition="in" filter="wipe(up)">
                                      <p:cBhvr>
                                        <p:cTn id="11" dur="500"/>
                                        <p:tgtEl>
                                          <p:spTgt spid="99">
                                            <p:txEl>
                                              <p:pRg st="0" end="0"/>
                                            </p:txEl>
                                          </p:spTgt>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up)">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8">
                                            <p:txEl>
                                              <p:pRg st="0" end="0"/>
                                            </p:txEl>
                                          </p:spTgt>
                                        </p:tgtEl>
                                        <p:attrNameLst>
                                          <p:attrName>style.visibility</p:attrName>
                                        </p:attrNameLst>
                                      </p:cBhvr>
                                      <p:to>
                                        <p:strVal val="visible"/>
                                      </p:to>
                                    </p:set>
                                    <p:animEffect transition="in" filter="wipe(up)">
                                      <p:cBhvr>
                                        <p:cTn id="20" dur="500"/>
                                        <p:tgtEl>
                                          <p:spTgt spid="8">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8">
                                            <p:txEl>
                                              <p:pRg st="1" end="1"/>
                                            </p:txEl>
                                          </p:spTgt>
                                        </p:tgtEl>
                                        <p:attrNameLst>
                                          <p:attrName>style.visibility</p:attrName>
                                        </p:attrNameLst>
                                      </p:cBhvr>
                                      <p:to>
                                        <p:strVal val="visible"/>
                                      </p:to>
                                    </p:set>
                                    <p:animEffect transition="in" filter="wipe(up)">
                                      <p:cBhvr>
                                        <p:cTn id="25" dur="500"/>
                                        <p:tgtEl>
                                          <p:spTgt spid="8">
                                            <p:txEl>
                                              <p:pRg st="1" end="1"/>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up)">
                                      <p:cBhvr>
                                        <p:cTn id="30" dur="500"/>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nodeType="clickEffect">
                                  <p:stCondLst>
                                    <p:cond delay="0"/>
                                  </p:stCondLst>
                                  <p:childTnLst>
                                    <p:set>
                                      <p:cBhvr>
                                        <p:cTn id="34" dur="1" fill="hold">
                                          <p:stCondLst>
                                            <p:cond delay="0"/>
                                          </p:stCondLst>
                                        </p:cTn>
                                        <p:tgtEl>
                                          <p:spTgt spid="9">
                                            <p:txEl>
                                              <p:pRg st="0" end="0"/>
                                            </p:txEl>
                                          </p:spTgt>
                                        </p:tgtEl>
                                        <p:attrNameLst>
                                          <p:attrName>style.visibility</p:attrName>
                                        </p:attrNameLst>
                                      </p:cBhvr>
                                      <p:to>
                                        <p:strVal val="visible"/>
                                      </p:to>
                                    </p:set>
                                    <p:animEffect transition="in" filter="wipe(up)">
                                      <p:cBhvr>
                                        <p:cTn id="35"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8" grpId="0" animBg="1"/>
      <p:bldP spid="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61" name="Rectangle 70660"/>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70660" name="Rectangle 4">
                <a:extLst>
                  <a:ext uri="{FF2B5EF4-FFF2-40B4-BE49-F238E27FC236}">
                    <a16:creationId xmlns:a16="http://schemas.microsoft.com/office/drawing/2014/main" id="{553CC31B-CCA9-8D14-4AB9-AC9B785A0D42}"/>
                  </a:ext>
                </a:extLst>
              </p:cNvPr>
              <p:cNvSpPr>
                <a:spLocks noChangeArrowheads="1"/>
              </p:cNvSpPr>
              <p:nvPr/>
            </p:nvSpPr>
            <p:spPr bwMode="auto">
              <a:xfrm>
                <a:off x="838200" y="2667000"/>
                <a:ext cx="23241000" cy="472440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r>
                  <a:rPr lang="en-US" sz="4800" b="1" dirty="0" smtClean="0">
                    <a:latin typeface="Times New Roman" panose="02020603050405020304" pitchFamily="18" charset="0"/>
                    <a:cs typeface="Times New Roman" panose="02020603050405020304" pitchFamily="18" charset="0"/>
                  </a:rPr>
                  <a:t>Sai </a:t>
                </a:r>
                <a:r>
                  <a:rPr lang="en-US" sz="4800" b="1" dirty="0" err="1">
                    <a:latin typeface="Times New Roman" panose="02020603050405020304" pitchFamily="18" charset="0"/>
                    <a:cs typeface="Times New Roman" panose="02020603050405020304" pitchFamily="18" charset="0"/>
                  </a:rPr>
                  <a:t>số</a:t>
                </a:r>
                <a:r>
                  <a:rPr lang="en-US" sz="4800" b="1" dirty="0">
                    <a:latin typeface="Times New Roman" panose="02020603050405020304" pitchFamily="18" charset="0"/>
                    <a:cs typeface="Times New Roman" panose="02020603050405020304" pitchFamily="18" charset="0"/>
                  </a:rPr>
                  <a:t> </a:t>
                </a:r>
                <a:r>
                  <a:rPr lang="en-US" sz="4800" b="1" dirty="0" err="1">
                    <a:latin typeface="Times New Roman" panose="02020603050405020304" pitchFamily="18" charset="0"/>
                    <a:cs typeface="Times New Roman" panose="02020603050405020304" pitchFamily="18" charset="0"/>
                  </a:rPr>
                  <a:t>tương</a:t>
                </a:r>
                <a:r>
                  <a:rPr lang="en-US" sz="4800" b="1" dirty="0">
                    <a:latin typeface="Times New Roman" panose="02020603050405020304" pitchFamily="18" charset="0"/>
                    <a:cs typeface="Times New Roman" panose="02020603050405020304" pitchFamily="18" charset="0"/>
                  </a:rPr>
                  <a:t> </a:t>
                </a:r>
                <a:r>
                  <a:rPr lang="en-US" sz="4800" b="1" dirty="0" err="1">
                    <a:latin typeface="Times New Roman" panose="02020603050405020304" pitchFamily="18" charset="0"/>
                    <a:cs typeface="Times New Roman" panose="02020603050405020304" pitchFamily="18" charset="0"/>
                  </a:rPr>
                  <a:t>đối</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của</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số</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gần</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đúng</a:t>
                </a:r>
                <a:r>
                  <a:rPr lang="en-US" sz="4800" dirty="0">
                    <a:latin typeface="Times New Roman" panose="02020603050405020304" pitchFamily="18" charset="0"/>
                    <a:cs typeface="Times New Roman" panose="02020603050405020304" pitchFamily="18" charset="0"/>
                  </a:rPr>
                  <a:t> </a:t>
                </a:r>
                <a14:m>
                  <m:oMath xmlns:m="http://schemas.openxmlformats.org/officeDocument/2006/math">
                    <m:r>
                      <a:rPr lang="en-US" sz="4800" i="1">
                        <a:latin typeface="Cambria Math" panose="02040503050406030204" pitchFamily="18" charset="0"/>
                      </a:rPr>
                      <m:t>𝑎</m:t>
                    </m:r>
                  </m:oMath>
                </a14:m>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kí</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hiệu</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là</a:t>
                </a:r>
                <a:r>
                  <a:rPr lang="en-US" sz="48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4800" i="1">
                            <a:latin typeface="Cambria Math" panose="02040503050406030204" pitchFamily="18" charset="0"/>
                          </a:rPr>
                        </m:ctrlPr>
                      </m:sSubPr>
                      <m:e>
                        <m:r>
                          <a:rPr lang="en-US" sz="4800" i="1">
                            <a:latin typeface="Cambria Math" panose="02040503050406030204" pitchFamily="18" charset="0"/>
                          </a:rPr>
                          <m:t>𝛿</m:t>
                        </m:r>
                      </m:e>
                      <m:sub>
                        <m:r>
                          <a:rPr lang="en-US" sz="4800" i="1">
                            <a:latin typeface="Cambria Math" panose="02040503050406030204" pitchFamily="18" charset="0"/>
                          </a:rPr>
                          <m:t>𝑎</m:t>
                        </m:r>
                      </m:sub>
                    </m:sSub>
                  </m:oMath>
                </a14:m>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là</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tỉ</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số</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giữa</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sai</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số</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tuyệt</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đối</a:t>
                </a:r>
                <a:r>
                  <a:rPr lang="en-US" sz="48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4800" i="1">
                            <a:latin typeface="Cambria Math" panose="02040503050406030204" pitchFamily="18" charset="0"/>
                          </a:rPr>
                        </m:ctrlPr>
                      </m:sSubPr>
                      <m:e>
                        <m:r>
                          <a:rPr lang="en-US" sz="4800" i="1">
                            <a:latin typeface="Cambria Math" panose="02040503050406030204" pitchFamily="18" charset="0"/>
                          </a:rPr>
                          <m:t>∆</m:t>
                        </m:r>
                      </m:e>
                      <m:sub>
                        <m:r>
                          <a:rPr lang="en-US" sz="4800" i="1">
                            <a:latin typeface="Cambria Math" panose="02040503050406030204" pitchFamily="18" charset="0"/>
                          </a:rPr>
                          <m:t>𝑎</m:t>
                        </m:r>
                      </m:sub>
                    </m:sSub>
                  </m:oMath>
                </a14:m>
                <a:r>
                  <a:rPr lang="en-US" sz="4800" dirty="0" err="1">
                    <a:latin typeface="Times New Roman" panose="02020603050405020304" pitchFamily="18" charset="0"/>
                    <a:cs typeface="Times New Roman" panose="02020603050405020304" pitchFamily="18" charset="0"/>
                  </a:rPr>
                  <a:t>và</a:t>
                </a:r>
                <a:r>
                  <a:rPr lang="en-US" sz="4800" dirty="0">
                    <a:latin typeface="Times New Roman" panose="02020603050405020304" pitchFamily="18" charset="0"/>
                    <a:cs typeface="Times New Roman" panose="02020603050405020304" pitchFamily="18" charset="0"/>
                  </a:rPr>
                  <a:t> </a:t>
                </a:r>
                <a14:m>
                  <m:oMath xmlns:m="http://schemas.openxmlformats.org/officeDocument/2006/math">
                    <m:d>
                      <m:dPr>
                        <m:begChr m:val="|"/>
                        <m:endChr m:val="|"/>
                        <m:ctrlPr>
                          <a:rPr lang="en-US" sz="4800" i="1">
                            <a:latin typeface="Cambria Math" panose="02040503050406030204" pitchFamily="18" charset="0"/>
                          </a:rPr>
                        </m:ctrlPr>
                      </m:dPr>
                      <m:e>
                        <m:r>
                          <a:rPr lang="en-US" sz="4800" i="1">
                            <a:latin typeface="Cambria Math" panose="02040503050406030204" pitchFamily="18" charset="0"/>
                          </a:rPr>
                          <m:t>𝑎</m:t>
                        </m:r>
                      </m:e>
                    </m:d>
                    <m:r>
                      <a:rPr lang="en-US" sz="4800" i="1">
                        <a:latin typeface="Cambria Math" panose="02040503050406030204" pitchFamily="18" charset="0"/>
                      </a:rPr>
                      <m:t>, </m:t>
                    </m:r>
                  </m:oMath>
                </a14:m>
                <a:r>
                  <a:rPr lang="en-US" sz="4800" dirty="0" err="1">
                    <a:latin typeface="Times New Roman" panose="02020603050405020304" pitchFamily="18" charset="0"/>
                    <a:cs typeface="Times New Roman" panose="02020603050405020304" pitchFamily="18" charset="0"/>
                  </a:rPr>
                  <a:t>tức</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là</a:t>
                </a:r>
                <a:r>
                  <a:rPr lang="en-US" sz="48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4800" i="1">
                            <a:latin typeface="Cambria Math" panose="02040503050406030204" pitchFamily="18" charset="0"/>
                          </a:rPr>
                        </m:ctrlPr>
                      </m:sSubPr>
                      <m:e>
                        <m:r>
                          <a:rPr lang="en-US" sz="4800" i="1">
                            <a:latin typeface="Cambria Math" panose="02040503050406030204" pitchFamily="18" charset="0"/>
                          </a:rPr>
                          <m:t>𝛿</m:t>
                        </m:r>
                      </m:e>
                      <m:sub>
                        <m:r>
                          <a:rPr lang="en-US" sz="4800" i="1">
                            <a:latin typeface="Cambria Math" panose="02040503050406030204" pitchFamily="18" charset="0"/>
                          </a:rPr>
                          <m:t>𝑎</m:t>
                        </m:r>
                      </m:sub>
                    </m:sSub>
                    <m:r>
                      <a:rPr lang="en-US" sz="4800" i="1">
                        <a:latin typeface="Cambria Math" panose="02040503050406030204" pitchFamily="18" charset="0"/>
                      </a:rPr>
                      <m:t>=</m:t>
                    </m:r>
                    <m:f>
                      <m:fPr>
                        <m:ctrlPr>
                          <a:rPr lang="en-US" sz="4800" i="1">
                            <a:latin typeface="Cambria Math" panose="02040503050406030204" pitchFamily="18" charset="0"/>
                          </a:rPr>
                        </m:ctrlPr>
                      </m:fPr>
                      <m:num>
                        <m:sSub>
                          <m:sSubPr>
                            <m:ctrlPr>
                              <a:rPr lang="en-US" sz="4800" i="1">
                                <a:latin typeface="Cambria Math" panose="02040503050406030204" pitchFamily="18" charset="0"/>
                              </a:rPr>
                            </m:ctrlPr>
                          </m:sSubPr>
                          <m:e>
                            <m:r>
                              <a:rPr lang="en-US" sz="4800" i="1">
                                <a:latin typeface="Cambria Math" panose="02040503050406030204" pitchFamily="18" charset="0"/>
                              </a:rPr>
                              <m:t>∆</m:t>
                            </m:r>
                          </m:e>
                          <m:sub>
                            <m:r>
                              <a:rPr lang="en-US" sz="4800" i="1">
                                <a:latin typeface="Cambria Math" panose="02040503050406030204" pitchFamily="18" charset="0"/>
                              </a:rPr>
                              <m:t>𝑎</m:t>
                            </m:r>
                          </m:sub>
                        </m:sSub>
                      </m:num>
                      <m:den>
                        <m:r>
                          <a:rPr lang="en-US" sz="4800" i="1">
                            <a:latin typeface="Cambria Math" panose="02040503050406030204" pitchFamily="18" charset="0"/>
                          </a:rPr>
                          <m:t>|</m:t>
                        </m:r>
                        <m:r>
                          <a:rPr lang="en-US" sz="4800" i="1">
                            <a:latin typeface="Cambria Math" panose="02040503050406030204" pitchFamily="18" charset="0"/>
                          </a:rPr>
                          <m:t>𝑎</m:t>
                        </m:r>
                        <m:r>
                          <a:rPr lang="en-US" sz="4800" i="1">
                            <a:latin typeface="Cambria Math" panose="02040503050406030204" pitchFamily="18" charset="0"/>
                          </a:rPr>
                          <m:t>|</m:t>
                        </m:r>
                      </m:den>
                    </m:f>
                  </m:oMath>
                </a14:m>
                <a:r>
                  <a:rPr lang="en-US" sz="4800" dirty="0">
                    <a:latin typeface="Times New Roman" panose="02020603050405020304" pitchFamily="18" charset="0"/>
                    <a:cs typeface="Times New Roman" panose="02020603050405020304" pitchFamily="18" charset="0"/>
                  </a:rPr>
                  <a:t>  .</a:t>
                </a:r>
              </a:p>
              <a:p>
                <a:pPr algn="just"/>
                <a:r>
                  <a:rPr lang="en-US" sz="4800" dirty="0" err="1">
                    <a:latin typeface="Times New Roman" panose="02020603050405020304" pitchFamily="18" charset="0"/>
                    <a:cs typeface="Times New Roman" panose="02020603050405020304" pitchFamily="18" charset="0"/>
                  </a:rPr>
                  <a:t>Nếu</a:t>
                </a:r>
                <a:r>
                  <a:rPr lang="en-US" sz="4800" dirty="0">
                    <a:latin typeface="Times New Roman" panose="02020603050405020304" pitchFamily="18" charset="0"/>
                    <a:cs typeface="Times New Roman" panose="02020603050405020304" pitchFamily="18" charset="0"/>
                  </a:rPr>
                  <a:t> </a:t>
                </a:r>
                <a14:m>
                  <m:oMath xmlns:m="http://schemas.openxmlformats.org/officeDocument/2006/math">
                    <m:acc>
                      <m:accPr>
                        <m:chr m:val="̅"/>
                        <m:ctrlPr>
                          <a:rPr lang="en-US" sz="4800" i="1">
                            <a:latin typeface="Cambria Math" panose="02040503050406030204" pitchFamily="18" charset="0"/>
                          </a:rPr>
                        </m:ctrlPr>
                      </m:accPr>
                      <m:e>
                        <m:r>
                          <a:rPr lang="en-US" sz="4800" i="1">
                            <a:latin typeface="Cambria Math" panose="02040503050406030204" pitchFamily="18" charset="0"/>
                          </a:rPr>
                          <m:t>𝑎</m:t>
                        </m:r>
                      </m:e>
                    </m:acc>
                    <m:r>
                      <a:rPr lang="en-US" sz="4800" i="1">
                        <a:latin typeface="Cambria Math" panose="02040503050406030204" pitchFamily="18" charset="0"/>
                      </a:rPr>
                      <m:t> = </m:t>
                    </m:r>
                    <m:r>
                      <a:rPr lang="en-US" sz="4800" i="1">
                        <a:latin typeface="Cambria Math" panose="02040503050406030204" pitchFamily="18" charset="0"/>
                      </a:rPr>
                      <m:t>𝑎</m:t>
                    </m:r>
                    <m:r>
                      <a:rPr lang="en-US" sz="4800" i="1">
                        <a:latin typeface="Cambria Math" panose="02040503050406030204" pitchFamily="18" charset="0"/>
                      </a:rPr>
                      <m:t>±</m:t>
                    </m:r>
                    <m:r>
                      <a:rPr lang="en-US" sz="4800" i="1">
                        <a:latin typeface="Cambria Math" panose="02040503050406030204" pitchFamily="18" charset="0"/>
                      </a:rPr>
                      <m:t>𝑑</m:t>
                    </m:r>
                  </m:oMath>
                </a14:m>
                <a:r>
                  <a:rPr lang="vi-VN" sz="4800" dirty="0">
                    <a:latin typeface="Times New Roman" panose="02020603050405020304" pitchFamily="18" charset="0"/>
                    <a:cs typeface="Times New Roman" panose="02020603050405020304" pitchFamily="18" charset="0"/>
                  </a:rPr>
                  <a:t> thì </a:t>
                </a:r>
                <a14:m>
                  <m:oMath xmlns:m="http://schemas.openxmlformats.org/officeDocument/2006/math">
                    <m:sSub>
                      <m:sSubPr>
                        <m:ctrlPr>
                          <a:rPr lang="en-US" sz="4800" i="1">
                            <a:latin typeface="Cambria Math" panose="02040503050406030204" pitchFamily="18" charset="0"/>
                          </a:rPr>
                        </m:ctrlPr>
                      </m:sSubPr>
                      <m:e>
                        <m:r>
                          <a:rPr lang="en-US" sz="4800" i="1">
                            <a:latin typeface="Cambria Math" panose="02040503050406030204" pitchFamily="18" charset="0"/>
                          </a:rPr>
                          <m:t>∆</m:t>
                        </m:r>
                      </m:e>
                      <m:sub>
                        <m:r>
                          <a:rPr lang="en-US" sz="4800" i="1">
                            <a:latin typeface="Cambria Math" panose="02040503050406030204" pitchFamily="18" charset="0"/>
                          </a:rPr>
                          <m:t>𝑎</m:t>
                        </m:r>
                      </m:sub>
                    </m:sSub>
                    <m:r>
                      <a:rPr lang="en-US" sz="4800" i="1">
                        <a:latin typeface="Cambria Math" panose="02040503050406030204" pitchFamily="18" charset="0"/>
                      </a:rPr>
                      <m:t>≤</m:t>
                    </m:r>
                  </m:oMath>
                </a14:m>
                <a:r>
                  <a:rPr lang="en-US" sz="4800" dirty="0">
                    <a:latin typeface="Times New Roman" panose="02020603050405020304" pitchFamily="18" charset="0"/>
                    <a:cs typeface="Times New Roman" panose="02020603050405020304" pitchFamily="18" charset="0"/>
                  </a:rPr>
                  <a:t> d</a:t>
                </a:r>
                <a:r>
                  <a:rPr lang="vi-VN" sz="4800" dirty="0">
                    <a:latin typeface="Times New Roman" panose="02020603050405020304" pitchFamily="18" charset="0"/>
                    <a:cs typeface="Times New Roman" panose="02020603050405020304" pitchFamily="18" charset="0"/>
                  </a:rPr>
                  <a:t>.</a:t>
                </a:r>
                <a:r>
                  <a:rPr lang="en-US" sz="4800" dirty="0">
                    <a:latin typeface="Times New Roman" panose="02020603050405020304" pitchFamily="18" charset="0"/>
                    <a:cs typeface="Times New Roman" panose="02020603050405020304" pitchFamily="18" charset="0"/>
                  </a:rPr>
                  <a:t> Do </a:t>
                </a:r>
                <a:r>
                  <a:rPr lang="en-US" sz="4800" dirty="0" err="1">
                    <a:latin typeface="Times New Roman" panose="02020603050405020304" pitchFamily="18" charset="0"/>
                    <a:cs typeface="Times New Roman" panose="02020603050405020304" pitchFamily="18" charset="0"/>
                  </a:rPr>
                  <a:t>đó</a:t>
                </a:r>
                <a14:m>
                  <m:oMath xmlns:m="http://schemas.openxmlformats.org/officeDocument/2006/math">
                    <m:sSub>
                      <m:sSubPr>
                        <m:ctrlPr>
                          <a:rPr lang="en-US" sz="4800" i="1">
                            <a:latin typeface="Cambria Math" panose="02040503050406030204" pitchFamily="18" charset="0"/>
                          </a:rPr>
                        </m:ctrlPr>
                      </m:sSubPr>
                      <m:e>
                        <m:r>
                          <a:rPr lang="en-US" sz="4800" i="1">
                            <a:latin typeface="Cambria Math" panose="02040503050406030204" pitchFamily="18" charset="0"/>
                          </a:rPr>
                          <m:t> </m:t>
                        </m:r>
                        <m:r>
                          <a:rPr lang="en-US" sz="4800" i="1">
                            <a:latin typeface="Cambria Math" panose="02040503050406030204" pitchFamily="18" charset="0"/>
                          </a:rPr>
                          <m:t>𝛿</m:t>
                        </m:r>
                      </m:e>
                      <m:sub>
                        <m:r>
                          <a:rPr lang="en-US" sz="4800" i="1">
                            <a:latin typeface="Cambria Math" panose="02040503050406030204" pitchFamily="18" charset="0"/>
                          </a:rPr>
                          <m:t>𝑎</m:t>
                        </m:r>
                      </m:sub>
                    </m:sSub>
                    <m:r>
                      <a:rPr lang="en-US" sz="4800" i="1">
                        <a:latin typeface="Cambria Math" panose="02040503050406030204" pitchFamily="18" charset="0"/>
                      </a:rPr>
                      <m:t>≤</m:t>
                    </m:r>
                    <m:f>
                      <m:fPr>
                        <m:ctrlPr>
                          <a:rPr lang="en-US" sz="4800" i="1">
                            <a:latin typeface="Cambria Math" panose="02040503050406030204" pitchFamily="18" charset="0"/>
                          </a:rPr>
                        </m:ctrlPr>
                      </m:fPr>
                      <m:num>
                        <m:r>
                          <a:rPr lang="en-US" sz="4800" i="1">
                            <a:latin typeface="Cambria Math" panose="02040503050406030204" pitchFamily="18" charset="0"/>
                          </a:rPr>
                          <m:t>𝑑</m:t>
                        </m:r>
                      </m:num>
                      <m:den>
                        <m:d>
                          <m:dPr>
                            <m:begChr m:val="|"/>
                            <m:endChr m:val="|"/>
                            <m:ctrlPr>
                              <a:rPr lang="en-US" sz="4800" i="1">
                                <a:latin typeface="Cambria Math" panose="02040503050406030204" pitchFamily="18" charset="0"/>
                              </a:rPr>
                            </m:ctrlPr>
                          </m:dPr>
                          <m:e>
                            <m:r>
                              <a:rPr lang="en-US" sz="4800" i="1">
                                <a:latin typeface="Cambria Math" panose="02040503050406030204" pitchFamily="18" charset="0"/>
                              </a:rPr>
                              <m:t>𝑎</m:t>
                            </m:r>
                          </m:e>
                        </m:d>
                      </m:den>
                    </m:f>
                  </m:oMath>
                </a14:m>
                <a:r>
                  <a:rPr lang="vi-VN" sz="4800" dirty="0">
                    <a:latin typeface="Times New Roman" panose="02020603050405020304" pitchFamily="18" charset="0"/>
                    <a:cs typeface="Times New Roman" panose="02020603050405020304" pitchFamily="18" charset="0"/>
                  </a:rPr>
                  <a:t>.</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Nếu</a:t>
                </a:r>
                <a:r>
                  <a:rPr lang="en-US" sz="48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4800" i="1">
                            <a:latin typeface="Cambria Math" panose="02040503050406030204" pitchFamily="18" charset="0"/>
                          </a:rPr>
                        </m:ctrlPr>
                      </m:sSubPr>
                      <m:e>
                        <m:r>
                          <a:rPr lang="en-US" sz="4800" i="1">
                            <a:latin typeface="Cambria Math" panose="02040503050406030204" pitchFamily="18" charset="0"/>
                          </a:rPr>
                          <m:t>𝛿</m:t>
                        </m:r>
                      </m:e>
                      <m:sub>
                        <m:r>
                          <a:rPr lang="en-US" sz="4800" i="1">
                            <a:latin typeface="Cambria Math" panose="02040503050406030204" pitchFamily="18" charset="0"/>
                          </a:rPr>
                          <m:t>𝑎</m:t>
                        </m:r>
                      </m:sub>
                    </m:sSub>
                  </m:oMath>
                </a14:m>
                <a:r>
                  <a:rPr lang="en-US" sz="4800" dirty="0">
                    <a:latin typeface="Times New Roman" panose="02020603050405020304" pitchFamily="18" charset="0"/>
                    <a:cs typeface="Times New Roman" panose="02020603050405020304" pitchFamily="18" charset="0"/>
                  </a:rPr>
                  <a:t> hay </a:t>
                </a:r>
                <a14:m>
                  <m:oMath xmlns:m="http://schemas.openxmlformats.org/officeDocument/2006/math">
                    <m:f>
                      <m:fPr>
                        <m:ctrlPr>
                          <a:rPr lang="en-US" sz="4800" i="1">
                            <a:latin typeface="Cambria Math" panose="02040503050406030204" pitchFamily="18" charset="0"/>
                          </a:rPr>
                        </m:ctrlPr>
                      </m:fPr>
                      <m:num>
                        <m:r>
                          <a:rPr lang="en-US" sz="4800" i="1">
                            <a:latin typeface="Cambria Math" panose="02040503050406030204" pitchFamily="18" charset="0"/>
                          </a:rPr>
                          <m:t>𝑑</m:t>
                        </m:r>
                      </m:num>
                      <m:den>
                        <m:d>
                          <m:dPr>
                            <m:begChr m:val="|"/>
                            <m:endChr m:val="|"/>
                            <m:ctrlPr>
                              <a:rPr lang="en-US" sz="4800" i="1">
                                <a:latin typeface="Cambria Math" panose="02040503050406030204" pitchFamily="18" charset="0"/>
                              </a:rPr>
                            </m:ctrlPr>
                          </m:dPr>
                          <m:e>
                            <m:r>
                              <a:rPr lang="en-US" sz="4800" i="1">
                                <a:latin typeface="Cambria Math" panose="02040503050406030204" pitchFamily="18" charset="0"/>
                              </a:rPr>
                              <m:t>𝑎</m:t>
                            </m:r>
                          </m:e>
                        </m:d>
                      </m:den>
                    </m:f>
                  </m:oMath>
                </a14:m>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càng</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nhỏ</a:t>
                </a:r>
                <a:r>
                  <a:rPr lang="en-US" sz="4800" dirty="0">
                    <a:latin typeface="Times New Roman" panose="02020603050405020304" pitchFamily="18" charset="0"/>
                    <a:cs typeface="Times New Roman" panose="02020603050405020304" pitchFamily="18" charset="0"/>
                  </a:rPr>
                  <a:t> </a:t>
                </a:r>
                <a:r>
                  <a:rPr lang="vi-VN" sz="4800" dirty="0">
                    <a:latin typeface="Times New Roman" panose="02020603050405020304" pitchFamily="18" charset="0"/>
                    <a:cs typeface="Times New Roman" panose="02020603050405020304" pitchFamily="18" charset="0"/>
                  </a:rPr>
                  <a:t>thì</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chất</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lượng</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của</a:t>
                </a:r>
                <a:r>
                  <a:rPr lang="en-US" sz="4800" dirty="0">
                    <a:latin typeface="Times New Roman" panose="02020603050405020304" pitchFamily="18" charset="0"/>
                    <a:cs typeface="Times New Roman" panose="02020603050405020304" pitchFamily="18" charset="0"/>
                  </a:rPr>
                  <a:t> </a:t>
                </a:r>
                <a:r>
                  <a:rPr lang="en-US" sz="4800" dirty="0" err="1" smtClean="0">
                    <a:latin typeface="Times New Roman" panose="02020603050405020304" pitchFamily="18" charset="0"/>
                    <a:cs typeface="Times New Roman" panose="02020603050405020304" pitchFamily="18" charset="0"/>
                  </a:rPr>
                  <a:t>phép</a:t>
                </a:r>
                <a:r>
                  <a:rPr lang="en-US" sz="4800" dirty="0">
                    <a:latin typeface="Times New Roman" panose="02020603050405020304" pitchFamily="18" charset="0"/>
                    <a:cs typeface="Times New Roman" panose="02020603050405020304" pitchFamily="18" charset="0"/>
                  </a:rPr>
                  <a:t> </a:t>
                </a:r>
                <a:r>
                  <a:rPr lang="en-US" sz="4800" dirty="0" err="1" smtClean="0">
                    <a:latin typeface="Times New Roman" panose="02020603050405020304" pitchFamily="18" charset="0"/>
                    <a:cs typeface="Times New Roman" panose="02020603050405020304" pitchFamily="18" charset="0"/>
                  </a:rPr>
                  <a:t>đo</a:t>
                </a:r>
                <a:r>
                  <a:rPr lang="en-US" sz="4800" dirty="0" smtClean="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đạc</a:t>
                </a:r>
                <a:r>
                  <a:rPr lang="en-US" sz="4800" dirty="0">
                    <a:latin typeface="Times New Roman" panose="02020603050405020304" pitchFamily="18" charset="0"/>
                    <a:cs typeface="Times New Roman" panose="02020603050405020304" pitchFamily="18" charset="0"/>
                  </a:rPr>
                  <a:t> hay </a:t>
                </a:r>
                <a:r>
                  <a:rPr lang="en-US" sz="4800" dirty="0" err="1">
                    <a:latin typeface="Times New Roman" panose="02020603050405020304" pitchFamily="18" charset="0"/>
                    <a:cs typeface="Times New Roman" panose="02020603050405020304" pitchFamily="18" charset="0"/>
                  </a:rPr>
                  <a:t>tính</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toán</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càng</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cao</a:t>
                </a:r>
                <a:r>
                  <a:rPr lang="en-US" sz="4800" dirty="0">
                    <a:latin typeface="Times New Roman" panose="02020603050405020304" pitchFamily="18" charset="0"/>
                    <a:cs typeface="Times New Roman" panose="02020603050405020304" pitchFamily="18" charset="0"/>
                  </a:rPr>
                  <a:t>.</a:t>
                </a:r>
              </a:p>
              <a:p>
                <a:pPr algn="just"/>
                <a:r>
                  <a:rPr lang="en-US" sz="4800" dirty="0" err="1">
                    <a:latin typeface="Times New Roman" panose="02020603050405020304" pitchFamily="18" charset="0"/>
                    <a:cs typeface="Times New Roman" panose="02020603050405020304" pitchFamily="18" charset="0"/>
                  </a:rPr>
                  <a:t>Người</a:t>
                </a:r>
                <a:r>
                  <a:rPr lang="en-US" sz="4800" dirty="0">
                    <a:latin typeface="Times New Roman" panose="02020603050405020304" pitchFamily="18" charset="0"/>
                    <a:cs typeface="Times New Roman" panose="02020603050405020304" pitchFamily="18" charset="0"/>
                  </a:rPr>
                  <a:t> ta </a:t>
                </a:r>
                <a:r>
                  <a:rPr lang="en-US" sz="4800" dirty="0" err="1">
                    <a:latin typeface="Times New Roman" panose="02020603050405020304" pitchFamily="18" charset="0"/>
                    <a:cs typeface="Times New Roman" panose="02020603050405020304" pitchFamily="18" charset="0"/>
                  </a:rPr>
                  <a:t>thường</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viết</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sai</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số</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tương</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đối</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dưới</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dạng</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phần</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trăm</a:t>
                </a:r>
                <a:r>
                  <a:rPr lang="en-US" sz="4800" dirty="0" smtClean="0">
                    <a:latin typeface="Times New Roman" panose="02020603050405020304" pitchFamily="18" charset="0"/>
                    <a:cs typeface="Times New Roman" panose="02020603050405020304" pitchFamily="18" charset="0"/>
                  </a:rPr>
                  <a:t>.</a:t>
                </a:r>
                <a:endParaRPr lang="en-US" sz="4800" dirty="0">
                  <a:solidFill>
                    <a:srgbClr val="000000"/>
                  </a:solidFill>
                  <a:latin typeface="Times New Roman" panose="02020603050405020304" pitchFamily="18" charset="0"/>
                  <a:cs typeface="Times New Roman" panose="02020603050405020304" pitchFamily="18" charset="0"/>
                </a:endParaRPr>
              </a:p>
              <a:p>
                <a:pPr algn="just" eaLnBrk="1" fontAlgn="base" hangingPunct="1">
                  <a:spcBef>
                    <a:spcPct val="20000"/>
                  </a:spcBef>
                  <a:spcAft>
                    <a:spcPct val="0"/>
                  </a:spcAft>
                </a:pPr>
                <a:endParaRPr lang="en-US" altLang="en-US" sz="4800" dirty="0">
                  <a:solidFill>
                    <a:srgbClr val="0000FF"/>
                  </a:solidFill>
                  <a:latin typeface="Times New Roman" panose="02020603050405020304" pitchFamily="18" charset="0"/>
                  <a:cs typeface="Times New Roman" panose="02020603050405020304" pitchFamily="18" charset="0"/>
                </a:endParaRPr>
              </a:p>
            </p:txBody>
          </p:sp>
        </mc:Choice>
        <mc:Fallback>
          <p:sp>
            <p:nvSpPr>
              <p:cNvPr id="70660" name="Rectangle 4">
                <a:extLst>
                  <a:ext uri="{FF2B5EF4-FFF2-40B4-BE49-F238E27FC236}">
                    <a16:creationId xmlns:a16="http://schemas.microsoft.com/office/drawing/2014/main" id="{553CC31B-CCA9-8D14-4AB9-AC9B785A0D42}"/>
                  </a:ext>
                </a:extLst>
              </p:cNvPr>
              <p:cNvSpPr>
                <a:spLocks noRot="1" noChangeAspect="1" noMove="1" noResize="1" noEditPoints="1" noAdjustHandles="1" noChangeArrowheads="1" noChangeShapeType="1" noTextEdit="1"/>
              </p:cNvSpPr>
              <p:nvPr/>
            </p:nvSpPr>
            <p:spPr bwMode="auto">
              <a:xfrm>
                <a:off x="838200" y="2667000"/>
                <a:ext cx="23241000" cy="4724400"/>
              </a:xfrm>
              <a:prstGeom prst="rect">
                <a:avLst/>
              </a:prstGeom>
              <a:blipFill>
                <a:blip r:embed="rId2"/>
                <a:stretch>
                  <a:fillRect l="-1207" t="-2839" r="-1180" b="-3226"/>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
        <p:nvSpPr>
          <p:cNvPr id="2" name="Rectangle 3">
            <a:extLst>
              <a:ext uri="{FF2B5EF4-FFF2-40B4-BE49-F238E27FC236}">
                <a16:creationId xmlns:a16="http://schemas.microsoft.com/office/drawing/2014/main" id="{8B3D1A25-37D7-DEEF-C8B6-3E86306CA843}"/>
              </a:ext>
            </a:extLst>
          </p:cNvPr>
          <p:cNvSpPr>
            <a:spLocks noChangeArrowheads="1"/>
          </p:cNvSpPr>
          <p:nvPr/>
        </p:nvSpPr>
        <p:spPr bwMode="auto">
          <a:xfrm>
            <a:off x="3048003" y="-296853"/>
            <a:ext cx="369397" cy="1508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82880" tIns="91440" rIns="182880" bIns="91440" numCol="1" anchor="ctr" anchorCtr="0" compatLnSpc="1">
            <a:prstTxWarp prst="textNoShape">
              <a:avLst/>
            </a:prstTxWarp>
            <a:spAutoFit/>
          </a:bodyPr>
          <a:lstStyle/>
          <a:p>
            <a:pPr fontAlgn="base">
              <a:spcBef>
                <a:spcPct val="0"/>
              </a:spcBef>
              <a:spcAft>
                <a:spcPct val="0"/>
              </a:spcAft>
            </a:pPr>
            <a:endParaRPr lang="en-US" sz="8600">
              <a:solidFill>
                <a:srgbClr val="000000"/>
              </a:solidFill>
              <a:latin typeface="Arial" panose="020B0604020202020204" pitchFamily="34" charset="0"/>
              <a:cs typeface="Arial" panose="020B0604020202020204" pitchFamily="34" charset="0"/>
            </a:endParaRPr>
          </a:p>
        </p:txBody>
      </p:sp>
      <p:sp>
        <p:nvSpPr>
          <p:cNvPr id="4" name="Content Placeholder 2">
            <a:extLst>
              <a:ext uri="{FF2B5EF4-FFF2-40B4-BE49-F238E27FC236}">
                <a16:creationId xmlns:a16="http://schemas.microsoft.com/office/drawing/2014/main" id="{14822BB7-DB89-4357-87F0-6E511FC44A6A}"/>
              </a:ext>
            </a:extLst>
          </p:cNvPr>
          <p:cNvSpPr txBox="1">
            <a:spLocks/>
          </p:cNvSpPr>
          <p:nvPr/>
        </p:nvSpPr>
        <p:spPr>
          <a:xfrm>
            <a:off x="414528" y="1676400"/>
            <a:ext cx="6367272" cy="838200"/>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b="1" dirty="0">
                <a:solidFill>
                  <a:schemeClr val="accent5">
                    <a:lumMod val="75000"/>
                  </a:schemeClr>
                </a:solidFill>
              </a:rPr>
              <a:t> b. Sai </a:t>
            </a:r>
            <a:r>
              <a:rPr lang="en-US" b="1" dirty="0" err="1">
                <a:solidFill>
                  <a:schemeClr val="accent5">
                    <a:lumMod val="75000"/>
                  </a:schemeClr>
                </a:solidFill>
              </a:rPr>
              <a:t>số</a:t>
            </a:r>
            <a:r>
              <a:rPr lang="en-US" b="1" dirty="0">
                <a:solidFill>
                  <a:schemeClr val="accent5">
                    <a:lumMod val="75000"/>
                  </a:schemeClr>
                </a:solidFill>
              </a:rPr>
              <a:t> </a:t>
            </a:r>
            <a:r>
              <a:rPr lang="en-US" b="1" dirty="0" err="1">
                <a:solidFill>
                  <a:schemeClr val="accent5">
                    <a:lumMod val="75000"/>
                  </a:schemeClr>
                </a:solidFill>
              </a:rPr>
              <a:t>tương</a:t>
            </a:r>
            <a:r>
              <a:rPr lang="en-US" b="1" dirty="0">
                <a:solidFill>
                  <a:schemeClr val="accent5">
                    <a:lumMod val="75000"/>
                  </a:schemeClr>
                </a:solidFill>
              </a:rPr>
              <a:t> </a:t>
            </a:r>
            <a:r>
              <a:rPr lang="en-US" b="1" dirty="0" err="1">
                <a:solidFill>
                  <a:schemeClr val="accent5">
                    <a:lumMod val="75000"/>
                  </a:schemeClr>
                </a:solidFill>
              </a:rPr>
              <a:t>đối</a:t>
            </a:r>
            <a:r>
              <a:rPr lang="en-US" b="1" dirty="0">
                <a:solidFill>
                  <a:schemeClr val="accent5">
                    <a:lumMod val="75000"/>
                  </a:schemeClr>
                </a:solidFill>
              </a:rPr>
              <a:t>: </a:t>
            </a:r>
            <a:endParaRPr lang="vi-VN" dirty="0">
              <a:solidFill>
                <a:schemeClr val="accent5">
                  <a:lumMod val="75000"/>
                </a:schemeClr>
              </a:solidFill>
            </a:endParaRPr>
          </a:p>
        </p:txBody>
      </p:sp>
      <p:sp>
        <p:nvSpPr>
          <p:cNvPr id="70662" name="Rounded Rectangle 70661"/>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663" name="Rectangle 70662"/>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664" name="Rectangle 70663"/>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665" name="TextBox 70664"/>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   ·   BÀI 12</a:t>
            </a:r>
          </a:p>
        </p:txBody>
      </p:sp>
      <p:sp>
        <p:nvSpPr>
          <p:cNvPr id="70666" name="TextBox 70665"/>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425371877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Effect transition="in" filter="fade">
                                      <p:cBhvr>
                                        <p:cTn id="11" dur="500"/>
                                        <p:tgtEl>
                                          <p:spTgt spid="4">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70660"/>
                                        </p:tgtEl>
                                        <p:attrNameLst>
                                          <p:attrName>style.visibility</p:attrName>
                                        </p:attrNameLst>
                                      </p:cBhvr>
                                      <p:to>
                                        <p:strVal val="visible"/>
                                      </p:to>
                                    </p:set>
                                    <p:animEffect transition="in" filter="fade">
                                      <p:cBhvr>
                                        <p:cTn id="16" dur="500"/>
                                        <p:tgtEl>
                                          <p:spTgt spid="706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60" grpId="0" autoUpdateAnimBg="0"/>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Rectangle 3">
            <a:extLst>
              <a:ext uri="{FF2B5EF4-FFF2-40B4-BE49-F238E27FC236}">
                <a16:creationId xmlns:a16="http://schemas.microsoft.com/office/drawing/2014/main" id="{8B3D1A25-37D7-DEEF-C8B6-3E86306CA843}"/>
              </a:ext>
            </a:extLst>
          </p:cNvPr>
          <p:cNvSpPr>
            <a:spLocks noChangeArrowheads="1"/>
          </p:cNvSpPr>
          <p:nvPr/>
        </p:nvSpPr>
        <p:spPr bwMode="auto">
          <a:xfrm>
            <a:off x="3048003" y="-296853"/>
            <a:ext cx="369397" cy="1508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82880" tIns="91440" rIns="182880" bIns="91440" numCol="1" anchor="ctr" anchorCtr="0" compatLnSpc="1">
            <a:prstTxWarp prst="textNoShape">
              <a:avLst/>
            </a:prstTxWarp>
            <a:spAutoFit/>
          </a:bodyPr>
          <a:lstStyle/>
          <a:p>
            <a:pPr fontAlgn="base">
              <a:spcBef>
                <a:spcPct val="0"/>
              </a:spcBef>
              <a:spcAft>
                <a:spcPct val="0"/>
              </a:spcAft>
            </a:pPr>
            <a:endParaRPr lang="en-US" sz="8600">
              <a:solidFill>
                <a:srgbClr val="000000"/>
              </a:solidFill>
              <a:latin typeface="Arial" panose="020B0604020202020204" pitchFamily="34" charset="0"/>
              <a:cs typeface="Arial" panose="020B0604020202020204" pitchFamily="34" charset="0"/>
            </a:endParaRPr>
          </a:p>
        </p:txBody>
      </p:sp>
      <p:sp>
        <p:nvSpPr>
          <p:cNvPr id="4" name="Content Placeholder 2">
            <a:extLst>
              <a:ext uri="{FF2B5EF4-FFF2-40B4-BE49-F238E27FC236}">
                <a16:creationId xmlns:a16="http://schemas.microsoft.com/office/drawing/2014/main" id="{14822BB7-DB89-4357-87F0-6E511FC44A6A}"/>
              </a:ext>
            </a:extLst>
          </p:cNvPr>
          <p:cNvSpPr txBox="1">
            <a:spLocks/>
          </p:cNvSpPr>
          <p:nvPr/>
        </p:nvSpPr>
        <p:spPr>
          <a:xfrm>
            <a:off x="414528" y="1676400"/>
            <a:ext cx="6367272" cy="838200"/>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b="1" dirty="0">
                <a:solidFill>
                  <a:schemeClr val="accent5">
                    <a:lumMod val="75000"/>
                  </a:schemeClr>
                </a:solidFill>
              </a:rPr>
              <a:t> b. Sai </a:t>
            </a:r>
            <a:r>
              <a:rPr lang="en-US" b="1" dirty="0" err="1">
                <a:solidFill>
                  <a:schemeClr val="accent5">
                    <a:lumMod val="75000"/>
                  </a:schemeClr>
                </a:solidFill>
              </a:rPr>
              <a:t>số</a:t>
            </a:r>
            <a:r>
              <a:rPr lang="en-US" b="1" dirty="0">
                <a:solidFill>
                  <a:schemeClr val="accent5">
                    <a:lumMod val="75000"/>
                  </a:schemeClr>
                </a:solidFill>
              </a:rPr>
              <a:t> </a:t>
            </a:r>
            <a:r>
              <a:rPr lang="en-US" b="1" dirty="0" err="1">
                <a:solidFill>
                  <a:schemeClr val="accent5">
                    <a:lumMod val="75000"/>
                  </a:schemeClr>
                </a:solidFill>
              </a:rPr>
              <a:t>tương</a:t>
            </a:r>
            <a:r>
              <a:rPr lang="en-US" b="1" dirty="0">
                <a:solidFill>
                  <a:schemeClr val="accent5">
                    <a:lumMod val="75000"/>
                  </a:schemeClr>
                </a:solidFill>
              </a:rPr>
              <a:t> </a:t>
            </a:r>
            <a:r>
              <a:rPr lang="en-US" b="1" dirty="0" err="1">
                <a:solidFill>
                  <a:schemeClr val="accent5">
                    <a:lumMod val="75000"/>
                  </a:schemeClr>
                </a:solidFill>
              </a:rPr>
              <a:t>đối</a:t>
            </a:r>
            <a:r>
              <a:rPr lang="en-US" b="1" dirty="0">
                <a:solidFill>
                  <a:schemeClr val="accent5">
                    <a:lumMod val="75000"/>
                  </a:schemeClr>
                </a:solidFill>
              </a:rPr>
              <a:t>: </a:t>
            </a:r>
            <a:endParaRPr lang="vi-VN" dirty="0">
              <a:solidFill>
                <a:schemeClr val="accent5">
                  <a:lumMod val="75000"/>
                </a:schemeClr>
              </a:solidFill>
            </a:endParaRPr>
          </a:p>
        </p:txBody>
      </p:sp>
      <p:sp>
        <p:nvSpPr>
          <p:cNvPr id="5" name="TextBox 56"/>
          <p:cNvSpPr txBox="1"/>
          <p:nvPr/>
        </p:nvSpPr>
        <p:spPr>
          <a:xfrm>
            <a:off x="838200" y="2782922"/>
            <a:ext cx="16811917" cy="3450792"/>
          </a:xfrm>
          <a:prstGeom prst="rect">
            <a:avLst/>
          </a:prstGeom>
          <a:noFill/>
        </p:spPr>
        <p:txBody>
          <a:bodyPr wrap="square">
            <a:noAutofit/>
          </a:bodyPr>
          <a:lstStyle/>
          <a:p>
            <a:pPr algn="just">
              <a:lnSpc>
                <a:spcPct val="107000"/>
              </a:lnSpc>
              <a:spcAft>
                <a:spcPts val="800"/>
              </a:spcAft>
            </a:pPr>
            <a:r>
              <a:rPr lang="en-US" sz="4800" b="1" kern="1200" dirty="0" err="1">
                <a:solidFill>
                  <a:srgbClr val="0000CC"/>
                </a:solidFill>
                <a:effectLst/>
                <a:latin typeface="Calibri" panose="020F0502020204030204" pitchFamily="34" charset="0"/>
                <a:ea typeface="Calibri" panose="020F0502020204030204" pitchFamily="34" charset="0"/>
                <a:cs typeface="Times New Roman" panose="02020603050405020304" pitchFamily="18" charset="0"/>
              </a:rPr>
              <a:t>Ví</a:t>
            </a:r>
            <a:r>
              <a:rPr lang="en-US" sz="4800" b="1" kern="1200" dirty="0">
                <a:solidFill>
                  <a:srgbClr val="0000CC"/>
                </a:solidFill>
                <a:effectLst/>
                <a:latin typeface="Calibri" panose="020F0502020204030204" pitchFamily="34" charset="0"/>
                <a:ea typeface="Calibri" panose="020F0502020204030204" pitchFamily="34" charset="0"/>
                <a:cs typeface="Times New Roman" panose="02020603050405020304" pitchFamily="18" charset="0"/>
              </a:rPr>
              <a:t> </a:t>
            </a:r>
            <a:r>
              <a:rPr lang="en-US" sz="4800" b="1" kern="1200" dirty="0" err="1">
                <a:solidFill>
                  <a:srgbClr val="0000CC"/>
                </a:solidFill>
                <a:effectLst/>
                <a:latin typeface="Calibri" panose="020F0502020204030204" pitchFamily="34" charset="0"/>
                <a:ea typeface="Calibri" panose="020F0502020204030204" pitchFamily="34" charset="0"/>
                <a:cs typeface="Times New Roman" panose="02020603050405020304" pitchFamily="18" charset="0"/>
              </a:rPr>
              <a:t>dụ</a:t>
            </a:r>
            <a:r>
              <a:rPr lang="en-US" sz="4800" b="1" kern="1200" dirty="0">
                <a:solidFill>
                  <a:srgbClr val="0000CC"/>
                </a:solidFill>
                <a:effectLst/>
                <a:latin typeface="Calibri" panose="020F0502020204030204" pitchFamily="34" charset="0"/>
                <a:ea typeface="Calibri" panose="020F0502020204030204" pitchFamily="34" charset="0"/>
                <a:cs typeface="Times New Roman" panose="02020603050405020304" pitchFamily="18" charset="0"/>
              </a:rPr>
              <a:t> 3.</a:t>
            </a:r>
            <a:endParaRPr lang="en-US" sz="48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r>
              <a:rPr lang="en-US" sz="4800" dirty="0" err="1">
                <a:effectLst/>
                <a:latin typeface="Times New Roman" panose="02020603050405020304" pitchFamily="18" charset="0"/>
                <a:ea typeface="Calibri" panose="020F0502020204030204" pitchFamily="34" charset="0"/>
                <a:cs typeface="Times New Roman" panose="02020603050405020304" pitchFamily="18" charset="0"/>
              </a:rPr>
              <a:t>Trong</a:t>
            </a:r>
            <a:r>
              <a:rPr lang="en-US" sz="4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4800" dirty="0" err="1">
                <a:effectLst/>
                <a:latin typeface="Times New Roman" panose="02020603050405020304" pitchFamily="18" charset="0"/>
                <a:ea typeface="Calibri" panose="020F0502020204030204" pitchFamily="34" charset="0"/>
                <a:cs typeface="Times New Roman" panose="02020603050405020304" pitchFamily="18" charset="0"/>
              </a:rPr>
              <a:t>một</a:t>
            </a:r>
            <a:r>
              <a:rPr lang="en-US" sz="4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4800" dirty="0" err="1">
                <a:effectLst/>
                <a:latin typeface="Times New Roman" panose="02020603050405020304" pitchFamily="18" charset="0"/>
                <a:ea typeface="Calibri" panose="020F0502020204030204" pitchFamily="34" charset="0"/>
                <a:cs typeface="Times New Roman" panose="02020603050405020304" pitchFamily="18" charset="0"/>
              </a:rPr>
              <a:t>cuộc</a:t>
            </a:r>
            <a:r>
              <a:rPr lang="en-US" sz="4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4800" dirty="0" err="1">
                <a:effectLst/>
                <a:latin typeface="Times New Roman" panose="02020603050405020304" pitchFamily="18" charset="0"/>
                <a:ea typeface="Calibri" panose="020F0502020204030204" pitchFamily="34" charset="0"/>
                <a:cs typeface="Times New Roman" panose="02020603050405020304" pitchFamily="18" charset="0"/>
              </a:rPr>
              <a:t>điều</a:t>
            </a:r>
            <a:r>
              <a:rPr lang="en-US" sz="4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4800" dirty="0" err="1">
                <a:effectLst/>
                <a:latin typeface="Times New Roman" panose="02020603050405020304" pitchFamily="18" charset="0"/>
                <a:ea typeface="Calibri" panose="020F0502020204030204" pitchFamily="34" charset="0"/>
                <a:cs typeface="Times New Roman" panose="02020603050405020304" pitchFamily="18" charset="0"/>
              </a:rPr>
              <a:t>tra</a:t>
            </a:r>
            <a:r>
              <a:rPr lang="en-US" sz="4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4800" dirty="0" err="1">
                <a:effectLst/>
                <a:latin typeface="Times New Roman" panose="02020603050405020304" pitchFamily="18" charset="0"/>
                <a:ea typeface="Calibri" panose="020F0502020204030204" pitchFamily="34" charset="0"/>
                <a:cs typeface="Times New Roman" panose="02020603050405020304" pitchFamily="18" charset="0"/>
              </a:rPr>
              <a:t>dân</a:t>
            </a:r>
            <a:r>
              <a:rPr lang="en-US" sz="4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4800" dirty="0" err="1">
                <a:effectLst/>
                <a:latin typeface="Times New Roman" panose="02020603050405020304" pitchFamily="18" charset="0"/>
                <a:ea typeface="Calibri" panose="020F0502020204030204" pitchFamily="34" charset="0"/>
                <a:cs typeface="Times New Roman" panose="02020603050405020304" pitchFamily="18" charset="0"/>
              </a:rPr>
              <a:t>số</a:t>
            </a:r>
            <a:r>
              <a:rPr lang="en-US" sz="4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4800" dirty="0" err="1">
                <a:effectLst/>
                <a:latin typeface="Times New Roman" panose="02020603050405020304" pitchFamily="18" charset="0"/>
                <a:ea typeface="Calibri" panose="020F0502020204030204" pitchFamily="34" charset="0"/>
                <a:cs typeface="Times New Roman" panose="02020603050405020304" pitchFamily="18" charset="0"/>
              </a:rPr>
              <a:t>người</a:t>
            </a:r>
            <a:r>
              <a:rPr lang="en-US" sz="4800" dirty="0">
                <a:effectLst/>
                <a:latin typeface="Times New Roman" panose="02020603050405020304" pitchFamily="18" charset="0"/>
                <a:ea typeface="Calibri" panose="020F0502020204030204" pitchFamily="34" charset="0"/>
                <a:cs typeface="Times New Roman" panose="02020603050405020304" pitchFamily="18" charset="0"/>
              </a:rPr>
              <a:t> ta </a:t>
            </a:r>
            <a:r>
              <a:rPr lang="en-US" sz="4800" dirty="0" err="1">
                <a:effectLst/>
                <a:latin typeface="Times New Roman" panose="02020603050405020304" pitchFamily="18" charset="0"/>
                <a:ea typeface="Calibri" panose="020F0502020204030204" pitchFamily="34" charset="0"/>
                <a:cs typeface="Times New Roman" panose="02020603050405020304" pitchFamily="18" charset="0"/>
              </a:rPr>
              <a:t>viết</a:t>
            </a:r>
            <a:r>
              <a:rPr lang="en-US" sz="4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4800" dirty="0" err="1">
                <a:effectLst/>
                <a:latin typeface="Times New Roman" panose="02020603050405020304" pitchFamily="18" charset="0"/>
                <a:ea typeface="Calibri" panose="020F0502020204030204" pitchFamily="34" charset="0"/>
                <a:cs typeface="Times New Roman" panose="02020603050405020304" pitchFamily="18" charset="0"/>
              </a:rPr>
              <a:t>dân</a:t>
            </a:r>
            <a:r>
              <a:rPr lang="en-US" sz="4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4800" dirty="0" err="1">
                <a:effectLst/>
                <a:latin typeface="Times New Roman" panose="02020603050405020304" pitchFamily="18" charset="0"/>
                <a:ea typeface="Calibri" panose="020F0502020204030204" pitchFamily="34" charset="0"/>
                <a:cs typeface="Times New Roman" panose="02020603050405020304" pitchFamily="18" charset="0"/>
              </a:rPr>
              <a:t>số</a:t>
            </a:r>
            <a:r>
              <a:rPr lang="en-US" sz="4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4800" dirty="0" err="1">
                <a:effectLst/>
                <a:latin typeface="Times New Roman" panose="02020603050405020304" pitchFamily="18" charset="0"/>
                <a:ea typeface="Calibri" panose="020F0502020204030204" pitchFamily="34" charset="0"/>
                <a:cs typeface="Times New Roman" panose="02020603050405020304" pitchFamily="18" charset="0"/>
              </a:rPr>
              <a:t>của</a:t>
            </a:r>
            <a:r>
              <a:rPr lang="en-US" sz="4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4800" dirty="0" err="1">
                <a:effectLst/>
                <a:latin typeface="Times New Roman" panose="02020603050405020304" pitchFamily="18" charset="0"/>
                <a:ea typeface="Calibri" panose="020F0502020204030204" pitchFamily="34" charset="0"/>
                <a:cs typeface="Times New Roman" panose="02020603050405020304" pitchFamily="18" charset="0"/>
              </a:rPr>
              <a:t>một</a:t>
            </a:r>
            <a:r>
              <a:rPr lang="en-US" sz="4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4800" dirty="0" err="1">
                <a:effectLst/>
                <a:latin typeface="Times New Roman" panose="02020603050405020304" pitchFamily="18" charset="0"/>
                <a:ea typeface="Calibri" panose="020F0502020204030204" pitchFamily="34" charset="0"/>
                <a:cs typeface="Times New Roman" panose="02020603050405020304" pitchFamily="18" charset="0"/>
              </a:rPr>
              <a:t>tỉnh</a:t>
            </a:r>
            <a:r>
              <a:rPr lang="en-US" sz="4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4800" dirty="0" err="1">
                <a:effectLst/>
                <a:latin typeface="Times New Roman" panose="02020603050405020304" pitchFamily="18" charset="0"/>
                <a:ea typeface="Calibri" panose="020F0502020204030204" pitchFamily="34" charset="0"/>
                <a:cs typeface="Times New Roman" panose="02020603050405020304" pitchFamily="18" charset="0"/>
              </a:rPr>
              <a:t>là</a:t>
            </a:r>
            <a:r>
              <a:rPr lang="en-US" sz="4800" dirty="0">
                <a:effectLst/>
                <a:latin typeface="Times New Roman" panose="02020603050405020304" pitchFamily="18" charset="0"/>
                <a:ea typeface="Calibri" panose="020F0502020204030204" pitchFamily="34" charset="0"/>
                <a:cs typeface="Times New Roman" panose="02020603050405020304" pitchFamily="18" charset="0"/>
              </a:rPr>
              <a:t> 3 574 625 </a:t>
            </a:r>
            <a:r>
              <a:rPr lang="en-US" sz="4800" dirty="0" err="1">
                <a:effectLst/>
                <a:latin typeface="Times New Roman" panose="02020603050405020304" pitchFamily="18" charset="0"/>
                <a:ea typeface="Calibri" panose="020F0502020204030204" pitchFamily="34" charset="0"/>
                <a:cs typeface="Times New Roman" panose="02020603050405020304" pitchFamily="18" charset="0"/>
              </a:rPr>
              <a:t>người</a:t>
            </a:r>
            <a:r>
              <a:rPr lang="en-US" sz="4800" dirty="0">
                <a:effectLst/>
                <a:latin typeface="Times New Roman" panose="02020603050405020304" pitchFamily="18" charset="0"/>
                <a:ea typeface="Calibri" panose="020F0502020204030204" pitchFamily="34" charset="0"/>
                <a:cs typeface="Times New Roman" panose="02020603050405020304" pitchFamily="18" charset="0"/>
              </a:rPr>
              <a:t> + 50 000 </a:t>
            </a:r>
            <a:r>
              <a:rPr lang="en-US" sz="4800" dirty="0" err="1">
                <a:effectLst/>
                <a:latin typeface="Times New Roman" panose="02020603050405020304" pitchFamily="18" charset="0"/>
                <a:ea typeface="Calibri" panose="020F0502020204030204" pitchFamily="34" charset="0"/>
                <a:cs typeface="Times New Roman" panose="02020603050405020304" pitchFamily="18" charset="0"/>
              </a:rPr>
              <a:t>người</a:t>
            </a:r>
            <a:r>
              <a:rPr lang="en-US" sz="4800" dirty="0">
                <a:effectLst/>
                <a:latin typeface="Times New Roman" panose="02020603050405020304" pitchFamily="18" charset="0"/>
                <a:ea typeface="Calibri" panose="020F0502020204030204" pitchFamily="34" charset="0"/>
                <a:cs typeface="Times New Roman" panose="02020603050405020304" pitchFamily="18" charset="0"/>
              </a:rPr>
              <a:t>.</a:t>
            </a:r>
          </a:p>
          <a:p>
            <a:pPr algn="just">
              <a:lnSpc>
                <a:spcPct val="107000"/>
              </a:lnSpc>
              <a:spcAft>
                <a:spcPts val="800"/>
              </a:spcAft>
            </a:pPr>
            <a:r>
              <a:rPr lang="en-US" sz="4800" dirty="0" err="1">
                <a:effectLst/>
                <a:latin typeface="Times New Roman" panose="02020603050405020304" pitchFamily="18" charset="0"/>
                <a:ea typeface="Calibri" panose="020F0502020204030204" pitchFamily="34" charset="0"/>
                <a:cs typeface="Times New Roman" panose="02020603050405020304" pitchFamily="18" charset="0"/>
              </a:rPr>
              <a:t>Hãy</a:t>
            </a:r>
            <a:r>
              <a:rPr lang="en-US" sz="4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4800" dirty="0" err="1">
                <a:effectLst/>
                <a:latin typeface="Times New Roman" panose="02020603050405020304" pitchFamily="18" charset="0"/>
                <a:ea typeface="Calibri" panose="020F0502020204030204" pitchFamily="34" charset="0"/>
                <a:cs typeface="Times New Roman" panose="02020603050405020304" pitchFamily="18" charset="0"/>
              </a:rPr>
              <a:t>đánh</a:t>
            </a:r>
            <a:r>
              <a:rPr lang="en-US" sz="4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4800" dirty="0" err="1">
                <a:effectLst/>
                <a:latin typeface="Times New Roman" panose="02020603050405020304" pitchFamily="18" charset="0"/>
                <a:ea typeface="Calibri" panose="020F0502020204030204" pitchFamily="34" charset="0"/>
                <a:cs typeface="Times New Roman" panose="02020603050405020304" pitchFamily="18" charset="0"/>
              </a:rPr>
              <a:t>giá</a:t>
            </a:r>
            <a:r>
              <a:rPr lang="en-US" sz="4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4800" dirty="0" err="1">
                <a:effectLst/>
                <a:latin typeface="Times New Roman" panose="02020603050405020304" pitchFamily="18" charset="0"/>
                <a:ea typeface="Calibri" panose="020F0502020204030204" pitchFamily="34" charset="0"/>
                <a:cs typeface="Times New Roman" panose="02020603050405020304" pitchFamily="18" charset="0"/>
              </a:rPr>
              <a:t>sai</a:t>
            </a:r>
            <a:r>
              <a:rPr lang="en-US" sz="4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4800" dirty="0" err="1">
                <a:effectLst/>
                <a:latin typeface="Times New Roman" panose="02020603050405020304" pitchFamily="18" charset="0"/>
                <a:ea typeface="Calibri" panose="020F0502020204030204" pitchFamily="34" charset="0"/>
                <a:cs typeface="Times New Roman" panose="02020603050405020304" pitchFamily="18" charset="0"/>
              </a:rPr>
              <a:t>số</a:t>
            </a:r>
            <a:r>
              <a:rPr lang="en-US" sz="4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4800" dirty="0" err="1">
                <a:effectLst/>
                <a:latin typeface="Times New Roman" panose="02020603050405020304" pitchFamily="18" charset="0"/>
                <a:ea typeface="Calibri" panose="020F0502020204030204" pitchFamily="34" charset="0"/>
                <a:cs typeface="Times New Roman" panose="02020603050405020304" pitchFamily="18" charset="0"/>
              </a:rPr>
              <a:t>tương</a:t>
            </a:r>
            <a:r>
              <a:rPr lang="en-US" sz="4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4800" dirty="0" err="1">
                <a:effectLst/>
                <a:latin typeface="Times New Roman" panose="02020603050405020304" pitchFamily="18" charset="0"/>
                <a:ea typeface="Calibri" panose="020F0502020204030204" pitchFamily="34" charset="0"/>
                <a:cs typeface="Times New Roman" panose="02020603050405020304" pitchFamily="18" charset="0"/>
              </a:rPr>
              <a:t>đối</a:t>
            </a:r>
            <a:r>
              <a:rPr lang="en-US" sz="4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4800" dirty="0" err="1">
                <a:effectLst/>
                <a:latin typeface="Times New Roman" panose="02020603050405020304" pitchFamily="18" charset="0"/>
                <a:ea typeface="Calibri" panose="020F0502020204030204" pitchFamily="34" charset="0"/>
                <a:cs typeface="Times New Roman" panose="02020603050405020304" pitchFamily="18" charset="0"/>
              </a:rPr>
              <a:t>của</a:t>
            </a:r>
            <a:r>
              <a:rPr lang="en-US" sz="4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4800" dirty="0" err="1">
                <a:effectLst/>
                <a:latin typeface="Times New Roman" panose="02020603050405020304" pitchFamily="18" charset="0"/>
                <a:ea typeface="Calibri" panose="020F0502020204030204" pitchFamily="34" charset="0"/>
                <a:cs typeface="Times New Roman" panose="02020603050405020304" pitchFamily="18" charset="0"/>
              </a:rPr>
              <a:t>số</a:t>
            </a:r>
            <a:r>
              <a:rPr lang="en-US" sz="4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4800" dirty="0" err="1">
                <a:effectLst/>
                <a:latin typeface="Times New Roman" panose="02020603050405020304" pitchFamily="18" charset="0"/>
                <a:ea typeface="Calibri" panose="020F0502020204030204" pitchFamily="34" charset="0"/>
                <a:cs typeface="Times New Roman" panose="02020603050405020304" pitchFamily="18" charset="0"/>
              </a:rPr>
              <a:t>gần</a:t>
            </a:r>
            <a:r>
              <a:rPr lang="en-US" sz="4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4800" dirty="0" err="1">
                <a:effectLst/>
                <a:latin typeface="Times New Roman" panose="02020603050405020304" pitchFamily="18" charset="0"/>
                <a:ea typeface="Calibri" panose="020F0502020204030204" pitchFamily="34" charset="0"/>
                <a:cs typeface="Times New Roman" panose="02020603050405020304" pitchFamily="18" charset="0"/>
              </a:rPr>
              <a:t>đúng</a:t>
            </a:r>
            <a:r>
              <a:rPr lang="en-US" sz="4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4800" dirty="0" err="1">
                <a:effectLst/>
                <a:latin typeface="Times New Roman" panose="02020603050405020304" pitchFamily="18" charset="0"/>
                <a:ea typeface="Calibri" panose="020F0502020204030204" pitchFamily="34" charset="0"/>
                <a:cs typeface="Times New Roman" panose="02020603050405020304" pitchFamily="18" charset="0"/>
              </a:rPr>
              <a:t>này</a:t>
            </a:r>
            <a:r>
              <a:rPr lang="en-US" sz="4800" dirty="0">
                <a:effectLst/>
                <a:latin typeface="Times New Roman" panose="02020603050405020304" pitchFamily="18" charset="0"/>
                <a:ea typeface="Calibri" panose="020F0502020204030204" pitchFamily="34" charset="0"/>
                <a:cs typeface="Times New Roman" panose="02020603050405020304" pitchFamily="18" charset="0"/>
              </a:rPr>
              <a:t>. </a:t>
            </a:r>
          </a:p>
          <a:p>
            <a:pPr>
              <a:lnSpc>
                <a:spcPct val="107000"/>
              </a:lnSpc>
              <a:spcAft>
                <a:spcPts val="800"/>
              </a:spcAft>
            </a:pPr>
            <a:r>
              <a:rPr lang="en-US" sz="4800" b="1" kern="1200" dirty="0">
                <a:solidFill>
                  <a:srgbClr val="0000CC"/>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4800" dirty="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6" name="Picture 5"/>
          <p:cNvPicPr>
            <a:picLocks noChangeAspect="1"/>
          </p:cNvPicPr>
          <p:nvPr/>
        </p:nvPicPr>
        <p:blipFill rotWithShape="1">
          <a:blip r:embed="rId2"/>
          <a:srcRect r="27051"/>
          <a:stretch/>
        </p:blipFill>
        <p:spPr>
          <a:xfrm>
            <a:off x="838199" y="6502036"/>
            <a:ext cx="20408415" cy="4927964"/>
          </a:xfrm>
          <a:prstGeom prst="rect">
            <a:avLst/>
          </a:prstGeom>
        </p:spPr>
      </p:pic>
      <p:sp>
        <p:nvSpPr>
          <p:cNvPr id="22" name="Rounded Rectangle 21"/>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   ·   BÀI 12</a:t>
            </a:r>
          </a:p>
        </p:txBody>
      </p:sp>
      <p:sp>
        <p:nvSpPr>
          <p:cNvPr id="26" name="TextBox 25"/>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62961139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Effect transition="in" filter="wipe(up)">
                                      <p:cBhvr>
                                        <p:cTn id="11" dur="500"/>
                                        <p:tgtEl>
                                          <p:spTgt spid="4">
                                            <p:txEl>
                                              <p:pRg st="0" end="0"/>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Rectangle 97"/>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819912" y="1993904"/>
            <a:ext cx="10533888" cy="838200"/>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b="1" dirty="0">
                <a:solidFill>
                  <a:schemeClr val="accent6">
                    <a:lumMod val="75000"/>
                  </a:schemeClr>
                </a:solidFill>
              </a:rPr>
              <a:t>3</a:t>
            </a:r>
            <a:r>
              <a:rPr lang="en-US" b="1" dirty="0" smtClean="0">
                <a:solidFill>
                  <a:schemeClr val="accent6">
                    <a:lumMod val="75000"/>
                  </a:schemeClr>
                </a:solidFill>
              </a:rPr>
              <a:t>. QUY TRÒN SỐ GẦN ĐÚNG. </a:t>
            </a:r>
            <a:endParaRPr lang="vi-VN" dirty="0">
              <a:solidFill>
                <a:schemeClr val="accent6">
                  <a:lumMod val="75000"/>
                </a:schemeClr>
              </a:solidFill>
            </a:endParaRPr>
          </a:p>
        </p:txBody>
      </p:sp>
      <p:sp>
        <p:nvSpPr>
          <p:cNvPr id="8" name="Content Placeholder 2">
            <a:extLst>
              <a:ext uri="{FF2B5EF4-FFF2-40B4-BE49-F238E27FC236}">
                <a16:creationId xmlns:a16="http://schemas.microsoft.com/office/drawing/2014/main" id="{B270A3F8-6865-499A-9514-932AD5586A0D}"/>
              </a:ext>
            </a:extLst>
          </p:cNvPr>
          <p:cNvSpPr txBox="1">
            <a:spLocks/>
          </p:cNvSpPr>
          <p:nvPr/>
        </p:nvSpPr>
        <p:spPr>
          <a:xfrm>
            <a:off x="685800" y="3352800"/>
            <a:ext cx="23164800" cy="2438400"/>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dirty="0" err="1">
                <a:latin typeface="Times New Roman" panose="02020603050405020304" pitchFamily="18" charset="0"/>
                <a:ea typeface="Calibri" panose="020F0502020204030204" pitchFamily="34" charset="0"/>
              </a:rPr>
              <a:t>Trong</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thực</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tế</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đo</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đạc</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và</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tính</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toán</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nhiều</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khi</a:t>
            </a:r>
            <a:r>
              <a:rPr lang="en-US" dirty="0">
                <a:latin typeface="Times New Roman" panose="02020603050405020304" pitchFamily="18" charset="0"/>
                <a:ea typeface="Calibri" panose="020F0502020204030204" pitchFamily="34" charset="0"/>
              </a:rPr>
              <a:t> ta </a:t>
            </a:r>
            <a:r>
              <a:rPr lang="en-US" dirty="0" err="1">
                <a:latin typeface="Times New Roman" panose="02020603050405020304" pitchFamily="18" charset="0"/>
                <a:ea typeface="Calibri" panose="020F0502020204030204" pitchFamily="34" charset="0"/>
              </a:rPr>
              <a:t>chỉ</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cần</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biết</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giá</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trị</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gần</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đúng</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của</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một</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đại</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lượng</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với</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độ</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chính</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xác</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nào</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đó</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kể</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cả</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khi</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biết</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được</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giá</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trị</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đúng</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của</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nó</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Khi</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đó</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để</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cho</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gọn</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các</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số</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thường</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được</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làm</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tròn</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còn</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gọi</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là</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quy</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tròn</a:t>
            </a:r>
            <a:r>
              <a:rPr lang="en-US" dirty="0">
                <a:latin typeface="Times New Roman" panose="02020603050405020304" pitchFamily="18" charset="0"/>
                <a:ea typeface="Calibri" panose="020F0502020204030204" pitchFamily="34" charset="0"/>
              </a:rPr>
              <a:t>).</a:t>
            </a:r>
            <a:endParaRPr lang="en-US" dirty="0"/>
          </a:p>
        </p:txBody>
      </p:sp>
      <p:sp>
        <p:nvSpPr>
          <p:cNvPr id="9" name="Content Placeholder 2">
            <a:extLst>
              <a:ext uri="{FF2B5EF4-FFF2-40B4-BE49-F238E27FC236}">
                <a16:creationId xmlns:a16="http://schemas.microsoft.com/office/drawing/2014/main" id="{B270A3F8-6865-499A-9514-932AD5586A0D}"/>
              </a:ext>
            </a:extLst>
          </p:cNvPr>
          <p:cNvSpPr txBox="1">
            <a:spLocks/>
          </p:cNvSpPr>
          <p:nvPr/>
        </p:nvSpPr>
        <p:spPr>
          <a:xfrm>
            <a:off x="685800" y="6067100"/>
            <a:ext cx="23164800" cy="1781500"/>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a:latin typeface="Times New Roman" panose="02020603050405020304" pitchFamily="18" charset="0"/>
                <a:ea typeface="Calibri" panose="020F0502020204030204" pitchFamily="34" charset="0"/>
              </a:rPr>
              <a:t>Số thu được sau khi thực hiện làm tròn số được gọi là </a:t>
            </a:r>
            <a:r>
              <a:rPr lang="en-US" b="1">
                <a:latin typeface="Times New Roman" panose="02020603050405020304" pitchFamily="18" charset="0"/>
                <a:ea typeface="Calibri" panose="020F0502020204030204" pitchFamily="34" charset="0"/>
              </a:rPr>
              <a:t>số quy tròn</a:t>
            </a:r>
            <a:r>
              <a:rPr lang="en-US">
                <a:latin typeface="Times New Roman" panose="02020603050405020304" pitchFamily="18" charset="0"/>
                <a:ea typeface="Calibri" panose="020F0502020204030204" pitchFamily="34" charset="0"/>
              </a:rPr>
              <a:t>. Số quy tròn là một số gần đúng của số ban đầu. </a:t>
            </a:r>
            <a:endParaRPr lang="en-US" dirty="0"/>
          </a:p>
        </p:txBody>
      </p:sp>
      <p:sp>
        <p:nvSpPr>
          <p:cNvPr id="99" name="Rounded Rectangle 98"/>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   ·   BÀI 12</a:t>
            </a:r>
          </a:p>
        </p:txBody>
      </p:sp>
      <p:sp>
        <p:nvSpPr>
          <p:cNvPr id="103" name="TextBox 102"/>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18825020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up)">
                                      <p:cBhvr>
                                        <p:cTn id="7" dur="1000"/>
                                        <p:tgtEl>
                                          <p:spTgt spid="97"/>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up)">
                                      <p:cBhvr>
                                        <p:cTn id="11" dur="5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8">
                                            <p:txEl>
                                              <p:pRg st="0" end="0"/>
                                            </p:txEl>
                                          </p:spTgt>
                                        </p:tgtEl>
                                        <p:attrNameLst>
                                          <p:attrName>style.visibility</p:attrName>
                                        </p:attrNameLst>
                                      </p:cBhvr>
                                      <p:to>
                                        <p:strVal val="visible"/>
                                      </p:to>
                                    </p:set>
                                    <p:animEffect transition="in" filter="wipe(up)">
                                      <p:cBhvr>
                                        <p:cTn id="16" dur="500"/>
                                        <p:tgtEl>
                                          <p:spTgt spid="8">
                                            <p:txEl>
                                              <p:pRg st="0" end="0"/>
                                            </p:txEl>
                                          </p:spTgt>
                                        </p:tgtEl>
                                      </p:cBhvr>
                                    </p:animEffect>
                                  </p:childTnLst>
                                </p:cTn>
                              </p:par>
                            </p:childTnLst>
                          </p:cTn>
                        </p:par>
                        <p:par>
                          <p:cTn id="17" fill="hold">
                            <p:stCondLst>
                              <p:cond delay="500"/>
                            </p:stCondLst>
                            <p:childTnLst>
                              <p:par>
                                <p:cTn id="18" presetID="22" presetClass="entr" presetSubtype="1"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wipe(up)">
                                      <p:cBhvr>
                                        <p:cTn id="20" dur="5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9">
                                            <p:txEl>
                                              <p:pRg st="0" end="0"/>
                                            </p:txEl>
                                          </p:spTgt>
                                        </p:tgtEl>
                                        <p:attrNameLst>
                                          <p:attrName>style.visibility</p:attrName>
                                        </p:attrNameLst>
                                      </p:cBhvr>
                                      <p:to>
                                        <p:strVal val="visible"/>
                                      </p:to>
                                    </p:set>
                                    <p:animEffect transition="in" filter="wipe(up)">
                                      <p:cBhvr>
                                        <p:cTn id="25"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8" grpId="0" animBg="1"/>
      <p:bldP spid="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Rectangle 97"/>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304800" y="1676400"/>
            <a:ext cx="10533888" cy="838200"/>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b="1" dirty="0">
                <a:solidFill>
                  <a:schemeClr val="accent6">
                    <a:lumMod val="75000"/>
                  </a:schemeClr>
                </a:solidFill>
              </a:rPr>
              <a:t>3</a:t>
            </a:r>
            <a:r>
              <a:rPr lang="en-US" b="1" dirty="0" smtClean="0">
                <a:solidFill>
                  <a:schemeClr val="accent6">
                    <a:lumMod val="75000"/>
                  </a:schemeClr>
                </a:solidFill>
              </a:rPr>
              <a:t>. QUY TRÒN SỐ GẦN ĐÚNG. </a:t>
            </a:r>
            <a:endParaRPr lang="vi-VN" dirty="0">
              <a:solidFill>
                <a:schemeClr val="accent6">
                  <a:lumMod val="75000"/>
                </a:schemeClr>
              </a:solidFill>
            </a:endParaRPr>
          </a:p>
        </p:txBody>
      </p:sp>
      <p:pic>
        <p:nvPicPr>
          <p:cNvPr id="30" name="Picture 29"/>
          <p:cNvPicPr>
            <a:picLocks noChangeAspect="1"/>
          </p:cNvPicPr>
          <p:nvPr/>
        </p:nvPicPr>
        <p:blipFill rotWithShape="1">
          <a:blip r:embed="rId3"/>
          <a:srcRect r="83774" b="12500"/>
          <a:stretch/>
        </p:blipFill>
        <p:spPr>
          <a:xfrm>
            <a:off x="685800" y="2548759"/>
            <a:ext cx="3631477" cy="1143000"/>
          </a:xfrm>
          <a:prstGeom prst="rect">
            <a:avLst/>
          </a:prstGeom>
        </p:spPr>
      </p:pic>
      <p:pic>
        <p:nvPicPr>
          <p:cNvPr id="31" name="Picture 30"/>
          <p:cNvPicPr>
            <a:picLocks noChangeAspect="1"/>
          </p:cNvPicPr>
          <p:nvPr/>
        </p:nvPicPr>
        <p:blipFill>
          <a:blip r:embed="rId4"/>
          <a:stretch>
            <a:fillRect/>
          </a:stretch>
        </p:blipFill>
        <p:spPr>
          <a:xfrm>
            <a:off x="717331" y="3691759"/>
            <a:ext cx="22698439" cy="3886200"/>
          </a:xfrm>
          <a:prstGeom prst="rect">
            <a:avLst/>
          </a:prstGeom>
        </p:spPr>
      </p:pic>
      <p:pic>
        <p:nvPicPr>
          <p:cNvPr id="96" name="Picture 95"/>
          <p:cNvPicPr>
            <a:picLocks noChangeAspect="1"/>
          </p:cNvPicPr>
          <p:nvPr/>
        </p:nvPicPr>
        <p:blipFill>
          <a:blip r:embed="rId5"/>
          <a:stretch>
            <a:fillRect/>
          </a:stretch>
        </p:blipFill>
        <p:spPr>
          <a:xfrm>
            <a:off x="717331" y="7315199"/>
            <a:ext cx="20923469" cy="6141403"/>
          </a:xfrm>
          <a:prstGeom prst="rect">
            <a:avLst/>
          </a:prstGeom>
        </p:spPr>
      </p:pic>
      <p:sp>
        <p:nvSpPr>
          <p:cNvPr id="99" name="Rounded Rectangle 98"/>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   ·   BÀI 12</a:t>
            </a:r>
          </a:p>
        </p:txBody>
      </p:sp>
      <p:sp>
        <p:nvSpPr>
          <p:cNvPr id="103" name="TextBox 102"/>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14062098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up)">
                                      <p:cBhvr>
                                        <p:cTn id="7" dur="1000"/>
                                        <p:tgtEl>
                                          <p:spTgt spid="97"/>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fade">
                                      <p:cBhvr>
                                        <p:cTn id="11" dur="500"/>
                                        <p:tgtEl>
                                          <p:spTgt spid="30"/>
                                        </p:tgtEl>
                                      </p:cBhvr>
                                    </p:animEffect>
                                  </p:childTnLst>
                                </p:cTn>
                              </p:par>
                            </p:childTnLst>
                          </p:cTn>
                        </p:par>
                        <p:par>
                          <p:cTn id="12" fill="hold">
                            <p:stCondLst>
                              <p:cond delay="1500"/>
                            </p:stCondLst>
                            <p:childTnLst>
                              <p:par>
                                <p:cTn id="13" presetID="10" presetClass="entr" presetSubtype="0" fill="hold" nodeType="afterEffect">
                                  <p:stCondLst>
                                    <p:cond delay="0"/>
                                  </p:stCondLst>
                                  <p:childTnLst>
                                    <p:set>
                                      <p:cBhvr>
                                        <p:cTn id="14" dur="1" fill="hold">
                                          <p:stCondLst>
                                            <p:cond delay="0"/>
                                          </p:stCondLst>
                                        </p:cTn>
                                        <p:tgtEl>
                                          <p:spTgt spid="31"/>
                                        </p:tgtEl>
                                        <p:attrNameLst>
                                          <p:attrName>style.visibility</p:attrName>
                                        </p:attrNameLst>
                                      </p:cBhvr>
                                      <p:to>
                                        <p:strVal val="visible"/>
                                      </p:to>
                                    </p:set>
                                    <p:animEffect transition="in" filter="fade">
                                      <p:cBhvr>
                                        <p:cTn id="15" dur="500"/>
                                        <p:tgtEl>
                                          <p:spTgt spid="31"/>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96"/>
                                        </p:tgtEl>
                                        <p:attrNameLst>
                                          <p:attrName>style.visibility</p:attrName>
                                        </p:attrNameLst>
                                      </p:cBhvr>
                                      <p:to>
                                        <p:strVal val="visible"/>
                                      </p:to>
                                    </p:set>
                                    <p:animEffect transition="in" filter="fade">
                                      <p:cBhvr>
                                        <p:cTn id="20" dur="500"/>
                                        <p:tgtEl>
                                          <p:spTgt spid="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Rectangle 97"/>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304800" y="1676400"/>
            <a:ext cx="10533888" cy="838200"/>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b="1" dirty="0">
                <a:solidFill>
                  <a:schemeClr val="accent6">
                    <a:lumMod val="75000"/>
                  </a:schemeClr>
                </a:solidFill>
              </a:rPr>
              <a:t>3</a:t>
            </a:r>
            <a:r>
              <a:rPr lang="en-US" b="1" dirty="0" smtClean="0">
                <a:solidFill>
                  <a:schemeClr val="accent6">
                    <a:lumMod val="75000"/>
                  </a:schemeClr>
                </a:solidFill>
              </a:rPr>
              <a:t>. QUY TRÒN SỐ GẦN ĐÚNG. </a:t>
            </a:r>
            <a:endParaRPr lang="vi-VN" dirty="0">
              <a:solidFill>
                <a:schemeClr val="accent6">
                  <a:lumMod val="75000"/>
                </a:schemeClr>
              </a:solidFill>
            </a:endParaRPr>
          </a:p>
        </p:txBody>
      </p:sp>
      <p:pic>
        <p:nvPicPr>
          <p:cNvPr id="2" name="Picture 1"/>
          <p:cNvPicPr>
            <a:picLocks noChangeAspect="1"/>
          </p:cNvPicPr>
          <p:nvPr/>
        </p:nvPicPr>
        <p:blipFill>
          <a:blip r:embed="rId3"/>
          <a:stretch>
            <a:fillRect/>
          </a:stretch>
        </p:blipFill>
        <p:spPr>
          <a:xfrm>
            <a:off x="762000" y="2819400"/>
            <a:ext cx="23382090" cy="4800600"/>
          </a:xfrm>
          <a:prstGeom prst="rect">
            <a:avLst/>
          </a:prstGeom>
        </p:spPr>
      </p:pic>
      <p:pic>
        <p:nvPicPr>
          <p:cNvPr id="3" name="Picture 2"/>
          <p:cNvPicPr>
            <a:picLocks noChangeAspect="1"/>
          </p:cNvPicPr>
          <p:nvPr/>
        </p:nvPicPr>
        <p:blipFill>
          <a:blip r:embed="rId4"/>
          <a:stretch>
            <a:fillRect/>
          </a:stretch>
        </p:blipFill>
        <p:spPr>
          <a:xfrm>
            <a:off x="914400" y="7467600"/>
            <a:ext cx="23033800" cy="2286000"/>
          </a:xfrm>
          <a:prstGeom prst="rect">
            <a:avLst/>
          </a:prstGeom>
        </p:spPr>
      </p:pic>
      <p:pic>
        <p:nvPicPr>
          <p:cNvPr id="4" name="Picture 3"/>
          <p:cNvPicPr>
            <a:picLocks noChangeAspect="1"/>
          </p:cNvPicPr>
          <p:nvPr/>
        </p:nvPicPr>
        <p:blipFill>
          <a:blip r:embed="rId5"/>
          <a:stretch>
            <a:fillRect/>
          </a:stretch>
        </p:blipFill>
        <p:spPr>
          <a:xfrm>
            <a:off x="914400" y="9753600"/>
            <a:ext cx="23143484" cy="2895600"/>
          </a:xfrm>
          <a:prstGeom prst="rect">
            <a:avLst/>
          </a:prstGeom>
        </p:spPr>
      </p:pic>
      <p:sp>
        <p:nvSpPr>
          <p:cNvPr id="99" name="Rounded Rectangle 98"/>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   ·   BÀI 12</a:t>
            </a:r>
          </a:p>
        </p:txBody>
      </p:sp>
      <p:sp>
        <p:nvSpPr>
          <p:cNvPr id="103" name="TextBox 102"/>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568370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up)">
                                      <p:cBhvr>
                                        <p:cTn id="7" dur="1000"/>
                                        <p:tgtEl>
                                          <p:spTgt spid="9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Rectangle 97"/>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381000" y="1600200"/>
            <a:ext cx="10533888" cy="838200"/>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b="1" dirty="0" smtClean="0">
                <a:solidFill>
                  <a:schemeClr val="accent6">
                    <a:lumMod val="75000"/>
                  </a:schemeClr>
                </a:solidFill>
              </a:rPr>
              <a:t>BÀI TẬP SÁCH GIÁO KHOA. </a:t>
            </a:r>
            <a:endParaRPr lang="vi-VN" dirty="0">
              <a:solidFill>
                <a:schemeClr val="accent6">
                  <a:lumMod val="75000"/>
                </a:schemeClr>
              </a:solidFill>
            </a:endParaRPr>
          </a:p>
        </p:txBody>
      </p:sp>
      <p:pic>
        <p:nvPicPr>
          <p:cNvPr id="5" name="Picture 4"/>
          <p:cNvPicPr>
            <a:picLocks noChangeAspect="1"/>
          </p:cNvPicPr>
          <p:nvPr/>
        </p:nvPicPr>
        <p:blipFill>
          <a:blip r:embed="rId3"/>
          <a:stretch>
            <a:fillRect/>
          </a:stretch>
        </p:blipFill>
        <p:spPr>
          <a:xfrm>
            <a:off x="762000" y="2743200"/>
            <a:ext cx="22857076" cy="4343400"/>
          </a:xfrm>
          <a:prstGeom prst="rect">
            <a:avLst/>
          </a:prstGeom>
        </p:spPr>
      </p:pic>
      <p:pic>
        <p:nvPicPr>
          <p:cNvPr id="6" name="Picture 5"/>
          <p:cNvPicPr>
            <a:picLocks noChangeAspect="1"/>
          </p:cNvPicPr>
          <p:nvPr/>
        </p:nvPicPr>
        <p:blipFill>
          <a:blip r:embed="rId4"/>
          <a:stretch>
            <a:fillRect/>
          </a:stretch>
        </p:blipFill>
        <p:spPr>
          <a:xfrm>
            <a:off x="762000" y="7391400"/>
            <a:ext cx="21904045" cy="2086303"/>
          </a:xfrm>
          <a:prstGeom prst="rect">
            <a:avLst/>
          </a:prstGeom>
        </p:spPr>
      </p:pic>
      <p:sp>
        <p:nvSpPr>
          <p:cNvPr id="99" name="Rounded Rectangle 98"/>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   ·   BÀI 12</a:t>
            </a:r>
          </a:p>
        </p:txBody>
      </p:sp>
      <p:sp>
        <p:nvSpPr>
          <p:cNvPr id="103" name="TextBox 102"/>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30441055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up)">
                                      <p:cBhvr>
                                        <p:cTn id="7" dur="1000"/>
                                        <p:tgtEl>
                                          <p:spTgt spid="97"/>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Rectangle 97"/>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381000" y="1600200"/>
            <a:ext cx="10533888" cy="838200"/>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b="1" dirty="0" smtClean="0">
                <a:solidFill>
                  <a:schemeClr val="accent6">
                    <a:lumMod val="75000"/>
                  </a:schemeClr>
                </a:solidFill>
              </a:rPr>
              <a:t>BÀI TẬP SÁCH GIÁO KHOA. </a:t>
            </a:r>
            <a:endParaRPr lang="vi-VN" dirty="0">
              <a:solidFill>
                <a:schemeClr val="accent6">
                  <a:lumMod val="75000"/>
                </a:schemeClr>
              </a:solidFill>
            </a:endParaRPr>
          </a:p>
        </p:txBody>
      </p:sp>
      <p:pic>
        <p:nvPicPr>
          <p:cNvPr id="2" name="Picture 1"/>
          <p:cNvPicPr>
            <a:picLocks noChangeAspect="1"/>
          </p:cNvPicPr>
          <p:nvPr/>
        </p:nvPicPr>
        <p:blipFill>
          <a:blip r:embed="rId3"/>
          <a:stretch>
            <a:fillRect/>
          </a:stretch>
        </p:blipFill>
        <p:spPr>
          <a:xfrm>
            <a:off x="381000" y="2895600"/>
            <a:ext cx="23006553" cy="1828800"/>
          </a:xfrm>
          <a:prstGeom prst="rect">
            <a:avLst/>
          </a:prstGeom>
        </p:spPr>
      </p:pic>
      <p:pic>
        <p:nvPicPr>
          <p:cNvPr id="3" name="Picture 2"/>
          <p:cNvPicPr>
            <a:picLocks noChangeAspect="1"/>
          </p:cNvPicPr>
          <p:nvPr/>
        </p:nvPicPr>
        <p:blipFill>
          <a:blip r:embed="rId4"/>
          <a:stretch>
            <a:fillRect/>
          </a:stretch>
        </p:blipFill>
        <p:spPr>
          <a:xfrm>
            <a:off x="762000" y="5029200"/>
            <a:ext cx="23143484" cy="2895600"/>
          </a:xfrm>
          <a:prstGeom prst="rect">
            <a:avLst/>
          </a:prstGeom>
        </p:spPr>
      </p:pic>
      <p:sp>
        <p:nvSpPr>
          <p:cNvPr id="99" name="Rounded Rectangle 98"/>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   ·   BÀI 12</a:t>
            </a:r>
          </a:p>
        </p:txBody>
      </p:sp>
      <p:sp>
        <p:nvSpPr>
          <p:cNvPr id="103" name="TextBox 102"/>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63860313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up)">
                                      <p:cBhvr>
                                        <p:cTn id="7" dur="1000"/>
                                        <p:tgtEl>
                                          <p:spTgt spid="97"/>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Rectangle 97"/>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381000" y="1600200"/>
            <a:ext cx="10533888" cy="838200"/>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b="1" dirty="0" smtClean="0">
                <a:solidFill>
                  <a:schemeClr val="accent6">
                    <a:lumMod val="75000"/>
                  </a:schemeClr>
                </a:solidFill>
              </a:rPr>
              <a:t>BÀI TẬP SÁCH GIÁO KHOA. </a:t>
            </a:r>
            <a:endParaRPr lang="vi-VN" dirty="0">
              <a:solidFill>
                <a:schemeClr val="accent6">
                  <a:lumMod val="75000"/>
                </a:schemeClr>
              </a:solidFill>
            </a:endParaRPr>
          </a:p>
        </p:txBody>
      </p:sp>
      <p:pic>
        <p:nvPicPr>
          <p:cNvPr id="2" name="Picture 1"/>
          <p:cNvPicPr>
            <a:picLocks noChangeAspect="1"/>
          </p:cNvPicPr>
          <p:nvPr/>
        </p:nvPicPr>
        <p:blipFill>
          <a:blip r:embed="rId3"/>
          <a:stretch>
            <a:fillRect/>
          </a:stretch>
        </p:blipFill>
        <p:spPr>
          <a:xfrm>
            <a:off x="381000" y="3124200"/>
            <a:ext cx="23183893" cy="3124200"/>
          </a:xfrm>
          <a:prstGeom prst="rect">
            <a:avLst/>
          </a:prstGeom>
        </p:spPr>
      </p:pic>
      <p:pic>
        <p:nvPicPr>
          <p:cNvPr id="3" name="Picture 2"/>
          <p:cNvPicPr>
            <a:picLocks noChangeAspect="1"/>
          </p:cNvPicPr>
          <p:nvPr/>
        </p:nvPicPr>
        <p:blipFill>
          <a:blip r:embed="rId4"/>
          <a:stretch>
            <a:fillRect/>
          </a:stretch>
        </p:blipFill>
        <p:spPr>
          <a:xfrm>
            <a:off x="1371600" y="6211233"/>
            <a:ext cx="21693352" cy="7504767"/>
          </a:xfrm>
          <a:prstGeom prst="rect">
            <a:avLst/>
          </a:prstGeom>
        </p:spPr>
      </p:pic>
      <p:sp>
        <p:nvSpPr>
          <p:cNvPr id="99" name="Rounded Rectangle 98"/>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   ·   BÀI 12</a:t>
            </a:r>
          </a:p>
        </p:txBody>
      </p:sp>
      <p:sp>
        <p:nvSpPr>
          <p:cNvPr id="103" name="TextBox 102"/>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21627087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up)">
                                      <p:cBhvr>
                                        <p:cTn id="7" dur="1000"/>
                                        <p:tgtEl>
                                          <p:spTgt spid="97"/>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Rectangle 97"/>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381000" y="1600200"/>
            <a:ext cx="10533888" cy="838200"/>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b="1" dirty="0" smtClean="0">
                <a:solidFill>
                  <a:schemeClr val="accent6">
                    <a:lumMod val="75000"/>
                  </a:schemeClr>
                </a:solidFill>
              </a:rPr>
              <a:t>BÀI TẬP SÁCH GIÁO KHOA. </a:t>
            </a:r>
            <a:endParaRPr lang="vi-VN" dirty="0">
              <a:solidFill>
                <a:schemeClr val="accent6">
                  <a:lumMod val="75000"/>
                </a:schemeClr>
              </a:solidFill>
            </a:endParaRPr>
          </a:p>
        </p:txBody>
      </p:sp>
      <p:pic>
        <p:nvPicPr>
          <p:cNvPr id="2" name="Picture 1"/>
          <p:cNvPicPr>
            <a:picLocks noChangeAspect="1"/>
          </p:cNvPicPr>
          <p:nvPr/>
        </p:nvPicPr>
        <p:blipFill>
          <a:blip r:embed="rId3"/>
          <a:stretch>
            <a:fillRect/>
          </a:stretch>
        </p:blipFill>
        <p:spPr>
          <a:xfrm>
            <a:off x="381000" y="2743199"/>
            <a:ext cx="23393400" cy="6778005"/>
          </a:xfrm>
          <a:prstGeom prst="rect">
            <a:avLst/>
          </a:prstGeom>
        </p:spPr>
      </p:pic>
      <p:pic>
        <p:nvPicPr>
          <p:cNvPr id="3" name="Picture 2"/>
          <p:cNvPicPr>
            <a:picLocks noChangeAspect="1"/>
          </p:cNvPicPr>
          <p:nvPr/>
        </p:nvPicPr>
        <p:blipFill>
          <a:blip r:embed="rId4"/>
          <a:stretch>
            <a:fillRect/>
          </a:stretch>
        </p:blipFill>
        <p:spPr>
          <a:xfrm>
            <a:off x="990600" y="9854906"/>
            <a:ext cx="22997588" cy="3099094"/>
          </a:xfrm>
          <a:prstGeom prst="rect">
            <a:avLst/>
          </a:prstGeom>
        </p:spPr>
      </p:pic>
      <p:sp>
        <p:nvSpPr>
          <p:cNvPr id="99" name="Rounded Rectangle 98"/>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   ·   BÀI 12</a:t>
            </a:r>
          </a:p>
        </p:txBody>
      </p:sp>
      <p:sp>
        <p:nvSpPr>
          <p:cNvPr id="103" name="TextBox 102"/>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01764960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up)">
                                      <p:cBhvr>
                                        <p:cTn id="7" dur="1000"/>
                                        <p:tgtEl>
                                          <p:spTgt spid="97"/>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Rectangle 97"/>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381000" y="1600200"/>
            <a:ext cx="10533888" cy="838200"/>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b="1" dirty="0" smtClean="0">
                <a:solidFill>
                  <a:schemeClr val="accent6">
                    <a:lumMod val="75000"/>
                  </a:schemeClr>
                </a:solidFill>
              </a:rPr>
              <a:t>BÀI TẬP SÁCH GIÁO KHOA. </a:t>
            </a:r>
            <a:endParaRPr lang="vi-VN" dirty="0">
              <a:solidFill>
                <a:schemeClr val="accent6">
                  <a:lumMod val="75000"/>
                </a:schemeClr>
              </a:solidFill>
            </a:endParaRPr>
          </a:p>
        </p:txBody>
      </p:sp>
      <p:pic>
        <p:nvPicPr>
          <p:cNvPr id="2" name="Picture 1"/>
          <p:cNvPicPr>
            <a:picLocks noChangeAspect="1"/>
          </p:cNvPicPr>
          <p:nvPr/>
        </p:nvPicPr>
        <p:blipFill>
          <a:blip r:embed="rId3"/>
          <a:stretch>
            <a:fillRect/>
          </a:stretch>
        </p:blipFill>
        <p:spPr>
          <a:xfrm>
            <a:off x="609601" y="3429000"/>
            <a:ext cx="23393400" cy="1905000"/>
          </a:xfrm>
          <a:prstGeom prst="rect">
            <a:avLst/>
          </a:prstGeom>
        </p:spPr>
      </p:pic>
      <p:pic>
        <p:nvPicPr>
          <p:cNvPr id="4" name="Picture 3"/>
          <p:cNvPicPr>
            <a:picLocks noChangeAspect="1"/>
          </p:cNvPicPr>
          <p:nvPr/>
        </p:nvPicPr>
        <p:blipFill>
          <a:blip r:embed="rId4"/>
          <a:stretch>
            <a:fillRect/>
          </a:stretch>
        </p:blipFill>
        <p:spPr>
          <a:xfrm>
            <a:off x="381000" y="5804098"/>
            <a:ext cx="23639248" cy="3797102"/>
          </a:xfrm>
          <a:prstGeom prst="rect">
            <a:avLst/>
          </a:prstGeom>
        </p:spPr>
      </p:pic>
      <p:sp>
        <p:nvSpPr>
          <p:cNvPr id="99" name="Rounded Rectangle 98"/>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   ·   BÀI 12</a:t>
            </a:r>
          </a:p>
        </p:txBody>
      </p:sp>
      <p:sp>
        <p:nvSpPr>
          <p:cNvPr id="103" name="TextBox 102"/>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43227897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up)">
                                      <p:cBhvr>
                                        <p:cTn id="7" dur="1000"/>
                                        <p:tgtEl>
                                          <p:spTgt spid="97"/>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8.0&quot;&gt;&lt;object type=&quot;1&quot; unique_id=&quot;10001&quot;&gt;&lt;object type=&quot;2&quot; unique_id=&quot;10002&quot;&gt;&lt;object type=&quot;3&quot; unique_id=&quot;10003&quot;&gt;&lt;property id=&quot;20148&quot; value=&quot;5&quot;/&gt;&lt;property id=&quot;20300&quot; value=&quot;Slide 1&quot;/&gt;&lt;property id=&quot;20307&quot; value=&quot;257&quot;/&gt;&lt;/object&gt;&lt;object type=&quot;3&quot; unique_id=&quot;10004&quot;&gt;&lt;property id=&quot;20148&quot; value=&quot;5&quot;/&gt;&lt;property id=&quot;20300&quot; value=&quot;Slide 2&quot;/&gt;&lt;property id=&quot;20307&quot; value=&quot;258&quot;/&gt;&lt;/object&gt;&lt;object type=&quot;3&quot; unique_id=&quot;10005&quot;&gt;&lt;property id=&quot;20148&quot; value=&quot;5&quot;/&gt;&lt;property id=&quot;20300&quot; value=&quot;Slide 3&quot;/&gt;&lt;property id=&quot;20307&quot; value=&quot;259&quot;/&gt;&lt;/object&gt;&lt;object type=&quot;3&quot; unique_id=&quot;10006&quot;&gt;&lt;property id=&quot;20148&quot; value=&quot;5&quot;/&gt;&lt;property id=&quot;20300&quot; value=&quot;Slide 4&quot;/&gt;&lt;property id=&quot;20307&quot; value=&quot;260&quot;/&gt;&lt;/object&gt;&lt;object type=&quot;3&quot; unique_id=&quot;10007&quot;&gt;&lt;property id=&quot;20148&quot; value=&quot;5&quot;/&gt;&lt;property id=&quot;20300&quot; value=&quot;Slide 5&quot;/&gt;&lt;property id=&quot;20307&quot; value=&quot;262&quot;/&gt;&lt;/object&gt;&lt;object type=&quot;3&quot; unique_id=&quot;10008&quot;&gt;&lt;property id=&quot;20148&quot; value=&quot;5&quot;/&gt;&lt;property id=&quot;20300&quot; value=&quot;Slide 6&quot;/&gt;&lt;property id=&quot;20307&quot; value=&quot;263&quot;/&gt;&lt;/object&gt;&lt;object type=&quot;3&quot; unique_id=&quot;10009&quot;&gt;&lt;property id=&quot;20148&quot; value=&quot;5&quot;/&gt;&lt;property id=&quot;20300&quot; value=&quot;Slide 7&quot;/&gt;&lt;property id=&quot;20307&quot; value=&quot;264&quot;/&gt;&lt;/object&gt;&lt;object type=&quot;3&quot; unique_id=&quot;10010&quot;&gt;&lt;property id=&quot;20148&quot; value=&quot;5&quot;/&gt;&lt;property id=&quot;20300&quot; value=&quot;Slide 8&quot;/&gt;&lt;property id=&quot;20307&quot; value=&quot;265&quot;/&gt;&lt;/object&gt;&lt;object type=&quot;3&quot; unique_id=&quot;10011&quot;&gt;&lt;property id=&quot;20148&quot; value=&quot;5&quot;/&gt;&lt;property id=&quot;20300&quot; value=&quot;Slide 9&quot;/&gt;&lt;property id=&quot;20307&quot; value=&quot;266&quot;/&gt;&lt;/object&gt;&lt;object type=&quot;3&quot; unique_id=&quot;10012&quot;&gt;&lt;property id=&quot;20148&quot; value=&quot;5&quot;/&gt;&lt;property id=&quot;20300&quot; value=&quot;Slide 10&quot;/&gt;&lt;property id=&quot;20307&quot; value=&quot;267&quot;/&gt;&lt;/object&gt;&lt;object type=&quot;3&quot; unique_id=&quot;10013&quot;&gt;&lt;property id=&quot;20148&quot; value=&quot;5&quot;/&gt;&lt;property id=&quot;20300&quot; value=&quot;Slide 11&quot;/&gt;&lt;property id=&quot;20307&quot; value=&quot;269&quot;/&gt;&lt;/object&gt;&lt;object type=&quot;3&quot; unique_id=&quot;10014&quot;&gt;&lt;property id=&quot;20148&quot; value=&quot;5&quot;/&gt;&lt;property id=&quot;20300&quot; value=&quot;Slide 12&quot;/&gt;&lt;property id=&quot;20307&quot; value=&quot;270&quot;/&gt;&lt;/object&gt;&lt;object type=&quot;3&quot; unique_id=&quot;10015&quot;&gt;&lt;property id=&quot;20148&quot; value=&quot;5&quot;/&gt;&lt;property id=&quot;20300&quot; value=&quot;Slide 13&quot;/&gt;&lt;property id=&quot;20307&quot; value=&quot;274&quot;/&gt;&lt;/object&gt;&lt;object type=&quot;3&quot; unique_id=&quot;10016&quot;&gt;&lt;property id=&quot;20148&quot; value=&quot;5&quot;/&gt;&lt;property id=&quot;20300&quot; value=&quot;Slide 14&quot;/&gt;&lt;property id=&quot;20307&quot; value=&quot;275&quot;/&gt;&lt;/object&gt;&lt;object type=&quot;3&quot; unique_id=&quot;10017&quot;&gt;&lt;property id=&quot;20148&quot; value=&quot;5&quot;/&gt;&lt;property id=&quot;20300&quot; value=&quot;Slide 15&quot;/&gt;&lt;property id=&quot;20307&quot; value=&quot;276&quot;/&gt;&lt;/object&gt;&lt;object type=&quot;3&quot; unique_id=&quot;10018&quot;&gt;&lt;property id=&quot;20148&quot; value=&quot;5&quot;/&gt;&lt;property id=&quot;20300&quot; value=&quot;Slide 16&quot;/&gt;&lt;property id=&quot;20307&quot; value=&quot;277&quot;/&gt;&lt;/object&gt;&lt;object type=&quot;3&quot; unique_id=&quot;10019&quot;&gt;&lt;property id=&quot;20148&quot; value=&quot;5&quot;/&gt;&lt;property id=&quot;20300&quot; value=&quot;Slide 17&quot;/&gt;&lt;property id=&quot;20307&quot; value=&quot;271&quot;/&gt;&lt;/object&gt;&lt;object type=&quot;3&quot; unique_id=&quot;10020&quot;&gt;&lt;property id=&quot;20148&quot; value=&quot;5&quot;/&gt;&lt;property id=&quot;20300&quot; value=&quot;Slide 18&quot;/&gt;&lt;property id=&quot;20307&quot; value=&quot;278&quot;/&gt;&lt;/object&gt;&lt;object type=&quot;3&quot; unique_id=&quot;10021&quot;&gt;&lt;property id=&quot;20148&quot; value=&quot;5&quot;/&gt;&lt;property id=&quot;20300&quot; value=&quot;Slide 19&quot;/&gt;&lt;property id=&quot;20307&quot; value=&quot;279&quot;/&gt;&lt;/object&gt;&lt;object type=&quot;3&quot; unique_id=&quot;10022&quot;&gt;&lt;property id=&quot;20148&quot; value=&quot;5&quot;/&gt;&lt;property id=&quot;20300&quot; value=&quot;Slide 20&quot;/&gt;&lt;property id=&quot;20307&quot; value=&quot;272&quot;/&gt;&lt;/object&gt;&lt;object type=&quot;3&quot; unique_id=&quot;10023&quot;&gt;&lt;property id=&quot;20148&quot; value=&quot;5&quot;/&gt;&lt;property id=&quot;20300&quot; value=&quot;Slide 21&quot;/&gt;&lt;property id=&quot;20307&quot; value=&quot;273&quot;/&gt;&lt;/object&gt;&lt;object type=&quot;3&quot; unique_id=&quot;10024&quot;&gt;&lt;property id=&quot;20148&quot; value=&quot;5&quot;/&gt;&lt;property id=&quot;20300&quot; value=&quot;Slide 22&quot;/&gt;&lt;property id=&quot;20307&quot; value=&quot;268&quot;/&gt;&lt;/object&gt;&lt;object type=&quot;3&quot; unique_id=&quot;10025&quot;&gt;&lt;property id=&quot;20148&quot; value=&quot;5&quot;/&gt;&lt;property id=&quot;20300&quot; value=&quot;Slide 23&quot;/&gt;&lt;property id=&quot;20307&quot; value=&quot;280&quot;/&gt;&lt;/object&gt;&lt;object type=&quot;3&quot; unique_id=&quot;10026&quot;&gt;&lt;property id=&quot;20148&quot; value=&quot;5&quot;/&gt;&lt;property id=&quot;20300&quot; value=&quot;Slide 24&quot;/&gt;&lt;property id=&quot;20307&quot; value=&quot;281&quot;/&gt;&lt;/object&gt;&lt;object type=&quot;3&quot; unique_id=&quot;10027&quot;&gt;&lt;property id=&quot;20148&quot; value=&quot;5&quot;/&gt;&lt;property id=&quot;20300&quot; value=&quot;Slide 25&quot;/&gt;&lt;property id=&quot;20307&quot; value=&quot;282&quot;/&gt;&lt;/object&gt;&lt;/object&gt;&lt;object type=&quot;8&quot; unique_id=&quot;10056&quot;&gt;&lt;/object&gt;&lt;/object&gt;&lt;/database&gt;"/>
  <p:tag name="SECTOMILLISECCONVERTED"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9Slide.vn</Template>
  <TotalTime>3188</TotalTime>
  <Words>987</Words>
  <Application>Microsoft Office PowerPoint</Application>
  <PresentationFormat>Custom</PresentationFormat>
  <Paragraphs>130</Paragraphs>
  <Slides>22</Slides>
  <Notes>18</Notes>
  <HiddenSlides>0</HiddenSlides>
  <MMClips>0</MMClips>
  <ScaleCrop>false</ScaleCrop>
  <HeadingPairs>
    <vt:vector size="8" baseType="variant">
      <vt:variant>
        <vt:lpstr>Fonts Used</vt:lpstr>
      </vt:variant>
      <vt:variant>
        <vt:i4>12</vt:i4>
      </vt:variant>
      <vt:variant>
        <vt:lpstr>Theme</vt:lpstr>
      </vt:variant>
      <vt:variant>
        <vt:i4>2</vt:i4>
      </vt:variant>
      <vt:variant>
        <vt:lpstr>Embedded OLE Servers</vt:lpstr>
      </vt:variant>
      <vt:variant>
        <vt:i4>1</vt:i4>
      </vt:variant>
      <vt:variant>
        <vt:lpstr>Slide Titles</vt:lpstr>
      </vt:variant>
      <vt:variant>
        <vt:i4>22</vt:i4>
      </vt:variant>
    </vt:vector>
  </HeadingPairs>
  <TitlesOfParts>
    <vt:vector size="37" baseType="lpstr">
      <vt:lpstr>Yu Gothic UI Semilight</vt:lpstr>
      <vt:lpstr>Arial</vt:lpstr>
      <vt:lpstr>Bahnschrift SemiBold SemiConden</vt:lpstr>
      <vt:lpstr>Baumans</vt:lpstr>
      <vt:lpstr>Calibri</vt:lpstr>
      <vt:lpstr>Calibri Light</vt:lpstr>
      <vt:lpstr>Cambria Math</vt:lpstr>
      <vt:lpstr>Cascadia Mono</vt:lpstr>
      <vt:lpstr>Symbol</vt:lpstr>
      <vt:lpstr>Tahoma</vt:lpstr>
      <vt:lpstr>Times New Roman</vt:lpstr>
      <vt:lpstr>Tomaho</vt:lpstr>
      <vt:lpstr>Office Theme</vt:lpstr>
      <vt:lpstr>1_Office Theme</vt:lpstr>
      <vt:lpstr>MathType 7.0 Equation</vt:lpstr>
      <vt:lpstr>PowerPoint Presentation</vt:lpstr>
      <vt:lpstr>PowerPoint Presentation</vt:lpstr>
      <vt:lpstr>§12. SỐ GẦN ĐÚNG VÀ SAI SỐ</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9Slide.vn</Manager>
  <Company>9Slide.vn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subject>9Slide.vn</dc:subject>
  <dc:creator>BINH</dc:creator>
  <dc:description>9Slide.vn</dc:description>
  <cp:lastModifiedBy>Admin</cp:lastModifiedBy>
  <cp:revision>349</cp:revision>
  <dcterms:created xsi:type="dcterms:W3CDTF">2013-08-31T11:42:51Z</dcterms:created>
  <dcterms:modified xsi:type="dcterms:W3CDTF">2022-08-30T01:40:34Z</dcterms:modified>
  <cp:category>9Slide.vn</cp:category>
</cp:coreProperties>
</file>